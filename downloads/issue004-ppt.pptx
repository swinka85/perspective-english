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53" d="100"/>
          <a:sy n="53" d="100"/>
        </p:scale>
        <p:origin x="80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4442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004 of Perspective — today's topic is Fast Fashion.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fast fashion, what are its hidden costs, and how can we shop better? Point out the balanced view and the striking facts. End on the pull-quote about who pays for a five-dollar T-shirt.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1 and 4 are False: fast-fashion clothes are rarely durable, and fashion is one of the most polluting (not cleanest) industries.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Dilemma. A clothing company has 100,000 unsold T-shirts and can choose only ONE option. In small groups, students decide what the company should do and defend it. There is no right answer — push them to weigh who benefits and who loses.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design clothes for a popular fashion brand. Give ~8 minutes to agree on three changes that make the brand less wasteful, then each group presents and explains how it helps people and the planet.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005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004</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Fast Fashion</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How can clothes be so cheap?</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1903750"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How many items of clothing do you own? Do you wear them all?</a:t>
            </a:r>
            <a:endParaRPr lang="en-US" sz="3000" dirty="0"/>
          </a:p>
        </p:txBody>
      </p:sp>
      <p:sp>
        <p:nvSpPr>
          <p:cNvPr id="9" name="Text 7"/>
          <p:cNvSpPr/>
          <p:nvPr/>
        </p:nvSpPr>
        <p:spPr>
          <a:xfrm>
            <a:off x="1047750" y="442722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484370"/>
            <a:ext cx="12530904"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What matters more to you when buying clothes — price, quality, or style?</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“Fast Fashion.”</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Cheap clothes are quickly worn out and thrown onto growing textile waste piles.</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132278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garment</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95714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textile</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17717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durable</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210466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consumption</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122801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dispose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78880"/>
            <a:ext cx="278400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tough and long-lasting</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499604"/>
            <a:ext cx="3254835"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get rid of or throw away</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30503"/>
            <a:ext cx="2280428"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a piece of clothing</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89615"/>
            <a:ext cx="259449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cloth or woven fabric</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120514"/>
            <a:ext cx="3774912"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the buying and using of goods</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857500"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garment</a:t>
            </a:r>
            <a:endParaRPr lang="en-US" sz="1200" dirty="0"/>
          </a:p>
        </p:txBody>
      </p:sp>
      <p:sp>
        <p:nvSpPr>
          <p:cNvPr id="11" name="Shape 9"/>
          <p:cNvSpPr/>
          <p:nvPr/>
        </p:nvSpPr>
        <p:spPr>
          <a:xfrm>
            <a:off x="4152900"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49199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2–D </a:t>
            </a:r>
            <a:r>
              <a:rPr lang="en-US" sz="2250" b="1" dirty="0">
                <a:solidFill>
                  <a:srgbClr val="1A2A5E"/>
                </a:solidFill>
                <a:latin typeface="Helvetica" pitchFamily="34" charset="0"/>
                <a:ea typeface="Helvetica" pitchFamily="34" charset="-122"/>
                <a:cs typeface="Helvetica" pitchFamily="34" charset="-120"/>
              </a:rPr>
              <a:t>textile</a:t>
            </a:r>
            <a:endParaRPr lang="en-US" sz="1200" dirty="0"/>
          </a:p>
        </p:txBody>
      </p:sp>
      <p:sp>
        <p:nvSpPr>
          <p:cNvPr id="13" name="Shape 11"/>
          <p:cNvSpPr/>
          <p:nvPr/>
        </p:nvSpPr>
        <p:spPr>
          <a:xfrm>
            <a:off x="7258050"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5971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durable</a:t>
            </a:r>
            <a:endParaRPr lang="en-US" sz="1200" dirty="0"/>
          </a:p>
        </p:txBody>
      </p:sp>
      <p:sp>
        <p:nvSpPr>
          <p:cNvPr id="15" name="Shape 13"/>
          <p:cNvSpPr/>
          <p:nvPr/>
        </p:nvSpPr>
        <p:spPr>
          <a:xfrm>
            <a:off x="10363200" y="3436620"/>
            <a:ext cx="3323392" cy="960120"/>
          </a:xfrm>
          <a:prstGeom prst="rect">
            <a:avLst/>
          </a:prstGeom>
          <a:ln w="15240">
            <a:solidFill>
              <a:srgbClr val="1A2A5E"/>
            </a:solidFill>
            <a:prstDash val="solid"/>
          </a:ln>
        </p:spPr>
        <p:txBody>
          <a:bodyPr/>
          <a:lstStyle/>
          <a:p>
            <a:endParaRPr lang="en-US"/>
          </a:p>
        </p:txBody>
      </p:sp>
      <p:sp>
        <p:nvSpPr>
          <p:cNvPr id="16" name="Text 14"/>
          <p:cNvSpPr/>
          <p:nvPr/>
        </p:nvSpPr>
        <p:spPr>
          <a:xfrm>
            <a:off x="10702290" y="3661410"/>
            <a:ext cx="2744913"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4–E </a:t>
            </a:r>
            <a:r>
              <a:rPr lang="en-US" sz="2250" b="1" dirty="0">
                <a:solidFill>
                  <a:srgbClr val="1A2A5E"/>
                </a:solidFill>
                <a:latin typeface="Helvetica" pitchFamily="34" charset="0"/>
                <a:ea typeface="Helvetica" pitchFamily="34" charset="-122"/>
                <a:cs typeface="Helvetica" pitchFamily="34" charset="-120"/>
              </a:rPr>
              <a:t>consumption</a:t>
            </a:r>
            <a:endParaRPr lang="en-US" sz="1200" dirty="0"/>
          </a:p>
        </p:txBody>
      </p:sp>
      <p:sp>
        <p:nvSpPr>
          <p:cNvPr id="17" name="Shape 15"/>
          <p:cNvSpPr/>
          <p:nvPr/>
        </p:nvSpPr>
        <p:spPr>
          <a:xfrm>
            <a:off x="13934241"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4273331"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dispose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62865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Fast Fashion</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How can clothes be so cheap?</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 five-dollar T-shirt looks like a bargain — but someone, or something, pays the difference.</a:t>
            </a:r>
            <a:endParaRPr lang="en-US" sz="1650" dirty="0"/>
          </a:p>
        </p:txBody>
      </p:sp>
      <p:sp>
        <p:nvSpPr>
          <p:cNvPr id="10" name="Text 8"/>
          <p:cNvSpPr/>
          <p:nvPr/>
        </p:nvSpPr>
        <p:spPr>
          <a:xfrm>
            <a:off x="1047750" y="327279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A brand-new T-shirt for the price of a coffee sounds like a bargain. In fast-fashion stores, shelves are refilled with cheap new </a:t>
            </a:r>
            <a:r>
              <a:rPr lang="en-US" sz="1650" b="1" dirty="0">
                <a:solidFill>
                  <a:srgbClr val="1A2A5E"/>
                </a:solidFill>
                <a:latin typeface="Helvetica" pitchFamily="34" charset="0"/>
                <a:ea typeface="Helvetica" pitchFamily="34" charset="-122"/>
                <a:cs typeface="Helvetica" pitchFamily="34" charset="-120"/>
              </a:rPr>
              <a:t>garments </a:t>
            </a:r>
            <a:r>
              <a:rPr lang="en-US" sz="1650" dirty="0">
                <a:solidFill>
                  <a:srgbClr val="222222"/>
                </a:solidFill>
                <a:latin typeface="Helvetica" pitchFamily="34" charset="0"/>
                <a:ea typeface="Helvetica" pitchFamily="34" charset="-122"/>
                <a:cs typeface="Helvetica" pitchFamily="34" charset="-120"/>
              </a:rPr>
              <a:t>almost every week, and shoppers are encouraged to buy far more than they need. But behind that five-dollar price tag lies a hidden cost that never appears on the receipt.</a:t>
            </a:r>
            <a:endParaRPr lang="en-US" sz="1650" dirty="0"/>
          </a:p>
        </p:txBody>
      </p:sp>
      <p:sp>
        <p:nvSpPr>
          <p:cNvPr id="11" name="Text 9"/>
          <p:cNvSpPr/>
          <p:nvPr/>
        </p:nvSpPr>
        <p:spPr>
          <a:xfrm>
            <a:off x="1047750" y="512064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Fast fashion means clothing designed, made, and sold at astonishing speed. To keep prices low, factories use cheap </a:t>
            </a:r>
            <a:r>
              <a:rPr lang="en-US" sz="1650" b="1" dirty="0">
                <a:solidFill>
                  <a:srgbClr val="1A2A5E"/>
                </a:solidFill>
                <a:latin typeface="Helvetica" pitchFamily="34" charset="0"/>
                <a:ea typeface="Helvetica" pitchFamily="34" charset="-122"/>
                <a:cs typeface="Helvetica" pitchFamily="34" charset="-120"/>
              </a:rPr>
              <a:t>textiles </a:t>
            </a:r>
            <a:r>
              <a:rPr lang="en-US" sz="1650" dirty="0">
                <a:solidFill>
                  <a:srgbClr val="222222"/>
                </a:solidFill>
                <a:latin typeface="Helvetica" pitchFamily="34" charset="0"/>
                <a:ea typeface="Helvetica" pitchFamily="34" charset="-122"/>
                <a:cs typeface="Helvetica" pitchFamily="34" charset="-120"/>
              </a:rPr>
              <a:t>and rushed labour, often where wages are small. The clothes are rarely </a:t>
            </a:r>
            <a:r>
              <a:rPr lang="en-US" sz="1650" b="1" dirty="0">
                <a:solidFill>
                  <a:srgbClr val="1A2A5E"/>
                </a:solidFill>
                <a:latin typeface="Helvetica" pitchFamily="34" charset="0"/>
                <a:ea typeface="Helvetica" pitchFamily="34" charset="-122"/>
                <a:cs typeface="Helvetica" pitchFamily="34" charset="-120"/>
              </a:rPr>
              <a:t>durable </a:t>
            </a:r>
            <a:r>
              <a:rPr lang="en-US" sz="1650" dirty="0">
                <a:solidFill>
                  <a:srgbClr val="222222"/>
                </a:solidFill>
                <a:latin typeface="Helvetica" pitchFamily="34" charset="0"/>
                <a:ea typeface="Helvetica" pitchFamily="34" charset="-122"/>
                <a:cs typeface="Helvetica" pitchFamily="34" charset="-120"/>
              </a:rPr>
              <a:t>; a shirt worn a few times may lose its shape and be thrown out within a single season.</a:t>
            </a:r>
            <a:endParaRPr lang="en-US" sz="1650" dirty="0"/>
          </a:p>
        </p:txBody>
      </p:sp>
      <p:sp>
        <p:nvSpPr>
          <p:cNvPr id="12" name="Text 10"/>
          <p:cNvSpPr/>
          <p:nvPr/>
        </p:nvSpPr>
        <p:spPr>
          <a:xfrm>
            <a:off x="9401175" y="327279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numbers are staggering. Making a single cotton T-shirt can use around 2,700 litres of water — enough for one person to drink for years. Around the world, a rubbish truck full of clothing is burned or buried every second. This constant </a:t>
            </a:r>
            <a:r>
              <a:rPr lang="en-US" sz="1650" b="1" dirty="0">
                <a:solidFill>
                  <a:srgbClr val="1A2A5E"/>
                </a:solidFill>
                <a:latin typeface="Helvetica" pitchFamily="34" charset="0"/>
                <a:ea typeface="Helvetica" pitchFamily="34" charset="-122"/>
                <a:cs typeface="Helvetica" pitchFamily="34" charset="-120"/>
              </a:rPr>
              <a:t>consumption </a:t>
            </a:r>
            <a:r>
              <a:rPr lang="en-US" sz="1650" dirty="0">
                <a:solidFill>
                  <a:srgbClr val="222222"/>
                </a:solidFill>
                <a:latin typeface="Helvetica" pitchFamily="34" charset="0"/>
                <a:ea typeface="Helvetica" pitchFamily="34" charset="-122"/>
                <a:cs typeface="Helvetica" pitchFamily="34" charset="-120"/>
              </a:rPr>
              <a:t>has made fashion one of the most polluting industries on Earth.</a:t>
            </a:r>
            <a:endParaRPr lang="en-US" sz="1650" dirty="0"/>
          </a:p>
        </p:txBody>
      </p:sp>
      <p:sp>
        <p:nvSpPr>
          <p:cNvPr id="13" name="Text 11"/>
          <p:cNvSpPr/>
          <p:nvPr/>
        </p:nvSpPr>
        <p:spPr>
          <a:xfrm>
            <a:off x="9437478" y="514350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Change, though, is within reach. A growing number of shoppers now </a:t>
            </a:r>
            <a:r>
              <a:rPr lang="en-US" sz="1650" b="1" dirty="0">
                <a:solidFill>
                  <a:srgbClr val="1A2A5E"/>
                </a:solidFill>
                <a:latin typeface="Helvetica" pitchFamily="34" charset="0"/>
                <a:ea typeface="Helvetica" pitchFamily="34" charset="-122"/>
                <a:cs typeface="Helvetica" pitchFamily="34" charset="-120"/>
              </a:rPr>
              <a:t>dispose </a:t>
            </a:r>
            <a:r>
              <a:rPr lang="en-US" sz="1650" dirty="0">
                <a:solidFill>
                  <a:srgbClr val="222222"/>
                </a:solidFill>
                <a:latin typeface="Helvetica" pitchFamily="34" charset="0"/>
                <a:ea typeface="Helvetica" pitchFamily="34" charset="-122"/>
                <a:cs typeface="Helvetica" pitchFamily="34" charset="-120"/>
              </a:rPr>
              <a:t>of far less by buying second-hand, repairing what they own, or simply choosing fewer, better-made pieces. Owning ten quality items you love may bring more satisfaction than a hundred that fall apart.</a:t>
            </a:r>
            <a:endParaRPr lang="en-US" sz="1650" dirty="0"/>
          </a:p>
        </p:txBody>
      </p:sp>
      <p:sp>
        <p:nvSpPr>
          <p:cNvPr id="14" name="Shape 12"/>
          <p:cNvSpPr/>
          <p:nvPr/>
        </p:nvSpPr>
        <p:spPr>
          <a:xfrm>
            <a:off x="1093470" y="7679055"/>
            <a:ext cx="45720" cy="421005"/>
          </a:xfrm>
          <a:prstGeom prst="rect">
            <a:avLst/>
          </a:prstGeom>
          <a:solidFill>
            <a:srgbClr val="D9B877"/>
          </a:solidFill>
          <a:ln/>
        </p:spPr>
        <p:txBody>
          <a:bodyPr/>
          <a:lstStyle/>
          <a:p>
            <a:endParaRPr lang="en-US"/>
          </a:p>
        </p:txBody>
      </p:sp>
      <p:sp>
        <p:nvSpPr>
          <p:cNvPr id="15" name="Text 13"/>
          <p:cNvSpPr/>
          <p:nvPr/>
        </p:nvSpPr>
        <p:spPr>
          <a:xfrm>
            <a:off x="1405890" y="7679055"/>
            <a:ext cx="14356080" cy="45910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If a T-shirt costs only five dollars, who — or what — is paying the difference?</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4-audio">
            <a:hlinkClick r:id="" action="ppaction://media"/>
            <a:extLst>
              <a:ext uri="{FF2B5EF4-FFF2-40B4-BE49-F238E27FC236}">
                <a16:creationId xmlns:a16="http://schemas.microsoft.com/office/drawing/2014/main" id="{295855DA-A2C0-2ABD-070A-BE42CD6A183F}"/>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825582" y="1369712"/>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True or False?</a:t>
            </a:r>
            <a:endParaRPr lang="en-US" sz="4050" dirty="0"/>
          </a:p>
        </p:txBody>
      </p:sp>
      <p:sp>
        <p:nvSpPr>
          <p:cNvPr id="7" name="Shape 5"/>
          <p:cNvSpPr/>
          <p:nvPr/>
        </p:nvSpPr>
        <p:spPr>
          <a:xfrm>
            <a:off x="1047750" y="3615690"/>
            <a:ext cx="14763750" cy="9525"/>
          </a:xfrm>
          <a:prstGeom prst="rect">
            <a:avLst/>
          </a:prstGeom>
          <a:solidFill>
            <a:srgbClr val="E3E1DB"/>
          </a:solidFill>
          <a:ln/>
        </p:spPr>
        <p:txBody>
          <a:bodyPr/>
          <a:lstStyle/>
          <a:p>
            <a:endParaRPr lang="en-US"/>
          </a:p>
        </p:txBody>
      </p:sp>
      <p:sp>
        <p:nvSpPr>
          <p:cNvPr id="8" name="Text 6"/>
          <p:cNvSpPr/>
          <p:nvPr/>
        </p:nvSpPr>
        <p:spPr>
          <a:xfrm>
            <a:off x="1047750" y="299085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676400" y="304800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Fast-fashion clothes are usually made to last for many years.</a:t>
            </a:r>
            <a:endParaRPr lang="en-US" sz="2175" dirty="0"/>
          </a:p>
        </p:txBody>
      </p:sp>
      <p:sp>
        <p:nvSpPr>
          <p:cNvPr id="10" name="Text 8"/>
          <p:cNvSpPr/>
          <p:nvPr/>
        </p:nvSpPr>
        <p:spPr>
          <a:xfrm>
            <a:off x="14997469" y="303276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457700"/>
            <a:ext cx="14763750" cy="9525"/>
          </a:xfrm>
          <a:prstGeom prst="rect">
            <a:avLst/>
          </a:prstGeom>
          <a:solidFill>
            <a:srgbClr val="E3E1DB"/>
          </a:solidFill>
          <a:ln/>
        </p:spPr>
        <p:txBody>
          <a:bodyPr/>
          <a:lstStyle/>
          <a:p>
            <a:endParaRPr lang="en-US"/>
          </a:p>
        </p:txBody>
      </p:sp>
      <p:sp>
        <p:nvSpPr>
          <p:cNvPr id="12" name="Text 10"/>
          <p:cNvSpPr/>
          <p:nvPr/>
        </p:nvSpPr>
        <p:spPr>
          <a:xfrm>
            <a:off x="1047750" y="383286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3" name="Text 11"/>
          <p:cNvSpPr/>
          <p:nvPr/>
        </p:nvSpPr>
        <p:spPr>
          <a:xfrm>
            <a:off x="1676400" y="389001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Making one cotton T-shirt can use around 2,700 litres of water.</a:t>
            </a:r>
            <a:endParaRPr lang="en-US" sz="2175" dirty="0"/>
          </a:p>
        </p:txBody>
      </p:sp>
      <p:sp>
        <p:nvSpPr>
          <p:cNvPr id="14" name="Text 12"/>
          <p:cNvSpPr/>
          <p:nvPr/>
        </p:nvSpPr>
        <p:spPr>
          <a:xfrm>
            <a:off x="14997469" y="387477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5299710"/>
            <a:ext cx="14763750" cy="9525"/>
          </a:xfrm>
          <a:prstGeom prst="rect">
            <a:avLst/>
          </a:prstGeom>
          <a:solidFill>
            <a:srgbClr val="E3E1DB"/>
          </a:solidFill>
          <a:ln/>
        </p:spPr>
        <p:txBody>
          <a:bodyPr/>
          <a:lstStyle/>
          <a:p>
            <a:endParaRPr lang="en-US"/>
          </a:p>
        </p:txBody>
      </p:sp>
      <p:sp>
        <p:nvSpPr>
          <p:cNvPr id="16" name="Text 14"/>
          <p:cNvSpPr/>
          <p:nvPr/>
        </p:nvSpPr>
        <p:spPr>
          <a:xfrm>
            <a:off x="1047750" y="467487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7" name="Text 15"/>
          <p:cNvSpPr/>
          <p:nvPr/>
        </p:nvSpPr>
        <p:spPr>
          <a:xfrm>
            <a:off x="1676400" y="47320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Fast fashion is one of the world’s cleanest industries.</a:t>
            </a:r>
            <a:endParaRPr lang="en-US" sz="2175" dirty="0"/>
          </a:p>
        </p:txBody>
      </p:sp>
      <p:sp>
        <p:nvSpPr>
          <p:cNvPr id="18" name="Text 16"/>
          <p:cNvSpPr/>
          <p:nvPr/>
        </p:nvSpPr>
        <p:spPr>
          <a:xfrm>
            <a:off x="14997469" y="47167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6141720"/>
            <a:ext cx="14763750" cy="9525"/>
          </a:xfrm>
          <a:prstGeom prst="rect">
            <a:avLst/>
          </a:prstGeom>
          <a:solidFill>
            <a:srgbClr val="E3E1DB"/>
          </a:solidFill>
          <a:ln/>
        </p:spPr>
        <p:txBody>
          <a:bodyPr/>
          <a:lstStyle/>
          <a:p>
            <a:endParaRPr lang="en-US"/>
          </a:p>
        </p:txBody>
      </p:sp>
      <p:sp>
        <p:nvSpPr>
          <p:cNvPr id="20" name="Text 18"/>
          <p:cNvSpPr/>
          <p:nvPr/>
        </p:nvSpPr>
        <p:spPr>
          <a:xfrm>
            <a:off x="1047750" y="551688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21" name="Text 19"/>
          <p:cNvSpPr/>
          <p:nvPr/>
        </p:nvSpPr>
        <p:spPr>
          <a:xfrm>
            <a:off x="1676400" y="55740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 truckload of clothing is thrown away or burned every second.</a:t>
            </a:r>
            <a:endParaRPr lang="en-US" sz="2175" dirty="0"/>
          </a:p>
        </p:txBody>
      </p:sp>
      <p:sp>
        <p:nvSpPr>
          <p:cNvPr id="22" name="Text 20"/>
          <p:cNvSpPr/>
          <p:nvPr/>
        </p:nvSpPr>
        <p:spPr>
          <a:xfrm>
            <a:off x="14997469" y="55587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635889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4" name="Text 22"/>
          <p:cNvSpPr/>
          <p:nvPr/>
        </p:nvSpPr>
        <p:spPr>
          <a:xfrm>
            <a:off x="1676400" y="641604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Buying second-hand is one way to waste less.</a:t>
            </a:r>
            <a:endParaRPr lang="en-US" sz="2175" dirty="0"/>
          </a:p>
        </p:txBody>
      </p:sp>
      <p:sp>
        <p:nvSpPr>
          <p:cNvPr id="25" name="Text 23"/>
          <p:cNvSpPr/>
          <p:nvPr/>
        </p:nvSpPr>
        <p:spPr>
          <a:xfrm>
            <a:off x="14997469" y="640080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8402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88770"/>
            <a:ext cx="1601272" cy="388620"/>
          </a:xfrm>
          <a:prstGeom prst="rect">
            <a:avLst/>
          </a:prstGeom>
          <a:solidFill>
            <a:srgbClr val="1A2A5E"/>
          </a:solidFill>
          <a:ln/>
        </p:spPr>
        <p:txBody>
          <a:bodyPr/>
          <a:lstStyle/>
          <a:p>
            <a:endParaRPr lang="en-US"/>
          </a:p>
        </p:txBody>
      </p:sp>
      <p:sp>
        <p:nvSpPr>
          <p:cNvPr id="7" name="Text 5"/>
          <p:cNvSpPr/>
          <p:nvPr/>
        </p:nvSpPr>
        <p:spPr>
          <a:xfrm>
            <a:off x="3628192" y="16459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1074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True or False?</a:t>
            </a:r>
            <a:endParaRPr lang="en-US" sz="3900" dirty="0"/>
          </a:p>
        </p:txBody>
      </p:sp>
      <p:sp>
        <p:nvSpPr>
          <p:cNvPr id="9" name="Text 7"/>
          <p:cNvSpPr/>
          <p:nvPr/>
        </p:nvSpPr>
        <p:spPr>
          <a:xfrm>
            <a:off x="1047750" y="31470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0" name="Text 8"/>
          <p:cNvSpPr/>
          <p:nvPr/>
        </p:nvSpPr>
        <p:spPr>
          <a:xfrm>
            <a:off x="1676400" y="31623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1" name="Text 9"/>
          <p:cNvSpPr/>
          <p:nvPr/>
        </p:nvSpPr>
        <p:spPr>
          <a:xfrm>
            <a:off x="2952750" y="31965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Fast-fashion clothes are usually made to last for many years. </a:t>
            </a:r>
            <a:r>
              <a:rPr lang="en-US" sz="1950" i="1" dirty="0">
                <a:solidFill>
                  <a:srgbClr val="888888"/>
                </a:solidFill>
                <a:latin typeface="Helvetica" pitchFamily="34" charset="0"/>
                <a:ea typeface="Helvetica" pitchFamily="34" charset="-122"/>
                <a:cs typeface="Helvetica" pitchFamily="34" charset="-120"/>
              </a:rPr>
              <a:t>— rarely durable.</a:t>
            </a:r>
            <a:endParaRPr lang="en-US" sz="1950" dirty="0"/>
          </a:p>
        </p:txBody>
      </p:sp>
      <p:sp>
        <p:nvSpPr>
          <p:cNvPr id="12" name="Text 10"/>
          <p:cNvSpPr/>
          <p:nvPr/>
        </p:nvSpPr>
        <p:spPr>
          <a:xfrm>
            <a:off x="1047750" y="36995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3" name="Text 11"/>
          <p:cNvSpPr/>
          <p:nvPr/>
        </p:nvSpPr>
        <p:spPr>
          <a:xfrm>
            <a:off x="1676400" y="37147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74904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Making one cotton T-shirt can use around 2,700 litres of water.</a:t>
            </a:r>
            <a:endParaRPr lang="en-US" sz="1950" dirty="0"/>
          </a:p>
        </p:txBody>
      </p:sp>
      <p:sp>
        <p:nvSpPr>
          <p:cNvPr id="15" name="Text 13"/>
          <p:cNvSpPr/>
          <p:nvPr/>
        </p:nvSpPr>
        <p:spPr>
          <a:xfrm>
            <a:off x="1047750" y="42519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6" name="Text 14"/>
          <p:cNvSpPr/>
          <p:nvPr/>
        </p:nvSpPr>
        <p:spPr>
          <a:xfrm>
            <a:off x="1676400" y="42672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3014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Fast fashion is one of the world’s cleanest industries. </a:t>
            </a:r>
            <a:r>
              <a:rPr lang="en-US" sz="1950" i="1" dirty="0">
                <a:solidFill>
                  <a:srgbClr val="888888"/>
                </a:solidFill>
                <a:latin typeface="Helvetica" pitchFamily="34" charset="0"/>
                <a:ea typeface="Helvetica" pitchFamily="34" charset="-122"/>
                <a:cs typeface="Helvetica" pitchFamily="34" charset="-120"/>
              </a:rPr>
              <a:t>— one of the most polluting.</a:t>
            </a:r>
            <a:endParaRPr lang="en-US" sz="1950" dirty="0"/>
          </a:p>
        </p:txBody>
      </p:sp>
      <p:sp>
        <p:nvSpPr>
          <p:cNvPr id="18" name="Text 16"/>
          <p:cNvSpPr/>
          <p:nvPr/>
        </p:nvSpPr>
        <p:spPr>
          <a:xfrm>
            <a:off x="1047750" y="48044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19" name="Text 17"/>
          <p:cNvSpPr/>
          <p:nvPr/>
        </p:nvSpPr>
        <p:spPr>
          <a:xfrm>
            <a:off x="1676400" y="48196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85394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 truckload of clothing is thrown away or burned every second.</a:t>
            </a:r>
            <a:endParaRPr lang="en-US" sz="1950" dirty="0"/>
          </a:p>
        </p:txBody>
      </p:sp>
      <p:sp>
        <p:nvSpPr>
          <p:cNvPr id="21" name="Text 19"/>
          <p:cNvSpPr/>
          <p:nvPr/>
        </p:nvSpPr>
        <p:spPr>
          <a:xfrm>
            <a:off x="1047750" y="53568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2" name="Text 20"/>
          <p:cNvSpPr/>
          <p:nvPr/>
        </p:nvSpPr>
        <p:spPr>
          <a:xfrm>
            <a:off x="1676400" y="53721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3" name="Text 21"/>
          <p:cNvSpPr/>
          <p:nvPr/>
        </p:nvSpPr>
        <p:spPr>
          <a:xfrm>
            <a:off x="2952750" y="54063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Buying second-hand is one way to waste less.</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buy clothes often? What makes you decide to buy something new?</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How has the way you shop for clothes changed over your life?</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you think people keep buying clothes they don’t really need?</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fair to blame shoppers for the problems of fast fashion?</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better to own ten good items or a hundred cheap ones? Why?</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1995368"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1827728"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ETHICAL DILEMMA</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What should the company do?</a:t>
            </a:r>
            <a:endParaRPr lang="en-US" sz="3750" dirty="0"/>
          </a:p>
        </p:txBody>
      </p:sp>
      <p:sp>
        <p:nvSpPr>
          <p:cNvPr id="9" name="Text 7"/>
          <p:cNvSpPr/>
          <p:nvPr/>
        </p:nvSpPr>
        <p:spPr>
          <a:xfrm>
            <a:off x="1047750" y="2668905"/>
            <a:ext cx="15697200" cy="60198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A clothing company has 100,000 unsold T-shirts. It can only choose </a:t>
            </a:r>
            <a:r>
              <a:rPr lang="en-US" sz="1950" b="1" dirty="0">
                <a:solidFill>
                  <a:srgbClr val="1A2A5E"/>
                </a:solidFill>
                <a:latin typeface="Helvetica" pitchFamily="34" charset="0"/>
                <a:ea typeface="Helvetica" pitchFamily="34" charset="-122"/>
                <a:cs typeface="Helvetica" pitchFamily="34" charset="-120"/>
              </a:rPr>
              <a:t>ONE </a:t>
            </a:r>
            <a:r>
              <a:rPr lang="en-US" sz="1950" dirty="0">
                <a:solidFill>
                  <a:srgbClr val="555555"/>
                </a:solidFill>
                <a:latin typeface="Helvetica" pitchFamily="34" charset="0"/>
                <a:ea typeface="Helvetica" pitchFamily="34" charset="-122"/>
                <a:cs typeface="Helvetica" pitchFamily="34" charset="-120"/>
              </a:rPr>
              <a:t>option. As a group, decide what the company should do — and be ready to defend your choice.</a:t>
            </a:r>
            <a:endParaRPr lang="en-US" sz="1950" dirty="0"/>
          </a:p>
        </p:txBody>
      </p:sp>
      <p:sp>
        <p:nvSpPr>
          <p:cNvPr id="10" name="Shape 8"/>
          <p:cNvSpPr/>
          <p:nvPr/>
        </p:nvSpPr>
        <p:spPr>
          <a:xfrm>
            <a:off x="1047750" y="4070985"/>
            <a:ext cx="14859000" cy="9525"/>
          </a:xfrm>
          <a:prstGeom prst="rect">
            <a:avLst/>
          </a:prstGeom>
          <a:solidFill>
            <a:srgbClr val="D8D6D0"/>
          </a:solidFill>
          <a:ln/>
        </p:spPr>
        <p:txBody>
          <a:bodyPr/>
          <a:lstStyle/>
          <a:p>
            <a:endParaRPr lang="en-US"/>
          </a:p>
        </p:txBody>
      </p:sp>
      <p:sp>
        <p:nvSpPr>
          <p:cNvPr id="11" name="Shape 9"/>
          <p:cNvSpPr/>
          <p:nvPr/>
        </p:nvSpPr>
        <p:spPr>
          <a:xfrm>
            <a:off x="1047750" y="3594735"/>
            <a:ext cx="323850" cy="323850"/>
          </a:xfrm>
          <a:prstGeom prst="rect">
            <a:avLst/>
          </a:prstGeom>
          <a:ln w="15240">
            <a:solidFill>
              <a:srgbClr val="1A2A5E"/>
            </a:solidFill>
            <a:prstDash val="solid"/>
          </a:ln>
        </p:spPr>
        <p:txBody>
          <a:bodyPr/>
          <a:lstStyle/>
          <a:p>
            <a:endParaRPr lang="en-US"/>
          </a:p>
        </p:txBody>
      </p:sp>
      <p:sp>
        <p:nvSpPr>
          <p:cNvPr id="12" name="Text 10"/>
          <p:cNvSpPr/>
          <p:nvPr/>
        </p:nvSpPr>
        <p:spPr>
          <a:xfrm>
            <a:off x="1600200" y="3596640"/>
            <a:ext cx="5331607"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Burn them to protect the brand’s image.</a:t>
            </a:r>
            <a:endParaRPr lang="en-US" sz="2175" dirty="0"/>
          </a:p>
        </p:txBody>
      </p:sp>
      <p:sp>
        <p:nvSpPr>
          <p:cNvPr id="13" name="Shape 11"/>
          <p:cNvSpPr/>
          <p:nvPr/>
        </p:nvSpPr>
        <p:spPr>
          <a:xfrm>
            <a:off x="1047750" y="4707255"/>
            <a:ext cx="14859000" cy="9525"/>
          </a:xfrm>
          <a:prstGeom prst="rect">
            <a:avLst/>
          </a:prstGeom>
          <a:solidFill>
            <a:srgbClr val="D8D6D0"/>
          </a:solidFill>
          <a:ln/>
        </p:spPr>
        <p:txBody>
          <a:bodyPr/>
          <a:lstStyle/>
          <a:p>
            <a:endParaRPr lang="en-US"/>
          </a:p>
        </p:txBody>
      </p:sp>
      <p:sp>
        <p:nvSpPr>
          <p:cNvPr id="14" name="Shape 12"/>
          <p:cNvSpPr/>
          <p:nvPr/>
        </p:nvSpPr>
        <p:spPr>
          <a:xfrm>
            <a:off x="1047750" y="4231005"/>
            <a:ext cx="323850" cy="323850"/>
          </a:xfrm>
          <a:prstGeom prst="rect">
            <a:avLst/>
          </a:prstGeom>
          <a:ln w="15240">
            <a:solidFill>
              <a:srgbClr val="1A2A5E"/>
            </a:solidFill>
            <a:prstDash val="solid"/>
          </a:ln>
        </p:spPr>
        <p:txBody>
          <a:bodyPr/>
          <a:lstStyle/>
          <a:p>
            <a:endParaRPr lang="en-US"/>
          </a:p>
        </p:txBody>
      </p:sp>
      <p:sp>
        <p:nvSpPr>
          <p:cNvPr id="15" name="Text 13"/>
          <p:cNvSpPr/>
          <p:nvPr/>
        </p:nvSpPr>
        <p:spPr>
          <a:xfrm>
            <a:off x="1600200" y="4232910"/>
            <a:ext cx="4763465"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Send them to developing countries.</a:t>
            </a:r>
            <a:endParaRPr lang="en-US" sz="2175" dirty="0"/>
          </a:p>
        </p:txBody>
      </p:sp>
      <p:sp>
        <p:nvSpPr>
          <p:cNvPr id="16" name="Shape 14"/>
          <p:cNvSpPr/>
          <p:nvPr/>
        </p:nvSpPr>
        <p:spPr>
          <a:xfrm>
            <a:off x="1047750" y="5343525"/>
            <a:ext cx="14859000" cy="9525"/>
          </a:xfrm>
          <a:prstGeom prst="rect">
            <a:avLst/>
          </a:prstGeom>
          <a:solidFill>
            <a:srgbClr val="D8D6D0"/>
          </a:solidFill>
          <a:ln/>
        </p:spPr>
        <p:txBody>
          <a:bodyPr/>
          <a:lstStyle/>
          <a:p>
            <a:endParaRPr lang="en-US"/>
          </a:p>
        </p:txBody>
      </p:sp>
      <p:sp>
        <p:nvSpPr>
          <p:cNvPr id="17" name="Shape 15"/>
          <p:cNvSpPr/>
          <p:nvPr/>
        </p:nvSpPr>
        <p:spPr>
          <a:xfrm>
            <a:off x="1047750" y="4867275"/>
            <a:ext cx="323850" cy="323850"/>
          </a:xfrm>
          <a:prstGeom prst="rect">
            <a:avLst/>
          </a:prstGeom>
          <a:ln w="15240">
            <a:solidFill>
              <a:srgbClr val="1A2A5E"/>
            </a:solidFill>
            <a:prstDash val="solid"/>
          </a:ln>
        </p:spPr>
        <p:txBody>
          <a:bodyPr/>
          <a:lstStyle/>
          <a:p>
            <a:endParaRPr lang="en-US"/>
          </a:p>
        </p:txBody>
      </p:sp>
      <p:sp>
        <p:nvSpPr>
          <p:cNvPr id="18" name="Text 16"/>
          <p:cNvSpPr/>
          <p:nvPr/>
        </p:nvSpPr>
        <p:spPr>
          <a:xfrm>
            <a:off x="1600200" y="4869180"/>
            <a:ext cx="5100316"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Recycle the material into new clothes.</a:t>
            </a:r>
            <a:endParaRPr lang="en-US" sz="2175" dirty="0"/>
          </a:p>
        </p:txBody>
      </p:sp>
      <p:sp>
        <p:nvSpPr>
          <p:cNvPr id="19" name="Shape 17"/>
          <p:cNvSpPr/>
          <p:nvPr/>
        </p:nvSpPr>
        <p:spPr>
          <a:xfrm>
            <a:off x="1047750" y="5979795"/>
            <a:ext cx="14859000" cy="9525"/>
          </a:xfrm>
          <a:prstGeom prst="rect">
            <a:avLst/>
          </a:prstGeom>
          <a:solidFill>
            <a:srgbClr val="D8D6D0"/>
          </a:solidFill>
          <a:ln/>
        </p:spPr>
        <p:txBody>
          <a:bodyPr/>
          <a:lstStyle/>
          <a:p>
            <a:endParaRPr lang="en-US"/>
          </a:p>
        </p:txBody>
      </p:sp>
      <p:sp>
        <p:nvSpPr>
          <p:cNvPr id="20" name="Shape 18"/>
          <p:cNvSpPr/>
          <p:nvPr/>
        </p:nvSpPr>
        <p:spPr>
          <a:xfrm>
            <a:off x="1047750" y="5503545"/>
            <a:ext cx="323850" cy="323850"/>
          </a:xfrm>
          <a:prstGeom prst="rect">
            <a:avLst/>
          </a:prstGeom>
          <a:ln w="15240">
            <a:solidFill>
              <a:srgbClr val="1A2A5E"/>
            </a:solidFill>
            <a:prstDash val="solid"/>
          </a:ln>
        </p:spPr>
        <p:txBody>
          <a:bodyPr/>
          <a:lstStyle/>
          <a:p>
            <a:endParaRPr lang="en-US"/>
          </a:p>
        </p:txBody>
      </p:sp>
      <p:sp>
        <p:nvSpPr>
          <p:cNvPr id="21" name="Text 19"/>
          <p:cNvSpPr/>
          <p:nvPr/>
        </p:nvSpPr>
        <p:spPr>
          <a:xfrm>
            <a:off x="1600200" y="5505450"/>
            <a:ext cx="3850743"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Sell them for almost nothing.</a:t>
            </a:r>
            <a:endParaRPr lang="en-US" sz="2175" dirty="0"/>
          </a:p>
        </p:txBody>
      </p:sp>
      <p:sp>
        <p:nvSpPr>
          <p:cNvPr id="22" name="Shape 20"/>
          <p:cNvSpPr/>
          <p:nvPr/>
        </p:nvSpPr>
        <p:spPr>
          <a:xfrm>
            <a:off x="1047750" y="6616065"/>
            <a:ext cx="14859000" cy="9525"/>
          </a:xfrm>
          <a:prstGeom prst="rect">
            <a:avLst/>
          </a:prstGeom>
          <a:solidFill>
            <a:srgbClr val="D8D6D0"/>
          </a:solidFill>
          <a:ln/>
        </p:spPr>
        <p:txBody>
          <a:bodyPr/>
          <a:lstStyle/>
          <a:p>
            <a:endParaRPr lang="en-US"/>
          </a:p>
        </p:txBody>
      </p:sp>
      <p:sp>
        <p:nvSpPr>
          <p:cNvPr id="23" name="Shape 21"/>
          <p:cNvSpPr/>
          <p:nvPr/>
        </p:nvSpPr>
        <p:spPr>
          <a:xfrm>
            <a:off x="1047750" y="6139815"/>
            <a:ext cx="323850" cy="323850"/>
          </a:xfrm>
          <a:prstGeom prst="rect">
            <a:avLst/>
          </a:prstGeom>
          <a:ln w="15240">
            <a:solidFill>
              <a:srgbClr val="1A2A5E"/>
            </a:solidFill>
            <a:prstDash val="solid"/>
          </a:ln>
        </p:spPr>
        <p:txBody>
          <a:bodyPr/>
          <a:lstStyle/>
          <a:p>
            <a:endParaRPr lang="en-US"/>
          </a:p>
        </p:txBody>
      </p:sp>
      <p:sp>
        <p:nvSpPr>
          <p:cNvPr id="24" name="Text 22"/>
          <p:cNvSpPr/>
          <p:nvPr/>
        </p:nvSpPr>
        <p:spPr>
          <a:xfrm>
            <a:off x="1600200" y="6141720"/>
            <a:ext cx="3377815"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Donate them to charities.</a:t>
            </a:r>
            <a:endParaRPr lang="en-US" sz="2175" dirty="0"/>
          </a:p>
        </p:txBody>
      </p:sp>
      <p:sp>
        <p:nvSpPr>
          <p:cNvPr id="25" name="Text 23"/>
          <p:cNvSpPr/>
          <p:nvPr/>
        </p:nvSpPr>
        <p:spPr>
          <a:xfrm>
            <a:off x="1047750" y="7038975"/>
            <a:ext cx="953691"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DISCUSS</a:t>
            </a:r>
            <a:endParaRPr lang="en-US" sz="1200" dirty="0"/>
          </a:p>
        </p:txBody>
      </p:sp>
      <p:sp>
        <p:nvSpPr>
          <p:cNvPr id="26" name="Text 24"/>
          <p:cNvSpPr/>
          <p:nvPr/>
        </p:nvSpPr>
        <p:spPr>
          <a:xfrm>
            <a:off x="2115741" y="6947535"/>
            <a:ext cx="7821585"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Which option is best? · Which is worst? · Who benefits? · Who loses?</a:t>
            </a:r>
            <a:endParaRPr lang="en-US" sz="17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2780764" y="3310890"/>
            <a:ext cx="112847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garment</a:t>
            </a:r>
            <a:endParaRPr lang="en-US" sz="2100" dirty="0"/>
          </a:p>
        </p:txBody>
      </p:sp>
      <p:sp>
        <p:nvSpPr>
          <p:cNvPr id="10" name="Text 8"/>
          <p:cNvSpPr/>
          <p:nvPr/>
        </p:nvSpPr>
        <p:spPr>
          <a:xfrm>
            <a:off x="7799772" y="3295174"/>
            <a:ext cx="847011"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textile</a:t>
            </a:r>
            <a:endParaRPr lang="en-US" sz="2100" dirty="0"/>
          </a:p>
        </p:txBody>
      </p:sp>
      <p:sp>
        <p:nvSpPr>
          <p:cNvPr id="11" name="Text 9"/>
          <p:cNvSpPr/>
          <p:nvPr/>
        </p:nvSpPr>
        <p:spPr>
          <a:xfrm>
            <a:off x="6360521" y="3310890"/>
            <a:ext cx="1039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durable</a:t>
            </a:r>
            <a:endParaRPr lang="en-US" sz="2100" dirty="0"/>
          </a:p>
        </p:txBody>
      </p:sp>
      <p:sp>
        <p:nvSpPr>
          <p:cNvPr id="12" name="Text 10"/>
          <p:cNvSpPr/>
          <p:nvPr/>
        </p:nvSpPr>
        <p:spPr>
          <a:xfrm>
            <a:off x="4214038" y="3310890"/>
            <a:ext cx="184168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consumption</a:t>
            </a:r>
            <a:endParaRPr lang="en-US" sz="2100" dirty="0"/>
          </a:p>
        </p:txBody>
      </p:sp>
      <p:sp>
        <p:nvSpPr>
          <p:cNvPr id="13" name="Text 11"/>
          <p:cNvSpPr/>
          <p:nvPr/>
        </p:nvSpPr>
        <p:spPr>
          <a:xfrm>
            <a:off x="1391900" y="3310890"/>
            <a:ext cx="108406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dispose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7402877"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A well-made _______________ can last for many years.</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065633"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Cheap _______________ often wear out very quickly.</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8276701"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Our _______________ of new clothes keeps rising every year.</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8765738"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This coat is so _______________ that I have worn it for ten years.</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6908602"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Please _______________ of old clothes responsibly.</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6032814"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well-made </a:t>
            </a:r>
            <a:r>
              <a:rPr lang="en-US" sz="2100" b="1" dirty="0">
                <a:solidFill>
                  <a:srgbClr val="1A2A5E"/>
                </a:solidFill>
                <a:latin typeface="Helvetica" pitchFamily="34" charset="0"/>
                <a:ea typeface="Helvetica" pitchFamily="34" charset="-122"/>
                <a:cs typeface="Helvetica" pitchFamily="34" charset="-120"/>
              </a:rPr>
              <a:t>garment </a:t>
            </a:r>
            <a:r>
              <a:rPr lang="en-US" sz="2100" dirty="0">
                <a:solidFill>
                  <a:srgbClr val="444444"/>
                </a:solidFill>
                <a:latin typeface="Helvetica" pitchFamily="34" charset="0"/>
                <a:ea typeface="Helvetica" pitchFamily="34" charset="-122"/>
                <a:cs typeface="Helvetica" pitchFamily="34" charset="-120"/>
              </a:rPr>
              <a:t>can last for many years.</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5571673"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Cheap </a:t>
            </a:r>
            <a:r>
              <a:rPr lang="en-US" sz="2100" b="1" dirty="0">
                <a:solidFill>
                  <a:srgbClr val="1A2A5E"/>
                </a:solidFill>
                <a:latin typeface="Helvetica" pitchFamily="34" charset="0"/>
                <a:ea typeface="Helvetica" pitchFamily="34" charset="-122"/>
                <a:cs typeface="Helvetica" pitchFamily="34" charset="-120"/>
              </a:rPr>
              <a:t>textiles </a:t>
            </a:r>
            <a:r>
              <a:rPr lang="en-US" sz="2100" dirty="0">
                <a:solidFill>
                  <a:srgbClr val="444444"/>
                </a:solidFill>
                <a:latin typeface="Helvetica" pitchFamily="34" charset="0"/>
                <a:ea typeface="Helvetica" pitchFamily="34" charset="-122"/>
                <a:cs typeface="Helvetica" pitchFamily="34" charset="-120"/>
              </a:rPr>
              <a:t>often wear out very quickly.</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753253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Our </a:t>
            </a:r>
            <a:r>
              <a:rPr lang="en-US" sz="2100" b="1" dirty="0">
                <a:solidFill>
                  <a:srgbClr val="1A2A5E"/>
                </a:solidFill>
                <a:latin typeface="Helvetica" pitchFamily="34" charset="0"/>
                <a:ea typeface="Helvetica" pitchFamily="34" charset="-122"/>
                <a:cs typeface="Helvetica" pitchFamily="34" charset="-120"/>
              </a:rPr>
              <a:t>consumption </a:t>
            </a:r>
            <a:r>
              <a:rPr lang="en-US" sz="2100" dirty="0">
                <a:solidFill>
                  <a:srgbClr val="444444"/>
                </a:solidFill>
                <a:latin typeface="Helvetica" pitchFamily="34" charset="0"/>
                <a:ea typeface="Helvetica" pitchFamily="34" charset="-122"/>
                <a:cs typeface="Helvetica" pitchFamily="34" charset="-120"/>
              </a:rPr>
              <a:t>of new clothes keeps rising every year.</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20694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This coat is so </a:t>
            </a:r>
            <a:r>
              <a:rPr lang="en-US" sz="2100" b="1" dirty="0">
                <a:solidFill>
                  <a:srgbClr val="1A2A5E"/>
                </a:solidFill>
                <a:latin typeface="Helvetica" pitchFamily="34" charset="0"/>
                <a:ea typeface="Helvetica" pitchFamily="34" charset="-122"/>
                <a:cs typeface="Helvetica" pitchFamily="34" charset="-120"/>
              </a:rPr>
              <a:t>durable </a:t>
            </a:r>
            <a:r>
              <a:rPr lang="en-US" sz="2100" dirty="0">
                <a:solidFill>
                  <a:srgbClr val="444444"/>
                </a:solidFill>
                <a:latin typeface="Helvetica" pitchFamily="34" charset="0"/>
                <a:ea typeface="Helvetica" pitchFamily="34" charset="-122"/>
                <a:cs typeface="Helvetica" pitchFamily="34" charset="-120"/>
              </a:rPr>
              <a:t>that I have worn it for ten years.</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5522691"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Please </a:t>
            </a:r>
            <a:r>
              <a:rPr lang="en-US" sz="2100" b="1" dirty="0">
                <a:solidFill>
                  <a:srgbClr val="1A2A5E"/>
                </a:solidFill>
                <a:latin typeface="Helvetica" pitchFamily="34" charset="0"/>
                <a:ea typeface="Helvetica" pitchFamily="34" charset="-122"/>
                <a:cs typeface="Helvetica" pitchFamily="34" charset="-120"/>
              </a:rPr>
              <a:t>dispose </a:t>
            </a:r>
            <a:r>
              <a:rPr lang="en-US" sz="2100" dirty="0">
                <a:solidFill>
                  <a:srgbClr val="444444"/>
                </a:solidFill>
                <a:latin typeface="Helvetica" pitchFamily="34" charset="0"/>
                <a:ea typeface="Helvetica" pitchFamily="34" charset="-122"/>
                <a:cs typeface="Helvetica" pitchFamily="34" charset="-120"/>
              </a:rPr>
              <a:t>of old clothes responsibly.</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design for a fashion brand</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design clothes for a popular fashion brand.</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changes to make your brand less wasteful.</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and explain how it helps people and the planet.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Is it better to own a few good clothes or many cheap ones?</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1856</Words>
  <Application>Microsoft Office PowerPoint</Application>
  <PresentationFormat>Custom</PresentationFormat>
  <Paragraphs>254</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6</cp:revision>
  <dcterms:created xsi:type="dcterms:W3CDTF">2026-07-06T08:04:55Z</dcterms:created>
  <dcterms:modified xsi:type="dcterms:W3CDTF">2026-08-06T11:43:39Z</dcterms:modified>
</cp:coreProperties>
</file>