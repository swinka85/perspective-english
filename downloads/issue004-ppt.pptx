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73"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53" d="100"/>
          <a:sy n="53" d="100"/>
        </p:scale>
        <p:origin x="8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4442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004 of Perspective — today's topic is Fast Fashion.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fast fashion, what are its hidden costs, and how can we shop better? Point out the balanced view and the striking facts. End on the pull-quote about who pays for a five-dollar T-shirt.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1 and 4 are False: fast-fashion clothes are rarely durable, and fashion is one of the most polluting (not cleanest) industries.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test. Students decide alone first, then compare in groups. Give about ten minutes and run the YOUR NUMBER line plus both DISCUSS questions. The gap between what students say they value and the number they write down is the lesson — collect the numbers on the board.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The goal is that students can say each line aloud and use the words in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task. In small groups, students design clothes for a popular fashion brand. Give ~8 minutes to agree on three changes that make the brand less wasteful, then each group presents and explains how it helps people and the planet.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005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004</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1250" b="1" kern="0" spc="-150" dirty="0">
                <a:solidFill>
                  <a:srgbClr val="FFFFFF"/>
                </a:solidFill>
                <a:latin typeface="Playfair Display" pitchFamily="34" charset="0"/>
                <a:ea typeface="Playfair Display" pitchFamily="34" charset="-122"/>
                <a:cs typeface="Playfair Display" pitchFamily="34" charset="-120"/>
              </a:rPr>
              <a:t>Fast Fashion</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How can clothes be so cheap?</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What we’ll do today</a:t>
            </a:r>
            <a:endParaRPr lang="en-US" sz="4500" dirty="0"/>
          </a:p>
        </p:txBody>
      </p:sp>
      <p:sp>
        <p:nvSpPr>
          <p:cNvPr id="7" name="Text 5"/>
          <p:cNvSpPr/>
          <p:nvPr/>
        </p:nvSpPr>
        <p:spPr>
          <a:xfrm>
            <a:off x="1047750" y="3257550"/>
            <a:ext cx="515422"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01</a:t>
            </a:r>
            <a:endParaRPr lang="en-US" sz="3300" dirty="0"/>
          </a:p>
        </p:txBody>
      </p:sp>
      <p:sp>
        <p:nvSpPr>
          <p:cNvPr id="8" name="Text 6"/>
          <p:cNvSpPr/>
          <p:nvPr/>
        </p:nvSpPr>
        <p:spPr>
          <a:xfrm>
            <a:off x="1715572" y="3257550"/>
            <a:ext cx="3715583"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5572" y="3623310"/>
            <a:ext cx="371558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257550"/>
            <a:ext cx="578287"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02</a:t>
            </a:r>
            <a:endParaRPr lang="en-US" sz="3300" dirty="0"/>
          </a:p>
        </p:txBody>
      </p:sp>
      <p:sp>
        <p:nvSpPr>
          <p:cNvPr id="11" name="Text 9"/>
          <p:cNvSpPr/>
          <p:nvPr/>
        </p:nvSpPr>
        <p:spPr>
          <a:xfrm>
            <a:off x="10208062" y="3257550"/>
            <a:ext cx="317769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208062" y="3623310"/>
            <a:ext cx="317769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4152900"/>
            <a:ext cx="562451"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03</a:t>
            </a:r>
            <a:endParaRPr lang="en-US" sz="3300" dirty="0"/>
          </a:p>
        </p:txBody>
      </p:sp>
      <p:sp>
        <p:nvSpPr>
          <p:cNvPr id="14" name="Text 12"/>
          <p:cNvSpPr/>
          <p:nvPr/>
        </p:nvSpPr>
        <p:spPr>
          <a:xfrm>
            <a:off x="1762601" y="4152900"/>
            <a:ext cx="398511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2601" y="4518660"/>
            <a:ext cx="398511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4152900"/>
            <a:ext cx="574119"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04</a:t>
            </a:r>
            <a:endParaRPr lang="en-US" sz="3300" dirty="0"/>
          </a:p>
        </p:txBody>
      </p:sp>
      <p:sp>
        <p:nvSpPr>
          <p:cNvPr id="17" name="Text 15"/>
          <p:cNvSpPr/>
          <p:nvPr/>
        </p:nvSpPr>
        <p:spPr>
          <a:xfrm>
            <a:off x="10203895" y="4152900"/>
            <a:ext cx="362652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3895" y="4518660"/>
            <a:ext cx="362652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Talk with a partner</a:t>
            </a:r>
            <a:endParaRPr lang="en-US" sz="4500" dirty="0"/>
          </a:p>
        </p:txBody>
      </p:sp>
      <p:sp>
        <p:nvSpPr>
          <p:cNvPr id="7" name="Text 5"/>
          <p:cNvSpPr/>
          <p:nvPr/>
        </p:nvSpPr>
        <p:spPr>
          <a:xfrm>
            <a:off x="1047750" y="3390900"/>
            <a:ext cx="34230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1</a:t>
            </a:r>
            <a:endParaRPr lang="en-US" sz="5400" dirty="0"/>
          </a:p>
        </p:txBody>
      </p:sp>
      <p:sp>
        <p:nvSpPr>
          <p:cNvPr id="8" name="Text 6"/>
          <p:cNvSpPr/>
          <p:nvPr/>
        </p:nvSpPr>
        <p:spPr>
          <a:xfrm>
            <a:off x="1637705" y="3448050"/>
            <a:ext cx="11903750"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How many items of clothing do you own? Do you wear them all?</a:t>
            </a:r>
            <a:endParaRPr lang="en-US" sz="3000" dirty="0"/>
          </a:p>
        </p:txBody>
      </p:sp>
      <p:sp>
        <p:nvSpPr>
          <p:cNvPr id="9" name="Text 7"/>
          <p:cNvSpPr/>
          <p:nvPr/>
        </p:nvSpPr>
        <p:spPr>
          <a:xfrm>
            <a:off x="1047750" y="4427220"/>
            <a:ext cx="44517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2</a:t>
            </a:r>
            <a:endParaRPr lang="en-US" sz="5400" dirty="0"/>
          </a:p>
        </p:txBody>
      </p:sp>
      <p:sp>
        <p:nvSpPr>
          <p:cNvPr id="10" name="Text 8"/>
          <p:cNvSpPr/>
          <p:nvPr/>
        </p:nvSpPr>
        <p:spPr>
          <a:xfrm>
            <a:off x="1740575" y="4484370"/>
            <a:ext cx="12530904"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What matters more to you when buying clothes — price, quality, or style?</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4068604"/>
            <a:ext cx="8539163"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403884"/>
            <a:ext cx="8539163"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dirty="0">
                <a:solidFill>
                  <a:srgbClr val="1A2A5E"/>
                </a:solidFill>
                <a:latin typeface="Playfair Display" pitchFamily="34" charset="0"/>
                <a:ea typeface="Playfair Display" pitchFamily="34" charset="-122"/>
                <a:cs typeface="Playfair Display" pitchFamily="34" charset="-120"/>
              </a:rPr>
              <a:t>Look and predict</a:t>
            </a:r>
            <a:endParaRPr lang="en-US" sz="4200" dirty="0"/>
          </a:p>
        </p:txBody>
      </p:sp>
      <p:sp>
        <p:nvSpPr>
          <p:cNvPr id="7" name="Text 5"/>
          <p:cNvSpPr/>
          <p:nvPr/>
        </p:nvSpPr>
        <p:spPr>
          <a:xfrm>
            <a:off x="1047750" y="5287804"/>
            <a:ext cx="8539163"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“Fast Fashion.”</a:t>
            </a:r>
            <a:endParaRPr lang="en-US" sz="2250" dirty="0"/>
          </a:p>
        </p:txBody>
      </p:sp>
      <p:sp>
        <p:nvSpPr>
          <p:cNvPr id="8" name="Text 6"/>
          <p:cNvSpPr/>
          <p:nvPr/>
        </p:nvSpPr>
        <p:spPr>
          <a:xfrm>
            <a:off x="1047750" y="5892641"/>
            <a:ext cx="7995761"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7175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79370"/>
            <a:ext cx="7747635" cy="5318760"/>
          </a:xfrm>
          <a:prstGeom prst="rect">
            <a:avLst/>
          </a:prstGeom>
        </p:spPr>
      </p:pic>
      <p:sp>
        <p:nvSpPr>
          <p:cNvPr id="11" name="Text 8"/>
          <p:cNvSpPr/>
          <p:nvPr/>
        </p:nvSpPr>
        <p:spPr>
          <a:xfrm>
            <a:off x="9477375" y="8020050"/>
            <a:ext cx="8539163" cy="236220"/>
          </a:xfrm>
          <a:prstGeom prst="rect">
            <a:avLst/>
          </a:prstGeom>
          <a:noFill/>
          <a:ln/>
        </p:spPr>
        <p:txBody>
          <a:bodyPr wrap="square" lIns="25400" tIns="25400" rIns="25400" bIns="25400" rtlCol="0" anchor="t">
            <a:normAutofit lnSpcReduction="10000"/>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Cheap clothes are quickly worn out and thrown onto growing textile waste piles.</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Match the words to their meanings</a:t>
            </a:r>
            <a:endParaRPr lang="en-US" sz="4050" dirty="0"/>
          </a:p>
        </p:txBody>
      </p:sp>
      <p:sp>
        <p:nvSpPr>
          <p:cNvPr id="7" name="Text 5"/>
          <p:cNvSpPr/>
          <p:nvPr/>
        </p:nvSpPr>
        <p:spPr>
          <a:xfrm>
            <a:off x="1047750" y="297180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1</a:t>
            </a:r>
            <a:endParaRPr lang="en-US" sz="2400" dirty="0"/>
          </a:p>
        </p:txBody>
      </p:sp>
      <p:sp>
        <p:nvSpPr>
          <p:cNvPr id="8" name="Text 6"/>
          <p:cNvSpPr/>
          <p:nvPr/>
        </p:nvSpPr>
        <p:spPr>
          <a:xfrm>
            <a:off x="1524000" y="3025140"/>
            <a:ext cx="1322784"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garment</a:t>
            </a:r>
            <a:endParaRPr lang="en-US" sz="2400" dirty="0"/>
          </a:p>
        </p:txBody>
      </p:sp>
      <p:sp>
        <p:nvSpPr>
          <p:cNvPr id="9" name="Text 7"/>
          <p:cNvSpPr/>
          <p:nvPr/>
        </p:nvSpPr>
        <p:spPr>
          <a:xfrm>
            <a:off x="1047750" y="356616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2</a:t>
            </a:r>
            <a:endParaRPr lang="en-US" sz="2400" dirty="0"/>
          </a:p>
        </p:txBody>
      </p:sp>
      <p:sp>
        <p:nvSpPr>
          <p:cNvPr id="10" name="Text 8"/>
          <p:cNvSpPr/>
          <p:nvPr/>
        </p:nvSpPr>
        <p:spPr>
          <a:xfrm>
            <a:off x="1524000" y="3619500"/>
            <a:ext cx="957143"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textile</a:t>
            </a:r>
            <a:endParaRPr lang="en-US" sz="2400" dirty="0"/>
          </a:p>
        </p:txBody>
      </p:sp>
      <p:sp>
        <p:nvSpPr>
          <p:cNvPr id="11" name="Text 9"/>
          <p:cNvSpPr/>
          <p:nvPr/>
        </p:nvSpPr>
        <p:spPr>
          <a:xfrm>
            <a:off x="1047750" y="416052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3</a:t>
            </a:r>
            <a:endParaRPr lang="en-US" sz="2400" dirty="0"/>
          </a:p>
        </p:txBody>
      </p:sp>
      <p:sp>
        <p:nvSpPr>
          <p:cNvPr id="12" name="Text 10"/>
          <p:cNvSpPr/>
          <p:nvPr/>
        </p:nvSpPr>
        <p:spPr>
          <a:xfrm>
            <a:off x="1524000" y="4213860"/>
            <a:ext cx="1177171"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durable</a:t>
            </a:r>
            <a:endParaRPr lang="en-US" sz="2400" dirty="0"/>
          </a:p>
        </p:txBody>
      </p:sp>
      <p:sp>
        <p:nvSpPr>
          <p:cNvPr id="13" name="Text 11"/>
          <p:cNvSpPr/>
          <p:nvPr/>
        </p:nvSpPr>
        <p:spPr>
          <a:xfrm>
            <a:off x="1047750" y="475488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4</a:t>
            </a:r>
            <a:endParaRPr lang="en-US" sz="2400" dirty="0"/>
          </a:p>
        </p:txBody>
      </p:sp>
      <p:sp>
        <p:nvSpPr>
          <p:cNvPr id="14" name="Text 12"/>
          <p:cNvSpPr/>
          <p:nvPr/>
        </p:nvSpPr>
        <p:spPr>
          <a:xfrm>
            <a:off x="1524000" y="4808220"/>
            <a:ext cx="2104668"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consumption</a:t>
            </a:r>
            <a:endParaRPr lang="en-US" sz="2400" dirty="0"/>
          </a:p>
        </p:txBody>
      </p:sp>
      <p:sp>
        <p:nvSpPr>
          <p:cNvPr id="15" name="Text 13"/>
          <p:cNvSpPr/>
          <p:nvPr/>
        </p:nvSpPr>
        <p:spPr>
          <a:xfrm>
            <a:off x="1047750" y="534924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5</a:t>
            </a:r>
            <a:endParaRPr lang="en-US" sz="2400" dirty="0"/>
          </a:p>
        </p:txBody>
      </p:sp>
      <p:sp>
        <p:nvSpPr>
          <p:cNvPr id="16" name="Text 14"/>
          <p:cNvSpPr/>
          <p:nvPr/>
        </p:nvSpPr>
        <p:spPr>
          <a:xfrm>
            <a:off x="1524000" y="5402580"/>
            <a:ext cx="1228011"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dispose</a:t>
            </a:r>
            <a:endParaRPr lang="en-US" sz="2400" dirty="0"/>
          </a:p>
        </p:txBody>
      </p:sp>
      <p:sp>
        <p:nvSpPr>
          <p:cNvPr id="17" name="Text 15"/>
          <p:cNvSpPr/>
          <p:nvPr/>
        </p:nvSpPr>
        <p:spPr>
          <a:xfrm>
            <a:off x="7924800" y="297180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978880"/>
            <a:ext cx="278400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tough and long-lasting</a:t>
            </a:r>
            <a:endParaRPr lang="en-US" sz="2025" dirty="0"/>
          </a:p>
        </p:txBody>
      </p:sp>
      <p:sp>
        <p:nvSpPr>
          <p:cNvPr id="19" name="Text 17"/>
          <p:cNvSpPr/>
          <p:nvPr/>
        </p:nvSpPr>
        <p:spPr>
          <a:xfrm>
            <a:off x="7924800" y="351948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499604"/>
            <a:ext cx="3254835"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get rid of or throw away</a:t>
            </a:r>
            <a:endParaRPr lang="en-US" sz="2025" dirty="0"/>
          </a:p>
        </p:txBody>
      </p:sp>
      <p:sp>
        <p:nvSpPr>
          <p:cNvPr id="21" name="Text 19"/>
          <p:cNvSpPr/>
          <p:nvPr/>
        </p:nvSpPr>
        <p:spPr>
          <a:xfrm>
            <a:off x="7924800" y="406717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4030503"/>
            <a:ext cx="2280428"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 piece of clothing</a:t>
            </a:r>
            <a:endParaRPr lang="en-US" sz="2025" dirty="0"/>
          </a:p>
        </p:txBody>
      </p:sp>
      <p:sp>
        <p:nvSpPr>
          <p:cNvPr id="23" name="Text 21"/>
          <p:cNvSpPr/>
          <p:nvPr/>
        </p:nvSpPr>
        <p:spPr>
          <a:xfrm>
            <a:off x="7924800" y="461486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589615"/>
            <a:ext cx="2594491"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cloth or woven fabric</a:t>
            </a:r>
            <a:endParaRPr lang="en-US" sz="2025" dirty="0"/>
          </a:p>
        </p:txBody>
      </p:sp>
      <p:sp>
        <p:nvSpPr>
          <p:cNvPr id="25" name="Text 23"/>
          <p:cNvSpPr/>
          <p:nvPr/>
        </p:nvSpPr>
        <p:spPr>
          <a:xfrm>
            <a:off x="7924800" y="516255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120514"/>
            <a:ext cx="3774912"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the buying and using of goods</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722120"/>
            <a:ext cx="1889879"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626870"/>
            <a:ext cx="1601272" cy="388620"/>
          </a:xfrm>
          <a:prstGeom prst="rect">
            <a:avLst/>
          </a:prstGeom>
          <a:solidFill>
            <a:srgbClr val="1A2A5E"/>
          </a:solidFill>
          <a:ln/>
        </p:spPr>
        <p:txBody>
          <a:bodyPr/>
          <a:lstStyle/>
          <a:p>
            <a:endParaRPr lang="en-US"/>
          </a:p>
        </p:txBody>
      </p:sp>
      <p:sp>
        <p:nvSpPr>
          <p:cNvPr id="7" name="Text 5"/>
          <p:cNvSpPr/>
          <p:nvPr/>
        </p:nvSpPr>
        <p:spPr>
          <a:xfrm>
            <a:off x="3146822" y="16840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48840"/>
            <a:ext cx="17811750" cy="7543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Playfair Display" pitchFamily="34" charset="0"/>
                <a:ea typeface="Playfair Display" pitchFamily="34" charset="-122"/>
                <a:cs typeface="Playfair Display" pitchFamily="34" charset="-120"/>
              </a:rPr>
              <a:t>How did you do?</a:t>
            </a:r>
            <a:endParaRPr lang="en-US" sz="4200" dirty="0"/>
          </a:p>
        </p:txBody>
      </p:sp>
      <p:sp>
        <p:nvSpPr>
          <p:cNvPr id="9" name="Shape 7"/>
          <p:cNvSpPr/>
          <p:nvPr/>
        </p:nvSpPr>
        <p:spPr>
          <a:xfrm>
            <a:off x="1047750" y="3436620"/>
            <a:ext cx="2857500" cy="960120"/>
          </a:xfrm>
          <a:prstGeom prst="rect">
            <a:avLst/>
          </a:prstGeom>
          <a:ln w="15240">
            <a:solidFill>
              <a:srgbClr val="1A2A5E"/>
            </a:solidFill>
            <a:prstDash val="solid"/>
          </a:ln>
        </p:spPr>
        <p:txBody>
          <a:bodyPr/>
          <a:lstStyle/>
          <a:p>
            <a:endParaRPr lang="en-US"/>
          </a:p>
        </p:txBody>
      </p:sp>
      <p:sp>
        <p:nvSpPr>
          <p:cNvPr id="10" name="Text 8"/>
          <p:cNvSpPr/>
          <p:nvPr/>
        </p:nvSpPr>
        <p:spPr>
          <a:xfrm>
            <a:off x="13868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1–C </a:t>
            </a:r>
            <a:r>
              <a:rPr lang="en-US" sz="2250" b="1" dirty="0">
                <a:solidFill>
                  <a:srgbClr val="1A2A5E"/>
                </a:solidFill>
                <a:latin typeface="Helvetica" pitchFamily="34" charset="0"/>
                <a:ea typeface="Helvetica" pitchFamily="34" charset="-122"/>
                <a:cs typeface="Helvetica" pitchFamily="34" charset="-120"/>
              </a:rPr>
              <a:t>garment</a:t>
            </a:r>
            <a:endParaRPr lang="en-US" sz="1200" dirty="0"/>
          </a:p>
        </p:txBody>
      </p:sp>
      <p:sp>
        <p:nvSpPr>
          <p:cNvPr id="11" name="Shape 9"/>
          <p:cNvSpPr/>
          <p:nvPr/>
        </p:nvSpPr>
        <p:spPr>
          <a:xfrm>
            <a:off x="4152900" y="3436620"/>
            <a:ext cx="2857500" cy="960120"/>
          </a:xfrm>
          <a:prstGeom prst="rect">
            <a:avLst/>
          </a:prstGeom>
          <a:ln w="15240">
            <a:solidFill>
              <a:srgbClr val="1A2A5E"/>
            </a:solidFill>
            <a:prstDash val="solid"/>
          </a:ln>
        </p:spPr>
        <p:txBody>
          <a:bodyPr/>
          <a:lstStyle/>
          <a:p>
            <a:endParaRPr lang="en-US"/>
          </a:p>
        </p:txBody>
      </p:sp>
      <p:sp>
        <p:nvSpPr>
          <p:cNvPr id="12" name="Text 10"/>
          <p:cNvSpPr/>
          <p:nvPr/>
        </p:nvSpPr>
        <p:spPr>
          <a:xfrm>
            <a:off x="449199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2–D </a:t>
            </a:r>
            <a:r>
              <a:rPr lang="en-US" sz="2250" b="1" dirty="0">
                <a:solidFill>
                  <a:srgbClr val="1A2A5E"/>
                </a:solidFill>
                <a:latin typeface="Helvetica" pitchFamily="34" charset="0"/>
                <a:ea typeface="Helvetica" pitchFamily="34" charset="-122"/>
                <a:cs typeface="Helvetica" pitchFamily="34" charset="-120"/>
              </a:rPr>
              <a:t>textile</a:t>
            </a:r>
            <a:endParaRPr lang="en-US" sz="1200" dirty="0"/>
          </a:p>
        </p:txBody>
      </p:sp>
      <p:sp>
        <p:nvSpPr>
          <p:cNvPr id="13" name="Shape 11"/>
          <p:cNvSpPr/>
          <p:nvPr/>
        </p:nvSpPr>
        <p:spPr>
          <a:xfrm>
            <a:off x="7258050" y="3436620"/>
            <a:ext cx="2857500" cy="960120"/>
          </a:xfrm>
          <a:prstGeom prst="rect">
            <a:avLst/>
          </a:prstGeom>
          <a:ln w="15240">
            <a:solidFill>
              <a:srgbClr val="1A2A5E"/>
            </a:solidFill>
            <a:prstDash val="solid"/>
          </a:ln>
        </p:spPr>
        <p:txBody>
          <a:bodyPr/>
          <a:lstStyle/>
          <a:p>
            <a:endParaRPr lang="en-US"/>
          </a:p>
        </p:txBody>
      </p:sp>
      <p:sp>
        <p:nvSpPr>
          <p:cNvPr id="14" name="Text 12"/>
          <p:cNvSpPr/>
          <p:nvPr/>
        </p:nvSpPr>
        <p:spPr>
          <a:xfrm>
            <a:off x="75971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3–A </a:t>
            </a:r>
            <a:r>
              <a:rPr lang="en-US" sz="2250" b="1" dirty="0">
                <a:solidFill>
                  <a:srgbClr val="1A2A5E"/>
                </a:solidFill>
                <a:latin typeface="Helvetica" pitchFamily="34" charset="0"/>
                <a:ea typeface="Helvetica" pitchFamily="34" charset="-122"/>
                <a:cs typeface="Helvetica" pitchFamily="34" charset="-120"/>
              </a:rPr>
              <a:t>durable</a:t>
            </a:r>
            <a:endParaRPr lang="en-US" sz="1200" dirty="0"/>
          </a:p>
        </p:txBody>
      </p:sp>
      <p:sp>
        <p:nvSpPr>
          <p:cNvPr id="15" name="Shape 13"/>
          <p:cNvSpPr/>
          <p:nvPr/>
        </p:nvSpPr>
        <p:spPr>
          <a:xfrm>
            <a:off x="10363200" y="3436620"/>
            <a:ext cx="3323392" cy="960120"/>
          </a:xfrm>
          <a:prstGeom prst="rect">
            <a:avLst/>
          </a:prstGeom>
          <a:ln w="15240">
            <a:solidFill>
              <a:srgbClr val="1A2A5E"/>
            </a:solidFill>
            <a:prstDash val="solid"/>
          </a:ln>
        </p:spPr>
        <p:txBody>
          <a:bodyPr/>
          <a:lstStyle/>
          <a:p>
            <a:endParaRPr lang="en-US"/>
          </a:p>
        </p:txBody>
      </p:sp>
      <p:sp>
        <p:nvSpPr>
          <p:cNvPr id="16" name="Text 14"/>
          <p:cNvSpPr/>
          <p:nvPr/>
        </p:nvSpPr>
        <p:spPr>
          <a:xfrm>
            <a:off x="10702290" y="3661410"/>
            <a:ext cx="2744913"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4–E </a:t>
            </a:r>
            <a:r>
              <a:rPr lang="en-US" sz="2250" b="1" dirty="0">
                <a:solidFill>
                  <a:srgbClr val="1A2A5E"/>
                </a:solidFill>
                <a:latin typeface="Helvetica" pitchFamily="34" charset="0"/>
                <a:ea typeface="Helvetica" pitchFamily="34" charset="-122"/>
                <a:cs typeface="Helvetica" pitchFamily="34" charset="-120"/>
              </a:rPr>
              <a:t>consumption</a:t>
            </a:r>
            <a:endParaRPr lang="en-US" sz="1200" dirty="0"/>
          </a:p>
        </p:txBody>
      </p:sp>
      <p:sp>
        <p:nvSpPr>
          <p:cNvPr id="17" name="Shape 15"/>
          <p:cNvSpPr/>
          <p:nvPr/>
        </p:nvSpPr>
        <p:spPr>
          <a:xfrm>
            <a:off x="13934241" y="3436620"/>
            <a:ext cx="2857500" cy="960120"/>
          </a:xfrm>
          <a:prstGeom prst="rect">
            <a:avLst/>
          </a:prstGeom>
          <a:ln w="15240">
            <a:solidFill>
              <a:srgbClr val="1A2A5E"/>
            </a:solidFill>
            <a:prstDash val="solid"/>
          </a:ln>
        </p:spPr>
        <p:txBody>
          <a:bodyPr/>
          <a:lstStyle/>
          <a:p>
            <a:endParaRPr lang="en-US"/>
          </a:p>
        </p:txBody>
      </p:sp>
      <p:sp>
        <p:nvSpPr>
          <p:cNvPr id="18" name="Text 16"/>
          <p:cNvSpPr/>
          <p:nvPr/>
        </p:nvSpPr>
        <p:spPr>
          <a:xfrm>
            <a:off x="14273331"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5–B </a:t>
            </a:r>
            <a:r>
              <a:rPr lang="en-US" sz="2250" b="1" dirty="0">
                <a:solidFill>
                  <a:srgbClr val="1A2A5E"/>
                </a:solidFill>
                <a:latin typeface="Helvetica" pitchFamily="34" charset="0"/>
                <a:ea typeface="Helvetica" pitchFamily="34" charset="-122"/>
                <a:cs typeface="Helvetica" pitchFamily="34" charset="-120"/>
              </a:rPr>
              <a:t>dispose</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03251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62865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264920"/>
            <a:ext cx="17811750" cy="236220"/>
          </a:xfrm>
          <a:prstGeom prst="rect">
            <a:avLst/>
          </a:prstGeom>
          <a:noFill/>
          <a:ln/>
        </p:spPr>
        <p:txBody>
          <a:bodyPr wrap="square" lIns="25400" tIns="25400" rIns="25400" bIns="25400" rtlCol="0" anchor="t">
            <a:normAutofit lnSpcReduction="10000"/>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52019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Fast Fashion</a:t>
            </a:r>
            <a:endParaRPr lang="en-US" sz="3750" dirty="0"/>
          </a:p>
        </p:txBody>
      </p:sp>
      <p:sp>
        <p:nvSpPr>
          <p:cNvPr id="7" name="Text 5"/>
          <p:cNvSpPr/>
          <p:nvPr/>
        </p:nvSpPr>
        <p:spPr>
          <a:xfrm>
            <a:off x="1047750" y="223647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How can clothes be so cheap?</a:t>
            </a:r>
            <a:endParaRPr lang="en-US" sz="2025" dirty="0"/>
          </a:p>
        </p:txBody>
      </p:sp>
      <p:sp>
        <p:nvSpPr>
          <p:cNvPr id="8" name="Shape 6"/>
          <p:cNvSpPr/>
          <p:nvPr/>
        </p:nvSpPr>
        <p:spPr>
          <a:xfrm>
            <a:off x="1047750" y="2667000"/>
            <a:ext cx="609600" cy="38100"/>
          </a:xfrm>
          <a:prstGeom prst="rect">
            <a:avLst/>
          </a:prstGeom>
          <a:solidFill>
            <a:srgbClr val="D9B877"/>
          </a:solidFill>
          <a:ln/>
        </p:spPr>
        <p:txBody>
          <a:bodyPr/>
          <a:lstStyle/>
          <a:p>
            <a:endParaRPr lang="en-US"/>
          </a:p>
        </p:txBody>
      </p:sp>
      <p:sp>
        <p:nvSpPr>
          <p:cNvPr id="9" name="Text 7"/>
          <p:cNvSpPr/>
          <p:nvPr/>
        </p:nvSpPr>
        <p:spPr>
          <a:xfrm>
            <a:off x="1047750" y="2819400"/>
            <a:ext cx="17811750" cy="28194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 five-dollar T-shirt looks like a bargain — but someone, or something, pays the difference.</a:t>
            </a:r>
            <a:endParaRPr lang="en-US" sz="1650" dirty="0"/>
          </a:p>
        </p:txBody>
      </p:sp>
      <p:sp>
        <p:nvSpPr>
          <p:cNvPr id="10" name="Text 8"/>
          <p:cNvSpPr/>
          <p:nvPr/>
        </p:nvSpPr>
        <p:spPr>
          <a:xfrm>
            <a:off x="1047750" y="327279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A brand-new T-shirt for the price of a coffee sounds like a bargain. In fast-fashion stores, shelves are refilled with cheap new </a:t>
            </a:r>
            <a:r>
              <a:rPr lang="en-US" sz="1650" b="1" dirty="0">
                <a:solidFill>
                  <a:srgbClr val="1A2A5E"/>
                </a:solidFill>
                <a:latin typeface="Helvetica" pitchFamily="34" charset="0"/>
                <a:ea typeface="Helvetica" pitchFamily="34" charset="-122"/>
                <a:cs typeface="Helvetica" pitchFamily="34" charset="-120"/>
              </a:rPr>
              <a:t>garments </a:t>
            </a:r>
            <a:r>
              <a:rPr lang="en-US" sz="1650" dirty="0">
                <a:solidFill>
                  <a:srgbClr val="222222"/>
                </a:solidFill>
                <a:latin typeface="Helvetica" pitchFamily="34" charset="0"/>
                <a:ea typeface="Helvetica" pitchFamily="34" charset="-122"/>
                <a:cs typeface="Helvetica" pitchFamily="34" charset="-120"/>
              </a:rPr>
              <a:t>almost every week, and shoppers are encouraged to buy far more than they need. But behind that five-dollar price tag lies a hidden cost that never appears on the receipt.</a:t>
            </a:r>
            <a:endParaRPr lang="en-US" sz="1650" dirty="0"/>
          </a:p>
        </p:txBody>
      </p:sp>
      <p:sp>
        <p:nvSpPr>
          <p:cNvPr id="11" name="Text 9"/>
          <p:cNvSpPr/>
          <p:nvPr/>
        </p:nvSpPr>
        <p:spPr>
          <a:xfrm>
            <a:off x="1047750" y="512064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Fast fashion means clothing designed, made, and sold at astonishing speed. To keep prices low, factories use cheap </a:t>
            </a:r>
            <a:r>
              <a:rPr lang="en-US" sz="1650" b="1" dirty="0">
                <a:solidFill>
                  <a:srgbClr val="1A2A5E"/>
                </a:solidFill>
                <a:latin typeface="Helvetica" pitchFamily="34" charset="0"/>
                <a:ea typeface="Helvetica" pitchFamily="34" charset="-122"/>
                <a:cs typeface="Helvetica" pitchFamily="34" charset="-120"/>
              </a:rPr>
              <a:t>textiles </a:t>
            </a:r>
            <a:r>
              <a:rPr lang="en-US" sz="1650" dirty="0">
                <a:solidFill>
                  <a:srgbClr val="222222"/>
                </a:solidFill>
                <a:latin typeface="Helvetica" pitchFamily="34" charset="0"/>
                <a:ea typeface="Helvetica" pitchFamily="34" charset="-122"/>
                <a:cs typeface="Helvetica" pitchFamily="34" charset="-120"/>
              </a:rPr>
              <a:t>and rushed labour, often where wages are small. The clothes are rarely </a:t>
            </a:r>
            <a:r>
              <a:rPr lang="en-US" sz="1650" b="1" dirty="0">
                <a:solidFill>
                  <a:srgbClr val="1A2A5E"/>
                </a:solidFill>
                <a:latin typeface="Helvetica" pitchFamily="34" charset="0"/>
                <a:ea typeface="Helvetica" pitchFamily="34" charset="-122"/>
                <a:cs typeface="Helvetica" pitchFamily="34" charset="-120"/>
              </a:rPr>
              <a:t>durable </a:t>
            </a:r>
            <a:r>
              <a:rPr lang="en-US" sz="1650" dirty="0">
                <a:solidFill>
                  <a:srgbClr val="222222"/>
                </a:solidFill>
                <a:latin typeface="Helvetica" pitchFamily="34" charset="0"/>
                <a:ea typeface="Helvetica" pitchFamily="34" charset="-122"/>
                <a:cs typeface="Helvetica" pitchFamily="34" charset="-120"/>
              </a:rPr>
              <a:t>; a shirt worn a few times may lose its shape and be thrown out within a single season.</a:t>
            </a:r>
            <a:endParaRPr lang="en-US" sz="1650" dirty="0"/>
          </a:p>
        </p:txBody>
      </p:sp>
      <p:sp>
        <p:nvSpPr>
          <p:cNvPr id="12" name="Text 10"/>
          <p:cNvSpPr/>
          <p:nvPr/>
        </p:nvSpPr>
        <p:spPr>
          <a:xfrm>
            <a:off x="9401175" y="327279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numbers are staggering. Making a single cotton T-shirt can use around 2,700 litres of water — enough for one person to drink for years. Around the world, a rubbish truck full of clothing is burned or buried every second. This constant </a:t>
            </a:r>
            <a:r>
              <a:rPr lang="en-US" sz="1650" b="1" dirty="0">
                <a:solidFill>
                  <a:srgbClr val="1A2A5E"/>
                </a:solidFill>
                <a:latin typeface="Helvetica" pitchFamily="34" charset="0"/>
                <a:ea typeface="Helvetica" pitchFamily="34" charset="-122"/>
                <a:cs typeface="Helvetica" pitchFamily="34" charset="-120"/>
              </a:rPr>
              <a:t>consumption </a:t>
            </a:r>
            <a:r>
              <a:rPr lang="en-US" sz="1650" dirty="0">
                <a:solidFill>
                  <a:srgbClr val="222222"/>
                </a:solidFill>
                <a:latin typeface="Helvetica" pitchFamily="34" charset="0"/>
                <a:ea typeface="Helvetica" pitchFamily="34" charset="-122"/>
                <a:cs typeface="Helvetica" pitchFamily="34" charset="-120"/>
              </a:rPr>
              <a:t>has made fashion one of the most polluting industries on Earth.</a:t>
            </a:r>
            <a:endParaRPr lang="en-US" sz="1650" dirty="0"/>
          </a:p>
        </p:txBody>
      </p:sp>
      <p:sp>
        <p:nvSpPr>
          <p:cNvPr id="13" name="Text 11"/>
          <p:cNvSpPr/>
          <p:nvPr/>
        </p:nvSpPr>
        <p:spPr>
          <a:xfrm>
            <a:off x="9437478" y="514350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Change, though, is within reach. A growing number of shoppers now </a:t>
            </a:r>
            <a:r>
              <a:rPr lang="en-US" sz="1650" b="1" dirty="0">
                <a:solidFill>
                  <a:srgbClr val="1A2A5E"/>
                </a:solidFill>
                <a:latin typeface="Helvetica" pitchFamily="34" charset="0"/>
                <a:ea typeface="Helvetica" pitchFamily="34" charset="-122"/>
                <a:cs typeface="Helvetica" pitchFamily="34" charset="-120"/>
              </a:rPr>
              <a:t>dispose </a:t>
            </a:r>
            <a:r>
              <a:rPr lang="en-US" sz="1650" dirty="0">
                <a:solidFill>
                  <a:srgbClr val="222222"/>
                </a:solidFill>
                <a:latin typeface="Helvetica" pitchFamily="34" charset="0"/>
                <a:ea typeface="Helvetica" pitchFamily="34" charset="-122"/>
                <a:cs typeface="Helvetica" pitchFamily="34" charset="-120"/>
              </a:rPr>
              <a:t>of far less by buying second-hand, repairing what they own, or simply choosing fewer, better-made pieces. Owning ten quality items you love may bring more satisfaction than a hundred that fall apart.</a:t>
            </a:r>
            <a:endParaRPr lang="en-US" sz="1650" dirty="0"/>
          </a:p>
        </p:txBody>
      </p:sp>
      <p:sp>
        <p:nvSpPr>
          <p:cNvPr id="14" name="Shape 12"/>
          <p:cNvSpPr/>
          <p:nvPr/>
        </p:nvSpPr>
        <p:spPr>
          <a:xfrm>
            <a:off x="1093470" y="7679055"/>
            <a:ext cx="45720" cy="421005"/>
          </a:xfrm>
          <a:prstGeom prst="rect">
            <a:avLst/>
          </a:prstGeom>
          <a:solidFill>
            <a:srgbClr val="D9B877"/>
          </a:solidFill>
          <a:ln/>
        </p:spPr>
        <p:txBody>
          <a:bodyPr/>
          <a:lstStyle/>
          <a:p>
            <a:endParaRPr lang="en-US"/>
          </a:p>
        </p:txBody>
      </p:sp>
      <p:sp>
        <p:nvSpPr>
          <p:cNvPr id="15" name="Text 13"/>
          <p:cNvSpPr/>
          <p:nvPr/>
        </p:nvSpPr>
        <p:spPr>
          <a:xfrm>
            <a:off x="1405890" y="7679055"/>
            <a:ext cx="14356080" cy="45910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550" b="1" i="1" dirty="0">
                <a:solidFill>
                  <a:srgbClr val="1A2A5E"/>
                </a:solidFill>
                <a:latin typeface="Playfair Display" pitchFamily="34" charset="0"/>
                <a:ea typeface="Playfair Display" pitchFamily="34" charset="-122"/>
                <a:cs typeface="Playfair Display" pitchFamily="34" charset="-120"/>
              </a:rPr>
              <a:t>If a T-shirt costs only five dollars, who — or what — is paying the difference?</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4-audio">
            <a:hlinkClick r:id="" action="ppaction://media"/>
            <a:extLst>
              <a:ext uri="{FF2B5EF4-FFF2-40B4-BE49-F238E27FC236}">
                <a16:creationId xmlns:a16="http://schemas.microsoft.com/office/drawing/2014/main" id="{295855DA-A2C0-2ABD-070A-BE42CD6A183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825582" y="1369712"/>
            <a:ext cx="487362"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True or False?</a:t>
            </a:r>
            <a:endParaRPr lang="en-US" sz="4050" dirty="0"/>
          </a:p>
        </p:txBody>
      </p:sp>
      <p:sp>
        <p:nvSpPr>
          <p:cNvPr id="7" name="Shape 5"/>
          <p:cNvSpPr/>
          <p:nvPr/>
        </p:nvSpPr>
        <p:spPr>
          <a:xfrm>
            <a:off x="1047750" y="3615690"/>
            <a:ext cx="14763750" cy="9525"/>
          </a:xfrm>
          <a:prstGeom prst="rect">
            <a:avLst/>
          </a:prstGeom>
          <a:solidFill>
            <a:srgbClr val="E3E1DB"/>
          </a:solidFill>
          <a:ln/>
        </p:spPr>
        <p:txBody>
          <a:bodyPr/>
          <a:lstStyle/>
          <a:p>
            <a:endParaRPr lang="en-US"/>
          </a:p>
        </p:txBody>
      </p:sp>
      <p:sp>
        <p:nvSpPr>
          <p:cNvPr id="8" name="Text 6"/>
          <p:cNvSpPr/>
          <p:nvPr/>
        </p:nvSpPr>
        <p:spPr>
          <a:xfrm>
            <a:off x="1047750" y="299085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676400" y="304800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Fast-fashion clothes are usually made to last for many years.</a:t>
            </a:r>
            <a:endParaRPr lang="en-US" sz="2175" dirty="0"/>
          </a:p>
        </p:txBody>
      </p:sp>
      <p:sp>
        <p:nvSpPr>
          <p:cNvPr id="10" name="Text 8"/>
          <p:cNvSpPr/>
          <p:nvPr/>
        </p:nvSpPr>
        <p:spPr>
          <a:xfrm>
            <a:off x="14997469" y="303276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457700"/>
            <a:ext cx="14763750" cy="9525"/>
          </a:xfrm>
          <a:prstGeom prst="rect">
            <a:avLst/>
          </a:prstGeom>
          <a:solidFill>
            <a:srgbClr val="E3E1DB"/>
          </a:solidFill>
          <a:ln/>
        </p:spPr>
        <p:txBody>
          <a:bodyPr/>
          <a:lstStyle/>
          <a:p>
            <a:endParaRPr lang="en-US"/>
          </a:p>
        </p:txBody>
      </p:sp>
      <p:sp>
        <p:nvSpPr>
          <p:cNvPr id="12" name="Text 10"/>
          <p:cNvSpPr/>
          <p:nvPr/>
        </p:nvSpPr>
        <p:spPr>
          <a:xfrm>
            <a:off x="1047750" y="383286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3" name="Text 11"/>
          <p:cNvSpPr/>
          <p:nvPr/>
        </p:nvSpPr>
        <p:spPr>
          <a:xfrm>
            <a:off x="1676400" y="389001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Making one cotton T-shirt can use around 2,700 litres of water.</a:t>
            </a:r>
            <a:endParaRPr lang="en-US" sz="2175" dirty="0"/>
          </a:p>
        </p:txBody>
      </p:sp>
      <p:sp>
        <p:nvSpPr>
          <p:cNvPr id="14" name="Text 12"/>
          <p:cNvSpPr/>
          <p:nvPr/>
        </p:nvSpPr>
        <p:spPr>
          <a:xfrm>
            <a:off x="14997469" y="387477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5299710"/>
            <a:ext cx="14763750" cy="9525"/>
          </a:xfrm>
          <a:prstGeom prst="rect">
            <a:avLst/>
          </a:prstGeom>
          <a:solidFill>
            <a:srgbClr val="E3E1DB"/>
          </a:solidFill>
          <a:ln/>
        </p:spPr>
        <p:txBody>
          <a:bodyPr/>
          <a:lstStyle/>
          <a:p>
            <a:endParaRPr lang="en-US"/>
          </a:p>
        </p:txBody>
      </p:sp>
      <p:sp>
        <p:nvSpPr>
          <p:cNvPr id="16" name="Text 14"/>
          <p:cNvSpPr/>
          <p:nvPr/>
        </p:nvSpPr>
        <p:spPr>
          <a:xfrm>
            <a:off x="1047750" y="467487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7" name="Text 15"/>
          <p:cNvSpPr/>
          <p:nvPr/>
        </p:nvSpPr>
        <p:spPr>
          <a:xfrm>
            <a:off x="1676400" y="473202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Fast fashion is one of the world’s cleanest industries.</a:t>
            </a:r>
            <a:endParaRPr lang="en-US" sz="2175" dirty="0"/>
          </a:p>
        </p:txBody>
      </p:sp>
      <p:sp>
        <p:nvSpPr>
          <p:cNvPr id="18" name="Text 16"/>
          <p:cNvSpPr/>
          <p:nvPr/>
        </p:nvSpPr>
        <p:spPr>
          <a:xfrm>
            <a:off x="14997469" y="47167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6141720"/>
            <a:ext cx="14763750" cy="9525"/>
          </a:xfrm>
          <a:prstGeom prst="rect">
            <a:avLst/>
          </a:prstGeom>
          <a:solidFill>
            <a:srgbClr val="E3E1DB"/>
          </a:solidFill>
          <a:ln/>
        </p:spPr>
        <p:txBody>
          <a:bodyPr/>
          <a:lstStyle/>
          <a:p>
            <a:endParaRPr lang="en-US"/>
          </a:p>
        </p:txBody>
      </p:sp>
      <p:sp>
        <p:nvSpPr>
          <p:cNvPr id="20" name="Text 18"/>
          <p:cNvSpPr/>
          <p:nvPr/>
        </p:nvSpPr>
        <p:spPr>
          <a:xfrm>
            <a:off x="1047750" y="551688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21" name="Text 19"/>
          <p:cNvSpPr/>
          <p:nvPr/>
        </p:nvSpPr>
        <p:spPr>
          <a:xfrm>
            <a:off x="1676400" y="557403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 truckload of clothing is thrown away or burned every second.</a:t>
            </a:r>
            <a:endParaRPr lang="en-US" sz="2175" dirty="0"/>
          </a:p>
        </p:txBody>
      </p:sp>
      <p:sp>
        <p:nvSpPr>
          <p:cNvPr id="22" name="Text 20"/>
          <p:cNvSpPr/>
          <p:nvPr/>
        </p:nvSpPr>
        <p:spPr>
          <a:xfrm>
            <a:off x="14997469" y="55587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635889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4" name="Text 22"/>
          <p:cNvSpPr/>
          <p:nvPr/>
        </p:nvSpPr>
        <p:spPr>
          <a:xfrm>
            <a:off x="1676400" y="641604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Buying second-hand is one way to waste less.</a:t>
            </a:r>
            <a:endParaRPr lang="en-US" sz="2175" dirty="0"/>
          </a:p>
        </p:txBody>
      </p:sp>
      <p:sp>
        <p:nvSpPr>
          <p:cNvPr id="25" name="Text 23"/>
          <p:cNvSpPr/>
          <p:nvPr/>
        </p:nvSpPr>
        <p:spPr>
          <a:xfrm>
            <a:off x="14997469" y="640080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84020"/>
            <a:ext cx="2419386"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88770"/>
            <a:ext cx="1601272" cy="388620"/>
          </a:xfrm>
          <a:prstGeom prst="rect">
            <a:avLst/>
          </a:prstGeom>
          <a:solidFill>
            <a:srgbClr val="1A2A5E"/>
          </a:solidFill>
          <a:ln/>
        </p:spPr>
        <p:txBody>
          <a:bodyPr/>
          <a:lstStyle/>
          <a:p>
            <a:endParaRPr lang="en-US"/>
          </a:p>
        </p:txBody>
      </p:sp>
      <p:sp>
        <p:nvSpPr>
          <p:cNvPr id="7" name="Text 5"/>
          <p:cNvSpPr/>
          <p:nvPr/>
        </p:nvSpPr>
        <p:spPr>
          <a:xfrm>
            <a:off x="3628192" y="16459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1074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True or False?</a:t>
            </a:r>
            <a:endParaRPr lang="en-US" sz="3900" dirty="0"/>
          </a:p>
        </p:txBody>
      </p:sp>
      <p:sp>
        <p:nvSpPr>
          <p:cNvPr id="9" name="Text 7"/>
          <p:cNvSpPr/>
          <p:nvPr/>
        </p:nvSpPr>
        <p:spPr>
          <a:xfrm>
            <a:off x="1047750" y="31470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0" name="Text 8"/>
          <p:cNvSpPr/>
          <p:nvPr/>
        </p:nvSpPr>
        <p:spPr>
          <a:xfrm>
            <a:off x="1676400" y="31623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1" name="Text 9"/>
          <p:cNvSpPr/>
          <p:nvPr/>
        </p:nvSpPr>
        <p:spPr>
          <a:xfrm>
            <a:off x="2952750" y="31965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Fast-fashion clothes are usually made to last for many years. </a:t>
            </a:r>
            <a:r>
              <a:rPr lang="en-US" sz="1950" i="1" dirty="0">
                <a:solidFill>
                  <a:srgbClr val="888888"/>
                </a:solidFill>
                <a:latin typeface="Helvetica" pitchFamily="34" charset="0"/>
                <a:ea typeface="Helvetica" pitchFamily="34" charset="-122"/>
                <a:cs typeface="Helvetica" pitchFamily="34" charset="-120"/>
              </a:rPr>
              <a:t>— rarely durable.</a:t>
            </a:r>
            <a:endParaRPr lang="en-US" sz="1950" dirty="0"/>
          </a:p>
        </p:txBody>
      </p:sp>
      <p:sp>
        <p:nvSpPr>
          <p:cNvPr id="12" name="Text 10"/>
          <p:cNvSpPr/>
          <p:nvPr/>
        </p:nvSpPr>
        <p:spPr>
          <a:xfrm>
            <a:off x="1047750" y="36995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3" name="Text 11"/>
          <p:cNvSpPr/>
          <p:nvPr/>
        </p:nvSpPr>
        <p:spPr>
          <a:xfrm>
            <a:off x="1676400" y="37147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4" name="Text 12"/>
          <p:cNvSpPr/>
          <p:nvPr/>
        </p:nvSpPr>
        <p:spPr>
          <a:xfrm>
            <a:off x="2952750" y="37490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Making one cotton T-shirt can use around 2,700 litres of water.</a:t>
            </a:r>
            <a:endParaRPr lang="en-US" sz="1950" dirty="0"/>
          </a:p>
        </p:txBody>
      </p:sp>
      <p:sp>
        <p:nvSpPr>
          <p:cNvPr id="15" name="Text 13"/>
          <p:cNvSpPr/>
          <p:nvPr/>
        </p:nvSpPr>
        <p:spPr>
          <a:xfrm>
            <a:off x="1047750" y="42519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6" name="Text 14"/>
          <p:cNvSpPr/>
          <p:nvPr/>
        </p:nvSpPr>
        <p:spPr>
          <a:xfrm>
            <a:off x="1676400" y="42672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7" name="Text 15"/>
          <p:cNvSpPr/>
          <p:nvPr/>
        </p:nvSpPr>
        <p:spPr>
          <a:xfrm>
            <a:off x="2952750" y="43014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Fast fashion is one of the world’s cleanest industries. </a:t>
            </a:r>
            <a:r>
              <a:rPr lang="en-US" sz="1950" i="1" dirty="0">
                <a:solidFill>
                  <a:srgbClr val="888888"/>
                </a:solidFill>
                <a:latin typeface="Helvetica" pitchFamily="34" charset="0"/>
                <a:ea typeface="Helvetica" pitchFamily="34" charset="-122"/>
                <a:cs typeface="Helvetica" pitchFamily="34" charset="-120"/>
              </a:rPr>
              <a:t>— one of the most polluting.</a:t>
            </a:r>
            <a:endParaRPr lang="en-US" sz="1950" dirty="0"/>
          </a:p>
        </p:txBody>
      </p:sp>
      <p:sp>
        <p:nvSpPr>
          <p:cNvPr id="18" name="Text 16"/>
          <p:cNvSpPr/>
          <p:nvPr/>
        </p:nvSpPr>
        <p:spPr>
          <a:xfrm>
            <a:off x="1047750" y="48044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19" name="Text 17"/>
          <p:cNvSpPr/>
          <p:nvPr/>
        </p:nvSpPr>
        <p:spPr>
          <a:xfrm>
            <a:off x="1676400" y="48196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0" name="Text 18"/>
          <p:cNvSpPr/>
          <p:nvPr/>
        </p:nvSpPr>
        <p:spPr>
          <a:xfrm>
            <a:off x="2952750" y="48539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 truckload of clothing is thrown away or burned every second.</a:t>
            </a:r>
            <a:endParaRPr lang="en-US" sz="1950" dirty="0"/>
          </a:p>
        </p:txBody>
      </p:sp>
      <p:sp>
        <p:nvSpPr>
          <p:cNvPr id="21" name="Text 19"/>
          <p:cNvSpPr/>
          <p:nvPr/>
        </p:nvSpPr>
        <p:spPr>
          <a:xfrm>
            <a:off x="1047750" y="53568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2" name="Text 20"/>
          <p:cNvSpPr/>
          <p:nvPr/>
        </p:nvSpPr>
        <p:spPr>
          <a:xfrm>
            <a:off x="1676400" y="53721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4063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Buying second-hand is one way to waste less.</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125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80975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Playfair Display" pitchFamily="34" charset="0"/>
                <a:ea typeface="Playfair Display" pitchFamily="34" charset="-122"/>
                <a:cs typeface="Playfair Display" pitchFamily="34" charset="-120"/>
              </a:rPr>
              <a:t>Talk it through</a:t>
            </a:r>
            <a:endParaRPr lang="en-US" sz="3900" dirty="0"/>
          </a:p>
        </p:txBody>
      </p:sp>
      <p:sp>
        <p:nvSpPr>
          <p:cNvPr id="7" name="Shape 5"/>
          <p:cNvSpPr/>
          <p:nvPr/>
        </p:nvSpPr>
        <p:spPr>
          <a:xfrm>
            <a:off x="1047750" y="3394710"/>
            <a:ext cx="15049500" cy="9525"/>
          </a:xfrm>
          <a:prstGeom prst="rect">
            <a:avLst/>
          </a:prstGeom>
          <a:solidFill>
            <a:srgbClr val="34437A"/>
          </a:solidFill>
          <a:ln/>
        </p:spPr>
        <p:txBody>
          <a:bodyPr/>
          <a:lstStyle/>
          <a:p>
            <a:endParaRPr lang="en-US"/>
          </a:p>
        </p:txBody>
      </p:sp>
      <p:sp>
        <p:nvSpPr>
          <p:cNvPr id="8" name="Text 6"/>
          <p:cNvSpPr/>
          <p:nvPr/>
        </p:nvSpPr>
        <p:spPr>
          <a:xfrm>
            <a:off x="1047750" y="2807970"/>
            <a:ext cx="20193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402080" y="2891790"/>
            <a:ext cx="1616468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buy clothes often? What makes you decide to buy something new?</a:t>
            </a:r>
            <a:endParaRPr lang="en-US" sz="2100" dirty="0"/>
          </a:p>
        </p:txBody>
      </p:sp>
      <p:sp>
        <p:nvSpPr>
          <p:cNvPr id="10" name="Shape 8"/>
          <p:cNvSpPr/>
          <p:nvPr/>
        </p:nvSpPr>
        <p:spPr>
          <a:xfrm>
            <a:off x="1047750" y="4160520"/>
            <a:ext cx="15049500" cy="9525"/>
          </a:xfrm>
          <a:prstGeom prst="rect">
            <a:avLst/>
          </a:prstGeom>
          <a:solidFill>
            <a:srgbClr val="34437A"/>
          </a:solidFill>
          <a:ln/>
        </p:spPr>
        <p:txBody>
          <a:bodyPr/>
          <a:lstStyle/>
          <a:p>
            <a:endParaRPr lang="en-US"/>
          </a:p>
        </p:txBody>
      </p:sp>
      <p:sp>
        <p:nvSpPr>
          <p:cNvPr id="11" name="Text 9"/>
          <p:cNvSpPr/>
          <p:nvPr/>
        </p:nvSpPr>
        <p:spPr>
          <a:xfrm>
            <a:off x="1047750" y="3573780"/>
            <a:ext cx="250508"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2" name="Text 10"/>
          <p:cNvSpPr/>
          <p:nvPr/>
        </p:nvSpPr>
        <p:spPr>
          <a:xfrm>
            <a:off x="1450658" y="3657600"/>
            <a:ext cx="16111253"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How has the way you shop for clothes changed over your life?</a:t>
            </a:r>
            <a:endParaRPr lang="en-US" sz="2100" dirty="0"/>
          </a:p>
        </p:txBody>
      </p:sp>
      <p:sp>
        <p:nvSpPr>
          <p:cNvPr id="13" name="Shape 11"/>
          <p:cNvSpPr/>
          <p:nvPr/>
        </p:nvSpPr>
        <p:spPr>
          <a:xfrm>
            <a:off x="1047750" y="4926330"/>
            <a:ext cx="15049500" cy="9525"/>
          </a:xfrm>
          <a:prstGeom prst="rect">
            <a:avLst/>
          </a:prstGeom>
          <a:solidFill>
            <a:srgbClr val="34437A"/>
          </a:solidFill>
          <a:ln/>
        </p:spPr>
        <p:txBody>
          <a:bodyPr/>
          <a:lstStyle/>
          <a:p>
            <a:endParaRPr lang="en-US"/>
          </a:p>
        </p:txBody>
      </p:sp>
      <p:sp>
        <p:nvSpPr>
          <p:cNvPr id="14" name="Text 12"/>
          <p:cNvSpPr/>
          <p:nvPr/>
        </p:nvSpPr>
        <p:spPr>
          <a:xfrm>
            <a:off x="1047750" y="4339590"/>
            <a:ext cx="23812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5" name="Text 13"/>
          <p:cNvSpPr/>
          <p:nvPr/>
        </p:nvSpPr>
        <p:spPr>
          <a:xfrm>
            <a:off x="1438275" y="4423410"/>
            <a:ext cx="16124872"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you think people keep buying clothes they don’t really need?</a:t>
            </a:r>
            <a:endParaRPr lang="en-US" sz="2100" dirty="0"/>
          </a:p>
        </p:txBody>
      </p:sp>
      <p:sp>
        <p:nvSpPr>
          <p:cNvPr id="16" name="Shape 14"/>
          <p:cNvSpPr/>
          <p:nvPr/>
        </p:nvSpPr>
        <p:spPr>
          <a:xfrm>
            <a:off x="1047750" y="5692140"/>
            <a:ext cx="15049500" cy="9525"/>
          </a:xfrm>
          <a:prstGeom prst="rect">
            <a:avLst/>
          </a:prstGeom>
          <a:solidFill>
            <a:srgbClr val="34437A"/>
          </a:solidFill>
          <a:ln/>
        </p:spPr>
        <p:txBody>
          <a:bodyPr/>
          <a:lstStyle/>
          <a:p>
            <a:endParaRPr lang="en-US"/>
          </a:p>
        </p:txBody>
      </p:sp>
      <p:sp>
        <p:nvSpPr>
          <p:cNvPr id="17" name="Text 15"/>
          <p:cNvSpPr/>
          <p:nvPr/>
        </p:nvSpPr>
        <p:spPr>
          <a:xfrm>
            <a:off x="1047750" y="5105400"/>
            <a:ext cx="25086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18" name="Text 16"/>
          <p:cNvSpPr/>
          <p:nvPr/>
        </p:nvSpPr>
        <p:spPr>
          <a:xfrm>
            <a:off x="1451015" y="5189220"/>
            <a:ext cx="16110859"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fair to blame shoppers for the problems of fast fashion?</a:t>
            </a:r>
            <a:endParaRPr lang="en-US" sz="2100" dirty="0"/>
          </a:p>
        </p:txBody>
      </p:sp>
      <p:sp>
        <p:nvSpPr>
          <p:cNvPr id="19" name="Text 17"/>
          <p:cNvSpPr/>
          <p:nvPr/>
        </p:nvSpPr>
        <p:spPr>
          <a:xfrm>
            <a:off x="1047750" y="5871210"/>
            <a:ext cx="229791"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0" name="Text 18"/>
          <p:cNvSpPr/>
          <p:nvPr/>
        </p:nvSpPr>
        <p:spPr>
          <a:xfrm>
            <a:off x="1429941" y="5955030"/>
            <a:ext cx="16134040"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better to own ten good items or a hundred cheap ones? Why?</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86790"/>
            <a:ext cx="16192500" cy="2286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047750" y="571500"/>
            <a:ext cx="3771900" cy="32004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1" i="0" u="none" strike="noStrike" kern="0" cap="none" spc="38" normalizeH="0" baseline="0" noProof="0" dirty="0">
                <a:ln>
                  <a:noFill/>
                </a:ln>
                <a:solidFill>
                  <a:srgbClr val="1A2A5E"/>
                </a:solidFill>
                <a:effectLst/>
                <a:uLnTx/>
                <a:uFillTx/>
                <a:latin typeface="Georgia" pitchFamily="34" charset="0"/>
                <a:ea typeface="Georgia" pitchFamily="34" charset="-122"/>
                <a:cs typeface="Georgia" pitchFamily="34" charset="-120"/>
              </a:rPr>
              <a:t>PERSPECTIVE</a:t>
            </a:r>
            <a:endParaRPr kumimoji="0" lang="en-US" sz="1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4525506" y="605790"/>
            <a:ext cx="2986219" cy="25146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1A2A5E"/>
                </a:solidFill>
                <a:effectLst/>
                <a:uLnTx/>
                <a:uFillTx/>
                <a:latin typeface="Helvetica" pitchFamily="34" charset="0"/>
                <a:ea typeface="Helvetica" pitchFamily="34" charset="-122"/>
                <a:cs typeface="Helvetica" pitchFamily="34" charset="-120"/>
              </a:rPr>
              <a:t>ISSUE 004 · FAST FASHION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47750" y="1238250"/>
            <a:ext cx="2757547" cy="25908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300" normalizeH="0" baseline="0" noProof="0" dirty="0">
                <a:ln>
                  <a:noFill/>
                </a:ln>
                <a:solidFill>
                  <a:srgbClr val="BF842C"/>
                </a:solidFill>
                <a:effectLst/>
                <a:uLnTx/>
                <a:uFillTx/>
                <a:latin typeface="Helvetica" pitchFamily="34" charset="0"/>
                <a:ea typeface="Helvetica" pitchFamily="34" charset="-122"/>
                <a:cs typeface="Helvetica" pitchFamily="34" charset="-120"/>
              </a:rPr>
              <a:t>CRITICAL THINKING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3764161" y="1247775"/>
            <a:ext cx="1810822" cy="240030"/>
          </a:xfrm>
          <a:prstGeom prst="rect">
            <a:avLst/>
          </a:prstGeom>
          <a:ln w="7620">
            <a:solidFill>
              <a:srgbClr val="D9B87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3886081" y="1283970"/>
            <a:ext cx="1643182" cy="20574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0" cap="none" spc="225" normalizeH="0" baseline="0" noProof="0" dirty="0">
                <a:ln>
                  <a:noFill/>
                </a:ln>
                <a:solidFill>
                  <a:srgbClr val="BF842C"/>
                </a:solidFill>
                <a:effectLst/>
                <a:uLnTx/>
                <a:uFillTx/>
                <a:latin typeface="Helvetica" pitchFamily="34" charset="0"/>
                <a:ea typeface="Helvetica" pitchFamily="34" charset="-122"/>
                <a:cs typeface="Helvetica" pitchFamily="34" charset="-120"/>
              </a:rPr>
              <a:t>THE PRICE TEST</a:t>
            </a:r>
            <a:endParaRPr kumimoji="0" lang="en-US" sz="11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47750" y="1564005"/>
            <a:ext cx="17811750" cy="5105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1A2A5E"/>
                </a:solidFill>
                <a:effectLst/>
                <a:uLnTx/>
                <a:uFillTx/>
                <a:latin typeface="Georgia" pitchFamily="34" charset="0"/>
                <a:ea typeface="Georgia" pitchFamily="34" charset="-122"/>
                <a:cs typeface="Georgia" pitchFamily="34" charset="-120"/>
              </a:rPr>
              <a:t>Six identical white T-shirts. Only the story and the price are different.</a:t>
            </a:r>
            <a:endPar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047750" y="2112645"/>
            <a:ext cx="17811750" cy="2819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555555"/>
                </a:solidFill>
                <a:effectLst/>
                <a:uLnTx/>
                <a:uFillTx/>
                <a:latin typeface="Helvetica" pitchFamily="34" charset="0"/>
                <a:ea typeface="Helvetica" pitchFamily="34" charset="-122"/>
                <a:cs typeface="Helvetica" pitchFamily="34" charset="-120"/>
              </a:rPr>
              <a:t>Mark </a:t>
            </a: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BUY </a:t>
            </a:r>
            <a:r>
              <a:rPr kumimoji="0" lang="en-US" sz="1650" b="0" i="0" u="none" strike="noStrike" kern="1200" cap="none" spc="0" normalizeH="0" baseline="0" noProof="0" dirty="0">
                <a:ln>
                  <a:noFill/>
                </a:ln>
                <a:solidFill>
                  <a:srgbClr val="555555"/>
                </a:solidFill>
                <a:effectLst/>
                <a:uLnTx/>
                <a:uFillTx/>
                <a:latin typeface="Helvetica" pitchFamily="34" charset="0"/>
                <a:ea typeface="Helvetica" pitchFamily="34" charset="-122"/>
                <a:cs typeface="Helvetica" pitchFamily="34" charset="-120"/>
              </a:rPr>
              <a:t>for every shirt you would genuinely buy, and </a:t>
            </a: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NO </a:t>
            </a:r>
            <a:r>
              <a:rPr kumimoji="0" lang="en-US" sz="1650" b="0" i="0" u="none" strike="noStrike" kern="1200" cap="none" spc="0" normalizeH="0" baseline="0" noProof="0" dirty="0">
                <a:ln>
                  <a:noFill/>
                </a:ln>
                <a:solidFill>
                  <a:srgbClr val="555555"/>
                </a:solidFill>
                <a:effectLst/>
                <a:uLnTx/>
                <a:uFillTx/>
                <a:latin typeface="Helvetica" pitchFamily="34" charset="0"/>
                <a:ea typeface="Helvetica" pitchFamily="34" charset="-122"/>
                <a:cs typeface="Helvetica" pitchFamily="34" charset="-120"/>
              </a:rPr>
              <a:t>for the ones you would walk past. Decide alone first, then compare.</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1047750" y="2527935"/>
            <a:ext cx="1619250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1047750" y="2619375"/>
            <a:ext cx="1314450" cy="22098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dirty="0">
                <a:ln>
                  <a:noFill/>
                </a:ln>
                <a:solidFill>
                  <a:srgbClr val="8A8A8A"/>
                </a:solidFill>
                <a:effectLst/>
                <a:uLnTx/>
                <a:uFillTx/>
                <a:latin typeface="Helvetica" pitchFamily="34" charset="0"/>
                <a:ea typeface="Helvetica" pitchFamily="34" charset="-122"/>
                <a:cs typeface="Helvetica" pitchFamily="34" charset="-120"/>
              </a:rPr>
              <a:t>THE SHIRT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2286000" y="2619375"/>
            <a:ext cx="13244513" cy="22098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dirty="0">
                <a:ln>
                  <a:noFill/>
                </a:ln>
                <a:solidFill>
                  <a:srgbClr val="8A8A8A"/>
                </a:solidFill>
                <a:effectLst/>
                <a:uLnTx/>
                <a:uFillTx/>
                <a:latin typeface="Helvetica" pitchFamily="34" charset="0"/>
                <a:ea typeface="Helvetica" pitchFamily="34" charset="-122"/>
                <a:cs typeface="Helvetica" pitchFamily="34" charset="-120"/>
              </a:rPr>
              <a:t>WHAT YOU KNOW ABOUT IT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5106650" y="2619375"/>
            <a:ext cx="112395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BUY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6154400" y="2619375"/>
            <a:ext cx="1123950" cy="22098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75" normalizeH="0" baseline="0" noProof="0" dirty="0">
                <a:ln>
                  <a:noFill/>
                </a:ln>
                <a:solidFill>
                  <a:srgbClr val="8A8A8A"/>
                </a:solidFill>
                <a:effectLst/>
                <a:uLnTx/>
                <a:uFillTx/>
                <a:latin typeface="Helvetica" pitchFamily="34" charset="0"/>
                <a:ea typeface="Helvetica" pitchFamily="34" charset="-122"/>
                <a:cs typeface="Helvetica" pitchFamily="34" charset="-120"/>
              </a:rPr>
              <a:t>NO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047750" y="2878455"/>
            <a:ext cx="1238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1047750" y="3000375"/>
            <a:ext cx="1219200"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$4</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286000" y="2878455"/>
            <a:ext cx="12858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2286000" y="3000375"/>
            <a:ext cx="13130213"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6027"/>
              </a:lnSpc>
              <a:spcBef>
                <a:spcPts val="0"/>
              </a:spcBef>
              <a:spcAft>
                <a:spcPts val="0"/>
              </a:spcAft>
              <a:buClrTx/>
              <a:buSzTx/>
              <a:buFontTx/>
              <a:buNone/>
              <a:tabLst/>
              <a:defRPr/>
            </a:pPr>
            <a:r>
              <a:rPr kumimoji="0" lang="en-US" sz="1425" b="0" i="0" u="none" strike="noStrike" kern="1200" cap="none" spc="0" normalizeH="0" baseline="0" noProof="0" dirty="0">
                <a:ln>
                  <a:noFill/>
                </a:ln>
                <a:solidFill>
                  <a:srgbClr val="333333"/>
                </a:solidFill>
                <a:effectLst/>
                <a:uLnTx/>
                <a:uFillTx/>
                <a:latin typeface="Helvetica" pitchFamily="34" charset="0"/>
                <a:ea typeface="Helvetica" pitchFamily="34" charset="-122"/>
                <a:cs typeface="Helvetica" pitchFamily="34" charset="-120"/>
              </a:rPr>
              <a:t>Fast fashion. New styles every week. Nobody will say where it was sewn.</a:t>
            </a:r>
            <a:endParaRPr kumimoji="0" lang="en-US" sz="14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15144750" y="287845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15106650" y="300037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16192500" y="287845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16154400" y="300037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1047750" y="3396615"/>
            <a:ext cx="1238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1047750" y="3518535"/>
            <a:ext cx="1219200"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$0</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2286000" y="3396615"/>
            <a:ext cx="12858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2286000" y="3518535"/>
            <a:ext cx="13130213"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6027"/>
              </a:lnSpc>
              <a:spcBef>
                <a:spcPts val="0"/>
              </a:spcBef>
              <a:spcAft>
                <a:spcPts val="0"/>
              </a:spcAft>
              <a:buClrTx/>
              <a:buSzTx/>
              <a:buFontTx/>
              <a:buNone/>
              <a:tabLst/>
              <a:defRPr/>
            </a:pPr>
            <a:r>
              <a:rPr kumimoji="0" lang="en-US" sz="1425" b="0" i="0" u="none" strike="noStrike" kern="1200" cap="none" spc="0" normalizeH="0" baseline="0" noProof="0" dirty="0">
                <a:ln>
                  <a:noFill/>
                </a:ln>
                <a:solidFill>
                  <a:srgbClr val="333333"/>
                </a:solidFill>
                <a:effectLst/>
                <a:uLnTx/>
                <a:uFillTx/>
                <a:latin typeface="Helvetica" pitchFamily="34" charset="0"/>
                <a:ea typeface="Helvetica" pitchFamily="34" charset="-122"/>
                <a:cs typeface="Helvetica" pitchFamily="34" charset="-120"/>
              </a:rPr>
              <a:t>A hand-me-down from your sibling. Slightly faded, perfectly fine.</a:t>
            </a:r>
            <a:endParaRPr kumimoji="0" lang="en-US" sz="14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15144750" y="339661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15106650" y="351853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16192500" y="339661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16154400" y="351853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1047750" y="3914775"/>
            <a:ext cx="1238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1047750" y="4036695"/>
            <a:ext cx="1219200"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$8</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2286000" y="3914775"/>
            <a:ext cx="12858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2286000" y="4036695"/>
            <a:ext cx="13130213"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6027"/>
              </a:lnSpc>
              <a:spcBef>
                <a:spcPts val="0"/>
              </a:spcBef>
              <a:spcAft>
                <a:spcPts val="0"/>
              </a:spcAft>
              <a:buClrTx/>
              <a:buSzTx/>
              <a:buFontTx/>
              <a:buNone/>
              <a:tabLst/>
              <a:defRPr/>
            </a:pPr>
            <a:r>
              <a:rPr kumimoji="0" lang="en-US" sz="1425" b="0" i="0" u="none" strike="noStrike" kern="1200" cap="none" spc="0" normalizeH="0" baseline="0" noProof="0" dirty="0">
                <a:ln>
                  <a:noFill/>
                </a:ln>
                <a:solidFill>
                  <a:srgbClr val="333333"/>
                </a:solidFill>
                <a:effectLst/>
                <a:uLnTx/>
                <a:uFillTx/>
                <a:latin typeface="Helvetica" pitchFamily="34" charset="0"/>
                <a:ea typeface="Helvetica" pitchFamily="34" charset="-122"/>
                <a:cs typeface="Helvetica" pitchFamily="34" charset="-120"/>
              </a:rPr>
              <a:t>Secondhand, from a resale app. Worn twice by a stranger.</a:t>
            </a:r>
            <a:endParaRPr kumimoji="0" lang="en-US" sz="14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15144750" y="391477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15106650" y="403669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16192500" y="391477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16154400" y="403669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1047750" y="4432935"/>
            <a:ext cx="1238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1047750" y="4554855"/>
            <a:ext cx="1219200"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$12</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2286000" y="4432935"/>
            <a:ext cx="12858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2286000" y="4554855"/>
            <a:ext cx="13130213"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6027"/>
              </a:lnSpc>
              <a:spcBef>
                <a:spcPts val="0"/>
              </a:spcBef>
              <a:spcAft>
                <a:spcPts val="0"/>
              </a:spcAft>
              <a:buClrTx/>
              <a:buSzTx/>
              <a:buFontTx/>
              <a:buNone/>
              <a:tabLst/>
              <a:defRPr/>
            </a:pPr>
            <a:r>
              <a:rPr kumimoji="0" lang="en-US" sz="1425" b="0" i="0" u="none" strike="noStrike" kern="1200" cap="none" spc="0" normalizeH="0" baseline="0" noProof="0" dirty="0">
                <a:ln>
                  <a:noFill/>
                </a:ln>
                <a:solidFill>
                  <a:srgbClr val="333333"/>
                </a:solidFill>
                <a:effectLst/>
                <a:uLnTx/>
                <a:uFillTx/>
                <a:latin typeface="Helvetica" pitchFamily="34" charset="0"/>
                <a:ea typeface="Helvetica" pitchFamily="34" charset="-122"/>
                <a:cs typeface="Helvetica" pitchFamily="34" charset="-120"/>
              </a:rPr>
              <a:t>A well-known brand. Thicker cotton. No information about the factory.</a:t>
            </a:r>
            <a:endParaRPr kumimoji="0" lang="en-US" sz="14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15144750" y="443293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15106650" y="455485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16192500" y="443293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16154400" y="455485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1047750" y="4951095"/>
            <a:ext cx="1238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1047750" y="5073015"/>
            <a:ext cx="1219200"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$28</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2286000" y="4951095"/>
            <a:ext cx="12858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2286000" y="5073015"/>
            <a:ext cx="13130213"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6027"/>
              </a:lnSpc>
              <a:spcBef>
                <a:spcPts val="0"/>
              </a:spcBef>
              <a:spcAft>
                <a:spcPts val="0"/>
              </a:spcAft>
              <a:buClrTx/>
              <a:buSzTx/>
              <a:buFontTx/>
              <a:buNone/>
              <a:tabLst/>
              <a:defRPr/>
            </a:pPr>
            <a:r>
              <a:rPr kumimoji="0" lang="en-US" sz="1425" b="0" i="0" u="none" strike="noStrike" kern="1200" cap="none" spc="0" normalizeH="0" baseline="0" noProof="0" dirty="0">
                <a:ln>
                  <a:noFill/>
                </a:ln>
                <a:solidFill>
                  <a:srgbClr val="333333"/>
                </a:solidFill>
                <a:effectLst/>
                <a:uLnTx/>
                <a:uFillTx/>
                <a:latin typeface="Helvetica" pitchFamily="34" charset="0"/>
                <a:ea typeface="Helvetica" pitchFamily="34" charset="-122"/>
                <a:cs typeface="Helvetica" pitchFamily="34" charset="-120"/>
              </a:rPr>
              <a:t>Organic cotton, far less water used. Only three colors, and it lasts years.</a:t>
            </a:r>
            <a:endParaRPr kumimoji="0" lang="en-US" sz="14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15144750" y="495109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15106650" y="507301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16192500" y="495109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16154400" y="507301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53"/>
          <p:cNvSpPr/>
          <p:nvPr/>
        </p:nvSpPr>
        <p:spPr>
          <a:xfrm>
            <a:off x="1047750" y="5987415"/>
            <a:ext cx="12382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p:cNvSpPr/>
          <p:nvPr/>
        </p:nvSpPr>
        <p:spPr>
          <a:xfrm>
            <a:off x="1047750" y="5469255"/>
            <a:ext cx="12382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1047750" y="5591175"/>
            <a:ext cx="1219200"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$45</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2286000" y="5987415"/>
            <a:ext cx="128587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p:cNvSpPr/>
          <p:nvPr/>
        </p:nvSpPr>
        <p:spPr>
          <a:xfrm>
            <a:off x="2286000" y="5469255"/>
            <a:ext cx="12858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8"/>
          <p:cNvSpPr/>
          <p:nvPr/>
        </p:nvSpPr>
        <p:spPr>
          <a:xfrm>
            <a:off x="2286000" y="5591175"/>
            <a:ext cx="13130213" cy="32004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6027"/>
              </a:lnSpc>
              <a:spcBef>
                <a:spcPts val="0"/>
              </a:spcBef>
              <a:spcAft>
                <a:spcPts val="0"/>
              </a:spcAft>
              <a:buClrTx/>
              <a:buSzTx/>
              <a:buFontTx/>
              <a:buNone/>
              <a:tabLst/>
              <a:defRPr/>
            </a:pPr>
            <a:r>
              <a:rPr kumimoji="0" lang="en-US" sz="1425" b="0" i="0" u="none" strike="noStrike" kern="1200" cap="none" spc="0" normalizeH="0" baseline="0" noProof="0" dirty="0">
                <a:ln>
                  <a:noFill/>
                </a:ln>
                <a:solidFill>
                  <a:srgbClr val="333333"/>
                </a:solidFill>
                <a:effectLst/>
                <a:uLnTx/>
                <a:uFillTx/>
                <a:latin typeface="Helvetica" pitchFamily="34" charset="0"/>
                <a:ea typeface="Helvetica" pitchFamily="34" charset="-122"/>
                <a:cs typeface="Helvetica" pitchFamily="34" charset="-120"/>
              </a:rPr>
              <a:t>Fair-trade certified. You can read the wages of the people who made it.</a:t>
            </a:r>
            <a:endParaRPr kumimoji="0" lang="en-US" sz="142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15144750" y="5987415"/>
            <a:ext cx="10477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15144750" y="546925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15106650" y="559117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Shape 62"/>
          <p:cNvSpPr/>
          <p:nvPr/>
        </p:nvSpPr>
        <p:spPr>
          <a:xfrm>
            <a:off x="16192500" y="5987415"/>
            <a:ext cx="1047750" cy="15240"/>
          </a:xfrm>
          <a:prstGeom prst="rect">
            <a:avLst/>
          </a:prstGeom>
          <a:solidFill>
            <a:srgbClr val="1A2A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p:cNvSpPr/>
          <p:nvPr/>
        </p:nvSpPr>
        <p:spPr>
          <a:xfrm>
            <a:off x="16192500" y="5469255"/>
            <a:ext cx="1047750" cy="9525"/>
          </a:xfrm>
          <a:prstGeom prst="rect">
            <a:avLst/>
          </a:prstGeom>
          <a:solidFill>
            <a:srgbClr val="E3E1D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 64"/>
          <p:cNvSpPr/>
          <p:nvPr/>
        </p:nvSpPr>
        <p:spPr>
          <a:xfrm>
            <a:off x="16154400" y="5591175"/>
            <a:ext cx="1123950" cy="320040"/>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B9B7B0"/>
                </a:solidFill>
                <a:effectLst/>
                <a:uLnTx/>
                <a:uFillTx/>
                <a:latin typeface="Helvetica" pitchFamily="34" charset="0"/>
                <a:ea typeface="Helvetica" pitchFamily="34" charset="-122"/>
                <a:cs typeface="Helvetica" pitchFamily="34" charset="-120"/>
              </a:rPr>
              <a: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5"/>
          <p:cNvSpPr/>
          <p:nvPr/>
        </p:nvSpPr>
        <p:spPr>
          <a:xfrm>
            <a:off x="1047750" y="6174105"/>
            <a:ext cx="1828455" cy="23622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0" cap="none" spc="263" normalizeH="0" baseline="0" noProof="0" dirty="0">
                <a:ln>
                  <a:noFill/>
                </a:ln>
                <a:solidFill>
                  <a:srgbClr val="BF842C"/>
                </a:solidFill>
                <a:effectLst/>
                <a:uLnTx/>
                <a:uFillTx/>
                <a:latin typeface="Helvetica" pitchFamily="34" charset="0"/>
                <a:ea typeface="Helvetica" pitchFamily="34" charset="-122"/>
                <a:cs typeface="Helvetica" pitchFamily="34" charset="-120"/>
              </a:rPr>
              <a:t>YOUR NUMBER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6"/>
          <p:cNvSpPr/>
          <p:nvPr/>
        </p:nvSpPr>
        <p:spPr>
          <a:xfrm>
            <a:off x="2957632" y="6136005"/>
            <a:ext cx="15710881" cy="35814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23529"/>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The most you would actually pay for this shirt: $_______ Your group’s highest: $_______</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7"/>
          <p:cNvSpPr/>
          <p:nvPr/>
        </p:nvSpPr>
        <p:spPr>
          <a:xfrm>
            <a:off x="1047750" y="6570345"/>
            <a:ext cx="38100" cy="693420"/>
          </a:xfrm>
          <a:prstGeom prst="rect">
            <a:avLst/>
          </a:prstGeom>
          <a:solidFill>
            <a:srgbClr val="D9B87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8"/>
          <p:cNvSpPr/>
          <p:nvPr/>
        </p:nvSpPr>
        <p:spPr>
          <a:xfrm>
            <a:off x="1276350" y="6608445"/>
            <a:ext cx="1071801" cy="236220"/>
          </a:xfrm>
          <a:prstGeom prst="rect">
            <a:avLst/>
          </a:prstGeom>
          <a:noFill/>
          <a:ln/>
        </p:spPr>
        <p:txBody>
          <a:bodyPr wrap="non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0" cap="none" spc="263" normalizeH="0" baseline="0" noProof="0" dirty="0">
                <a:ln>
                  <a:noFill/>
                </a:ln>
                <a:solidFill>
                  <a:srgbClr val="BF842C"/>
                </a:solidFill>
                <a:effectLst/>
                <a:uLnTx/>
                <a:uFillTx/>
                <a:latin typeface="Helvetica" pitchFamily="34" charset="0"/>
                <a:ea typeface="Helvetica" pitchFamily="34" charset="-122"/>
                <a:cs typeface="Helvetica" pitchFamily="34" charset="-120"/>
              </a:rPr>
              <a:t>DISCUSS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69"/>
          <p:cNvSpPr/>
          <p:nvPr/>
        </p:nvSpPr>
        <p:spPr>
          <a:xfrm>
            <a:off x="2519601" y="6570345"/>
            <a:ext cx="228719" cy="34671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96429"/>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 70"/>
          <p:cNvSpPr/>
          <p:nvPr/>
        </p:nvSpPr>
        <p:spPr>
          <a:xfrm>
            <a:off x="2824520" y="6570345"/>
            <a:ext cx="9066967" cy="34671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9118"/>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Is your number what you believe, or what you can afford?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71"/>
          <p:cNvSpPr/>
          <p:nvPr/>
        </p:nvSpPr>
        <p:spPr>
          <a:xfrm>
            <a:off x="2519601" y="6955155"/>
            <a:ext cx="228719" cy="34671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96429"/>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A2A5E"/>
                </a:solidFill>
                <a:effectLst/>
                <a:uLnTx/>
                <a:uFillTx/>
                <a:latin typeface="Helvetica" pitchFamily="34" charset="0"/>
                <a:ea typeface="Helvetica" pitchFamily="34" charset="-122"/>
                <a:cs typeface="Helvetica"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Text 72"/>
          <p:cNvSpPr/>
          <p:nvPr/>
        </p:nvSpPr>
        <p:spPr>
          <a:xfrm>
            <a:off x="2824520" y="6955155"/>
            <a:ext cx="9066967" cy="34671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9118"/>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A1A1A"/>
                </a:solidFill>
                <a:effectLst/>
                <a:uLnTx/>
                <a:uFillTx/>
                <a:latin typeface="Helvetica" pitchFamily="34" charset="0"/>
                <a:ea typeface="Helvetica" pitchFamily="34" charset="-122"/>
                <a:cs typeface="Helvetica" pitchFamily="34" charset="-120"/>
              </a:rPr>
              <a:t>Compare with another group. Would you pay more if the label named the factory?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Text 73"/>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0" i="0" u="none" strike="noStrike" kern="0" cap="none" spc="38" normalizeH="0" baseline="0" noProof="0" dirty="0">
                <a:ln>
                  <a:noFill/>
                </a:ln>
                <a:solidFill>
                  <a:srgbClr val="9A9890"/>
                </a:solidFill>
                <a:effectLst/>
                <a:uLnTx/>
                <a:uFillTx/>
                <a:latin typeface="Helvetica" pitchFamily="34" charset="0"/>
                <a:ea typeface="Helvetica" pitchFamily="34" charset="-122"/>
                <a:cs typeface="Helvetica" pitchFamily="34" charset="-120"/>
              </a:rPr>
              <a:t>perspectiveenglish.com</a:t>
            </a:r>
            <a:endParaRPr kumimoji="0" lang="en-US" sz="127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6690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Complete &amp; say each line</a:t>
            </a:r>
            <a:endParaRPr lang="en-US" sz="3900" dirty="0"/>
          </a:p>
        </p:txBody>
      </p:sp>
      <p:sp>
        <p:nvSpPr>
          <p:cNvPr id="7" name="Text 5"/>
          <p:cNvSpPr/>
          <p:nvPr/>
        </p:nvSpPr>
        <p:spPr>
          <a:xfrm>
            <a:off x="1047750" y="2636520"/>
            <a:ext cx="17811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312420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2780764" y="3310890"/>
            <a:ext cx="1128474"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garment</a:t>
            </a:r>
            <a:endParaRPr lang="en-US" sz="2100" dirty="0"/>
          </a:p>
        </p:txBody>
      </p:sp>
      <p:sp>
        <p:nvSpPr>
          <p:cNvPr id="10" name="Text 8"/>
          <p:cNvSpPr/>
          <p:nvPr/>
        </p:nvSpPr>
        <p:spPr>
          <a:xfrm>
            <a:off x="7799772" y="3295174"/>
            <a:ext cx="847011"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textile</a:t>
            </a:r>
            <a:endParaRPr lang="en-US" sz="2100" dirty="0"/>
          </a:p>
        </p:txBody>
      </p:sp>
      <p:sp>
        <p:nvSpPr>
          <p:cNvPr id="11" name="Text 9"/>
          <p:cNvSpPr/>
          <p:nvPr/>
        </p:nvSpPr>
        <p:spPr>
          <a:xfrm>
            <a:off x="6360521" y="3310890"/>
            <a:ext cx="103953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durable</a:t>
            </a:r>
            <a:endParaRPr lang="en-US" sz="2100" dirty="0"/>
          </a:p>
        </p:txBody>
      </p:sp>
      <p:sp>
        <p:nvSpPr>
          <p:cNvPr id="12" name="Text 10"/>
          <p:cNvSpPr/>
          <p:nvPr/>
        </p:nvSpPr>
        <p:spPr>
          <a:xfrm>
            <a:off x="4214038" y="3310890"/>
            <a:ext cx="1841683"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consumption</a:t>
            </a:r>
            <a:endParaRPr lang="en-US" sz="2100" dirty="0"/>
          </a:p>
        </p:txBody>
      </p:sp>
      <p:sp>
        <p:nvSpPr>
          <p:cNvPr id="13" name="Text 11"/>
          <p:cNvSpPr/>
          <p:nvPr/>
        </p:nvSpPr>
        <p:spPr>
          <a:xfrm>
            <a:off x="1391900" y="3310890"/>
            <a:ext cx="1084064"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dispose</a:t>
            </a:r>
            <a:endParaRPr lang="en-US" sz="2100" dirty="0"/>
          </a:p>
        </p:txBody>
      </p:sp>
      <p:sp>
        <p:nvSpPr>
          <p:cNvPr id="14" name="Text 12"/>
          <p:cNvSpPr/>
          <p:nvPr/>
        </p:nvSpPr>
        <p:spPr>
          <a:xfrm>
            <a:off x="1047750" y="408813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5" name="Text 13"/>
          <p:cNvSpPr/>
          <p:nvPr/>
        </p:nvSpPr>
        <p:spPr>
          <a:xfrm>
            <a:off x="1581150" y="4110990"/>
            <a:ext cx="7402877" cy="423863"/>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2250" dirty="0">
                <a:solidFill>
                  <a:srgbClr val="1A1A1A"/>
                </a:solidFill>
                <a:latin typeface="Helvetica" pitchFamily="34" charset="0"/>
                <a:ea typeface="Helvetica" pitchFamily="34" charset="-122"/>
                <a:cs typeface="Helvetica" pitchFamily="34" charset="-120"/>
              </a:rPr>
              <a:t>A well-made _______________ can last for many years.</a:t>
            </a:r>
            <a:endParaRPr lang="en-US" sz="2250" dirty="0"/>
          </a:p>
        </p:txBody>
      </p:sp>
      <p:sp>
        <p:nvSpPr>
          <p:cNvPr id="16" name="Text 14"/>
          <p:cNvSpPr/>
          <p:nvPr/>
        </p:nvSpPr>
        <p:spPr>
          <a:xfrm>
            <a:off x="1047750" y="4706303"/>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7" name="Text 15"/>
          <p:cNvSpPr/>
          <p:nvPr/>
        </p:nvSpPr>
        <p:spPr>
          <a:xfrm>
            <a:off x="1581150" y="4729163"/>
            <a:ext cx="7065633" cy="423863"/>
          </a:xfrm>
          <a:prstGeom prst="rect">
            <a:avLst/>
          </a:prstGeom>
          <a:noFill/>
          <a:ln/>
        </p:spPr>
        <p:txBody>
          <a:bodyPr wrap="square" lIns="25400" tIns="25400" rIns="25400" bIns="25400" rtlCol="0" anchor="t">
            <a:normAutofit lnSpcReduction="100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Cheap _______________ often wear out very quickly.</a:t>
            </a:r>
            <a:endParaRPr lang="en-US" sz="2250" dirty="0"/>
          </a:p>
        </p:txBody>
      </p:sp>
      <p:sp>
        <p:nvSpPr>
          <p:cNvPr id="18" name="Text 16"/>
          <p:cNvSpPr/>
          <p:nvPr/>
        </p:nvSpPr>
        <p:spPr>
          <a:xfrm>
            <a:off x="1047750" y="5324475"/>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9" name="Text 17"/>
          <p:cNvSpPr/>
          <p:nvPr/>
        </p:nvSpPr>
        <p:spPr>
          <a:xfrm>
            <a:off x="1581150" y="5347335"/>
            <a:ext cx="8276701" cy="423863"/>
          </a:xfrm>
          <a:prstGeom prst="rect">
            <a:avLst/>
          </a:prstGeom>
          <a:noFill/>
          <a:ln/>
        </p:spPr>
        <p:txBody>
          <a:bodyPr wrap="square" lIns="25400" tIns="25400" rIns="25400" bIns="25400" rtlCol="0" anchor="t">
            <a:normAutofit lnSpcReduction="100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Our _______________ of new clothes keeps rising every year.</a:t>
            </a:r>
            <a:endParaRPr lang="en-US" sz="2250" dirty="0"/>
          </a:p>
        </p:txBody>
      </p:sp>
      <p:sp>
        <p:nvSpPr>
          <p:cNvPr id="20" name="Text 18"/>
          <p:cNvSpPr/>
          <p:nvPr/>
        </p:nvSpPr>
        <p:spPr>
          <a:xfrm>
            <a:off x="1047750" y="5942648"/>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21" name="Text 19"/>
          <p:cNvSpPr/>
          <p:nvPr/>
        </p:nvSpPr>
        <p:spPr>
          <a:xfrm>
            <a:off x="1581150" y="5965507"/>
            <a:ext cx="8765738" cy="423863"/>
          </a:xfrm>
          <a:prstGeom prst="rect">
            <a:avLst/>
          </a:prstGeom>
          <a:noFill/>
          <a:ln/>
        </p:spPr>
        <p:txBody>
          <a:bodyPr wrap="square" lIns="25400" tIns="25400" rIns="25400" bIns="25400" rtlCol="0" anchor="t">
            <a:normAutofit lnSpcReduction="100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This coat is so _______________ that I have worn it for ten years.</a:t>
            </a:r>
            <a:endParaRPr lang="en-US" sz="2250" dirty="0"/>
          </a:p>
        </p:txBody>
      </p:sp>
      <p:sp>
        <p:nvSpPr>
          <p:cNvPr id="22" name="Text 20"/>
          <p:cNvSpPr/>
          <p:nvPr/>
        </p:nvSpPr>
        <p:spPr>
          <a:xfrm>
            <a:off x="1047750" y="656082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3" name="Text 21"/>
          <p:cNvSpPr/>
          <p:nvPr/>
        </p:nvSpPr>
        <p:spPr>
          <a:xfrm>
            <a:off x="1581150" y="6583680"/>
            <a:ext cx="6908602" cy="423863"/>
          </a:xfrm>
          <a:prstGeom prst="rect">
            <a:avLst/>
          </a:prstGeom>
          <a:noFill/>
          <a:ln/>
        </p:spPr>
        <p:txBody>
          <a:bodyPr wrap="square" lIns="25400" tIns="25400" rIns="25400" bIns="25400" rtlCol="0" anchor="t">
            <a:normAutofit lnSpcReduction="100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Please _______________ of old clothes responsibly.</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84020"/>
            <a:ext cx="332267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88770"/>
            <a:ext cx="3262670" cy="388620"/>
          </a:xfrm>
          <a:prstGeom prst="rect">
            <a:avLst/>
          </a:prstGeom>
          <a:solidFill>
            <a:srgbClr val="1A2A5E"/>
          </a:solidFill>
          <a:ln/>
        </p:spPr>
        <p:txBody>
          <a:bodyPr/>
          <a:lstStyle/>
          <a:p>
            <a:endParaRPr lang="en-US"/>
          </a:p>
        </p:txBody>
      </p:sp>
      <p:sp>
        <p:nvSpPr>
          <p:cNvPr id="7" name="Text 5"/>
          <p:cNvSpPr/>
          <p:nvPr/>
        </p:nvSpPr>
        <p:spPr>
          <a:xfrm>
            <a:off x="4449366" y="164592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11074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Complete &amp; say each line</a:t>
            </a:r>
            <a:endParaRPr lang="en-US" sz="3750" dirty="0"/>
          </a:p>
        </p:txBody>
      </p:sp>
      <p:sp>
        <p:nvSpPr>
          <p:cNvPr id="9" name="Text 7"/>
          <p:cNvSpPr/>
          <p:nvPr/>
        </p:nvSpPr>
        <p:spPr>
          <a:xfrm>
            <a:off x="1047750" y="313182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1</a:t>
            </a:r>
            <a:endParaRPr lang="en-US" sz="2100" dirty="0"/>
          </a:p>
        </p:txBody>
      </p:sp>
      <p:sp>
        <p:nvSpPr>
          <p:cNvPr id="10" name="Text 8"/>
          <p:cNvSpPr/>
          <p:nvPr/>
        </p:nvSpPr>
        <p:spPr>
          <a:xfrm>
            <a:off x="1581150" y="3147060"/>
            <a:ext cx="6032814"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A well-made </a:t>
            </a:r>
            <a:r>
              <a:rPr lang="en-US" sz="2100" b="1" dirty="0">
                <a:solidFill>
                  <a:srgbClr val="1A2A5E"/>
                </a:solidFill>
                <a:latin typeface="Helvetica" pitchFamily="34" charset="0"/>
                <a:ea typeface="Helvetica" pitchFamily="34" charset="-122"/>
                <a:cs typeface="Helvetica" pitchFamily="34" charset="-120"/>
              </a:rPr>
              <a:t>garment </a:t>
            </a:r>
            <a:r>
              <a:rPr lang="en-US" sz="2100" dirty="0">
                <a:solidFill>
                  <a:srgbClr val="444444"/>
                </a:solidFill>
                <a:latin typeface="Helvetica" pitchFamily="34" charset="0"/>
                <a:ea typeface="Helvetica" pitchFamily="34" charset="-122"/>
                <a:cs typeface="Helvetica" pitchFamily="34" charset="-120"/>
              </a:rPr>
              <a:t>can last for many years.</a:t>
            </a:r>
            <a:endParaRPr lang="en-US" sz="2100" dirty="0"/>
          </a:p>
        </p:txBody>
      </p:sp>
      <p:sp>
        <p:nvSpPr>
          <p:cNvPr id="11" name="Text 9"/>
          <p:cNvSpPr/>
          <p:nvPr/>
        </p:nvSpPr>
        <p:spPr>
          <a:xfrm>
            <a:off x="1047750" y="371665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2</a:t>
            </a:r>
            <a:endParaRPr lang="en-US" sz="2100" dirty="0"/>
          </a:p>
        </p:txBody>
      </p:sp>
      <p:sp>
        <p:nvSpPr>
          <p:cNvPr id="12" name="Text 10"/>
          <p:cNvSpPr/>
          <p:nvPr/>
        </p:nvSpPr>
        <p:spPr>
          <a:xfrm>
            <a:off x="1581150" y="3731895"/>
            <a:ext cx="5571673"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Cheap </a:t>
            </a:r>
            <a:r>
              <a:rPr lang="en-US" sz="2100" b="1" dirty="0">
                <a:solidFill>
                  <a:srgbClr val="1A2A5E"/>
                </a:solidFill>
                <a:latin typeface="Helvetica" pitchFamily="34" charset="0"/>
                <a:ea typeface="Helvetica" pitchFamily="34" charset="-122"/>
                <a:cs typeface="Helvetica" pitchFamily="34" charset="-120"/>
              </a:rPr>
              <a:t>textiles </a:t>
            </a:r>
            <a:r>
              <a:rPr lang="en-US" sz="2100" dirty="0">
                <a:solidFill>
                  <a:srgbClr val="444444"/>
                </a:solidFill>
                <a:latin typeface="Helvetica" pitchFamily="34" charset="0"/>
                <a:ea typeface="Helvetica" pitchFamily="34" charset="-122"/>
                <a:cs typeface="Helvetica" pitchFamily="34" charset="-120"/>
              </a:rPr>
              <a:t>often wear out very quickly.</a:t>
            </a:r>
            <a:endParaRPr lang="en-US" sz="2100" dirty="0"/>
          </a:p>
        </p:txBody>
      </p:sp>
      <p:sp>
        <p:nvSpPr>
          <p:cNvPr id="13" name="Text 11"/>
          <p:cNvSpPr/>
          <p:nvPr/>
        </p:nvSpPr>
        <p:spPr>
          <a:xfrm>
            <a:off x="1047750" y="430149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3</a:t>
            </a:r>
            <a:endParaRPr lang="en-US" sz="2100" dirty="0"/>
          </a:p>
        </p:txBody>
      </p:sp>
      <p:sp>
        <p:nvSpPr>
          <p:cNvPr id="14" name="Text 12"/>
          <p:cNvSpPr/>
          <p:nvPr/>
        </p:nvSpPr>
        <p:spPr>
          <a:xfrm>
            <a:off x="1581150" y="4316730"/>
            <a:ext cx="7532537"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Our </a:t>
            </a:r>
            <a:r>
              <a:rPr lang="en-US" sz="2100" b="1" dirty="0">
                <a:solidFill>
                  <a:srgbClr val="1A2A5E"/>
                </a:solidFill>
                <a:latin typeface="Helvetica" pitchFamily="34" charset="0"/>
                <a:ea typeface="Helvetica" pitchFamily="34" charset="-122"/>
                <a:cs typeface="Helvetica" pitchFamily="34" charset="-120"/>
              </a:rPr>
              <a:t>consumption </a:t>
            </a:r>
            <a:r>
              <a:rPr lang="en-US" sz="2100" dirty="0">
                <a:solidFill>
                  <a:srgbClr val="444444"/>
                </a:solidFill>
                <a:latin typeface="Helvetica" pitchFamily="34" charset="0"/>
                <a:ea typeface="Helvetica" pitchFamily="34" charset="-122"/>
                <a:cs typeface="Helvetica" pitchFamily="34" charset="-120"/>
              </a:rPr>
              <a:t>of new clothes keeps rising every year.</a:t>
            </a:r>
            <a:endParaRPr lang="en-US" sz="2100" dirty="0"/>
          </a:p>
        </p:txBody>
      </p:sp>
      <p:sp>
        <p:nvSpPr>
          <p:cNvPr id="15" name="Text 13"/>
          <p:cNvSpPr/>
          <p:nvPr/>
        </p:nvSpPr>
        <p:spPr>
          <a:xfrm>
            <a:off x="1047750" y="488632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4</a:t>
            </a:r>
            <a:endParaRPr lang="en-US" sz="2100" dirty="0"/>
          </a:p>
        </p:txBody>
      </p:sp>
      <p:sp>
        <p:nvSpPr>
          <p:cNvPr id="16" name="Text 14"/>
          <p:cNvSpPr/>
          <p:nvPr/>
        </p:nvSpPr>
        <p:spPr>
          <a:xfrm>
            <a:off x="1581150" y="4901565"/>
            <a:ext cx="7206949"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This coat is so </a:t>
            </a:r>
            <a:r>
              <a:rPr lang="en-US" sz="2100" b="1" dirty="0">
                <a:solidFill>
                  <a:srgbClr val="1A2A5E"/>
                </a:solidFill>
                <a:latin typeface="Helvetica" pitchFamily="34" charset="0"/>
                <a:ea typeface="Helvetica" pitchFamily="34" charset="-122"/>
                <a:cs typeface="Helvetica" pitchFamily="34" charset="-120"/>
              </a:rPr>
              <a:t>durable </a:t>
            </a:r>
            <a:r>
              <a:rPr lang="en-US" sz="2100" dirty="0">
                <a:solidFill>
                  <a:srgbClr val="444444"/>
                </a:solidFill>
                <a:latin typeface="Helvetica" pitchFamily="34" charset="0"/>
                <a:ea typeface="Helvetica" pitchFamily="34" charset="-122"/>
                <a:cs typeface="Helvetica" pitchFamily="34" charset="-120"/>
              </a:rPr>
              <a:t>that I have worn it for ten years.</a:t>
            </a:r>
            <a:endParaRPr lang="en-US" sz="2100" dirty="0"/>
          </a:p>
        </p:txBody>
      </p:sp>
      <p:sp>
        <p:nvSpPr>
          <p:cNvPr id="17" name="Text 15"/>
          <p:cNvSpPr/>
          <p:nvPr/>
        </p:nvSpPr>
        <p:spPr>
          <a:xfrm>
            <a:off x="1047750" y="547116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5</a:t>
            </a:r>
            <a:endParaRPr lang="en-US" sz="2100" dirty="0"/>
          </a:p>
        </p:txBody>
      </p:sp>
      <p:sp>
        <p:nvSpPr>
          <p:cNvPr id="18" name="Text 16"/>
          <p:cNvSpPr/>
          <p:nvPr/>
        </p:nvSpPr>
        <p:spPr>
          <a:xfrm>
            <a:off x="1581150" y="5486400"/>
            <a:ext cx="5522691"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Please </a:t>
            </a:r>
            <a:r>
              <a:rPr lang="en-US" sz="2100" b="1" dirty="0">
                <a:solidFill>
                  <a:srgbClr val="1A2A5E"/>
                </a:solidFill>
                <a:latin typeface="Helvetica" pitchFamily="34" charset="0"/>
                <a:ea typeface="Helvetica" pitchFamily="34" charset="-122"/>
                <a:cs typeface="Helvetica" pitchFamily="34" charset="-120"/>
              </a:rPr>
              <a:t>dispose </a:t>
            </a:r>
            <a:r>
              <a:rPr lang="en-US" sz="2100" dirty="0">
                <a:solidFill>
                  <a:srgbClr val="444444"/>
                </a:solidFill>
                <a:latin typeface="Helvetica" pitchFamily="34" charset="0"/>
                <a:ea typeface="Helvetica" pitchFamily="34" charset="-122"/>
                <a:cs typeface="Helvetica" pitchFamily="34" charset="-120"/>
              </a:rPr>
              <a:t>of old clothes responsibly.</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3211092"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96390"/>
            <a:ext cx="2534507" cy="20574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8595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You design for a fashion brand</a:t>
            </a:r>
            <a:endParaRPr lang="en-US" sz="3750" dirty="0"/>
          </a:p>
        </p:txBody>
      </p:sp>
      <p:sp>
        <p:nvSpPr>
          <p:cNvPr id="8" name="Shape 6"/>
          <p:cNvSpPr/>
          <p:nvPr/>
        </p:nvSpPr>
        <p:spPr>
          <a:xfrm>
            <a:off x="1047750" y="2964180"/>
            <a:ext cx="14859000" cy="9525"/>
          </a:xfrm>
          <a:prstGeom prst="rect">
            <a:avLst/>
          </a:prstGeom>
          <a:solidFill>
            <a:srgbClr val="D8D6D0"/>
          </a:solidFill>
          <a:ln/>
        </p:spPr>
        <p:txBody>
          <a:bodyPr/>
          <a:lstStyle/>
          <a:p>
            <a:endParaRPr lang="en-US"/>
          </a:p>
        </p:txBody>
      </p:sp>
      <p:sp>
        <p:nvSpPr>
          <p:cNvPr id="9" name="Text 7"/>
          <p:cNvSpPr/>
          <p:nvPr/>
        </p:nvSpPr>
        <p:spPr>
          <a:xfrm>
            <a:off x="1047750" y="323850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200400"/>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design clothes for a popular fashion brand.</a:t>
            </a:r>
            <a:endParaRPr lang="en-US" sz="2250" dirty="0"/>
          </a:p>
        </p:txBody>
      </p:sp>
      <p:sp>
        <p:nvSpPr>
          <p:cNvPr id="11" name="Shape 9"/>
          <p:cNvSpPr/>
          <p:nvPr/>
        </p:nvSpPr>
        <p:spPr>
          <a:xfrm>
            <a:off x="1047750" y="3833812"/>
            <a:ext cx="14859000" cy="9525"/>
          </a:xfrm>
          <a:prstGeom prst="rect">
            <a:avLst/>
          </a:prstGeom>
          <a:solidFill>
            <a:srgbClr val="D8D6D0"/>
          </a:solidFill>
          <a:ln/>
        </p:spPr>
        <p:txBody>
          <a:bodyPr/>
          <a:lstStyle/>
          <a:p>
            <a:endParaRPr lang="en-US"/>
          </a:p>
        </p:txBody>
      </p:sp>
      <p:sp>
        <p:nvSpPr>
          <p:cNvPr id="12" name="Text 10"/>
          <p:cNvSpPr/>
          <p:nvPr/>
        </p:nvSpPr>
        <p:spPr>
          <a:xfrm>
            <a:off x="1047750" y="410813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4070033"/>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changes to make your brand less wasteful.</a:t>
            </a:r>
            <a:endParaRPr lang="en-US" sz="2250" dirty="0"/>
          </a:p>
        </p:txBody>
      </p:sp>
      <p:sp>
        <p:nvSpPr>
          <p:cNvPr id="14" name="Shape 12"/>
          <p:cNvSpPr/>
          <p:nvPr/>
        </p:nvSpPr>
        <p:spPr>
          <a:xfrm>
            <a:off x="1047750" y="5554028"/>
            <a:ext cx="14859000" cy="9525"/>
          </a:xfrm>
          <a:prstGeom prst="rect">
            <a:avLst/>
          </a:prstGeom>
          <a:solidFill>
            <a:srgbClr val="D8D6D0"/>
          </a:solidFill>
          <a:ln/>
        </p:spPr>
        <p:txBody>
          <a:bodyPr/>
          <a:lstStyle/>
          <a:p>
            <a:endParaRPr lang="en-US"/>
          </a:p>
        </p:txBody>
      </p:sp>
      <p:sp>
        <p:nvSpPr>
          <p:cNvPr id="15" name="Shape 13"/>
          <p:cNvSpPr/>
          <p:nvPr/>
        </p:nvSpPr>
        <p:spPr>
          <a:xfrm>
            <a:off x="1047750" y="4703445"/>
            <a:ext cx="14859000" cy="9525"/>
          </a:xfrm>
          <a:prstGeom prst="rect">
            <a:avLst/>
          </a:prstGeom>
          <a:solidFill>
            <a:srgbClr val="D8D6D0"/>
          </a:solidFill>
          <a:ln/>
        </p:spPr>
        <p:txBody>
          <a:bodyPr/>
          <a:lstStyle/>
          <a:p>
            <a:endParaRPr lang="en-US"/>
          </a:p>
        </p:txBody>
      </p:sp>
      <p:sp>
        <p:nvSpPr>
          <p:cNvPr id="16" name="Text 14"/>
          <p:cNvSpPr/>
          <p:nvPr/>
        </p:nvSpPr>
        <p:spPr>
          <a:xfrm>
            <a:off x="1047750" y="497776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939665"/>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plan and explain how it helps people and the planet.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7411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90750"/>
            <a:ext cx="15206662" cy="15887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5550" b="1" dirty="0">
                <a:solidFill>
                  <a:srgbClr val="1A2A5E"/>
                </a:solidFill>
                <a:latin typeface="Playfair Display" pitchFamily="34" charset="0"/>
                <a:ea typeface="Playfair Display" pitchFamily="34" charset="-122"/>
                <a:cs typeface="Playfair Display" pitchFamily="34" charset="-120"/>
              </a:rPr>
              <a:t>Is it better to own a few good clothes or many cheap ones?</a:t>
            </a:r>
            <a:endParaRPr lang="en-US" sz="5550" dirty="0"/>
          </a:p>
        </p:txBody>
      </p:sp>
      <p:sp>
        <p:nvSpPr>
          <p:cNvPr id="7" name="Text 5"/>
          <p:cNvSpPr/>
          <p:nvPr/>
        </p:nvSpPr>
        <p:spPr>
          <a:xfrm>
            <a:off x="1047750" y="4122420"/>
            <a:ext cx="13620750"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5025390"/>
            <a:ext cx="2476500" cy="22860"/>
          </a:xfrm>
          <a:prstGeom prst="rect">
            <a:avLst/>
          </a:prstGeom>
          <a:solidFill>
            <a:srgbClr val="D9B877"/>
          </a:solidFill>
          <a:ln/>
        </p:spPr>
        <p:txBody>
          <a:bodyPr/>
          <a:lstStyle/>
          <a:p>
            <a:endParaRPr lang="en-US"/>
          </a:p>
        </p:txBody>
      </p:sp>
      <p:sp>
        <p:nvSpPr>
          <p:cNvPr id="9" name="Text 7"/>
          <p:cNvSpPr/>
          <p:nvPr/>
        </p:nvSpPr>
        <p:spPr>
          <a:xfrm>
            <a:off x="1047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5025390"/>
            <a:ext cx="2476500" cy="22860"/>
          </a:xfrm>
          <a:prstGeom prst="rect">
            <a:avLst/>
          </a:prstGeom>
          <a:solidFill>
            <a:srgbClr val="D9B877"/>
          </a:solidFill>
          <a:ln/>
        </p:spPr>
        <p:txBody>
          <a:bodyPr/>
          <a:lstStyle/>
          <a:p>
            <a:endParaRPr lang="en-US"/>
          </a:p>
        </p:txBody>
      </p:sp>
      <p:sp>
        <p:nvSpPr>
          <p:cNvPr id="11" name="Text 9"/>
          <p:cNvSpPr/>
          <p:nvPr/>
        </p:nvSpPr>
        <p:spPr>
          <a:xfrm>
            <a:off x="39052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5025390"/>
            <a:ext cx="2476500" cy="22860"/>
          </a:xfrm>
          <a:prstGeom prst="rect">
            <a:avLst/>
          </a:prstGeom>
          <a:solidFill>
            <a:srgbClr val="D9B877"/>
          </a:solidFill>
          <a:ln/>
        </p:spPr>
        <p:txBody>
          <a:bodyPr/>
          <a:lstStyle/>
          <a:p>
            <a:endParaRPr lang="en-US"/>
          </a:p>
        </p:txBody>
      </p:sp>
      <p:sp>
        <p:nvSpPr>
          <p:cNvPr id="13" name="Text 11"/>
          <p:cNvSpPr/>
          <p:nvPr/>
        </p:nvSpPr>
        <p:spPr>
          <a:xfrm>
            <a:off x="6762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238250" y="3808095"/>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42435"/>
            <a:ext cx="16285845" cy="19583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FFFFFF"/>
                </a:solidFill>
                <a:latin typeface="Playfair Display" pitchFamily="34" charset="0"/>
                <a:ea typeface="Playfair Display" pitchFamily="34" charset="-122"/>
                <a:cs typeface="Playfair Display" pitchFamily="34" charset="-120"/>
              </a:rPr>
              <a:t>One fact. One perspective. Endless discussion.</a:t>
            </a:r>
            <a:endParaRPr lang="en-US" sz="7200" dirty="0"/>
          </a:p>
        </p:txBody>
      </p:sp>
      <p:sp>
        <p:nvSpPr>
          <p:cNvPr id="5" name="Text 3"/>
          <p:cNvSpPr/>
          <p:nvPr/>
        </p:nvSpPr>
        <p:spPr>
          <a:xfrm>
            <a:off x="1238250" y="6448425"/>
            <a:ext cx="1739265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1982</Words>
  <Application>Microsoft Office PowerPoint</Application>
  <PresentationFormat>Custom</PresentationFormat>
  <Paragraphs>282</Paragraphs>
  <Slides>16</Slides>
  <Notes>16</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Georgia</vt:lpstr>
      <vt:lpstr>Helvetica</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7</cp:revision>
  <dcterms:created xsi:type="dcterms:W3CDTF">2026-07-06T08:04:55Z</dcterms:created>
  <dcterms:modified xsi:type="dcterms:W3CDTF">2026-08-24T23:45:09Z</dcterms:modified>
</cp:coreProperties>
</file>