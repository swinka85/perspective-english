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761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005 of Perspective — today's topic is The World Cup.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what is overtourism, where is it happening, and what are the possible solutions? End on the pull-quote question — it sets up the discussion.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3 and 5 are False because the article is balanced and says there is no easy answer.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Solution. A country wants to host the next World Cup and must choose its top priority from five options. Students (in pairs) pick ONE, explain their reasons, then compare with another pair. There is no correct answer — the reasons matter most.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especially in 3 (residents / local people). The goal is that students can use the words in speech.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role-play. Small groups act as a town council. Give ~8 minutes to agree on two rules, then each group presents. Encourage persuasive, balanced language.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002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4986730" y="1047750"/>
            <a:ext cx="2063020" cy="220980"/>
          </a:xfrm>
          <a:prstGeom prst="rect">
            <a:avLst/>
          </a:prstGeom>
          <a:noFill/>
          <a:ln/>
        </p:spPr>
        <p:txBody>
          <a:bodyPr wrap="square" lIns="25400" tIns="25400" rIns="25400" bIns="25400" rtlCol="0" anchor="t">
            <a:normAutofit/>
          </a:bodyPr>
          <a:lstStyle/>
          <a:p>
            <a:pPr marL="0" indent="0" algn="r">
              <a:buNone/>
            </a:pPr>
            <a:r>
              <a:rPr lang="en-US" sz="1050" b="1" kern="0" spc="300" dirty="0">
                <a:solidFill>
                  <a:srgbClr val="D9B877"/>
                </a:solidFill>
                <a:latin typeface="Helvetica" pitchFamily="34" charset="0"/>
                <a:ea typeface="Helvetica" pitchFamily="34" charset="-122"/>
                <a:cs typeface="Helvetica" pitchFamily="34" charset="-120"/>
              </a:rPr>
              <a:t>SPECIAL EDITION</a:t>
            </a:r>
            <a:endParaRPr lang="en-US" sz="1050" dirty="0"/>
          </a:p>
        </p:txBody>
      </p:sp>
      <p:sp>
        <p:nvSpPr>
          <p:cNvPr id="4" name="Text 2"/>
          <p:cNvSpPr/>
          <p:nvPr/>
        </p:nvSpPr>
        <p:spPr>
          <a:xfrm>
            <a:off x="14986730" y="1287780"/>
            <a:ext cx="2063020"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005</a:t>
            </a:r>
            <a:endParaRPr lang="en-US" sz="1500" dirty="0"/>
          </a:p>
        </p:txBody>
      </p:sp>
      <p:sp>
        <p:nvSpPr>
          <p:cNvPr id="5" name="Text 3"/>
          <p:cNvSpPr/>
          <p:nvPr/>
        </p:nvSpPr>
        <p:spPr>
          <a:xfrm>
            <a:off x="1238250" y="6719888"/>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6" name="Text 4"/>
          <p:cNvSpPr/>
          <p:nvPr/>
        </p:nvSpPr>
        <p:spPr>
          <a:xfrm>
            <a:off x="1238250" y="7211378"/>
            <a:ext cx="17392650" cy="1395413"/>
          </a:xfrm>
          <a:prstGeom prst="rect">
            <a:avLst/>
          </a:prstGeom>
          <a:noFill/>
          <a:ln/>
        </p:spPr>
        <p:txBody>
          <a:bodyPr wrap="square" lIns="25400" tIns="25400" rIns="25400" bIns="25400" rtlCol="0" anchor="t">
            <a:normAutofit/>
          </a:bodyPr>
          <a:lstStyle/>
          <a:p>
            <a:pPr marL="0" indent="0" algn="l">
              <a:lnSpc>
                <a:spcPct val="95000"/>
              </a:lnSpc>
              <a:buNone/>
            </a:pPr>
            <a:r>
              <a:rPr lang="en-US" sz="11250" b="1" kern="0" spc="-150" dirty="0">
                <a:solidFill>
                  <a:srgbClr val="FFFFFF"/>
                </a:solidFill>
                <a:latin typeface="Georgia" pitchFamily="34" charset="0"/>
                <a:ea typeface="Georgia" pitchFamily="34" charset="-122"/>
                <a:cs typeface="Georgia" pitchFamily="34" charset="-120"/>
              </a:rPr>
              <a:t>The World Cup</a:t>
            </a:r>
            <a:endParaRPr lang="en-US" sz="11250" dirty="0"/>
          </a:p>
        </p:txBody>
      </p:sp>
      <p:sp>
        <p:nvSpPr>
          <p:cNvPr id="7" name="Text 5"/>
          <p:cNvSpPr/>
          <p:nvPr/>
        </p:nvSpPr>
        <p:spPr>
          <a:xfrm>
            <a:off x="1238250" y="8797290"/>
            <a:ext cx="17392650" cy="480060"/>
          </a:xfrm>
          <a:prstGeom prst="rect">
            <a:avLst/>
          </a:prstGeom>
          <a:noFill/>
          <a:ln/>
        </p:spPr>
        <p:txBody>
          <a:bodyPr wrap="square" lIns="25400" tIns="25400" rIns="25400" bIns="25400" rtlCol="0" anchor="t">
            <a:normAutofit/>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More than just football?</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Georgia" pitchFamily="34" charset="0"/>
                <a:ea typeface="Georgia" pitchFamily="34" charset="-122"/>
                <a:cs typeface="Georgia" pitchFamily="34" charset="-120"/>
              </a:rPr>
              <a:t>What we’ll do today</a:t>
            </a:r>
            <a:endParaRPr lang="en-US" sz="4500" dirty="0"/>
          </a:p>
        </p:txBody>
      </p:sp>
      <p:sp>
        <p:nvSpPr>
          <p:cNvPr id="7" name="Text 5"/>
          <p:cNvSpPr/>
          <p:nvPr/>
        </p:nvSpPr>
        <p:spPr>
          <a:xfrm>
            <a:off x="1047750" y="3097530"/>
            <a:ext cx="513517"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01</a:t>
            </a:r>
            <a:endParaRPr lang="en-US" sz="3300" dirty="0"/>
          </a:p>
        </p:txBody>
      </p:sp>
      <p:sp>
        <p:nvSpPr>
          <p:cNvPr id="8" name="Text 6"/>
          <p:cNvSpPr/>
          <p:nvPr/>
        </p:nvSpPr>
        <p:spPr>
          <a:xfrm>
            <a:off x="1713667" y="3097530"/>
            <a:ext cx="3715583"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3667" y="3463290"/>
            <a:ext cx="3715583"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097530"/>
            <a:ext cx="567571"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02</a:t>
            </a:r>
            <a:endParaRPr lang="en-US" sz="3300" dirty="0"/>
          </a:p>
        </p:txBody>
      </p:sp>
      <p:sp>
        <p:nvSpPr>
          <p:cNvPr id="11" name="Text 9"/>
          <p:cNvSpPr/>
          <p:nvPr/>
        </p:nvSpPr>
        <p:spPr>
          <a:xfrm>
            <a:off x="10197346" y="3097530"/>
            <a:ext cx="317769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197346" y="3463290"/>
            <a:ext cx="317769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3992880"/>
            <a:ext cx="564713"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03</a:t>
            </a:r>
            <a:endParaRPr lang="en-US" sz="3300" dirty="0"/>
          </a:p>
        </p:txBody>
      </p:sp>
      <p:sp>
        <p:nvSpPr>
          <p:cNvPr id="14" name="Text 12"/>
          <p:cNvSpPr/>
          <p:nvPr/>
        </p:nvSpPr>
        <p:spPr>
          <a:xfrm>
            <a:off x="1764863" y="3992880"/>
            <a:ext cx="3985117"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4863" y="4358640"/>
            <a:ext cx="3985117"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3992880"/>
            <a:ext cx="570309"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04</a:t>
            </a:r>
            <a:endParaRPr lang="en-US" sz="3300" dirty="0"/>
          </a:p>
        </p:txBody>
      </p:sp>
      <p:sp>
        <p:nvSpPr>
          <p:cNvPr id="17" name="Text 15"/>
          <p:cNvSpPr/>
          <p:nvPr/>
        </p:nvSpPr>
        <p:spPr>
          <a:xfrm>
            <a:off x="10200084" y="3992880"/>
            <a:ext cx="362652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0084" y="4358640"/>
            <a:ext cx="362652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Georgia" pitchFamily="34" charset="0"/>
                <a:ea typeface="Georgia" pitchFamily="34" charset="-122"/>
                <a:cs typeface="Georgia" pitchFamily="34" charset="-120"/>
              </a:rPr>
              <a:t>Talk with a partner</a:t>
            </a:r>
            <a:endParaRPr lang="en-US" sz="4500" dirty="0"/>
          </a:p>
        </p:txBody>
      </p:sp>
      <p:sp>
        <p:nvSpPr>
          <p:cNvPr id="7" name="Text 5"/>
          <p:cNvSpPr/>
          <p:nvPr/>
        </p:nvSpPr>
        <p:spPr>
          <a:xfrm>
            <a:off x="1047750" y="3230880"/>
            <a:ext cx="370880"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1</a:t>
            </a:r>
            <a:endParaRPr lang="en-US" sz="5400" dirty="0"/>
          </a:p>
        </p:txBody>
      </p:sp>
      <p:sp>
        <p:nvSpPr>
          <p:cNvPr id="8" name="Text 6"/>
          <p:cNvSpPr/>
          <p:nvPr/>
        </p:nvSpPr>
        <p:spPr>
          <a:xfrm>
            <a:off x="1666280" y="3288030"/>
            <a:ext cx="12607427" cy="106680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Do you watch the World Cup or other big sporting events? Who do you support?</a:t>
            </a:r>
            <a:endParaRPr lang="en-US" sz="3000" dirty="0"/>
          </a:p>
        </p:txBody>
      </p:sp>
      <p:sp>
        <p:nvSpPr>
          <p:cNvPr id="9" name="Text 7"/>
          <p:cNvSpPr/>
          <p:nvPr/>
        </p:nvSpPr>
        <p:spPr>
          <a:xfrm>
            <a:off x="1047750" y="4735830"/>
            <a:ext cx="459343"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2</a:t>
            </a:r>
            <a:endParaRPr lang="en-US" sz="5400" dirty="0"/>
          </a:p>
        </p:txBody>
      </p:sp>
      <p:sp>
        <p:nvSpPr>
          <p:cNvPr id="10" name="Text 8"/>
          <p:cNvSpPr/>
          <p:nvPr/>
        </p:nvSpPr>
        <p:spPr>
          <a:xfrm>
            <a:off x="1754743" y="4792980"/>
            <a:ext cx="9365706" cy="55245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Why do you think sport can bring people together?</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4045744"/>
            <a:ext cx="8539163"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381024"/>
            <a:ext cx="8539163" cy="598170"/>
          </a:xfrm>
          <a:prstGeom prst="rect">
            <a:avLst/>
          </a:prstGeom>
          <a:noFill/>
          <a:ln/>
        </p:spPr>
        <p:txBody>
          <a:bodyPr wrap="square" lIns="25400" tIns="25400" rIns="25400" bIns="25400" rtlCol="0" anchor="t">
            <a:normAutofit/>
          </a:bodyPr>
          <a:lstStyle/>
          <a:p>
            <a:pPr marL="0" indent="0" algn="l">
              <a:lnSpc>
                <a:spcPct val="105000"/>
              </a:lnSpc>
              <a:buNone/>
            </a:pPr>
            <a:r>
              <a:rPr lang="en-US" sz="4200" b="1" dirty="0">
                <a:solidFill>
                  <a:srgbClr val="1A2A5E"/>
                </a:solidFill>
                <a:latin typeface="Georgia" pitchFamily="34" charset="0"/>
                <a:ea typeface="Georgia" pitchFamily="34" charset="-122"/>
                <a:cs typeface="Georgia" pitchFamily="34" charset="-120"/>
              </a:rPr>
              <a:t>Look and predict</a:t>
            </a:r>
            <a:endParaRPr lang="en-US" sz="4200" dirty="0"/>
          </a:p>
        </p:txBody>
      </p:sp>
      <p:sp>
        <p:nvSpPr>
          <p:cNvPr id="7" name="Text 5"/>
          <p:cNvSpPr/>
          <p:nvPr/>
        </p:nvSpPr>
        <p:spPr>
          <a:xfrm>
            <a:off x="1047750" y="5264944"/>
            <a:ext cx="8539163" cy="452438"/>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“The World Cup.”</a:t>
            </a:r>
            <a:endParaRPr lang="en-US" sz="2250" dirty="0"/>
          </a:p>
        </p:txBody>
      </p:sp>
      <p:sp>
        <p:nvSpPr>
          <p:cNvPr id="8" name="Text 6"/>
          <p:cNvSpPr/>
          <p:nvPr/>
        </p:nvSpPr>
        <p:spPr>
          <a:xfrm>
            <a:off x="1047750" y="5869781"/>
            <a:ext cx="7995761"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4889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56510"/>
            <a:ext cx="7747635" cy="5318760"/>
          </a:xfrm>
          <a:prstGeom prst="rect">
            <a:avLst/>
          </a:prstGeom>
        </p:spPr>
      </p:pic>
      <p:sp>
        <p:nvSpPr>
          <p:cNvPr id="11" name="Text 8"/>
          <p:cNvSpPr/>
          <p:nvPr/>
        </p:nvSpPr>
        <p:spPr>
          <a:xfrm>
            <a:off x="9477375" y="7997190"/>
            <a:ext cx="8539163" cy="236220"/>
          </a:xfrm>
          <a:prstGeom prst="rect">
            <a:avLst/>
          </a:prstGeom>
          <a:noFill/>
          <a:ln/>
        </p:spPr>
        <p:txBody>
          <a:bodyPr wrap="square" lIns="25400" tIns="25400" rIns="25400" bIns="25400" rtlCol="0" anchor="t">
            <a:normAutofit/>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Fans celebrate as the World Cup trophy is lifted in front of a packed stadium.</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Georgia" pitchFamily="34" charset="0"/>
                <a:ea typeface="Georgia" pitchFamily="34" charset="-122"/>
                <a:cs typeface="Georgia" pitchFamily="34" charset="-120"/>
              </a:rPr>
              <a:t>Match the words to their meanings</a:t>
            </a:r>
            <a:endParaRPr lang="en-US" sz="4050" dirty="0"/>
          </a:p>
        </p:txBody>
      </p:sp>
      <p:sp>
        <p:nvSpPr>
          <p:cNvPr id="7" name="Text 5"/>
          <p:cNvSpPr/>
          <p:nvPr/>
        </p:nvSpPr>
        <p:spPr>
          <a:xfrm>
            <a:off x="1047750" y="282702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1</a:t>
            </a:r>
            <a:endParaRPr lang="en-US" sz="2400" dirty="0"/>
          </a:p>
        </p:txBody>
      </p:sp>
      <p:sp>
        <p:nvSpPr>
          <p:cNvPr id="8" name="Text 6"/>
          <p:cNvSpPr/>
          <p:nvPr/>
        </p:nvSpPr>
        <p:spPr>
          <a:xfrm>
            <a:off x="1524000" y="2834640"/>
            <a:ext cx="184404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tournament</a:t>
            </a:r>
            <a:endParaRPr lang="en-US" sz="2400" dirty="0"/>
          </a:p>
        </p:txBody>
      </p:sp>
      <p:sp>
        <p:nvSpPr>
          <p:cNvPr id="9" name="Text 7"/>
          <p:cNvSpPr/>
          <p:nvPr/>
        </p:nvSpPr>
        <p:spPr>
          <a:xfrm>
            <a:off x="1047750" y="336804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2</a:t>
            </a:r>
            <a:endParaRPr lang="en-US" sz="2400" dirty="0"/>
          </a:p>
        </p:txBody>
      </p:sp>
      <p:sp>
        <p:nvSpPr>
          <p:cNvPr id="10" name="Text 8"/>
          <p:cNvSpPr/>
          <p:nvPr/>
        </p:nvSpPr>
        <p:spPr>
          <a:xfrm>
            <a:off x="1524000" y="3375660"/>
            <a:ext cx="1528405"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spectacle</a:t>
            </a:r>
            <a:endParaRPr lang="en-US" sz="2400" dirty="0"/>
          </a:p>
        </p:txBody>
      </p:sp>
      <p:sp>
        <p:nvSpPr>
          <p:cNvPr id="11" name="Text 9"/>
          <p:cNvSpPr/>
          <p:nvPr/>
        </p:nvSpPr>
        <p:spPr>
          <a:xfrm>
            <a:off x="1047750" y="390906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3</a:t>
            </a:r>
            <a:endParaRPr lang="en-US" sz="2400" dirty="0"/>
          </a:p>
        </p:txBody>
      </p:sp>
      <p:sp>
        <p:nvSpPr>
          <p:cNvPr id="12" name="Text 10"/>
          <p:cNvSpPr/>
          <p:nvPr/>
        </p:nvSpPr>
        <p:spPr>
          <a:xfrm>
            <a:off x="1524000" y="3916680"/>
            <a:ext cx="991433"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rivalry</a:t>
            </a:r>
            <a:endParaRPr lang="en-US" sz="2400" dirty="0"/>
          </a:p>
        </p:txBody>
      </p:sp>
      <p:sp>
        <p:nvSpPr>
          <p:cNvPr id="13" name="Text 11"/>
          <p:cNvSpPr/>
          <p:nvPr/>
        </p:nvSpPr>
        <p:spPr>
          <a:xfrm>
            <a:off x="1047750" y="445008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4</a:t>
            </a:r>
            <a:endParaRPr lang="en-US" sz="2400" dirty="0"/>
          </a:p>
        </p:txBody>
      </p:sp>
      <p:sp>
        <p:nvSpPr>
          <p:cNvPr id="14" name="Text 12"/>
          <p:cNvSpPr/>
          <p:nvPr/>
        </p:nvSpPr>
        <p:spPr>
          <a:xfrm>
            <a:off x="1524000" y="4457700"/>
            <a:ext cx="719614"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host</a:t>
            </a:r>
            <a:endParaRPr lang="en-US" sz="2400" dirty="0"/>
          </a:p>
        </p:txBody>
      </p:sp>
      <p:sp>
        <p:nvSpPr>
          <p:cNvPr id="15" name="Text 13"/>
          <p:cNvSpPr/>
          <p:nvPr/>
        </p:nvSpPr>
        <p:spPr>
          <a:xfrm>
            <a:off x="1047750" y="499110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5</a:t>
            </a:r>
            <a:endParaRPr lang="en-US" sz="2400" dirty="0"/>
          </a:p>
        </p:txBody>
      </p:sp>
      <p:sp>
        <p:nvSpPr>
          <p:cNvPr id="16" name="Text 14"/>
          <p:cNvSpPr/>
          <p:nvPr/>
        </p:nvSpPr>
        <p:spPr>
          <a:xfrm>
            <a:off x="1524000" y="4998720"/>
            <a:ext cx="1025128"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legacy</a:t>
            </a:r>
            <a:endParaRPr lang="en-US" sz="2400" dirty="0"/>
          </a:p>
        </p:txBody>
      </p:sp>
      <p:sp>
        <p:nvSpPr>
          <p:cNvPr id="17" name="Text 15"/>
          <p:cNvSpPr/>
          <p:nvPr/>
        </p:nvSpPr>
        <p:spPr>
          <a:xfrm>
            <a:off x="7924800" y="282702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805112"/>
            <a:ext cx="4717494"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strong competition between two sides</a:t>
            </a:r>
            <a:endParaRPr lang="en-US" sz="2025" dirty="0"/>
          </a:p>
        </p:txBody>
      </p:sp>
      <p:sp>
        <p:nvSpPr>
          <p:cNvPr id="19" name="Text 17"/>
          <p:cNvSpPr/>
          <p:nvPr/>
        </p:nvSpPr>
        <p:spPr>
          <a:xfrm>
            <a:off x="7924800" y="337470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340617"/>
            <a:ext cx="3900119"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something left behind that lasts</a:t>
            </a:r>
            <a:endParaRPr lang="en-US" sz="2025" dirty="0"/>
          </a:p>
        </p:txBody>
      </p:sp>
      <p:sp>
        <p:nvSpPr>
          <p:cNvPr id="21" name="Text 19"/>
          <p:cNvSpPr/>
          <p:nvPr/>
        </p:nvSpPr>
        <p:spPr>
          <a:xfrm>
            <a:off x="7924800" y="392239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3876211"/>
            <a:ext cx="5141440"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 competition with many teams or games</a:t>
            </a:r>
            <a:endParaRPr lang="en-US" sz="2025" dirty="0"/>
          </a:p>
        </p:txBody>
      </p:sp>
      <p:sp>
        <p:nvSpPr>
          <p:cNvPr id="23" name="Text 21"/>
          <p:cNvSpPr/>
          <p:nvPr/>
        </p:nvSpPr>
        <p:spPr>
          <a:xfrm>
            <a:off x="7924800" y="447008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450080"/>
            <a:ext cx="3727632"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hold and organize an event</a:t>
            </a:r>
            <a:endParaRPr lang="en-US" sz="2025" dirty="0"/>
          </a:p>
        </p:txBody>
      </p:sp>
      <p:sp>
        <p:nvSpPr>
          <p:cNvPr id="25" name="Text 23"/>
          <p:cNvSpPr/>
          <p:nvPr/>
        </p:nvSpPr>
        <p:spPr>
          <a:xfrm>
            <a:off x="7924800" y="501777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5023949"/>
            <a:ext cx="4308217"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an impressive public show or sight</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76400"/>
            <a:ext cx="1889879"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581150"/>
            <a:ext cx="1601272" cy="388620"/>
          </a:xfrm>
          <a:prstGeom prst="rect">
            <a:avLst/>
          </a:prstGeom>
          <a:solidFill>
            <a:srgbClr val="1A2A5E"/>
          </a:solidFill>
          <a:ln/>
        </p:spPr>
        <p:txBody>
          <a:bodyPr/>
          <a:lstStyle/>
          <a:p>
            <a:endParaRPr lang="en-US"/>
          </a:p>
        </p:txBody>
      </p:sp>
      <p:sp>
        <p:nvSpPr>
          <p:cNvPr id="7" name="Text 5"/>
          <p:cNvSpPr/>
          <p:nvPr/>
        </p:nvSpPr>
        <p:spPr>
          <a:xfrm>
            <a:off x="3146822" y="16383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03120"/>
            <a:ext cx="17811750" cy="6400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Georgia" pitchFamily="34" charset="0"/>
                <a:ea typeface="Georgia" pitchFamily="34" charset="-122"/>
                <a:cs typeface="Georgia" pitchFamily="34" charset="-120"/>
              </a:rPr>
              <a:t>How did you do?</a:t>
            </a:r>
            <a:endParaRPr lang="en-US" sz="4200" dirty="0"/>
          </a:p>
        </p:txBody>
      </p:sp>
      <p:sp>
        <p:nvSpPr>
          <p:cNvPr id="9" name="Shape 7"/>
          <p:cNvSpPr/>
          <p:nvPr/>
        </p:nvSpPr>
        <p:spPr>
          <a:xfrm>
            <a:off x="1047750" y="3276600"/>
            <a:ext cx="3074670" cy="883920"/>
          </a:xfrm>
          <a:prstGeom prst="rect">
            <a:avLst/>
          </a:prstGeom>
          <a:ln w="15240">
            <a:solidFill>
              <a:srgbClr val="1A2A5E"/>
            </a:solidFill>
            <a:prstDash val="solid"/>
          </a:ln>
        </p:spPr>
        <p:txBody>
          <a:bodyPr/>
          <a:lstStyle/>
          <a:p>
            <a:endParaRPr lang="en-US"/>
          </a:p>
        </p:txBody>
      </p:sp>
      <p:sp>
        <p:nvSpPr>
          <p:cNvPr id="10" name="Text 8"/>
          <p:cNvSpPr/>
          <p:nvPr/>
        </p:nvSpPr>
        <p:spPr>
          <a:xfrm>
            <a:off x="1386840" y="3501390"/>
            <a:ext cx="2488730"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1–C </a:t>
            </a:r>
            <a:r>
              <a:rPr lang="en-US" sz="2250" b="1" dirty="0">
                <a:solidFill>
                  <a:srgbClr val="1A2A5E"/>
                </a:solidFill>
                <a:latin typeface="Helvetica" pitchFamily="34" charset="0"/>
                <a:ea typeface="Helvetica" pitchFamily="34" charset="-122"/>
                <a:cs typeface="Helvetica" pitchFamily="34" charset="-120"/>
              </a:rPr>
              <a:t>tournament</a:t>
            </a:r>
            <a:endParaRPr lang="en-US" sz="1200" dirty="0"/>
          </a:p>
        </p:txBody>
      </p:sp>
      <p:sp>
        <p:nvSpPr>
          <p:cNvPr id="11" name="Shape 9"/>
          <p:cNvSpPr/>
          <p:nvPr/>
        </p:nvSpPr>
        <p:spPr>
          <a:xfrm>
            <a:off x="4370070" y="3276600"/>
            <a:ext cx="2859048" cy="883920"/>
          </a:xfrm>
          <a:prstGeom prst="rect">
            <a:avLst/>
          </a:prstGeom>
          <a:ln w="15240">
            <a:solidFill>
              <a:srgbClr val="1A2A5E"/>
            </a:solidFill>
            <a:prstDash val="solid"/>
          </a:ln>
        </p:spPr>
        <p:txBody>
          <a:bodyPr/>
          <a:lstStyle/>
          <a:p>
            <a:endParaRPr lang="en-US"/>
          </a:p>
        </p:txBody>
      </p:sp>
      <p:sp>
        <p:nvSpPr>
          <p:cNvPr id="12" name="Text 10"/>
          <p:cNvSpPr/>
          <p:nvPr/>
        </p:nvSpPr>
        <p:spPr>
          <a:xfrm>
            <a:off x="4709160" y="3501390"/>
            <a:ext cx="2266639"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2–E </a:t>
            </a:r>
            <a:r>
              <a:rPr lang="en-US" sz="2250" b="1" dirty="0">
                <a:solidFill>
                  <a:srgbClr val="1A2A5E"/>
                </a:solidFill>
                <a:latin typeface="Helvetica" pitchFamily="34" charset="0"/>
                <a:ea typeface="Helvetica" pitchFamily="34" charset="-122"/>
                <a:cs typeface="Helvetica" pitchFamily="34" charset="-120"/>
              </a:rPr>
              <a:t>spectacle</a:t>
            </a:r>
            <a:endParaRPr lang="en-US" sz="1200" dirty="0"/>
          </a:p>
        </p:txBody>
      </p:sp>
      <p:sp>
        <p:nvSpPr>
          <p:cNvPr id="13" name="Shape 11"/>
          <p:cNvSpPr/>
          <p:nvPr/>
        </p:nvSpPr>
        <p:spPr>
          <a:xfrm>
            <a:off x="7476768" y="3276600"/>
            <a:ext cx="2857500" cy="883920"/>
          </a:xfrm>
          <a:prstGeom prst="rect">
            <a:avLst/>
          </a:prstGeom>
          <a:ln w="15240">
            <a:solidFill>
              <a:srgbClr val="1A2A5E"/>
            </a:solidFill>
            <a:prstDash val="solid"/>
          </a:ln>
        </p:spPr>
        <p:txBody>
          <a:bodyPr/>
          <a:lstStyle/>
          <a:p>
            <a:endParaRPr lang="en-US"/>
          </a:p>
        </p:txBody>
      </p:sp>
      <p:sp>
        <p:nvSpPr>
          <p:cNvPr id="14" name="Text 12"/>
          <p:cNvSpPr/>
          <p:nvPr/>
        </p:nvSpPr>
        <p:spPr>
          <a:xfrm>
            <a:off x="7815858"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3–A </a:t>
            </a:r>
            <a:r>
              <a:rPr lang="en-US" sz="2250" b="1" dirty="0">
                <a:solidFill>
                  <a:srgbClr val="1A2A5E"/>
                </a:solidFill>
                <a:latin typeface="Helvetica" pitchFamily="34" charset="0"/>
                <a:ea typeface="Helvetica" pitchFamily="34" charset="-122"/>
                <a:cs typeface="Helvetica" pitchFamily="34" charset="-120"/>
              </a:rPr>
              <a:t>rivalry</a:t>
            </a:r>
            <a:endParaRPr lang="en-US" sz="1200" dirty="0"/>
          </a:p>
        </p:txBody>
      </p:sp>
      <p:sp>
        <p:nvSpPr>
          <p:cNvPr id="15" name="Shape 13"/>
          <p:cNvSpPr/>
          <p:nvPr/>
        </p:nvSpPr>
        <p:spPr>
          <a:xfrm>
            <a:off x="10581918" y="3276600"/>
            <a:ext cx="2857500" cy="883920"/>
          </a:xfrm>
          <a:prstGeom prst="rect">
            <a:avLst/>
          </a:prstGeom>
          <a:ln w="15240">
            <a:solidFill>
              <a:srgbClr val="1A2A5E"/>
            </a:solidFill>
            <a:prstDash val="solid"/>
          </a:ln>
        </p:spPr>
        <p:txBody>
          <a:bodyPr/>
          <a:lstStyle/>
          <a:p>
            <a:endParaRPr lang="en-US"/>
          </a:p>
        </p:txBody>
      </p:sp>
      <p:sp>
        <p:nvSpPr>
          <p:cNvPr id="16" name="Text 14"/>
          <p:cNvSpPr/>
          <p:nvPr/>
        </p:nvSpPr>
        <p:spPr>
          <a:xfrm>
            <a:off x="10921008"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4–D </a:t>
            </a:r>
            <a:r>
              <a:rPr lang="en-US" sz="2250" b="1" dirty="0">
                <a:solidFill>
                  <a:srgbClr val="1A2A5E"/>
                </a:solidFill>
                <a:latin typeface="Helvetica" pitchFamily="34" charset="0"/>
                <a:ea typeface="Helvetica" pitchFamily="34" charset="-122"/>
                <a:cs typeface="Helvetica" pitchFamily="34" charset="-120"/>
              </a:rPr>
              <a:t>host</a:t>
            </a:r>
            <a:endParaRPr lang="en-US" sz="1200" dirty="0"/>
          </a:p>
        </p:txBody>
      </p:sp>
      <p:sp>
        <p:nvSpPr>
          <p:cNvPr id="17" name="Shape 15"/>
          <p:cNvSpPr/>
          <p:nvPr/>
        </p:nvSpPr>
        <p:spPr>
          <a:xfrm>
            <a:off x="13687068" y="3276600"/>
            <a:ext cx="2857500" cy="883920"/>
          </a:xfrm>
          <a:prstGeom prst="rect">
            <a:avLst/>
          </a:prstGeom>
          <a:ln w="15240">
            <a:solidFill>
              <a:srgbClr val="1A2A5E"/>
            </a:solidFill>
            <a:prstDash val="solid"/>
          </a:ln>
        </p:spPr>
        <p:txBody>
          <a:bodyPr/>
          <a:lstStyle/>
          <a:p>
            <a:endParaRPr lang="en-US"/>
          </a:p>
        </p:txBody>
      </p:sp>
      <p:sp>
        <p:nvSpPr>
          <p:cNvPr id="18" name="Text 16"/>
          <p:cNvSpPr/>
          <p:nvPr/>
        </p:nvSpPr>
        <p:spPr>
          <a:xfrm>
            <a:off x="14026158"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5–B </a:t>
            </a:r>
            <a:r>
              <a:rPr lang="en-US" sz="2250" b="1" dirty="0">
                <a:solidFill>
                  <a:srgbClr val="1A2A5E"/>
                </a:solidFill>
                <a:latin typeface="Helvetica" pitchFamily="34" charset="0"/>
                <a:ea typeface="Helvetica" pitchFamily="34" charset="-122"/>
                <a:cs typeface="Helvetica" pitchFamily="34" charset="-120"/>
              </a:rPr>
              <a:t>legacy</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8679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60579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219200"/>
            <a:ext cx="17811750" cy="236220"/>
          </a:xfrm>
          <a:prstGeom prst="rect">
            <a:avLst/>
          </a:prstGeom>
          <a:noFill/>
          <a:ln/>
        </p:spPr>
        <p:txBody>
          <a:bodyPr wrap="square" lIns="25400" tIns="25400" rIns="25400" bIns="25400" rtlCol="0" anchor="t">
            <a:normAutofit/>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47447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The World Cup</a:t>
            </a:r>
            <a:endParaRPr lang="en-US" sz="3750" dirty="0"/>
          </a:p>
        </p:txBody>
      </p:sp>
      <p:sp>
        <p:nvSpPr>
          <p:cNvPr id="7" name="Text 5"/>
          <p:cNvSpPr/>
          <p:nvPr/>
        </p:nvSpPr>
        <p:spPr>
          <a:xfrm>
            <a:off x="1093470" y="2091690"/>
            <a:ext cx="17811750" cy="33528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More than just football?</a:t>
            </a:r>
            <a:endParaRPr lang="en-US" sz="2025" dirty="0"/>
          </a:p>
        </p:txBody>
      </p:sp>
      <p:sp>
        <p:nvSpPr>
          <p:cNvPr id="8" name="Shape 6"/>
          <p:cNvSpPr/>
          <p:nvPr/>
        </p:nvSpPr>
        <p:spPr>
          <a:xfrm>
            <a:off x="1047750" y="2522220"/>
            <a:ext cx="609600" cy="38100"/>
          </a:xfrm>
          <a:prstGeom prst="rect">
            <a:avLst/>
          </a:prstGeom>
          <a:solidFill>
            <a:srgbClr val="D9B877"/>
          </a:solidFill>
          <a:ln/>
        </p:spPr>
        <p:txBody>
          <a:bodyPr/>
          <a:lstStyle/>
          <a:p>
            <a:endParaRPr lang="en-US"/>
          </a:p>
        </p:txBody>
      </p:sp>
      <p:sp>
        <p:nvSpPr>
          <p:cNvPr id="9" name="Text 7"/>
          <p:cNvSpPr/>
          <p:nvPr/>
        </p:nvSpPr>
        <p:spPr>
          <a:xfrm>
            <a:off x="1047750" y="2674620"/>
            <a:ext cx="17811750" cy="281940"/>
          </a:xfrm>
          <a:prstGeom prst="rect">
            <a:avLst/>
          </a:prstGeom>
          <a:noFill/>
          <a:ln/>
        </p:spPr>
        <p:txBody>
          <a:bodyPr wrap="square" lIns="25400" tIns="25400" rIns="25400" bIns="25400" rtlCol="0" anchor="t">
            <a:normAutofit/>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Every four years, one tournament stops the world — and it means far more than the score.</a:t>
            </a:r>
            <a:endParaRPr lang="en-US" sz="1650" dirty="0"/>
          </a:p>
        </p:txBody>
      </p:sp>
      <p:sp>
        <p:nvSpPr>
          <p:cNvPr id="10" name="Text 8"/>
          <p:cNvSpPr/>
          <p:nvPr/>
        </p:nvSpPr>
        <p:spPr>
          <a:xfrm>
            <a:off x="1047750" y="3128010"/>
            <a:ext cx="8074247" cy="1278255"/>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Every four years, something remarkable happens. For one month, people who have never kicked a ball gather around screens in homes, cafés, and public squares, united by a single </a:t>
            </a:r>
            <a:r>
              <a:rPr lang="en-US" sz="1650" b="1" dirty="0">
                <a:solidFill>
                  <a:srgbClr val="1A2A5E"/>
                </a:solidFill>
                <a:latin typeface="Helvetica" pitchFamily="34" charset="0"/>
                <a:ea typeface="Helvetica" pitchFamily="34" charset="-122"/>
                <a:cs typeface="Helvetica" pitchFamily="34" charset="-120"/>
              </a:rPr>
              <a:t>tournament </a:t>
            </a:r>
            <a:r>
              <a:rPr lang="en-US" sz="1650" dirty="0">
                <a:solidFill>
                  <a:srgbClr val="222222"/>
                </a:solidFill>
                <a:latin typeface="Helvetica" pitchFamily="34" charset="0"/>
                <a:ea typeface="Helvetica" pitchFamily="34" charset="-122"/>
                <a:cs typeface="Helvetica" pitchFamily="34" charset="-120"/>
              </a:rPr>
              <a:t>. Strangers hug after a goal; entire nations hold their breath together. The World Cup is football, but it is also something much larger.</a:t>
            </a:r>
            <a:endParaRPr lang="en-US" sz="1650" dirty="0"/>
          </a:p>
        </p:txBody>
      </p:sp>
      <p:sp>
        <p:nvSpPr>
          <p:cNvPr id="11" name="Text 9"/>
          <p:cNvSpPr/>
          <p:nvPr/>
        </p:nvSpPr>
        <p:spPr>
          <a:xfrm>
            <a:off x="1093470" y="5086589"/>
            <a:ext cx="8074247" cy="1588294"/>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No other event draws an audience like it. Around half the planet watches some part of the competition, and more than a billion people may see a single final. Part of the appeal is the sheer </a:t>
            </a:r>
            <a:r>
              <a:rPr lang="en-US" sz="1650" b="1" dirty="0">
                <a:solidFill>
                  <a:srgbClr val="1A2A5E"/>
                </a:solidFill>
                <a:latin typeface="Helvetica" pitchFamily="34" charset="0"/>
                <a:ea typeface="Helvetica" pitchFamily="34" charset="-122"/>
                <a:cs typeface="Helvetica" pitchFamily="34" charset="-120"/>
              </a:rPr>
              <a:t>spectacle </a:t>
            </a:r>
            <a:r>
              <a:rPr lang="en-US" sz="1650" dirty="0">
                <a:solidFill>
                  <a:srgbClr val="222222"/>
                </a:solidFill>
                <a:latin typeface="Helvetica" pitchFamily="34" charset="0"/>
                <a:ea typeface="Helvetica" pitchFamily="34" charset="-122"/>
                <a:cs typeface="Helvetica" pitchFamily="34" charset="-120"/>
              </a:rPr>
              <a:t>— the color, the noise, the drama of a penalty shoot-out. But it is also the </a:t>
            </a:r>
            <a:r>
              <a:rPr lang="en-US" sz="1650" b="1" dirty="0">
                <a:solidFill>
                  <a:srgbClr val="1A2A5E"/>
                </a:solidFill>
                <a:latin typeface="Helvetica" pitchFamily="34" charset="0"/>
                <a:ea typeface="Helvetica" pitchFamily="34" charset="-122"/>
                <a:cs typeface="Helvetica" pitchFamily="34" charset="-120"/>
              </a:rPr>
              <a:t>rivalry </a:t>
            </a:r>
            <a:r>
              <a:rPr lang="en-US" sz="1650" dirty="0">
                <a:solidFill>
                  <a:srgbClr val="222222"/>
                </a:solidFill>
                <a:latin typeface="Helvetica" pitchFamily="34" charset="0"/>
                <a:ea typeface="Helvetica" pitchFamily="34" charset="-122"/>
                <a:cs typeface="Helvetica" pitchFamily="34" charset="-120"/>
              </a:rPr>
              <a:t>between nations that, for ninety minutes, matters more than almost anything else.</a:t>
            </a:r>
            <a:endParaRPr lang="en-US" sz="1650" dirty="0"/>
          </a:p>
        </p:txBody>
      </p:sp>
      <p:sp>
        <p:nvSpPr>
          <p:cNvPr id="12" name="Text 10"/>
          <p:cNvSpPr/>
          <p:nvPr/>
        </p:nvSpPr>
        <p:spPr>
          <a:xfrm>
            <a:off x="9401175" y="3128010"/>
            <a:ext cx="8074247" cy="1588294"/>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Hosting the World Cup is a huge undertaking. Countries spend billions of dollars building stadiums, hotels, and transport, hoping the world’s attention will boost tourism and pride. Yet the results are mixed. Some new stadiums are used for years; others sit empty once the crowds go home. The </a:t>
            </a:r>
            <a:r>
              <a:rPr lang="en-US" sz="1650" b="1" dirty="0">
                <a:solidFill>
                  <a:srgbClr val="1A2A5E"/>
                </a:solidFill>
                <a:latin typeface="Helvetica" pitchFamily="34" charset="0"/>
                <a:ea typeface="Helvetica" pitchFamily="34" charset="-122"/>
                <a:cs typeface="Helvetica" pitchFamily="34" charset="-120"/>
              </a:rPr>
              <a:t>legacy </a:t>
            </a:r>
            <a:r>
              <a:rPr lang="en-US" sz="1650" dirty="0">
                <a:solidFill>
                  <a:srgbClr val="222222"/>
                </a:solidFill>
                <a:latin typeface="Helvetica" pitchFamily="34" charset="0"/>
                <a:ea typeface="Helvetica" pitchFamily="34" charset="-122"/>
                <a:cs typeface="Helvetica" pitchFamily="34" charset="-120"/>
              </a:rPr>
              <a:t>of hosting can be a gift or a costly burden.</a:t>
            </a:r>
            <a:endParaRPr lang="en-US" sz="1650" dirty="0"/>
          </a:p>
        </p:txBody>
      </p:sp>
      <p:sp>
        <p:nvSpPr>
          <p:cNvPr id="13" name="Text 11"/>
          <p:cNvSpPr/>
          <p:nvPr/>
        </p:nvSpPr>
        <p:spPr>
          <a:xfrm>
            <a:off x="9401174" y="5097458"/>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Critics argue the tournament has become too commercial, and that the cost of </a:t>
            </a:r>
            <a:r>
              <a:rPr lang="en-US" sz="1650" b="1" dirty="0">
                <a:solidFill>
                  <a:srgbClr val="1A2A5E"/>
                </a:solidFill>
                <a:latin typeface="Helvetica" pitchFamily="34" charset="0"/>
                <a:ea typeface="Helvetica" pitchFamily="34" charset="-122"/>
                <a:cs typeface="Helvetica" pitchFamily="34" charset="-120"/>
              </a:rPr>
              <a:t>hosting </a:t>
            </a:r>
            <a:r>
              <a:rPr lang="en-US" sz="1650" dirty="0">
                <a:solidFill>
                  <a:srgbClr val="222222"/>
                </a:solidFill>
                <a:latin typeface="Helvetica" pitchFamily="34" charset="0"/>
                <a:ea typeface="Helvetica" pitchFamily="34" charset="-122"/>
                <a:cs typeface="Helvetica" pitchFamily="34" charset="-120"/>
              </a:rPr>
              <a:t>often falls on ordinary people. Supporters reply that few things unite the world so powerfully — that for a few weeks, borders seem to matter a little less. Whatever the truth, billions keep watching.</a:t>
            </a:r>
            <a:endParaRPr lang="en-US" sz="1650" dirty="0"/>
          </a:p>
        </p:txBody>
      </p:sp>
      <p:sp>
        <p:nvSpPr>
          <p:cNvPr id="14" name="Shape 12"/>
          <p:cNvSpPr/>
          <p:nvPr/>
        </p:nvSpPr>
        <p:spPr>
          <a:xfrm>
            <a:off x="1047750" y="7510626"/>
            <a:ext cx="45720" cy="842010"/>
          </a:xfrm>
          <a:prstGeom prst="rect">
            <a:avLst/>
          </a:prstGeom>
          <a:solidFill>
            <a:srgbClr val="D9B877"/>
          </a:solidFill>
          <a:ln/>
        </p:spPr>
        <p:txBody>
          <a:bodyPr/>
          <a:lstStyle/>
          <a:p>
            <a:endParaRPr lang="en-US"/>
          </a:p>
        </p:txBody>
      </p:sp>
      <p:sp>
        <p:nvSpPr>
          <p:cNvPr id="15" name="Text 13"/>
          <p:cNvSpPr/>
          <p:nvPr/>
        </p:nvSpPr>
        <p:spPr>
          <a:xfrm>
            <a:off x="1360170" y="7510626"/>
            <a:ext cx="13422630" cy="8801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550" b="1" i="1" dirty="0">
                <a:solidFill>
                  <a:srgbClr val="1A2A5E"/>
                </a:solidFill>
                <a:latin typeface="Georgia" pitchFamily="34" charset="0"/>
                <a:ea typeface="Georgia" pitchFamily="34" charset="-122"/>
                <a:cs typeface="Georgia" pitchFamily="34" charset="-120"/>
              </a:rPr>
              <a:t>For one month every four years, the whole world seems to watch the same thing. Why does that still matter?</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5-audio">
            <a:hlinkClick r:id="" action="ppaction://media"/>
            <a:extLst>
              <a:ext uri="{FF2B5EF4-FFF2-40B4-BE49-F238E27FC236}">
                <a16:creationId xmlns:a16="http://schemas.microsoft.com/office/drawing/2014/main" id="{5791E859-2711-061A-51D5-52C48B32C9B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444350" y="1558688"/>
            <a:ext cx="487363"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Georgia" pitchFamily="34" charset="0"/>
                <a:ea typeface="Georgia" pitchFamily="34" charset="-122"/>
                <a:cs typeface="Georgia" pitchFamily="34" charset="-120"/>
              </a:rPr>
              <a:t>True or False?</a:t>
            </a:r>
            <a:endParaRPr lang="en-US" sz="4050" dirty="0"/>
          </a:p>
        </p:txBody>
      </p:sp>
      <p:sp>
        <p:nvSpPr>
          <p:cNvPr id="7" name="Shape 5"/>
          <p:cNvSpPr/>
          <p:nvPr/>
        </p:nvSpPr>
        <p:spPr>
          <a:xfrm>
            <a:off x="1047750" y="3402330"/>
            <a:ext cx="14763750" cy="9525"/>
          </a:xfrm>
          <a:prstGeom prst="rect">
            <a:avLst/>
          </a:prstGeom>
          <a:solidFill>
            <a:srgbClr val="E3E1DB"/>
          </a:solidFill>
          <a:ln/>
        </p:spPr>
        <p:txBody>
          <a:bodyPr/>
          <a:lstStyle/>
          <a:p>
            <a:endParaRPr lang="en-US"/>
          </a:p>
        </p:txBody>
      </p:sp>
      <p:sp>
        <p:nvSpPr>
          <p:cNvPr id="8" name="Text 6"/>
          <p:cNvSpPr/>
          <p:nvPr/>
        </p:nvSpPr>
        <p:spPr>
          <a:xfrm>
            <a:off x="1047750" y="284607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676400" y="286893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About half the planet watches some part of the World Cup.</a:t>
            </a:r>
            <a:endParaRPr lang="en-US" sz="2175" dirty="0"/>
          </a:p>
        </p:txBody>
      </p:sp>
      <p:sp>
        <p:nvSpPr>
          <p:cNvPr id="10" name="Text 8"/>
          <p:cNvSpPr/>
          <p:nvPr/>
        </p:nvSpPr>
        <p:spPr>
          <a:xfrm>
            <a:off x="14997469" y="28536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175760"/>
            <a:ext cx="14763750" cy="9525"/>
          </a:xfrm>
          <a:prstGeom prst="rect">
            <a:avLst/>
          </a:prstGeom>
          <a:solidFill>
            <a:srgbClr val="E3E1DB"/>
          </a:solidFill>
          <a:ln/>
        </p:spPr>
        <p:txBody>
          <a:bodyPr/>
          <a:lstStyle/>
          <a:p>
            <a:endParaRPr lang="en-US"/>
          </a:p>
        </p:txBody>
      </p:sp>
      <p:sp>
        <p:nvSpPr>
          <p:cNvPr id="12" name="Text 10"/>
          <p:cNvSpPr/>
          <p:nvPr/>
        </p:nvSpPr>
        <p:spPr>
          <a:xfrm>
            <a:off x="1047750" y="361950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3" name="Text 11"/>
          <p:cNvSpPr/>
          <p:nvPr/>
        </p:nvSpPr>
        <p:spPr>
          <a:xfrm>
            <a:off x="1676400" y="364236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Every new World Cup stadium is used for many years afterwards.</a:t>
            </a:r>
            <a:endParaRPr lang="en-US" sz="2175" dirty="0"/>
          </a:p>
        </p:txBody>
      </p:sp>
      <p:sp>
        <p:nvSpPr>
          <p:cNvPr id="14" name="Text 12"/>
          <p:cNvSpPr/>
          <p:nvPr/>
        </p:nvSpPr>
        <p:spPr>
          <a:xfrm>
            <a:off x="14997469" y="362712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4949190"/>
            <a:ext cx="14763750" cy="9525"/>
          </a:xfrm>
          <a:prstGeom prst="rect">
            <a:avLst/>
          </a:prstGeom>
          <a:solidFill>
            <a:srgbClr val="E3E1DB"/>
          </a:solidFill>
          <a:ln/>
        </p:spPr>
        <p:txBody>
          <a:bodyPr/>
          <a:lstStyle/>
          <a:p>
            <a:endParaRPr lang="en-US"/>
          </a:p>
        </p:txBody>
      </p:sp>
      <p:sp>
        <p:nvSpPr>
          <p:cNvPr id="16" name="Text 14"/>
          <p:cNvSpPr/>
          <p:nvPr/>
        </p:nvSpPr>
        <p:spPr>
          <a:xfrm>
            <a:off x="1047750" y="439293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7" name="Text 15"/>
          <p:cNvSpPr/>
          <p:nvPr/>
        </p:nvSpPr>
        <p:spPr>
          <a:xfrm>
            <a:off x="1676400" y="441579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Hosting the World Cup costs billions of dollars.</a:t>
            </a:r>
            <a:endParaRPr lang="en-US" sz="2175" dirty="0"/>
          </a:p>
        </p:txBody>
      </p:sp>
      <p:sp>
        <p:nvSpPr>
          <p:cNvPr id="18" name="Text 16"/>
          <p:cNvSpPr/>
          <p:nvPr/>
        </p:nvSpPr>
        <p:spPr>
          <a:xfrm>
            <a:off x="14997469" y="440055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5722620"/>
            <a:ext cx="14763750" cy="9525"/>
          </a:xfrm>
          <a:prstGeom prst="rect">
            <a:avLst/>
          </a:prstGeom>
          <a:solidFill>
            <a:srgbClr val="E3E1DB"/>
          </a:solidFill>
          <a:ln/>
        </p:spPr>
        <p:txBody>
          <a:bodyPr/>
          <a:lstStyle/>
          <a:p>
            <a:endParaRPr lang="en-US"/>
          </a:p>
        </p:txBody>
      </p:sp>
      <p:sp>
        <p:nvSpPr>
          <p:cNvPr id="20" name="Text 18"/>
          <p:cNvSpPr/>
          <p:nvPr/>
        </p:nvSpPr>
        <p:spPr>
          <a:xfrm>
            <a:off x="1047750" y="516636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21" name="Text 19"/>
          <p:cNvSpPr/>
          <p:nvPr/>
        </p:nvSpPr>
        <p:spPr>
          <a:xfrm>
            <a:off x="1676400" y="518922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The article says the World Cup is only about football.</a:t>
            </a:r>
            <a:endParaRPr lang="en-US" sz="2175" dirty="0"/>
          </a:p>
        </p:txBody>
      </p:sp>
      <p:sp>
        <p:nvSpPr>
          <p:cNvPr id="22" name="Text 20"/>
          <p:cNvSpPr/>
          <p:nvPr/>
        </p:nvSpPr>
        <p:spPr>
          <a:xfrm>
            <a:off x="14997469" y="51739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593979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4" name="Text 22"/>
          <p:cNvSpPr/>
          <p:nvPr/>
        </p:nvSpPr>
        <p:spPr>
          <a:xfrm>
            <a:off x="1676400" y="596265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Some critics say the tournament has become too commercial.</a:t>
            </a:r>
            <a:endParaRPr lang="en-US" sz="2175" dirty="0"/>
          </a:p>
        </p:txBody>
      </p:sp>
      <p:sp>
        <p:nvSpPr>
          <p:cNvPr id="25" name="Text 23"/>
          <p:cNvSpPr/>
          <p:nvPr/>
        </p:nvSpPr>
        <p:spPr>
          <a:xfrm>
            <a:off x="14997469" y="594741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38300"/>
            <a:ext cx="2419386"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43050"/>
            <a:ext cx="1601272" cy="388620"/>
          </a:xfrm>
          <a:prstGeom prst="rect">
            <a:avLst/>
          </a:prstGeom>
          <a:solidFill>
            <a:srgbClr val="1A2A5E"/>
          </a:solidFill>
          <a:ln/>
        </p:spPr>
        <p:txBody>
          <a:bodyPr/>
          <a:lstStyle/>
          <a:p>
            <a:endParaRPr lang="en-US"/>
          </a:p>
        </p:txBody>
      </p:sp>
      <p:sp>
        <p:nvSpPr>
          <p:cNvPr id="7" name="Text 5"/>
          <p:cNvSpPr/>
          <p:nvPr/>
        </p:nvSpPr>
        <p:spPr>
          <a:xfrm>
            <a:off x="3628192" y="16002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06502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Georgia" pitchFamily="34" charset="0"/>
                <a:ea typeface="Georgia" pitchFamily="34" charset="-122"/>
                <a:cs typeface="Georgia" pitchFamily="34" charset="-120"/>
              </a:rPr>
              <a:t>True or False?</a:t>
            </a:r>
            <a:endParaRPr lang="en-US" sz="3900" dirty="0"/>
          </a:p>
        </p:txBody>
      </p:sp>
      <p:sp>
        <p:nvSpPr>
          <p:cNvPr id="9" name="Text 7"/>
          <p:cNvSpPr/>
          <p:nvPr/>
        </p:nvSpPr>
        <p:spPr>
          <a:xfrm>
            <a:off x="1047750" y="302514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0" name="Text 8"/>
          <p:cNvSpPr/>
          <p:nvPr/>
        </p:nvSpPr>
        <p:spPr>
          <a:xfrm>
            <a:off x="1676400" y="30099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04419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About half the planet watches some part of the World Cup.</a:t>
            </a:r>
            <a:endParaRPr lang="en-US" sz="1950" dirty="0"/>
          </a:p>
        </p:txBody>
      </p:sp>
      <p:sp>
        <p:nvSpPr>
          <p:cNvPr id="12" name="Text 10"/>
          <p:cNvSpPr/>
          <p:nvPr/>
        </p:nvSpPr>
        <p:spPr>
          <a:xfrm>
            <a:off x="1047750" y="354711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3" name="Text 11"/>
          <p:cNvSpPr/>
          <p:nvPr/>
        </p:nvSpPr>
        <p:spPr>
          <a:xfrm>
            <a:off x="1676400" y="353187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4" name="Text 12"/>
          <p:cNvSpPr/>
          <p:nvPr/>
        </p:nvSpPr>
        <p:spPr>
          <a:xfrm>
            <a:off x="2952750" y="356616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Every new World Cup stadium is used for many years afterwards. </a:t>
            </a:r>
            <a:r>
              <a:rPr lang="en-US" sz="1950" i="1" dirty="0">
                <a:solidFill>
                  <a:srgbClr val="888888"/>
                </a:solidFill>
                <a:latin typeface="Helvetica" pitchFamily="34" charset="0"/>
                <a:ea typeface="Helvetica" pitchFamily="34" charset="-122"/>
                <a:cs typeface="Helvetica" pitchFamily="34" charset="-120"/>
              </a:rPr>
              <a:t>— some sit empty.</a:t>
            </a:r>
            <a:endParaRPr lang="en-US" sz="1950" dirty="0"/>
          </a:p>
        </p:txBody>
      </p:sp>
      <p:sp>
        <p:nvSpPr>
          <p:cNvPr id="15" name="Text 13"/>
          <p:cNvSpPr/>
          <p:nvPr/>
        </p:nvSpPr>
        <p:spPr>
          <a:xfrm>
            <a:off x="1047750" y="406908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6" name="Text 14"/>
          <p:cNvSpPr/>
          <p:nvPr/>
        </p:nvSpPr>
        <p:spPr>
          <a:xfrm>
            <a:off x="1676400" y="405384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08813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Hosting the World Cup costs billions of dollars.</a:t>
            </a:r>
            <a:endParaRPr lang="en-US" sz="1950" dirty="0"/>
          </a:p>
        </p:txBody>
      </p:sp>
      <p:sp>
        <p:nvSpPr>
          <p:cNvPr id="18" name="Text 16"/>
          <p:cNvSpPr/>
          <p:nvPr/>
        </p:nvSpPr>
        <p:spPr>
          <a:xfrm>
            <a:off x="1047750" y="459105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19" name="Text 17"/>
          <p:cNvSpPr/>
          <p:nvPr/>
        </p:nvSpPr>
        <p:spPr>
          <a:xfrm>
            <a:off x="1676400" y="457581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0" name="Text 18"/>
          <p:cNvSpPr/>
          <p:nvPr/>
        </p:nvSpPr>
        <p:spPr>
          <a:xfrm>
            <a:off x="2952750" y="461010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The article says the World Cup is only about football. </a:t>
            </a:r>
            <a:r>
              <a:rPr lang="en-US" sz="1950" i="1" dirty="0">
                <a:solidFill>
                  <a:srgbClr val="888888"/>
                </a:solidFill>
                <a:latin typeface="Helvetica" pitchFamily="34" charset="0"/>
                <a:ea typeface="Helvetica" pitchFamily="34" charset="-122"/>
                <a:cs typeface="Helvetica" pitchFamily="34" charset="-120"/>
              </a:rPr>
              <a:t>— it is much larger.</a:t>
            </a:r>
            <a:endParaRPr lang="en-US" sz="1950" dirty="0"/>
          </a:p>
        </p:txBody>
      </p:sp>
      <p:sp>
        <p:nvSpPr>
          <p:cNvPr id="21" name="Text 19"/>
          <p:cNvSpPr/>
          <p:nvPr/>
        </p:nvSpPr>
        <p:spPr>
          <a:xfrm>
            <a:off x="1047750" y="511302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2" name="Text 20"/>
          <p:cNvSpPr/>
          <p:nvPr/>
        </p:nvSpPr>
        <p:spPr>
          <a:xfrm>
            <a:off x="1676400" y="509778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13207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Some critics say the tournament has become too commercial.</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4668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76403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Georgia" pitchFamily="34" charset="0"/>
                <a:ea typeface="Georgia" pitchFamily="34" charset="-122"/>
                <a:cs typeface="Georgia" pitchFamily="34" charset="-120"/>
              </a:rPr>
              <a:t>Talk it through</a:t>
            </a:r>
            <a:endParaRPr lang="en-US" sz="3900" dirty="0"/>
          </a:p>
        </p:txBody>
      </p:sp>
      <p:sp>
        <p:nvSpPr>
          <p:cNvPr id="7" name="Shape 5"/>
          <p:cNvSpPr/>
          <p:nvPr/>
        </p:nvSpPr>
        <p:spPr>
          <a:xfrm>
            <a:off x="1047750" y="3200400"/>
            <a:ext cx="15049500" cy="9525"/>
          </a:xfrm>
          <a:prstGeom prst="rect">
            <a:avLst/>
          </a:prstGeom>
          <a:solidFill>
            <a:srgbClr val="34437A"/>
          </a:solidFill>
          <a:ln/>
        </p:spPr>
        <p:txBody>
          <a:bodyPr/>
          <a:lstStyle/>
          <a:p>
            <a:endParaRPr lang="en-US"/>
          </a:p>
        </p:txBody>
      </p:sp>
      <p:sp>
        <p:nvSpPr>
          <p:cNvPr id="8" name="Text 6"/>
          <p:cNvSpPr/>
          <p:nvPr/>
        </p:nvSpPr>
        <p:spPr>
          <a:xfrm>
            <a:off x="1047750" y="2670810"/>
            <a:ext cx="215384"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415534" y="2701290"/>
            <a:ext cx="16149888"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 you enjoy watching the World Cup or big sporting events? Why or why not?</a:t>
            </a:r>
            <a:endParaRPr lang="en-US" sz="2100" dirty="0"/>
          </a:p>
        </p:txBody>
      </p:sp>
      <p:sp>
        <p:nvSpPr>
          <p:cNvPr id="10" name="Shape 8"/>
          <p:cNvSpPr/>
          <p:nvPr/>
        </p:nvSpPr>
        <p:spPr>
          <a:xfrm>
            <a:off x="1047750" y="3909060"/>
            <a:ext cx="15049500" cy="9525"/>
          </a:xfrm>
          <a:prstGeom prst="rect">
            <a:avLst/>
          </a:prstGeom>
          <a:solidFill>
            <a:srgbClr val="34437A"/>
          </a:solidFill>
          <a:ln/>
        </p:spPr>
        <p:txBody>
          <a:bodyPr/>
          <a:lstStyle/>
          <a:p>
            <a:endParaRPr lang="en-US"/>
          </a:p>
        </p:txBody>
      </p:sp>
      <p:sp>
        <p:nvSpPr>
          <p:cNvPr id="11" name="Text 9"/>
          <p:cNvSpPr/>
          <p:nvPr/>
        </p:nvSpPr>
        <p:spPr>
          <a:xfrm>
            <a:off x="1047750" y="3379470"/>
            <a:ext cx="257175"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2" name="Text 10"/>
          <p:cNvSpPr/>
          <p:nvPr/>
        </p:nvSpPr>
        <p:spPr>
          <a:xfrm>
            <a:off x="1457325" y="3409950"/>
            <a:ext cx="16103918"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Has a sporting event ever brought your country or family together?</a:t>
            </a:r>
            <a:endParaRPr lang="en-US" sz="2100" dirty="0"/>
          </a:p>
        </p:txBody>
      </p:sp>
      <p:sp>
        <p:nvSpPr>
          <p:cNvPr id="13" name="Shape 11"/>
          <p:cNvSpPr/>
          <p:nvPr/>
        </p:nvSpPr>
        <p:spPr>
          <a:xfrm>
            <a:off x="1047750" y="4617720"/>
            <a:ext cx="15049500" cy="9525"/>
          </a:xfrm>
          <a:prstGeom prst="rect">
            <a:avLst/>
          </a:prstGeom>
          <a:solidFill>
            <a:srgbClr val="34437A"/>
          </a:solidFill>
          <a:ln/>
        </p:spPr>
        <p:txBody>
          <a:bodyPr/>
          <a:lstStyle/>
          <a:p>
            <a:endParaRPr lang="en-US"/>
          </a:p>
        </p:txBody>
      </p:sp>
      <p:sp>
        <p:nvSpPr>
          <p:cNvPr id="14" name="Text 12"/>
          <p:cNvSpPr/>
          <p:nvPr/>
        </p:nvSpPr>
        <p:spPr>
          <a:xfrm>
            <a:off x="1047750" y="4088130"/>
            <a:ext cx="254913"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5" name="Text 13"/>
          <p:cNvSpPr/>
          <p:nvPr/>
        </p:nvSpPr>
        <p:spPr>
          <a:xfrm>
            <a:off x="1455063" y="4118610"/>
            <a:ext cx="16106406"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Why do people feel such strong emotions about their national team?</a:t>
            </a:r>
            <a:endParaRPr lang="en-US" sz="2100" dirty="0"/>
          </a:p>
        </p:txBody>
      </p:sp>
      <p:sp>
        <p:nvSpPr>
          <p:cNvPr id="16" name="Shape 14"/>
          <p:cNvSpPr/>
          <p:nvPr/>
        </p:nvSpPr>
        <p:spPr>
          <a:xfrm>
            <a:off x="1047750" y="5326380"/>
            <a:ext cx="15049500" cy="9525"/>
          </a:xfrm>
          <a:prstGeom prst="rect">
            <a:avLst/>
          </a:prstGeom>
          <a:solidFill>
            <a:srgbClr val="34437A"/>
          </a:solidFill>
          <a:ln/>
        </p:spPr>
        <p:txBody>
          <a:bodyPr/>
          <a:lstStyle/>
          <a:p>
            <a:endParaRPr lang="en-US"/>
          </a:p>
        </p:txBody>
      </p:sp>
      <p:sp>
        <p:nvSpPr>
          <p:cNvPr id="17" name="Text 15"/>
          <p:cNvSpPr/>
          <p:nvPr/>
        </p:nvSpPr>
        <p:spPr>
          <a:xfrm>
            <a:off x="1047750" y="4796790"/>
            <a:ext cx="259199"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18" name="Text 16"/>
          <p:cNvSpPr/>
          <p:nvPr/>
        </p:nvSpPr>
        <p:spPr>
          <a:xfrm>
            <a:off x="1459349" y="4827270"/>
            <a:ext cx="16101691"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spending billions to host the World Cup worth it? Why or why not?</a:t>
            </a:r>
            <a:endParaRPr lang="en-US" sz="2100" dirty="0"/>
          </a:p>
        </p:txBody>
      </p:sp>
      <p:sp>
        <p:nvSpPr>
          <p:cNvPr id="19" name="Text 17"/>
          <p:cNvSpPr/>
          <p:nvPr/>
        </p:nvSpPr>
        <p:spPr>
          <a:xfrm>
            <a:off x="1047750" y="5505450"/>
            <a:ext cx="247412"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0" name="Text 18"/>
          <p:cNvSpPr/>
          <p:nvPr/>
        </p:nvSpPr>
        <p:spPr>
          <a:xfrm>
            <a:off x="1447562" y="5535930"/>
            <a:ext cx="16114657"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Does the World Cup still bring the world together, or divide it?</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275754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14475"/>
            <a:ext cx="1774269"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50670"/>
            <a:ext cx="1606629" cy="205740"/>
          </a:xfrm>
          <a:prstGeom prst="rect">
            <a:avLst/>
          </a:prstGeom>
          <a:noFill/>
          <a:ln/>
        </p:spPr>
        <p:txBody>
          <a:bodyPr wrap="none" lIns="25400" tIns="25400" rIns="25400" bIns="25400" rtlCol="0" anchor="t">
            <a:normAutofit/>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BEST SOLUTION</a:t>
            </a:r>
            <a:endParaRPr lang="en-US" sz="1125" dirty="0"/>
          </a:p>
        </p:txBody>
      </p:sp>
      <p:sp>
        <p:nvSpPr>
          <p:cNvPr id="8" name="Text 6"/>
          <p:cNvSpPr/>
          <p:nvPr/>
        </p:nvSpPr>
        <p:spPr>
          <a:xfrm>
            <a:off x="1047750" y="1868805"/>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What should be the top priority?</a:t>
            </a:r>
            <a:endParaRPr lang="en-US" sz="3750" dirty="0"/>
          </a:p>
        </p:txBody>
      </p:sp>
      <p:sp>
        <p:nvSpPr>
          <p:cNvPr id="9" name="Text 7"/>
          <p:cNvSpPr/>
          <p:nvPr/>
        </p:nvSpPr>
        <p:spPr>
          <a:xfrm>
            <a:off x="1047750" y="2524125"/>
            <a:ext cx="16764000" cy="320040"/>
          </a:xfrm>
          <a:prstGeom prst="rect">
            <a:avLst/>
          </a:prstGeom>
          <a:noFill/>
          <a:ln/>
        </p:spPr>
        <p:txBody>
          <a:bodyPr wrap="square" lIns="25400" tIns="25400" rIns="25400" bIns="25400" rtlCol="0" anchor="t">
            <a:normAutofit/>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A country wants to host the next World Cup. Choose </a:t>
            </a:r>
            <a:r>
              <a:rPr lang="en-US" sz="1950" b="1" dirty="0">
                <a:solidFill>
                  <a:srgbClr val="1A2A5E"/>
                </a:solidFill>
                <a:latin typeface="Helvetica" pitchFamily="34" charset="0"/>
                <a:ea typeface="Helvetica" pitchFamily="34" charset="-122"/>
                <a:cs typeface="Helvetica" pitchFamily="34" charset="-120"/>
              </a:rPr>
              <a:t>ONE </a:t>
            </a:r>
            <a:r>
              <a:rPr lang="en-US" sz="1950" dirty="0">
                <a:solidFill>
                  <a:srgbClr val="555555"/>
                </a:solidFill>
                <a:latin typeface="Helvetica" pitchFamily="34" charset="0"/>
                <a:ea typeface="Helvetica" pitchFamily="34" charset="-122"/>
                <a:cs typeface="Helvetica" pitchFamily="34" charset="-120"/>
              </a:rPr>
              <a:t>top priority, explain your reasons, then compare with another pair.</a:t>
            </a:r>
            <a:endParaRPr lang="en-US" sz="1950" dirty="0"/>
          </a:p>
        </p:txBody>
      </p:sp>
      <p:sp>
        <p:nvSpPr>
          <p:cNvPr id="10" name="Shape 8"/>
          <p:cNvSpPr/>
          <p:nvPr/>
        </p:nvSpPr>
        <p:spPr>
          <a:xfrm>
            <a:off x="1047750" y="3739515"/>
            <a:ext cx="14859000" cy="9525"/>
          </a:xfrm>
          <a:prstGeom prst="rect">
            <a:avLst/>
          </a:prstGeom>
          <a:solidFill>
            <a:srgbClr val="D8D6D0"/>
          </a:solidFill>
          <a:ln/>
        </p:spPr>
        <p:txBody>
          <a:bodyPr/>
          <a:lstStyle/>
          <a:p>
            <a:endParaRPr lang="en-US"/>
          </a:p>
        </p:txBody>
      </p:sp>
      <p:sp>
        <p:nvSpPr>
          <p:cNvPr id="11" name="Shape 9"/>
          <p:cNvSpPr/>
          <p:nvPr/>
        </p:nvSpPr>
        <p:spPr>
          <a:xfrm>
            <a:off x="1047750" y="3225165"/>
            <a:ext cx="342900" cy="342900"/>
          </a:xfrm>
          <a:prstGeom prst="rect">
            <a:avLst/>
          </a:prstGeom>
          <a:ln w="15240">
            <a:solidFill>
              <a:srgbClr val="1A2A5E"/>
            </a:solidFill>
            <a:prstDash val="solid"/>
          </a:ln>
        </p:spPr>
        <p:txBody>
          <a:bodyPr/>
          <a:lstStyle/>
          <a:p>
            <a:endParaRPr lang="en-US"/>
          </a:p>
        </p:txBody>
      </p:sp>
      <p:sp>
        <p:nvSpPr>
          <p:cNvPr id="12" name="Text 10"/>
          <p:cNvSpPr/>
          <p:nvPr/>
        </p:nvSpPr>
        <p:spPr>
          <a:xfrm>
            <a:off x="1619250" y="3232785"/>
            <a:ext cx="3861090" cy="365760"/>
          </a:xfrm>
          <a:prstGeom prst="rect">
            <a:avLst/>
          </a:prstGeom>
          <a:noFill/>
          <a:ln/>
        </p:spPr>
        <p:txBody>
          <a:bodyPr wrap="square" lIns="25400" tIns="25400" rIns="25400" bIns="25400" rtlCol="0" anchor="t">
            <a:normAutofit/>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Build modern new stadiums</a:t>
            </a:r>
            <a:endParaRPr lang="en-US" sz="2250" dirty="0"/>
          </a:p>
        </p:txBody>
      </p:sp>
      <p:sp>
        <p:nvSpPr>
          <p:cNvPr id="13" name="Shape 11"/>
          <p:cNvSpPr/>
          <p:nvPr/>
        </p:nvSpPr>
        <p:spPr>
          <a:xfrm>
            <a:off x="1047750" y="4451985"/>
            <a:ext cx="14859000" cy="9525"/>
          </a:xfrm>
          <a:prstGeom prst="rect">
            <a:avLst/>
          </a:prstGeom>
          <a:solidFill>
            <a:srgbClr val="D8D6D0"/>
          </a:solidFill>
          <a:ln/>
        </p:spPr>
        <p:txBody>
          <a:bodyPr/>
          <a:lstStyle/>
          <a:p>
            <a:endParaRPr lang="en-US"/>
          </a:p>
        </p:txBody>
      </p:sp>
      <p:sp>
        <p:nvSpPr>
          <p:cNvPr id="14" name="Shape 12"/>
          <p:cNvSpPr/>
          <p:nvPr/>
        </p:nvSpPr>
        <p:spPr>
          <a:xfrm>
            <a:off x="1047750" y="3937635"/>
            <a:ext cx="342900" cy="342900"/>
          </a:xfrm>
          <a:prstGeom prst="rect">
            <a:avLst/>
          </a:prstGeom>
          <a:ln w="15240">
            <a:solidFill>
              <a:srgbClr val="1A2A5E"/>
            </a:solidFill>
            <a:prstDash val="solid"/>
          </a:ln>
        </p:spPr>
        <p:txBody>
          <a:bodyPr/>
          <a:lstStyle/>
          <a:p>
            <a:endParaRPr lang="en-US"/>
          </a:p>
        </p:txBody>
      </p:sp>
      <p:sp>
        <p:nvSpPr>
          <p:cNvPr id="15" name="Text 13"/>
          <p:cNvSpPr/>
          <p:nvPr/>
        </p:nvSpPr>
        <p:spPr>
          <a:xfrm>
            <a:off x="1619250" y="3945255"/>
            <a:ext cx="3371790" cy="365760"/>
          </a:xfrm>
          <a:prstGeom prst="rect">
            <a:avLst/>
          </a:prstGeom>
          <a:noFill/>
          <a:ln/>
        </p:spPr>
        <p:txBody>
          <a:bodyPr wrap="square" lIns="25400" tIns="25400" rIns="25400" bIns="25400" rtlCol="0" anchor="t">
            <a:normAutofit/>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Improve public transport</a:t>
            </a:r>
            <a:endParaRPr lang="en-US" sz="2250" dirty="0"/>
          </a:p>
        </p:txBody>
      </p:sp>
      <p:sp>
        <p:nvSpPr>
          <p:cNvPr id="16" name="Shape 14"/>
          <p:cNvSpPr/>
          <p:nvPr/>
        </p:nvSpPr>
        <p:spPr>
          <a:xfrm>
            <a:off x="1047750" y="5164455"/>
            <a:ext cx="14859000" cy="9525"/>
          </a:xfrm>
          <a:prstGeom prst="rect">
            <a:avLst/>
          </a:prstGeom>
          <a:solidFill>
            <a:srgbClr val="D8D6D0"/>
          </a:solidFill>
          <a:ln/>
        </p:spPr>
        <p:txBody>
          <a:bodyPr/>
          <a:lstStyle/>
          <a:p>
            <a:endParaRPr lang="en-US"/>
          </a:p>
        </p:txBody>
      </p:sp>
      <p:sp>
        <p:nvSpPr>
          <p:cNvPr id="17" name="Shape 15"/>
          <p:cNvSpPr/>
          <p:nvPr/>
        </p:nvSpPr>
        <p:spPr>
          <a:xfrm>
            <a:off x="1047750" y="4650105"/>
            <a:ext cx="342900" cy="342900"/>
          </a:xfrm>
          <a:prstGeom prst="rect">
            <a:avLst/>
          </a:prstGeom>
          <a:ln w="15240">
            <a:solidFill>
              <a:srgbClr val="1A2A5E"/>
            </a:solidFill>
            <a:prstDash val="solid"/>
          </a:ln>
        </p:spPr>
        <p:txBody>
          <a:bodyPr/>
          <a:lstStyle/>
          <a:p>
            <a:endParaRPr lang="en-US"/>
          </a:p>
        </p:txBody>
      </p:sp>
      <p:sp>
        <p:nvSpPr>
          <p:cNvPr id="18" name="Text 16"/>
          <p:cNvSpPr/>
          <p:nvPr/>
        </p:nvSpPr>
        <p:spPr>
          <a:xfrm>
            <a:off x="1619250" y="4657725"/>
            <a:ext cx="3337215" cy="365760"/>
          </a:xfrm>
          <a:prstGeom prst="rect">
            <a:avLst/>
          </a:prstGeom>
          <a:noFill/>
          <a:ln/>
        </p:spPr>
        <p:txBody>
          <a:bodyPr wrap="square" lIns="25400" tIns="25400" rIns="25400" bIns="25400" rtlCol="0" anchor="t">
            <a:normAutofit/>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Protect the environment</a:t>
            </a:r>
            <a:endParaRPr lang="en-US" sz="2250" dirty="0"/>
          </a:p>
        </p:txBody>
      </p:sp>
      <p:sp>
        <p:nvSpPr>
          <p:cNvPr id="19" name="Shape 17"/>
          <p:cNvSpPr/>
          <p:nvPr/>
        </p:nvSpPr>
        <p:spPr>
          <a:xfrm>
            <a:off x="1047750" y="5876925"/>
            <a:ext cx="14859000" cy="9525"/>
          </a:xfrm>
          <a:prstGeom prst="rect">
            <a:avLst/>
          </a:prstGeom>
          <a:solidFill>
            <a:srgbClr val="D8D6D0"/>
          </a:solidFill>
          <a:ln/>
        </p:spPr>
        <p:txBody>
          <a:bodyPr/>
          <a:lstStyle/>
          <a:p>
            <a:endParaRPr lang="en-US"/>
          </a:p>
        </p:txBody>
      </p:sp>
      <p:sp>
        <p:nvSpPr>
          <p:cNvPr id="20" name="Shape 18"/>
          <p:cNvSpPr/>
          <p:nvPr/>
        </p:nvSpPr>
        <p:spPr>
          <a:xfrm>
            <a:off x="1047750" y="5362575"/>
            <a:ext cx="342900" cy="342900"/>
          </a:xfrm>
          <a:prstGeom prst="rect">
            <a:avLst/>
          </a:prstGeom>
          <a:ln w="15240">
            <a:solidFill>
              <a:srgbClr val="1A2A5E"/>
            </a:solidFill>
            <a:prstDash val="solid"/>
          </a:ln>
        </p:spPr>
        <p:txBody>
          <a:bodyPr/>
          <a:lstStyle/>
          <a:p>
            <a:endParaRPr lang="en-US"/>
          </a:p>
        </p:txBody>
      </p:sp>
      <p:sp>
        <p:nvSpPr>
          <p:cNvPr id="21" name="Text 19"/>
          <p:cNvSpPr/>
          <p:nvPr/>
        </p:nvSpPr>
        <p:spPr>
          <a:xfrm>
            <a:off x="1619250" y="5370195"/>
            <a:ext cx="2341197" cy="365760"/>
          </a:xfrm>
          <a:prstGeom prst="rect">
            <a:avLst/>
          </a:prstGeom>
          <a:noFill/>
          <a:ln/>
        </p:spPr>
        <p:txBody>
          <a:bodyPr wrap="square" lIns="25400" tIns="25400" rIns="25400" bIns="25400" rtlCol="0" anchor="t">
            <a:normAutofit/>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Create local jobs</a:t>
            </a:r>
            <a:endParaRPr lang="en-US" sz="2250" dirty="0"/>
          </a:p>
        </p:txBody>
      </p:sp>
      <p:sp>
        <p:nvSpPr>
          <p:cNvPr id="22" name="Shape 20"/>
          <p:cNvSpPr/>
          <p:nvPr/>
        </p:nvSpPr>
        <p:spPr>
          <a:xfrm>
            <a:off x="1047750" y="6589395"/>
            <a:ext cx="14859000" cy="9525"/>
          </a:xfrm>
          <a:prstGeom prst="rect">
            <a:avLst/>
          </a:prstGeom>
          <a:solidFill>
            <a:srgbClr val="D8D6D0"/>
          </a:solidFill>
          <a:ln/>
        </p:spPr>
        <p:txBody>
          <a:bodyPr/>
          <a:lstStyle/>
          <a:p>
            <a:endParaRPr lang="en-US"/>
          </a:p>
        </p:txBody>
      </p:sp>
      <p:sp>
        <p:nvSpPr>
          <p:cNvPr id="23" name="Shape 21"/>
          <p:cNvSpPr/>
          <p:nvPr/>
        </p:nvSpPr>
        <p:spPr>
          <a:xfrm>
            <a:off x="1047750" y="6075045"/>
            <a:ext cx="342900" cy="342900"/>
          </a:xfrm>
          <a:prstGeom prst="rect">
            <a:avLst/>
          </a:prstGeom>
          <a:ln w="15240">
            <a:solidFill>
              <a:srgbClr val="1A2A5E"/>
            </a:solidFill>
            <a:prstDash val="solid"/>
          </a:ln>
        </p:spPr>
        <p:txBody>
          <a:bodyPr/>
          <a:lstStyle/>
          <a:p>
            <a:endParaRPr lang="en-US"/>
          </a:p>
        </p:txBody>
      </p:sp>
      <p:sp>
        <p:nvSpPr>
          <p:cNvPr id="24" name="Text 22"/>
          <p:cNvSpPr/>
          <p:nvPr/>
        </p:nvSpPr>
        <p:spPr>
          <a:xfrm>
            <a:off x="1619250" y="6082665"/>
            <a:ext cx="4210645" cy="365760"/>
          </a:xfrm>
          <a:prstGeom prst="rect">
            <a:avLst/>
          </a:prstGeom>
          <a:noFill/>
          <a:ln/>
        </p:spPr>
        <p:txBody>
          <a:bodyPr wrap="square" lIns="25400" tIns="25400" rIns="25400" bIns="25400" rtlCol="0" anchor="t">
            <a:normAutofit/>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Keep costs low for the country</a:t>
            </a:r>
            <a:endParaRPr lang="en-US" sz="2250" dirty="0"/>
          </a:p>
        </p:txBody>
      </p:sp>
      <p:sp>
        <p:nvSpPr>
          <p:cNvPr id="25" name="Text 23"/>
          <p:cNvSpPr/>
          <p:nvPr/>
        </p:nvSpPr>
        <p:spPr>
          <a:xfrm>
            <a:off x="1047750" y="7012305"/>
            <a:ext cx="1724597" cy="213360"/>
          </a:xfrm>
          <a:prstGeom prst="rect">
            <a:avLst/>
          </a:prstGeom>
          <a:noFill/>
          <a:ln/>
        </p:spPr>
        <p:txBody>
          <a:bodyPr wrap="none" lIns="25400" tIns="25400" rIns="25400" bIns="25400" rtlCol="0" anchor="t">
            <a:normAutofit/>
          </a:bodyPr>
          <a:lstStyle/>
          <a:p>
            <a:pPr marL="0" indent="0" algn="l">
              <a:buNone/>
            </a:pPr>
            <a:r>
              <a:rPr lang="en-US" sz="1200" b="1" kern="0" spc="225" dirty="0">
                <a:solidFill>
                  <a:srgbClr val="BF842C"/>
                </a:solidFill>
                <a:latin typeface="Helvetica" pitchFamily="34" charset="0"/>
                <a:ea typeface="Helvetica" pitchFamily="34" charset="-122"/>
                <a:cs typeface="Helvetica" pitchFamily="34" charset="-120"/>
              </a:rPr>
              <a:t>THEN COMPARE</a:t>
            </a:r>
            <a:endParaRPr lang="en-US" sz="1200" dirty="0"/>
          </a:p>
        </p:txBody>
      </p:sp>
      <p:sp>
        <p:nvSpPr>
          <p:cNvPr id="26" name="Text 24"/>
          <p:cNvSpPr/>
          <p:nvPr/>
        </p:nvSpPr>
        <p:spPr>
          <a:xfrm>
            <a:off x="2806065" y="6920865"/>
            <a:ext cx="10555689" cy="355759"/>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1A1A1A"/>
                </a:solidFill>
                <a:latin typeface="Helvetica" pitchFamily="34" charset="0"/>
                <a:ea typeface="Helvetica" pitchFamily="34" charset="-122"/>
                <a:cs typeface="Helvetica" pitchFamily="34" charset="-120"/>
              </a:rPr>
              <a:t>Did the other pair choose the same? · Whose reasons were strongest? · Can you agree on one?</a:t>
            </a:r>
            <a:endParaRPr lang="en-US" sz="17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No single correct answer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2118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Georgia" pitchFamily="34" charset="0"/>
                <a:ea typeface="Georgia" pitchFamily="34" charset="-122"/>
                <a:cs typeface="Georgia" pitchFamily="34" charset="-120"/>
              </a:rPr>
              <a:t>Complete &amp; say each line</a:t>
            </a:r>
            <a:endParaRPr lang="en-US" sz="3900" dirty="0"/>
          </a:p>
        </p:txBody>
      </p:sp>
      <p:sp>
        <p:nvSpPr>
          <p:cNvPr id="7" name="Text 5"/>
          <p:cNvSpPr/>
          <p:nvPr/>
        </p:nvSpPr>
        <p:spPr>
          <a:xfrm>
            <a:off x="1047750" y="2499360"/>
            <a:ext cx="17811750" cy="297180"/>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298704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173730"/>
            <a:ext cx="161353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tournament</a:t>
            </a:r>
            <a:endParaRPr lang="en-US" sz="2100" dirty="0"/>
          </a:p>
        </p:txBody>
      </p:sp>
      <p:sp>
        <p:nvSpPr>
          <p:cNvPr id="10" name="Text 8"/>
          <p:cNvSpPr/>
          <p:nvPr/>
        </p:nvSpPr>
        <p:spPr>
          <a:xfrm>
            <a:off x="3234690" y="3173730"/>
            <a:ext cx="1337453"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spectacle</a:t>
            </a:r>
            <a:endParaRPr lang="en-US" sz="2100" dirty="0"/>
          </a:p>
        </p:txBody>
      </p:sp>
      <p:sp>
        <p:nvSpPr>
          <p:cNvPr id="11" name="Text 9"/>
          <p:cNvSpPr/>
          <p:nvPr/>
        </p:nvSpPr>
        <p:spPr>
          <a:xfrm>
            <a:off x="4831556" y="3173730"/>
            <a:ext cx="877014"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rivalry</a:t>
            </a:r>
            <a:endParaRPr lang="en-US" sz="2100" dirty="0"/>
          </a:p>
        </p:txBody>
      </p:sp>
      <p:sp>
        <p:nvSpPr>
          <p:cNvPr id="12" name="Text 10"/>
          <p:cNvSpPr/>
          <p:nvPr/>
        </p:nvSpPr>
        <p:spPr>
          <a:xfrm>
            <a:off x="6013371" y="3173730"/>
            <a:ext cx="639247"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host</a:t>
            </a:r>
            <a:endParaRPr lang="en-US" sz="2100" dirty="0"/>
          </a:p>
        </p:txBody>
      </p:sp>
      <p:sp>
        <p:nvSpPr>
          <p:cNvPr id="13" name="Text 11"/>
          <p:cNvSpPr/>
          <p:nvPr/>
        </p:nvSpPr>
        <p:spPr>
          <a:xfrm>
            <a:off x="6957417" y="3173730"/>
            <a:ext cx="906542"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legacy</a:t>
            </a:r>
            <a:endParaRPr lang="en-US" sz="2100" dirty="0"/>
          </a:p>
        </p:txBody>
      </p:sp>
      <p:sp>
        <p:nvSpPr>
          <p:cNvPr id="14" name="Text 12"/>
          <p:cNvSpPr/>
          <p:nvPr/>
        </p:nvSpPr>
        <p:spPr>
          <a:xfrm>
            <a:off x="1047750" y="3981450"/>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5" name="Text 13"/>
          <p:cNvSpPr/>
          <p:nvPr/>
        </p:nvSpPr>
        <p:spPr>
          <a:xfrm>
            <a:off x="1581150" y="3950970"/>
            <a:ext cx="899362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The final was an amazing _______________ that no one will forget.</a:t>
            </a:r>
            <a:endParaRPr lang="en-US" sz="2250" dirty="0"/>
          </a:p>
        </p:txBody>
      </p:sp>
      <p:sp>
        <p:nvSpPr>
          <p:cNvPr id="16" name="Text 14"/>
          <p:cNvSpPr/>
          <p:nvPr/>
        </p:nvSpPr>
        <p:spPr>
          <a:xfrm>
            <a:off x="1047750" y="4576763"/>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7" name="Text 15"/>
          <p:cNvSpPr/>
          <p:nvPr/>
        </p:nvSpPr>
        <p:spPr>
          <a:xfrm>
            <a:off x="1581150" y="4546283"/>
            <a:ext cx="792740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There is a fierce _______________ between the two teams.</a:t>
            </a:r>
            <a:endParaRPr lang="en-US" sz="2250" dirty="0"/>
          </a:p>
        </p:txBody>
      </p:sp>
      <p:sp>
        <p:nvSpPr>
          <p:cNvPr id="18" name="Text 16"/>
          <p:cNvSpPr/>
          <p:nvPr/>
        </p:nvSpPr>
        <p:spPr>
          <a:xfrm>
            <a:off x="1047750" y="5172075"/>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9" name="Text 17"/>
          <p:cNvSpPr/>
          <p:nvPr/>
        </p:nvSpPr>
        <p:spPr>
          <a:xfrm>
            <a:off x="1581150" y="5141595"/>
            <a:ext cx="8061520"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Our country hopes to _______________ the next World Cup.</a:t>
            </a:r>
            <a:endParaRPr lang="en-US" sz="2250" dirty="0"/>
          </a:p>
        </p:txBody>
      </p:sp>
      <p:sp>
        <p:nvSpPr>
          <p:cNvPr id="20" name="Text 18"/>
          <p:cNvSpPr/>
          <p:nvPr/>
        </p:nvSpPr>
        <p:spPr>
          <a:xfrm>
            <a:off x="1047750" y="5767388"/>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21" name="Text 19"/>
          <p:cNvSpPr/>
          <p:nvPr/>
        </p:nvSpPr>
        <p:spPr>
          <a:xfrm>
            <a:off x="1581150" y="5736907"/>
            <a:ext cx="838291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 knockout ______________ can be decided by a single goal.</a:t>
            </a:r>
            <a:endParaRPr lang="en-US" sz="2250" dirty="0"/>
          </a:p>
        </p:txBody>
      </p:sp>
      <p:sp>
        <p:nvSpPr>
          <p:cNvPr id="22" name="Text 20"/>
          <p:cNvSpPr/>
          <p:nvPr/>
        </p:nvSpPr>
        <p:spPr>
          <a:xfrm>
            <a:off x="1047750" y="6362700"/>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3" name="Text 21"/>
          <p:cNvSpPr/>
          <p:nvPr/>
        </p:nvSpPr>
        <p:spPr>
          <a:xfrm>
            <a:off x="1581150" y="6332220"/>
            <a:ext cx="6897338"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 great event can leave a lasting ________________ .</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38300"/>
            <a:ext cx="332267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43050"/>
            <a:ext cx="3262670" cy="388620"/>
          </a:xfrm>
          <a:prstGeom prst="rect">
            <a:avLst/>
          </a:prstGeom>
          <a:solidFill>
            <a:srgbClr val="1A2A5E"/>
          </a:solidFill>
          <a:ln/>
        </p:spPr>
        <p:txBody>
          <a:bodyPr/>
          <a:lstStyle/>
          <a:p>
            <a:endParaRPr lang="en-US"/>
          </a:p>
        </p:txBody>
      </p:sp>
      <p:sp>
        <p:nvSpPr>
          <p:cNvPr id="7" name="Text 5"/>
          <p:cNvSpPr/>
          <p:nvPr/>
        </p:nvSpPr>
        <p:spPr>
          <a:xfrm>
            <a:off x="4449366" y="160020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06502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Complete &amp; say each line</a:t>
            </a:r>
            <a:endParaRPr lang="en-US" sz="3750" dirty="0"/>
          </a:p>
        </p:txBody>
      </p:sp>
      <p:sp>
        <p:nvSpPr>
          <p:cNvPr id="9" name="Text 7"/>
          <p:cNvSpPr/>
          <p:nvPr/>
        </p:nvSpPr>
        <p:spPr>
          <a:xfrm>
            <a:off x="1047750" y="301752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1</a:t>
            </a:r>
            <a:endParaRPr lang="en-US" sz="2100" dirty="0"/>
          </a:p>
        </p:txBody>
      </p:sp>
      <p:sp>
        <p:nvSpPr>
          <p:cNvPr id="10" name="Text 8"/>
          <p:cNvSpPr/>
          <p:nvPr/>
        </p:nvSpPr>
        <p:spPr>
          <a:xfrm>
            <a:off x="1581150" y="2987040"/>
            <a:ext cx="7697427"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The final was an amazing </a:t>
            </a:r>
            <a:r>
              <a:rPr lang="en-US" sz="2100" b="1" dirty="0">
                <a:solidFill>
                  <a:srgbClr val="1A2A5E"/>
                </a:solidFill>
                <a:latin typeface="Helvetica" pitchFamily="34" charset="0"/>
                <a:ea typeface="Helvetica" pitchFamily="34" charset="-122"/>
                <a:cs typeface="Helvetica" pitchFamily="34" charset="-120"/>
              </a:rPr>
              <a:t>spectacle </a:t>
            </a:r>
            <a:r>
              <a:rPr lang="en-US" sz="2100" dirty="0">
                <a:solidFill>
                  <a:srgbClr val="444444"/>
                </a:solidFill>
                <a:latin typeface="Helvetica" pitchFamily="34" charset="0"/>
                <a:ea typeface="Helvetica" pitchFamily="34" charset="-122"/>
                <a:cs typeface="Helvetica" pitchFamily="34" charset="-120"/>
              </a:rPr>
              <a:t>that no one will forget.</a:t>
            </a:r>
            <a:endParaRPr lang="en-US" sz="2100" dirty="0"/>
          </a:p>
        </p:txBody>
      </p:sp>
      <p:sp>
        <p:nvSpPr>
          <p:cNvPr id="11" name="Text 9"/>
          <p:cNvSpPr/>
          <p:nvPr/>
        </p:nvSpPr>
        <p:spPr>
          <a:xfrm>
            <a:off x="1047750" y="3587115"/>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2</a:t>
            </a:r>
            <a:endParaRPr lang="en-US" sz="2100" dirty="0"/>
          </a:p>
        </p:txBody>
      </p:sp>
      <p:sp>
        <p:nvSpPr>
          <p:cNvPr id="12" name="Text 10"/>
          <p:cNvSpPr/>
          <p:nvPr/>
        </p:nvSpPr>
        <p:spPr>
          <a:xfrm>
            <a:off x="1581150" y="3556635"/>
            <a:ext cx="6245769"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There is a fierce </a:t>
            </a:r>
            <a:r>
              <a:rPr lang="en-US" sz="2100" b="1" dirty="0">
                <a:solidFill>
                  <a:srgbClr val="1A2A5E"/>
                </a:solidFill>
                <a:latin typeface="Helvetica" pitchFamily="34" charset="0"/>
                <a:ea typeface="Helvetica" pitchFamily="34" charset="-122"/>
                <a:cs typeface="Helvetica" pitchFamily="34" charset="-120"/>
              </a:rPr>
              <a:t>rivalry </a:t>
            </a:r>
            <a:r>
              <a:rPr lang="en-US" sz="2100" dirty="0">
                <a:solidFill>
                  <a:srgbClr val="444444"/>
                </a:solidFill>
                <a:latin typeface="Helvetica" pitchFamily="34" charset="0"/>
                <a:ea typeface="Helvetica" pitchFamily="34" charset="-122"/>
                <a:cs typeface="Helvetica" pitchFamily="34" charset="-120"/>
              </a:rPr>
              <a:t>between the two teams.</a:t>
            </a:r>
            <a:endParaRPr lang="en-US" sz="2100" dirty="0"/>
          </a:p>
        </p:txBody>
      </p:sp>
      <p:sp>
        <p:nvSpPr>
          <p:cNvPr id="13" name="Text 11"/>
          <p:cNvSpPr/>
          <p:nvPr/>
        </p:nvSpPr>
        <p:spPr>
          <a:xfrm>
            <a:off x="1047750" y="415671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3</a:t>
            </a:r>
            <a:endParaRPr lang="en-US" sz="2100" dirty="0"/>
          </a:p>
        </p:txBody>
      </p:sp>
      <p:sp>
        <p:nvSpPr>
          <p:cNvPr id="14" name="Text 12"/>
          <p:cNvSpPr/>
          <p:nvPr/>
        </p:nvSpPr>
        <p:spPr>
          <a:xfrm>
            <a:off x="1581150" y="4126230"/>
            <a:ext cx="6109431"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Our country hopes to </a:t>
            </a:r>
            <a:r>
              <a:rPr lang="en-US" sz="2100" b="1" dirty="0">
                <a:solidFill>
                  <a:srgbClr val="1A2A5E"/>
                </a:solidFill>
                <a:latin typeface="Helvetica" pitchFamily="34" charset="0"/>
                <a:ea typeface="Helvetica" pitchFamily="34" charset="-122"/>
                <a:cs typeface="Helvetica" pitchFamily="34" charset="-120"/>
              </a:rPr>
              <a:t>host </a:t>
            </a:r>
            <a:r>
              <a:rPr lang="en-US" sz="2100" dirty="0">
                <a:solidFill>
                  <a:srgbClr val="444444"/>
                </a:solidFill>
                <a:latin typeface="Helvetica" pitchFamily="34" charset="0"/>
                <a:ea typeface="Helvetica" pitchFamily="34" charset="-122"/>
                <a:cs typeface="Helvetica" pitchFamily="34" charset="-120"/>
              </a:rPr>
              <a:t>the next World Cup.</a:t>
            </a:r>
            <a:endParaRPr lang="en-US" sz="2100" dirty="0"/>
          </a:p>
        </p:txBody>
      </p:sp>
      <p:sp>
        <p:nvSpPr>
          <p:cNvPr id="15" name="Text 13"/>
          <p:cNvSpPr/>
          <p:nvPr/>
        </p:nvSpPr>
        <p:spPr>
          <a:xfrm>
            <a:off x="1047750" y="4726305"/>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4</a:t>
            </a:r>
            <a:endParaRPr lang="en-US" sz="2100" dirty="0"/>
          </a:p>
        </p:txBody>
      </p:sp>
      <p:sp>
        <p:nvSpPr>
          <p:cNvPr id="16" name="Text 14"/>
          <p:cNvSpPr/>
          <p:nvPr/>
        </p:nvSpPr>
        <p:spPr>
          <a:xfrm>
            <a:off x="1581150" y="4695825"/>
            <a:ext cx="7403532"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knockout </a:t>
            </a:r>
            <a:r>
              <a:rPr lang="en-US" sz="2100" b="1" dirty="0">
                <a:solidFill>
                  <a:srgbClr val="1A2A5E"/>
                </a:solidFill>
                <a:latin typeface="Helvetica" pitchFamily="34" charset="0"/>
                <a:ea typeface="Helvetica" pitchFamily="34" charset="-122"/>
                <a:cs typeface="Helvetica" pitchFamily="34" charset="-120"/>
              </a:rPr>
              <a:t>tournament </a:t>
            </a:r>
            <a:r>
              <a:rPr lang="en-US" sz="2100" dirty="0">
                <a:solidFill>
                  <a:srgbClr val="444444"/>
                </a:solidFill>
                <a:latin typeface="Helvetica" pitchFamily="34" charset="0"/>
                <a:ea typeface="Helvetica" pitchFamily="34" charset="-122"/>
                <a:cs typeface="Helvetica" pitchFamily="34" charset="-120"/>
              </a:rPr>
              <a:t>can be decided by a single goal.</a:t>
            </a:r>
            <a:endParaRPr lang="en-US" sz="2100" dirty="0"/>
          </a:p>
        </p:txBody>
      </p:sp>
      <p:sp>
        <p:nvSpPr>
          <p:cNvPr id="17" name="Text 15"/>
          <p:cNvSpPr/>
          <p:nvPr/>
        </p:nvSpPr>
        <p:spPr>
          <a:xfrm>
            <a:off x="1047750" y="529590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5</a:t>
            </a:r>
            <a:endParaRPr lang="en-US" sz="2100" dirty="0"/>
          </a:p>
        </p:txBody>
      </p:sp>
      <p:sp>
        <p:nvSpPr>
          <p:cNvPr id="18" name="Text 16"/>
          <p:cNvSpPr/>
          <p:nvPr/>
        </p:nvSpPr>
        <p:spPr>
          <a:xfrm>
            <a:off x="1581150" y="5265420"/>
            <a:ext cx="5316938"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great event can leave a lasting </a:t>
            </a:r>
            <a:r>
              <a:rPr lang="en-US" sz="2100" b="1" dirty="0">
                <a:solidFill>
                  <a:srgbClr val="1A2A5E"/>
                </a:solidFill>
                <a:latin typeface="Helvetica" pitchFamily="34" charset="0"/>
                <a:ea typeface="Helvetica" pitchFamily="34" charset="-122"/>
                <a:cs typeface="Helvetica" pitchFamily="34" charset="-120"/>
              </a:rPr>
              <a:t>legacy</a:t>
            </a:r>
            <a:r>
              <a:rPr lang="en-US" sz="2100" dirty="0">
                <a:solidFill>
                  <a:srgbClr val="444444"/>
                </a:solidFill>
                <a:latin typeface="Helvetica" pitchFamily="34" charset="0"/>
                <a:ea typeface="Helvetica" pitchFamily="34" charset="-122"/>
                <a:cs typeface="Helvetica" pitchFamily="34" charset="-120"/>
              </a:rPr>
              <a:t>.</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3211092"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50670"/>
            <a:ext cx="2534507" cy="205740"/>
          </a:xfrm>
          <a:prstGeom prst="rect">
            <a:avLst/>
          </a:prstGeom>
          <a:noFill/>
          <a:ln/>
        </p:spPr>
        <p:txBody>
          <a:bodyPr wrap="square" lIns="25400" tIns="25400" rIns="25400" bIns="25400" rtlCol="0" anchor="t">
            <a:normAutofit/>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4023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Bid to host the World Cup</a:t>
            </a:r>
            <a:endParaRPr lang="en-US" sz="3750" dirty="0"/>
          </a:p>
        </p:txBody>
      </p:sp>
      <p:sp>
        <p:nvSpPr>
          <p:cNvPr id="8" name="Shape 6"/>
          <p:cNvSpPr/>
          <p:nvPr/>
        </p:nvSpPr>
        <p:spPr>
          <a:xfrm>
            <a:off x="1047750" y="2819400"/>
            <a:ext cx="14859000" cy="9525"/>
          </a:xfrm>
          <a:prstGeom prst="rect">
            <a:avLst/>
          </a:prstGeom>
          <a:solidFill>
            <a:srgbClr val="D8D6D0"/>
          </a:solidFill>
          <a:ln/>
        </p:spPr>
        <p:txBody>
          <a:bodyPr/>
          <a:lstStyle/>
          <a:p>
            <a:endParaRPr lang="en-US"/>
          </a:p>
        </p:txBody>
      </p:sp>
      <p:sp>
        <p:nvSpPr>
          <p:cNvPr id="9" name="Text 7"/>
          <p:cNvSpPr/>
          <p:nvPr/>
        </p:nvSpPr>
        <p:spPr>
          <a:xfrm>
            <a:off x="1047750" y="309372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055620"/>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are on your city’s committee bidding to host the World Cup.</a:t>
            </a:r>
            <a:endParaRPr lang="en-US" sz="2250" dirty="0"/>
          </a:p>
        </p:txBody>
      </p:sp>
      <p:sp>
        <p:nvSpPr>
          <p:cNvPr id="11" name="Shape 9"/>
          <p:cNvSpPr/>
          <p:nvPr/>
        </p:nvSpPr>
        <p:spPr>
          <a:xfrm>
            <a:off x="1047750" y="3689033"/>
            <a:ext cx="14859000" cy="9525"/>
          </a:xfrm>
          <a:prstGeom prst="rect">
            <a:avLst/>
          </a:prstGeom>
          <a:solidFill>
            <a:srgbClr val="D8D6D0"/>
          </a:solidFill>
          <a:ln/>
        </p:spPr>
        <p:txBody>
          <a:bodyPr/>
          <a:lstStyle/>
          <a:p>
            <a:endParaRPr lang="en-US"/>
          </a:p>
        </p:txBody>
      </p:sp>
      <p:sp>
        <p:nvSpPr>
          <p:cNvPr id="12" name="Text 10"/>
          <p:cNvSpPr/>
          <p:nvPr/>
        </p:nvSpPr>
        <p:spPr>
          <a:xfrm>
            <a:off x="1047750" y="396335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3925253"/>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reasons your city would be a great host.</a:t>
            </a:r>
            <a:endParaRPr lang="en-US" sz="2250" dirty="0"/>
          </a:p>
        </p:txBody>
      </p:sp>
      <p:sp>
        <p:nvSpPr>
          <p:cNvPr id="14" name="Shape 12"/>
          <p:cNvSpPr/>
          <p:nvPr/>
        </p:nvSpPr>
        <p:spPr>
          <a:xfrm>
            <a:off x="1047750" y="5409248"/>
            <a:ext cx="14859000" cy="9525"/>
          </a:xfrm>
          <a:prstGeom prst="rect">
            <a:avLst/>
          </a:prstGeom>
          <a:solidFill>
            <a:srgbClr val="D8D6D0"/>
          </a:solidFill>
          <a:ln/>
        </p:spPr>
        <p:txBody>
          <a:bodyPr/>
          <a:lstStyle/>
          <a:p>
            <a:endParaRPr lang="en-US"/>
          </a:p>
        </p:txBody>
      </p:sp>
      <p:sp>
        <p:nvSpPr>
          <p:cNvPr id="15" name="Shape 13"/>
          <p:cNvSpPr/>
          <p:nvPr/>
        </p:nvSpPr>
        <p:spPr>
          <a:xfrm>
            <a:off x="1047750" y="4558665"/>
            <a:ext cx="14859000" cy="9525"/>
          </a:xfrm>
          <a:prstGeom prst="rect">
            <a:avLst/>
          </a:prstGeom>
          <a:solidFill>
            <a:srgbClr val="D8D6D0"/>
          </a:solidFill>
          <a:ln/>
        </p:spPr>
        <p:txBody>
          <a:bodyPr/>
          <a:lstStyle/>
          <a:p>
            <a:endParaRPr lang="en-US"/>
          </a:p>
        </p:txBody>
      </p:sp>
      <p:sp>
        <p:nvSpPr>
          <p:cNvPr id="16" name="Text 14"/>
          <p:cNvSpPr/>
          <p:nvPr/>
        </p:nvSpPr>
        <p:spPr>
          <a:xfrm>
            <a:off x="1047750" y="483298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794885"/>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Present your bid and explain why your city deserves it.</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954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45030"/>
            <a:ext cx="15206662" cy="1588770"/>
          </a:xfrm>
          <a:prstGeom prst="rect">
            <a:avLst/>
          </a:prstGeom>
          <a:noFill/>
          <a:ln/>
        </p:spPr>
        <p:txBody>
          <a:bodyPr wrap="square" lIns="25400" tIns="25400" rIns="25400" bIns="25400" rtlCol="0" anchor="t">
            <a:normAutofit/>
          </a:bodyPr>
          <a:lstStyle/>
          <a:p>
            <a:pPr marL="0" indent="0" algn="l">
              <a:lnSpc>
                <a:spcPct val="110000"/>
              </a:lnSpc>
              <a:buNone/>
            </a:pPr>
            <a:r>
              <a:rPr lang="en-US" sz="5550" b="1" dirty="0">
                <a:solidFill>
                  <a:srgbClr val="1A2A5E"/>
                </a:solidFill>
                <a:latin typeface="Georgia" pitchFamily="34" charset="0"/>
                <a:ea typeface="Georgia" pitchFamily="34" charset="-122"/>
                <a:cs typeface="Georgia" pitchFamily="34" charset="-120"/>
              </a:rPr>
              <a:t>Should countries spend billions of dollars to host the World Cup?</a:t>
            </a:r>
            <a:endParaRPr lang="en-US" sz="5550" dirty="0"/>
          </a:p>
        </p:txBody>
      </p:sp>
      <p:sp>
        <p:nvSpPr>
          <p:cNvPr id="7" name="Text 5"/>
          <p:cNvSpPr/>
          <p:nvPr/>
        </p:nvSpPr>
        <p:spPr>
          <a:xfrm>
            <a:off x="1047750" y="4076700"/>
            <a:ext cx="13620750" cy="46482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4979670"/>
            <a:ext cx="2476500" cy="22860"/>
          </a:xfrm>
          <a:prstGeom prst="rect">
            <a:avLst/>
          </a:prstGeom>
          <a:solidFill>
            <a:srgbClr val="D9B877"/>
          </a:solidFill>
          <a:ln/>
        </p:spPr>
        <p:txBody>
          <a:bodyPr/>
          <a:lstStyle/>
          <a:p>
            <a:endParaRPr lang="en-US"/>
          </a:p>
        </p:txBody>
      </p:sp>
      <p:sp>
        <p:nvSpPr>
          <p:cNvPr id="9" name="Text 7"/>
          <p:cNvSpPr/>
          <p:nvPr/>
        </p:nvSpPr>
        <p:spPr>
          <a:xfrm>
            <a:off x="1047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4979670"/>
            <a:ext cx="2476500" cy="22860"/>
          </a:xfrm>
          <a:prstGeom prst="rect">
            <a:avLst/>
          </a:prstGeom>
          <a:solidFill>
            <a:srgbClr val="D9B877"/>
          </a:solidFill>
          <a:ln/>
        </p:spPr>
        <p:txBody>
          <a:bodyPr/>
          <a:lstStyle/>
          <a:p>
            <a:endParaRPr lang="en-US"/>
          </a:p>
        </p:txBody>
      </p:sp>
      <p:sp>
        <p:nvSpPr>
          <p:cNvPr id="11" name="Text 9"/>
          <p:cNvSpPr/>
          <p:nvPr/>
        </p:nvSpPr>
        <p:spPr>
          <a:xfrm>
            <a:off x="39052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4979670"/>
            <a:ext cx="2476500" cy="22860"/>
          </a:xfrm>
          <a:prstGeom prst="rect">
            <a:avLst/>
          </a:prstGeom>
          <a:solidFill>
            <a:srgbClr val="D9B877"/>
          </a:solidFill>
          <a:ln/>
        </p:spPr>
        <p:txBody>
          <a:bodyPr/>
          <a:lstStyle/>
          <a:p>
            <a:endParaRPr lang="en-US"/>
          </a:p>
        </p:txBody>
      </p:sp>
      <p:sp>
        <p:nvSpPr>
          <p:cNvPr id="13" name="Text 11"/>
          <p:cNvSpPr/>
          <p:nvPr/>
        </p:nvSpPr>
        <p:spPr>
          <a:xfrm>
            <a:off x="6762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238250" y="3769995"/>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04335"/>
            <a:ext cx="16285845" cy="1958340"/>
          </a:xfrm>
          <a:prstGeom prst="rect">
            <a:avLst/>
          </a:prstGeom>
          <a:noFill/>
          <a:ln/>
        </p:spPr>
        <p:txBody>
          <a:bodyPr wrap="square" lIns="25400" tIns="25400" rIns="25400" bIns="25400" rtlCol="0" anchor="t">
            <a:normAutofit/>
          </a:bodyPr>
          <a:lstStyle/>
          <a:p>
            <a:pPr marL="0" indent="0" algn="l">
              <a:lnSpc>
                <a:spcPct val="105000"/>
              </a:lnSpc>
              <a:buNone/>
            </a:pPr>
            <a:r>
              <a:rPr lang="en-US" sz="7200" b="1" dirty="0">
                <a:solidFill>
                  <a:srgbClr val="FFFFFF"/>
                </a:solidFill>
                <a:latin typeface="Georgia" pitchFamily="34" charset="0"/>
                <a:ea typeface="Georgia" pitchFamily="34" charset="-122"/>
                <a:cs typeface="Georgia" pitchFamily="34" charset="-120"/>
              </a:rPr>
              <a:t>One fact. One perspective. Endless discussion.</a:t>
            </a:r>
            <a:endParaRPr lang="en-US" sz="7200" dirty="0"/>
          </a:p>
        </p:txBody>
      </p:sp>
      <p:sp>
        <p:nvSpPr>
          <p:cNvPr id="5" name="Text 3"/>
          <p:cNvSpPr/>
          <p:nvPr/>
        </p:nvSpPr>
        <p:spPr>
          <a:xfrm>
            <a:off x="1238250" y="6410325"/>
            <a:ext cx="17392650" cy="365760"/>
          </a:xfrm>
          <a:prstGeom prst="rect">
            <a:avLst/>
          </a:prstGeom>
          <a:noFill/>
          <a:ln/>
        </p:spPr>
        <p:txBody>
          <a:bodyPr wrap="square" lIns="25400" tIns="25400" rIns="25400" bIns="25400" rtlCol="0" anchor="t">
            <a:normAutofit/>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1891</Words>
  <Application>Microsoft Office PowerPoint</Application>
  <PresentationFormat>Custom</PresentationFormat>
  <Paragraphs>255</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Georgia</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2</cp:revision>
  <dcterms:created xsi:type="dcterms:W3CDTF">2026-07-06T03:20:11Z</dcterms:created>
  <dcterms:modified xsi:type="dcterms:W3CDTF">2026-07-06T03:25:26Z</dcterms:modified>
</cp:coreProperties>
</file>