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9" r:id="rId11"/>
    <p:sldId id="273"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6" d="100"/>
          <a:sy n="56" d="100"/>
        </p:scale>
        <p:origin x="61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5674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003 of Perspective — today's topic is Food Waste.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what is food waste, why does it matter, and how can we reduce it? Point out the balanced view and the scale of the problem. End on the pull-quote about wasting a little less.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3 and 5 are False: in wealthier countries most waste happens at home (not on farms), and food waste has a major climate impact through methane.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fridge test. Students decide alone first, then compare in groups — the split inside the group is the lesson. Give about ten minutes and run the YOUR TOTAL line plus both DISCUSS questions. Only the overnight rice is genuinely risky; almost everything else students bin is safe, and that is the point.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The goal is that students can say each line aloud and use the words in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task. In small groups, students run a busy café that throws away food every night. Give ~8 minutes to agree on three ways to cut waste without losing money, then each group presents and explains how it helps people and the planet.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004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5567446" y="1047750"/>
            <a:ext cx="1482304"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003</a:t>
            </a:r>
            <a:endParaRPr lang="en-US" sz="1500" dirty="0"/>
          </a:p>
        </p:txBody>
      </p:sp>
      <p:sp>
        <p:nvSpPr>
          <p:cNvPr id="4" name="Text 2"/>
          <p:cNvSpPr/>
          <p:nvPr/>
        </p:nvSpPr>
        <p:spPr>
          <a:xfrm>
            <a:off x="1238250" y="6719888"/>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5" name="Text 3"/>
          <p:cNvSpPr/>
          <p:nvPr/>
        </p:nvSpPr>
        <p:spPr>
          <a:xfrm>
            <a:off x="1238250" y="7211378"/>
            <a:ext cx="17392650" cy="1395413"/>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11250" b="1" kern="0" spc="-150" dirty="0">
                <a:solidFill>
                  <a:srgbClr val="FFFFFF"/>
                </a:solidFill>
                <a:latin typeface="Playfair Display" pitchFamily="34" charset="0"/>
                <a:ea typeface="Playfair Display" pitchFamily="34" charset="-122"/>
                <a:cs typeface="Playfair Display" pitchFamily="34" charset="-120"/>
              </a:rPr>
              <a:t>Food Waste</a:t>
            </a:r>
            <a:endParaRPr lang="en-US" sz="11250" dirty="0"/>
          </a:p>
        </p:txBody>
      </p:sp>
      <p:sp>
        <p:nvSpPr>
          <p:cNvPr id="6" name="Text 4"/>
          <p:cNvSpPr/>
          <p:nvPr/>
        </p:nvSpPr>
        <p:spPr>
          <a:xfrm>
            <a:off x="1238250" y="8797290"/>
            <a:ext cx="17392650" cy="480060"/>
          </a:xfrm>
          <a:prstGeom prst="rect">
            <a:avLst/>
          </a:prstGeom>
          <a:noFill/>
          <a:ln/>
        </p:spPr>
        <p:txBody>
          <a:bodyPr wrap="square" lIns="25400" tIns="25400" rIns="25400" bIns="25400" rtlCol="0" anchor="t">
            <a:normAutofit lnSpcReduction="10000"/>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Why do we throw so much away?</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What we’ll do today</a:t>
            </a:r>
            <a:endParaRPr lang="en-US" sz="4500" dirty="0"/>
          </a:p>
        </p:txBody>
      </p:sp>
      <p:sp>
        <p:nvSpPr>
          <p:cNvPr id="7" name="Text 5"/>
          <p:cNvSpPr/>
          <p:nvPr/>
        </p:nvSpPr>
        <p:spPr>
          <a:xfrm>
            <a:off x="1047750" y="3257550"/>
            <a:ext cx="515422"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01</a:t>
            </a:r>
            <a:endParaRPr lang="en-US" sz="3300" dirty="0"/>
          </a:p>
        </p:txBody>
      </p:sp>
      <p:sp>
        <p:nvSpPr>
          <p:cNvPr id="8" name="Text 6"/>
          <p:cNvSpPr/>
          <p:nvPr/>
        </p:nvSpPr>
        <p:spPr>
          <a:xfrm>
            <a:off x="1715572" y="3257550"/>
            <a:ext cx="3715583"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5572" y="3623310"/>
            <a:ext cx="3715583"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257550"/>
            <a:ext cx="578287"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02</a:t>
            </a:r>
            <a:endParaRPr lang="en-US" sz="3300" dirty="0"/>
          </a:p>
        </p:txBody>
      </p:sp>
      <p:sp>
        <p:nvSpPr>
          <p:cNvPr id="11" name="Text 9"/>
          <p:cNvSpPr/>
          <p:nvPr/>
        </p:nvSpPr>
        <p:spPr>
          <a:xfrm>
            <a:off x="10208062" y="3257550"/>
            <a:ext cx="317769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208062" y="3623310"/>
            <a:ext cx="317769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4152900"/>
            <a:ext cx="562451"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03</a:t>
            </a:r>
            <a:endParaRPr lang="en-US" sz="3300" dirty="0"/>
          </a:p>
        </p:txBody>
      </p:sp>
      <p:sp>
        <p:nvSpPr>
          <p:cNvPr id="14" name="Text 12"/>
          <p:cNvSpPr/>
          <p:nvPr/>
        </p:nvSpPr>
        <p:spPr>
          <a:xfrm>
            <a:off x="1762601" y="4152900"/>
            <a:ext cx="398511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2601" y="4518660"/>
            <a:ext cx="3985117"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4152900"/>
            <a:ext cx="574119"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04</a:t>
            </a:r>
            <a:endParaRPr lang="en-US" sz="3300" dirty="0"/>
          </a:p>
        </p:txBody>
      </p:sp>
      <p:sp>
        <p:nvSpPr>
          <p:cNvPr id="17" name="Text 15"/>
          <p:cNvSpPr/>
          <p:nvPr/>
        </p:nvSpPr>
        <p:spPr>
          <a:xfrm>
            <a:off x="10203895" y="4152900"/>
            <a:ext cx="362652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3895" y="4518660"/>
            <a:ext cx="362652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Talk with a partner</a:t>
            </a:r>
            <a:endParaRPr lang="en-US" sz="4500" dirty="0"/>
          </a:p>
        </p:txBody>
      </p:sp>
      <p:sp>
        <p:nvSpPr>
          <p:cNvPr id="7" name="Text 5"/>
          <p:cNvSpPr/>
          <p:nvPr/>
        </p:nvSpPr>
        <p:spPr>
          <a:xfrm>
            <a:off x="1047750" y="3390900"/>
            <a:ext cx="34230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1</a:t>
            </a:r>
            <a:endParaRPr lang="en-US" sz="5400" dirty="0"/>
          </a:p>
        </p:txBody>
      </p:sp>
      <p:sp>
        <p:nvSpPr>
          <p:cNvPr id="8" name="Text 6"/>
          <p:cNvSpPr/>
          <p:nvPr/>
        </p:nvSpPr>
        <p:spPr>
          <a:xfrm>
            <a:off x="1637705" y="3448050"/>
            <a:ext cx="13069503"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How much food do you think your household throws away each week?</a:t>
            </a:r>
            <a:endParaRPr lang="en-US" sz="3000" dirty="0"/>
          </a:p>
        </p:txBody>
      </p:sp>
      <p:sp>
        <p:nvSpPr>
          <p:cNvPr id="9" name="Text 7"/>
          <p:cNvSpPr/>
          <p:nvPr/>
        </p:nvSpPr>
        <p:spPr>
          <a:xfrm>
            <a:off x="1047750" y="4427220"/>
            <a:ext cx="44517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2</a:t>
            </a:r>
            <a:endParaRPr lang="en-US" sz="5400" dirty="0"/>
          </a:p>
        </p:txBody>
      </p:sp>
      <p:sp>
        <p:nvSpPr>
          <p:cNvPr id="10" name="Text 8"/>
          <p:cNvSpPr/>
          <p:nvPr/>
        </p:nvSpPr>
        <p:spPr>
          <a:xfrm>
            <a:off x="1740575" y="4484370"/>
            <a:ext cx="10297025"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Whose job is it to reduce the amount of food we waste?</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4068604"/>
            <a:ext cx="8539163"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403884"/>
            <a:ext cx="8539163"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b="1" dirty="0">
                <a:solidFill>
                  <a:srgbClr val="1A2A5E"/>
                </a:solidFill>
                <a:latin typeface="Playfair Display" pitchFamily="34" charset="0"/>
                <a:ea typeface="Playfair Display" pitchFamily="34" charset="-122"/>
                <a:cs typeface="Playfair Display" pitchFamily="34" charset="-120"/>
              </a:rPr>
              <a:t>Look and predict</a:t>
            </a:r>
            <a:endParaRPr lang="en-US" sz="4200" dirty="0"/>
          </a:p>
        </p:txBody>
      </p:sp>
      <p:sp>
        <p:nvSpPr>
          <p:cNvPr id="7" name="Text 5"/>
          <p:cNvSpPr/>
          <p:nvPr/>
        </p:nvSpPr>
        <p:spPr>
          <a:xfrm>
            <a:off x="1047750" y="5287804"/>
            <a:ext cx="8539163" cy="452438"/>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“Food Waste.”</a:t>
            </a:r>
            <a:endParaRPr lang="en-US" sz="2250" dirty="0"/>
          </a:p>
        </p:txBody>
      </p:sp>
      <p:sp>
        <p:nvSpPr>
          <p:cNvPr id="8" name="Text 6"/>
          <p:cNvSpPr/>
          <p:nvPr/>
        </p:nvSpPr>
        <p:spPr>
          <a:xfrm>
            <a:off x="1047750" y="5892641"/>
            <a:ext cx="7995761" cy="86677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7175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524" r="1524"/>
          <a:stretch/>
        </p:blipFill>
        <p:spPr>
          <a:xfrm>
            <a:off x="9484995" y="2579370"/>
            <a:ext cx="7747635" cy="5318760"/>
          </a:xfrm>
          <a:prstGeom prst="rect">
            <a:avLst/>
          </a:prstGeom>
        </p:spPr>
      </p:pic>
      <p:sp>
        <p:nvSpPr>
          <p:cNvPr id="11" name="Text 8"/>
          <p:cNvSpPr/>
          <p:nvPr/>
        </p:nvSpPr>
        <p:spPr>
          <a:xfrm>
            <a:off x="9477375" y="8020050"/>
            <a:ext cx="8539163" cy="236220"/>
          </a:xfrm>
          <a:prstGeom prst="rect">
            <a:avLst/>
          </a:prstGeom>
          <a:noFill/>
          <a:ln/>
        </p:spPr>
        <p:txBody>
          <a:bodyPr wrap="square" lIns="25400" tIns="25400" rIns="25400" bIns="25400" rtlCol="0" anchor="t">
            <a:normAutofit lnSpcReduction="10000"/>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Perfectly good food is discarded daily while millions still experience hunger worldwide.</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66900"/>
            <a:ext cx="17811750" cy="723900"/>
          </a:xfrm>
          <a:prstGeom prst="rect">
            <a:avLst/>
          </a:prstGeom>
          <a:noFill/>
          <a:ln/>
        </p:spPr>
        <p:txBody>
          <a:bodyPr wrap="square" lIns="25400" tIns="25400" rIns="25400" bIns="25400" rtlCol="0" anchor="t">
            <a:normAutofit/>
          </a:bodyPr>
          <a:lstStyle/>
          <a:p>
            <a:pPr marL="0" indent="0" algn="l">
              <a:buNone/>
            </a:pPr>
            <a:r>
              <a:rPr lang="en-US" sz="4050" b="1" dirty="0">
                <a:solidFill>
                  <a:srgbClr val="1A2A5E"/>
                </a:solidFill>
                <a:latin typeface="Playfair Display" pitchFamily="34" charset="0"/>
                <a:ea typeface="Playfair Display" pitchFamily="34" charset="-122"/>
                <a:cs typeface="Playfair Display" pitchFamily="34" charset="-120"/>
              </a:rPr>
              <a:t>Match the words to their meanings</a:t>
            </a:r>
            <a:endParaRPr lang="en-US" sz="4050" dirty="0"/>
          </a:p>
        </p:txBody>
      </p:sp>
      <p:sp>
        <p:nvSpPr>
          <p:cNvPr id="7" name="Text 5"/>
          <p:cNvSpPr/>
          <p:nvPr/>
        </p:nvSpPr>
        <p:spPr>
          <a:xfrm>
            <a:off x="1047750" y="297180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1</a:t>
            </a:r>
            <a:endParaRPr lang="en-US" sz="2400" dirty="0"/>
          </a:p>
        </p:txBody>
      </p:sp>
      <p:sp>
        <p:nvSpPr>
          <p:cNvPr id="8" name="Text 6"/>
          <p:cNvSpPr/>
          <p:nvPr/>
        </p:nvSpPr>
        <p:spPr>
          <a:xfrm>
            <a:off x="1524000" y="3025140"/>
            <a:ext cx="1677055"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perishable</a:t>
            </a:r>
            <a:endParaRPr lang="en-US" sz="2400" dirty="0"/>
          </a:p>
        </p:txBody>
      </p:sp>
      <p:sp>
        <p:nvSpPr>
          <p:cNvPr id="9" name="Text 7"/>
          <p:cNvSpPr/>
          <p:nvPr/>
        </p:nvSpPr>
        <p:spPr>
          <a:xfrm>
            <a:off x="1047750" y="356616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2</a:t>
            </a:r>
            <a:endParaRPr lang="en-US" sz="2400" dirty="0"/>
          </a:p>
        </p:txBody>
      </p:sp>
      <p:sp>
        <p:nvSpPr>
          <p:cNvPr id="10" name="Text 8"/>
          <p:cNvSpPr/>
          <p:nvPr/>
        </p:nvSpPr>
        <p:spPr>
          <a:xfrm>
            <a:off x="1524000" y="3619500"/>
            <a:ext cx="1160502"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discard</a:t>
            </a:r>
            <a:endParaRPr lang="en-US" sz="2400" dirty="0"/>
          </a:p>
        </p:txBody>
      </p:sp>
      <p:sp>
        <p:nvSpPr>
          <p:cNvPr id="11" name="Text 9"/>
          <p:cNvSpPr/>
          <p:nvPr/>
        </p:nvSpPr>
        <p:spPr>
          <a:xfrm>
            <a:off x="1047750" y="416052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3</a:t>
            </a:r>
            <a:endParaRPr lang="en-US" sz="2400" dirty="0"/>
          </a:p>
        </p:txBody>
      </p:sp>
      <p:sp>
        <p:nvSpPr>
          <p:cNvPr id="12" name="Text 10"/>
          <p:cNvSpPr/>
          <p:nvPr/>
        </p:nvSpPr>
        <p:spPr>
          <a:xfrm>
            <a:off x="1524000" y="4213860"/>
            <a:ext cx="1177171"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surplus</a:t>
            </a:r>
            <a:endParaRPr lang="en-US" sz="2400" dirty="0"/>
          </a:p>
        </p:txBody>
      </p:sp>
      <p:sp>
        <p:nvSpPr>
          <p:cNvPr id="13" name="Text 11"/>
          <p:cNvSpPr/>
          <p:nvPr/>
        </p:nvSpPr>
        <p:spPr>
          <a:xfrm>
            <a:off x="1047750" y="475488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4</a:t>
            </a:r>
            <a:endParaRPr lang="en-US" sz="2400" dirty="0"/>
          </a:p>
        </p:txBody>
      </p:sp>
      <p:sp>
        <p:nvSpPr>
          <p:cNvPr id="14" name="Text 12"/>
          <p:cNvSpPr/>
          <p:nvPr/>
        </p:nvSpPr>
        <p:spPr>
          <a:xfrm>
            <a:off x="1524000" y="4808220"/>
            <a:ext cx="1397175"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compost</a:t>
            </a:r>
            <a:endParaRPr lang="en-US" sz="2400" dirty="0"/>
          </a:p>
        </p:txBody>
      </p:sp>
      <p:sp>
        <p:nvSpPr>
          <p:cNvPr id="15" name="Text 13"/>
          <p:cNvSpPr/>
          <p:nvPr/>
        </p:nvSpPr>
        <p:spPr>
          <a:xfrm>
            <a:off x="1047750" y="534924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5</a:t>
            </a:r>
            <a:endParaRPr lang="en-US" sz="2400" dirty="0"/>
          </a:p>
        </p:txBody>
      </p:sp>
      <p:sp>
        <p:nvSpPr>
          <p:cNvPr id="16" name="Text 14"/>
          <p:cNvSpPr/>
          <p:nvPr/>
        </p:nvSpPr>
        <p:spPr>
          <a:xfrm>
            <a:off x="1524000" y="5402580"/>
            <a:ext cx="957024"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edible</a:t>
            </a:r>
            <a:endParaRPr lang="en-US" sz="2400" dirty="0"/>
          </a:p>
        </p:txBody>
      </p:sp>
      <p:sp>
        <p:nvSpPr>
          <p:cNvPr id="17" name="Text 15"/>
          <p:cNvSpPr/>
          <p:nvPr/>
        </p:nvSpPr>
        <p:spPr>
          <a:xfrm>
            <a:off x="7924800" y="297180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953276"/>
            <a:ext cx="2579299"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more than is needed</a:t>
            </a:r>
            <a:endParaRPr lang="en-US" sz="2025" dirty="0"/>
          </a:p>
        </p:txBody>
      </p:sp>
      <p:sp>
        <p:nvSpPr>
          <p:cNvPr id="19" name="Text 17"/>
          <p:cNvSpPr/>
          <p:nvPr/>
        </p:nvSpPr>
        <p:spPr>
          <a:xfrm>
            <a:off x="7924800" y="351948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01050" y="3486626"/>
            <a:ext cx="2359271"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safe or good to eat</a:t>
            </a:r>
            <a:endParaRPr lang="en-US" sz="2025" dirty="0"/>
          </a:p>
        </p:txBody>
      </p:sp>
      <p:sp>
        <p:nvSpPr>
          <p:cNvPr id="21" name="Text 19"/>
          <p:cNvSpPr/>
          <p:nvPr/>
        </p:nvSpPr>
        <p:spPr>
          <a:xfrm>
            <a:off x="7924800" y="406717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01050" y="4062174"/>
            <a:ext cx="3569423"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likely to go bad or rot quickly</a:t>
            </a:r>
            <a:endParaRPr lang="en-US" sz="2025" dirty="0"/>
          </a:p>
        </p:txBody>
      </p:sp>
      <p:sp>
        <p:nvSpPr>
          <p:cNvPr id="23" name="Text 21"/>
          <p:cNvSpPr/>
          <p:nvPr/>
        </p:nvSpPr>
        <p:spPr>
          <a:xfrm>
            <a:off x="7924800" y="461486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594860"/>
            <a:ext cx="5441620"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decayed food and plants used to enrich soil</a:t>
            </a:r>
            <a:endParaRPr lang="en-US" sz="2025" dirty="0"/>
          </a:p>
        </p:txBody>
      </p:sp>
      <p:sp>
        <p:nvSpPr>
          <p:cNvPr id="25" name="Text 23"/>
          <p:cNvSpPr/>
          <p:nvPr/>
        </p:nvSpPr>
        <p:spPr>
          <a:xfrm>
            <a:off x="7924800" y="516255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01050" y="5127546"/>
            <a:ext cx="5598259"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to throw away something you no longer want</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722120"/>
            <a:ext cx="1889879"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626870"/>
            <a:ext cx="1601272" cy="388620"/>
          </a:xfrm>
          <a:prstGeom prst="rect">
            <a:avLst/>
          </a:prstGeom>
          <a:solidFill>
            <a:srgbClr val="1A2A5E"/>
          </a:solidFill>
          <a:ln/>
        </p:spPr>
        <p:txBody>
          <a:bodyPr/>
          <a:lstStyle/>
          <a:p>
            <a:endParaRPr lang="en-US"/>
          </a:p>
        </p:txBody>
      </p:sp>
      <p:sp>
        <p:nvSpPr>
          <p:cNvPr id="7" name="Text 5"/>
          <p:cNvSpPr/>
          <p:nvPr/>
        </p:nvSpPr>
        <p:spPr>
          <a:xfrm>
            <a:off x="3146822" y="168402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48840"/>
            <a:ext cx="17811750" cy="754380"/>
          </a:xfrm>
          <a:prstGeom prst="rect">
            <a:avLst/>
          </a:prstGeom>
          <a:noFill/>
          <a:ln/>
        </p:spPr>
        <p:txBody>
          <a:bodyPr wrap="square" lIns="25400" tIns="25400" rIns="25400" bIns="25400" rtlCol="0" anchor="t">
            <a:normAutofit/>
          </a:bodyPr>
          <a:lstStyle/>
          <a:p>
            <a:pPr marL="0" indent="0" algn="l">
              <a:buNone/>
            </a:pPr>
            <a:r>
              <a:rPr lang="en-US" sz="4200" b="1" dirty="0">
                <a:solidFill>
                  <a:srgbClr val="1A2A5E"/>
                </a:solidFill>
                <a:latin typeface="Playfair Display" pitchFamily="34" charset="0"/>
                <a:ea typeface="Playfair Display" pitchFamily="34" charset="-122"/>
                <a:cs typeface="Playfair Display" pitchFamily="34" charset="-120"/>
              </a:rPr>
              <a:t>How did you do?</a:t>
            </a:r>
            <a:endParaRPr lang="en-US" sz="4200" dirty="0"/>
          </a:p>
        </p:txBody>
      </p:sp>
      <p:sp>
        <p:nvSpPr>
          <p:cNvPr id="9" name="Shape 7"/>
          <p:cNvSpPr/>
          <p:nvPr/>
        </p:nvSpPr>
        <p:spPr>
          <a:xfrm>
            <a:off x="1047750" y="3436620"/>
            <a:ext cx="2930247" cy="960120"/>
          </a:xfrm>
          <a:prstGeom prst="rect">
            <a:avLst/>
          </a:prstGeom>
          <a:ln w="15240">
            <a:solidFill>
              <a:srgbClr val="1A2A5E"/>
            </a:solidFill>
            <a:prstDash val="solid"/>
          </a:ln>
        </p:spPr>
        <p:txBody>
          <a:bodyPr/>
          <a:lstStyle/>
          <a:p>
            <a:endParaRPr lang="en-US"/>
          </a:p>
        </p:txBody>
      </p:sp>
      <p:sp>
        <p:nvSpPr>
          <p:cNvPr id="10" name="Text 8"/>
          <p:cNvSpPr/>
          <p:nvPr/>
        </p:nvSpPr>
        <p:spPr>
          <a:xfrm>
            <a:off x="1386840" y="3661410"/>
            <a:ext cx="233997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1–C </a:t>
            </a:r>
            <a:r>
              <a:rPr lang="en-US" sz="2250" b="1" dirty="0">
                <a:solidFill>
                  <a:srgbClr val="1A2A5E"/>
                </a:solidFill>
                <a:latin typeface="Helvetica" pitchFamily="34" charset="0"/>
                <a:ea typeface="Helvetica" pitchFamily="34" charset="-122"/>
                <a:cs typeface="Helvetica" pitchFamily="34" charset="-120"/>
              </a:rPr>
              <a:t>perishable</a:t>
            </a:r>
            <a:endParaRPr lang="en-US" sz="1200" dirty="0"/>
          </a:p>
        </p:txBody>
      </p:sp>
      <p:sp>
        <p:nvSpPr>
          <p:cNvPr id="11" name="Shape 9"/>
          <p:cNvSpPr/>
          <p:nvPr/>
        </p:nvSpPr>
        <p:spPr>
          <a:xfrm>
            <a:off x="4225647" y="3436620"/>
            <a:ext cx="2857500" cy="960120"/>
          </a:xfrm>
          <a:prstGeom prst="rect">
            <a:avLst/>
          </a:prstGeom>
          <a:ln w="15240">
            <a:solidFill>
              <a:srgbClr val="1A2A5E"/>
            </a:solidFill>
            <a:prstDash val="solid"/>
          </a:ln>
        </p:spPr>
        <p:txBody>
          <a:bodyPr/>
          <a:lstStyle/>
          <a:p>
            <a:endParaRPr lang="en-US"/>
          </a:p>
        </p:txBody>
      </p:sp>
      <p:sp>
        <p:nvSpPr>
          <p:cNvPr id="12" name="Text 10"/>
          <p:cNvSpPr/>
          <p:nvPr/>
        </p:nvSpPr>
        <p:spPr>
          <a:xfrm>
            <a:off x="4564737"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2–E </a:t>
            </a:r>
            <a:r>
              <a:rPr lang="en-US" sz="2250" b="1" dirty="0">
                <a:solidFill>
                  <a:srgbClr val="1A2A5E"/>
                </a:solidFill>
                <a:latin typeface="Helvetica" pitchFamily="34" charset="0"/>
                <a:ea typeface="Helvetica" pitchFamily="34" charset="-122"/>
                <a:cs typeface="Helvetica" pitchFamily="34" charset="-120"/>
              </a:rPr>
              <a:t>discard</a:t>
            </a:r>
            <a:endParaRPr lang="en-US" sz="1200" dirty="0"/>
          </a:p>
        </p:txBody>
      </p:sp>
      <p:sp>
        <p:nvSpPr>
          <p:cNvPr id="13" name="Shape 11"/>
          <p:cNvSpPr/>
          <p:nvPr/>
        </p:nvSpPr>
        <p:spPr>
          <a:xfrm>
            <a:off x="7330797" y="3436620"/>
            <a:ext cx="2857500" cy="960120"/>
          </a:xfrm>
          <a:prstGeom prst="rect">
            <a:avLst/>
          </a:prstGeom>
          <a:ln w="15240">
            <a:solidFill>
              <a:srgbClr val="1A2A5E"/>
            </a:solidFill>
            <a:prstDash val="solid"/>
          </a:ln>
        </p:spPr>
        <p:txBody>
          <a:bodyPr/>
          <a:lstStyle/>
          <a:p>
            <a:endParaRPr lang="en-US"/>
          </a:p>
        </p:txBody>
      </p:sp>
      <p:sp>
        <p:nvSpPr>
          <p:cNvPr id="14" name="Text 12"/>
          <p:cNvSpPr/>
          <p:nvPr/>
        </p:nvSpPr>
        <p:spPr>
          <a:xfrm>
            <a:off x="7669887"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3–A </a:t>
            </a:r>
            <a:r>
              <a:rPr lang="en-US" sz="2250" b="1" dirty="0">
                <a:solidFill>
                  <a:srgbClr val="1A2A5E"/>
                </a:solidFill>
                <a:latin typeface="Helvetica" pitchFamily="34" charset="0"/>
                <a:ea typeface="Helvetica" pitchFamily="34" charset="-122"/>
                <a:cs typeface="Helvetica" pitchFamily="34" charset="-120"/>
              </a:rPr>
              <a:t>surplus</a:t>
            </a:r>
            <a:endParaRPr lang="en-US" sz="1200" dirty="0"/>
          </a:p>
        </p:txBody>
      </p:sp>
      <p:sp>
        <p:nvSpPr>
          <p:cNvPr id="15" name="Shape 13"/>
          <p:cNvSpPr/>
          <p:nvPr/>
        </p:nvSpPr>
        <p:spPr>
          <a:xfrm>
            <a:off x="10435948" y="3436620"/>
            <a:ext cx="2857500" cy="960120"/>
          </a:xfrm>
          <a:prstGeom prst="rect">
            <a:avLst/>
          </a:prstGeom>
          <a:ln w="15240">
            <a:solidFill>
              <a:srgbClr val="1A2A5E"/>
            </a:solidFill>
            <a:prstDash val="solid"/>
          </a:ln>
        </p:spPr>
        <p:txBody>
          <a:bodyPr/>
          <a:lstStyle/>
          <a:p>
            <a:endParaRPr lang="en-US"/>
          </a:p>
        </p:txBody>
      </p:sp>
      <p:sp>
        <p:nvSpPr>
          <p:cNvPr id="16" name="Text 14"/>
          <p:cNvSpPr/>
          <p:nvPr/>
        </p:nvSpPr>
        <p:spPr>
          <a:xfrm>
            <a:off x="10775038"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4–D </a:t>
            </a:r>
            <a:r>
              <a:rPr lang="en-US" sz="2250" b="1" dirty="0">
                <a:solidFill>
                  <a:srgbClr val="1A2A5E"/>
                </a:solidFill>
                <a:latin typeface="Helvetica" pitchFamily="34" charset="0"/>
                <a:ea typeface="Helvetica" pitchFamily="34" charset="-122"/>
                <a:cs typeface="Helvetica" pitchFamily="34" charset="-120"/>
              </a:rPr>
              <a:t>compost</a:t>
            </a:r>
            <a:endParaRPr lang="en-US" sz="1200" dirty="0"/>
          </a:p>
        </p:txBody>
      </p:sp>
      <p:sp>
        <p:nvSpPr>
          <p:cNvPr id="17" name="Shape 15"/>
          <p:cNvSpPr/>
          <p:nvPr/>
        </p:nvSpPr>
        <p:spPr>
          <a:xfrm>
            <a:off x="13541098" y="3436620"/>
            <a:ext cx="2857500" cy="960120"/>
          </a:xfrm>
          <a:prstGeom prst="rect">
            <a:avLst/>
          </a:prstGeom>
          <a:ln w="15240">
            <a:solidFill>
              <a:srgbClr val="1A2A5E"/>
            </a:solidFill>
            <a:prstDash val="solid"/>
          </a:ln>
        </p:spPr>
        <p:txBody>
          <a:bodyPr/>
          <a:lstStyle/>
          <a:p>
            <a:endParaRPr lang="en-US"/>
          </a:p>
        </p:txBody>
      </p:sp>
      <p:sp>
        <p:nvSpPr>
          <p:cNvPr id="18" name="Text 16"/>
          <p:cNvSpPr/>
          <p:nvPr/>
        </p:nvSpPr>
        <p:spPr>
          <a:xfrm>
            <a:off x="13880188"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5–B </a:t>
            </a:r>
            <a:r>
              <a:rPr lang="en-US" sz="2250" b="1" dirty="0">
                <a:solidFill>
                  <a:srgbClr val="1A2A5E"/>
                </a:solidFill>
                <a:latin typeface="Helvetica" pitchFamily="34" charset="0"/>
                <a:ea typeface="Helvetica" pitchFamily="34" charset="-122"/>
                <a:cs typeface="Helvetica" pitchFamily="34" charset="-120"/>
              </a:rPr>
              <a:t>edible</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03251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62865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264920"/>
            <a:ext cx="17811750" cy="236220"/>
          </a:xfrm>
          <a:prstGeom prst="rect">
            <a:avLst/>
          </a:prstGeom>
          <a:noFill/>
          <a:ln/>
        </p:spPr>
        <p:txBody>
          <a:bodyPr wrap="square" lIns="25400" tIns="25400" rIns="25400" bIns="25400" rtlCol="0" anchor="t">
            <a:normAutofit lnSpcReduction="10000"/>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52019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Food Waste</a:t>
            </a:r>
            <a:endParaRPr lang="en-US" sz="3750" dirty="0"/>
          </a:p>
        </p:txBody>
      </p:sp>
      <p:sp>
        <p:nvSpPr>
          <p:cNvPr id="7" name="Text 5"/>
          <p:cNvSpPr/>
          <p:nvPr/>
        </p:nvSpPr>
        <p:spPr>
          <a:xfrm>
            <a:off x="1047750" y="2236470"/>
            <a:ext cx="17811750" cy="33528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Why do we throw so much away?</a:t>
            </a:r>
            <a:endParaRPr lang="en-US" sz="2025" dirty="0"/>
          </a:p>
        </p:txBody>
      </p:sp>
      <p:sp>
        <p:nvSpPr>
          <p:cNvPr id="8" name="Shape 6"/>
          <p:cNvSpPr/>
          <p:nvPr/>
        </p:nvSpPr>
        <p:spPr>
          <a:xfrm>
            <a:off x="1047750" y="2667000"/>
            <a:ext cx="609600" cy="38100"/>
          </a:xfrm>
          <a:prstGeom prst="rect">
            <a:avLst/>
          </a:prstGeom>
          <a:solidFill>
            <a:srgbClr val="D9B877"/>
          </a:solidFill>
          <a:ln/>
        </p:spPr>
        <p:txBody>
          <a:bodyPr/>
          <a:lstStyle/>
          <a:p>
            <a:endParaRPr lang="en-US"/>
          </a:p>
        </p:txBody>
      </p:sp>
      <p:sp>
        <p:nvSpPr>
          <p:cNvPr id="9" name="Text 7"/>
          <p:cNvSpPr/>
          <p:nvPr/>
        </p:nvSpPr>
        <p:spPr>
          <a:xfrm>
            <a:off x="1047750" y="2819400"/>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i="1" dirty="0">
                <a:solidFill>
                  <a:srgbClr val="555555"/>
                </a:solidFill>
                <a:latin typeface="Helvetica" pitchFamily="34" charset="0"/>
                <a:ea typeface="Helvetica" pitchFamily="34" charset="-122"/>
                <a:cs typeface="Helvetica" pitchFamily="34" charset="-120"/>
              </a:rPr>
              <a:t>A third of the world’s food is never eaten — and the cost is far greater than it seems.</a:t>
            </a:r>
            <a:endParaRPr lang="en-US" sz="1650" dirty="0"/>
          </a:p>
        </p:txBody>
      </p:sp>
      <p:sp>
        <p:nvSpPr>
          <p:cNvPr id="10" name="Text 8"/>
          <p:cNvSpPr/>
          <p:nvPr/>
        </p:nvSpPr>
        <p:spPr>
          <a:xfrm>
            <a:off x="1039863" y="3328543"/>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Every evening, in kitchens and restaurants around the world, a quiet waste takes place. Perfectly good bread, bruised fruit, and half-eaten meals are scraped into the bin without a second thought. It feels harmless — but multiplied across billions of homes, it becomes one of the planet’s largest and most overlooked problems. Roughly a third of all the food grown for people is never eaten.</a:t>
            </a:r>
            <a:endParaRPr lang="en-US" sz="1650" dirty="0"/>
          </a:p>
        </p:txBody>
      </p:sp>
      <p:sp>
        <p:nvSpPr>
          <p:cNvPr id="11" name="Text 9"/>
          <p:cNvSpPr/>
          <p:nvPr/>
        </p:nvSpPr>
        <p:spPr>
          <a:xfrm>
            <a:off x="1047750" y="5604748"/>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scale is hard to picture. About 1.3 billion tonnes of food are lost or thrown away every year, while hundreds of millions of people go hungry. Some is lost on farms or in transport, especially </a:t>
            </a:r>
            <a:r>
              <a:rPr lang="en-US" sz="1650" b="1" dirty="0">
                <a:solidFill>
                  <a:srgbClr val="1A2A5E"/>
                </a:solidFill>
                <a:latin typeface="Helvetica" pitchFamily="34" charset="0"/>
                <a:ea typeface="Helvetica" pitchFamily="34" charset="-122"/>
                <a:cs typeface="Helvetica" pitchFamily="34" charset="-120"/>
              </a:rPr>
              <a:t>perishable </a:t>
            </a:r>
            <a:r>
              <a:rPr lang="en-US" sz="1650" dirty="0">
                <a:solidFill>
                  <a:srgbClr val="222222"/>
                </a:solidFill>
                <a:latin typeface="Helvetica" pitchFamily="34" charset="0"/>
                <a:ea typeface="Helvetica" pitchFamily="34" charset="-122"/>
                <a:cs typeface="Helvetica" pitchFamily="34" charset="-120"/>
              </a:rPr>
              <a:t>items like milk and vegetables that spoil quickly. But in wealthier countries, most waste happens at home, where families routinely </a:t>
            </a:r>
            <a:r>
              <a:rPr lang="en-US" sz="1650" b="1" dirty="0">
                <a:solidFill>
                  <a:srgbClr val="1A2A5E"/>
                </a:solidFill>
                <a:latin typeface="Helvetica" pitchFamily="34" charset="0"/>
                <a:ea typeface="Helvetica" pitchFamily="34" charset="-122"/>
                <a:cs typeface="Helvetica" pitchFamily="34" charset="-120"/>
              </a:rPr>
              <a:t>discard </a:t>
            </a:r>
            <a:r>
              <a:rPr lang="en-US" sz="1650" dirty="0">
                <a:solidFill>
                  <a:srgbClr val="222222"/>
                </a:solidFill>
                <a:latin typeface="Helvetica" pitchFamily="34" charset="0"/>
                <a:ea typeface="Helvetica" pitchFamily="34" charset="-122"/>
                <a:cs typeface="Helvetica" pitchFamily="34" charset="-120"/>
              </a:rPr>
              <a:t>food they simply forgot to eat.</a:t>
            </a:r>
            <a:endParaRPr lang="en-US" sz="1650" dirty="0"/>
          </a:p>
        </p:txBody>
      </p:sp>
      <p:sp>
        <p:nvSpPr>
          <p:cNvPr id="12" name="Text 10"/>
          <p:cNvSpPr/>
          <p:nvPr/>
        </p:nvSpPr>
        <p:spPr>
          <a:xfrm>
            <a:off x="9401175" y="3272790"/>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costs reach far beyond the dinner table. When food rots in a landfill it releases methane, a gas far more powerful than carbon dioxide. If food waste were a country, it would be the third-largest source of greenhouse gases on Earth. It also throws away the water, land, and fuel used to grow it — a single wasted apple represents about 125 litres of water.</a:t>
            </a:r>
            <a:endParaRPr lang="en-US" sz="1650" dirty="0"/>
          </a:p>
        </p:txBody>
      </p:sp>
      <p:sp>
        <p:nvSpPr>
          <p:cNvPr id="13" name="Text 11"/>
          <p:cNvSpPr/>
          <p:nvPr/>
        </p:nvSpPr>
        <p:spPr>
          <a:xfrm>
            <a:off x="9401174" y="5610598"/>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Yet this is a problem almost anyone can help solve. Some shops now sell </a:t>
            </a:r>
            <a:r>
              <a:rPr lang="en-US" sz="1650" b="1" dirty="0">
                <a:solidFill>
                  <a:srgbClr val="1A2A5E"/>
                </a:solidFill>
                <a:latin typeface="Helvetica" pitchFamily="34" charset="0"/>
                <a:ea typeface="Helvetica" pitchFamily="34" charset="-122"/>
                <a:cs typeface="Helvetica" pitchFamily="34" charset="-120"/>
              </a:rPr>
              <a:t>surplus </a:t>
            </a:r>
            <a:r>
              <a:rPr lang="en-US" sz="1650" dirty="0">
                <a:solidFill>
                  <a:srgbClr val="222222"/>
                </a:solidFill>
                <a:latin typeface="Helvetica" pitchFamily="34" charset="0"/>
                <a:ea typeface="Helvetica" pitchFamily="34" charset="-122"/>
                <a:cs typeface="Helvetica" pitchFamily="34" charset="-120"/>
              </a:rPr>
              <a:t>stock cheaply instead of binning it. Restaurants donate leftovers, and many families turn scraps into </a:t>
            </a:r>
            <a:r>
              <a:rPr lang="en-US" sz="1650" b="1" dirty="0">
                <a:solidFill>
                  <a:srgbClr val="1A2A5E"/>
                </a:solidFill>
                <a:latin typeface="Helvetica" pitchFamily="34" charset="0"/>
                <a:ea typeface="Helvetica" pitchFamily="34" charset="-122"/>
                <a:cs typeface="Helvetica" pitchFamily="34" charset="-120"/>
              </a:rPr>
              <a:t>compost </a:t>
            </a:r>
            <a:r>
              <a:rPr lang="en-US" sz="1650" dirty="0">
                <a:solidFill>
                  <a:srgbClr val="222222"/>
                </a:solidFill>
                <a:latin typeface="Helvetica" pitchFamily="34" charset="0"/>
                <a:ea typeface="Helvetica" pitchFamily="34" charset="-122"/>
                <a:cs typeface="Helvetica" pitchFamily="34" charset="-120"/>
              </a:rPr>
              <a:t>that feeds a garden rather than a dump. Others simply plan meals and remember that a slightly ugly vegetable is still perfectly </a:t>
            </a:r>
            <a:r>
              <a:rPr lang="en-US" sz="1650" b="1" dirty="0">
                <a:solidFill>
                  <a:srgbClr val="1A2A5E"/>
                </a:solidFill>
                <a:latin typeface="Helvetica" pitchFamily="34" charset="0"/>
                <a:ea typeface="Helvetica" pitchFamily="34" charset="-122"/>
                <a:cs typeface="Helvetica" pitchFamily="34" charset="-120"/>
              </a:rPr>
              <a:t>edible</a:t>
            </a:r>
            <a:r>
              <a:rPr lang="en-US" sz="1650" dirty="0">
                <a:solidFill>
                  <a:srgbClr val="222222"/>
                </a:solidFill>
                <a:latin typeface="Helvetica" pitchFamily="34" charset="0"/>
                <a:ea typeface="Helvetica" pitchFamily="34" charset="-122"/>
                <a:cs typeface="Helvetica" pitchFamily="34" charset="-120"/>
              </a:rPr>
              <a:t>.</a:t>
            </a:r>
            <a:endParaRPr lang="en-US" sz="1650" dirty="0"/>
          </a:p>
        </p:txBody>
      </p:sp>
      <p:sp>
        <p:nvSpPr>
          <p:cNvPr id="14" name="Shape 12"/>
          <p:cNvSpPr/>
          <p:nvPr/>
        </p:nvSpPr>
        <p:spPr>
          <a:xfrm>
            <a:off x="1047750" y="8006246"/>
            <a:ext cx="45720" cy="842010"/>
          </a:xfrm>
          <a:prstGeom prst="rect">
            <a:avLst/>
          </a:prstGeom>
          <a:solidFill>
            <a:srgbClr val="D9B877"/>
          </a:solidFill>
          <a:ln/>
        </p:spPr>
        <p:txBody>
          <a:bodyPr/>
          <a:lstStyle/>
          <a:p>
            <a:endParaRPr lang="en-US"/>
          </a:p>
        </p:txBody>
      </p:sp>
      <p:sp>
        <p:nvSpPr>
          <p:cNvPr id="15" name="Text 13"/>
          <p:cNvSpPr/>
          <p:nvPr/>
        </p:nvSpPr>
        <p:spPr>
          <a:xfrm>
            <a:off x="1360170" y="8006246"/>
            <a:ext cx="13422630" cy="880110"/>
          </a:xfrm>
          <a:prstGeom prst="rect">
            <a:avLst/>
          </a:prstGeom>
          <a:noFill/>
          <a:ln/>
        </p:spPr>
        <p:txBody>
          <a:bodyPr wrap="square" lIns="25400" tIns="25400" rIns="25400" bIns="25400" rtlCol="0" anchor="t">
            <a:normAutofit/>
          </a:bodyPr>
          <a:lstStyle/>
          <a:p>
            <a:pPr marL="0" indent="0" algn="l">
              <a:lnSpc>
                <a:spcPct val="130000"/>
              </a:lnSpc>
              <a:buNone/>
            </a:pPr>
            <a:r>
              <a:rPr lang="en-US" sz="2550" b="1" i="1" dirty="0">
                <a:solidFill>
                  <a:srgbClr val="1A2A5E"/>
                </a:solidFill>
                <a:latin typeface="Playfair Display" pitchFamily="34" charset="0"/>
                <a:ea typeface="Playfair Display" pitchFamily="34" charset="-122"/>
                <a:cs typeface="Playfair Display" pitchFamily="34" charset="-120"/>
              </a:rPr>
              <a:t>If a third of our food is wasted, how much could change if each of us wasted just a little less?</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3-audio">
            <a:hlinkClick r:id="" action="ppaction://media"/>
            <a:extLst>
              <a:ext uri="{FF2B5EF4-FFF2-40B4-BE49-F238E27FC236}">
                <a16:creationId xmlns:a16="http://schemas.microsoft.com/office/drawing/2014/main" id="{B12BE2CF-49A7-856F-D023-0DD6BA16434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862094" y="1421987"/>
            <a:ext cx="487362"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670406" y="70104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True or False?</a:t>
            </a:r>
            <a:endParaRPr lang="en-US" sz="4050" dirty="0"/>
          </a:p>
        </p:txBody>
      </p:sp>
      <p:sp>
        <p:nvSpPr>
          <p:cNvPr id="7" name="Shape 5"/>
          <p:cNvSpPr/>
          <p:nvPr/>
        </p:nvSpPr>
        <p:spPr>
          <a:xfrm>
            <a:off x="1047750" y="3402330"/>
            <a:ext cx="14763750" cy="9525"/>
          </a:xfrm>
          <a:prstGeom prst="rect">
            <a:avLst/>
          </a:prstGeom>
          <a:solidFill>
            <a:srgbClr val="E3E1DB"/>
          </a:solidFill>
          <a:ln/>
        </p:spPr>
        <p:txBody>
          <a:bodyPr/>
          <a:lstStyle/>
          <a:p>
            <a:endParaRPr lang="en-US"/>
          </a:p>
        </p:txBody>
      </p:sp>
      <p:sp>
        <p:nvSpPr>
          <p:cNvPr id="8" name="Text 6"/>
          <p:cNvSpPr/>
          <p:nvPr/>
        </p:nvSpPr>
        <p:spPr>
          <a:xfrm>
            <a:off x="1047750" y="284607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676400" y="286893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About a third of the food grown for people is never eaten.</a:t>
            </a:r>
            <a:endParaRPr lang="en-US" sz="2175" dirty="0"/>
          </a:p>
        </p:txBody>
      </p:sp>
      <p:sp>
        <p:nvSpPr>
          <p:cNvPr id="10" name="Text 8"/>
          <p:cNvSpPr/>
          <p:nvPr/>
        </p:nvSpPr>
        <p:spPr>
          <a:xfrm>
            <a:off x="14997469" y="28536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175760"/>
            <a:ext cx="14763750" cy="9525"/>
          </a:xfrm>
          <a:prstGeom prst="rect">
            <a:avLst/>
          </a:prstGeom>
          <a:solidFill>
            <a:srgbClr val="E3E1DB"/>
          </a:solidFill>
          <a:ln/>
        </p:spPr>
        <p:txBody>
          <a:bodyPr/>
          <a:lstStyle/>
          <a:p>
            <a:endParaRPr lang="en-US"/>
          </a:p>
        </p:txBody>
      </p:sp>
      <p:sp>
        <p:nvSpPr>
          <p:cNvPr id="12" name="Text 10"/>
          <p:cNvSpPr/>
          <p:nvPr/>
        </p:nvSpPr>
        <p:spPr>
          <a:xfrm>
            <a:off x="1047750" y="361950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3" name="Text 11"/>
          <p:cNvSpPr/>
          <p:nvPr/>
        </p:nvSpPr>
        <p:spPr>
          <a:xfrm>
            <a:off x="1676400" y="364236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Food rotting in a landfill releases methane.</a:t>
            </a:r>
            <a:endParaRPr lang="en-US" sz="2175" dirty="0"/>
          </a:p>
        </p:txBody>
      </p:sp>
      <p:sp>
        <p:nvSpPr>
          <p:cNvPr id="14" name="Text 12"/>
          <p:cNvSpPr/>
          <p:nvPr/>
        </p:nvSpPr>
        <p:spPr>
          <a:xfrm>
            <a:off x="14997469" y="362712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4949190"/>
            <a:ext cx="14763750" cy="9525"/>
          </a:xfrm>
          <a:prstGeom prst="rect">
            <a:avLst/>
          </a:prstGeom>
          <a:solidFill>
            <a:srgbClr val="E3E1DB"/>
          </a:solidFill>
          <a:ln/>
        </p:spPr>
        <p:txBody>
          <a:bodyPr/>
          <a:lstStyle/>
          <a:p>
            <a:endParaRPr lang="en-US"/>
          </a:p>
        </p:txBody>
      </p:sp>
      <p:sp>
        <p:nvSpPr>
          <p:cNvPr id="16" name="Text 14"/>
          <p:cNvSpPr/>
          <p:nvPr/>
        </p:nvSpPr>
        <p:spPr>
          <a:xfrm>
            <a:off x="1047750" y="439293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7" name="Text 15"/>
          <p:cNvSpPr/>
          <p:nvPr/>
        </p:nvSpPr>
        <p:spPr>
          <a:xfrm>
            <a:off x="1676400" y="441579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In wealthier countries, most food waste happens on farms.</a:t>
            </a:r>
            <a:endParaRPr lang="en-US" sz="2175" dirty="0"/>
          </a:p>
        </p:txBody>
      </p:sp>
      <p:sp>
        <p:nvSpPr>
          <p:cNvPr id="18" name="Text 16"/>
          <p:cNvSpPr/>
          <p:nvPr/>
        </p:nvSpPr>
        <p:spPr>
          <a:xfrm>
            <a:off x="14997469" y="440055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5722620"/>
            <a:ext cx="14763750" cy="9525"/>
          </a:xfrm>
          <a:prstGeom prst="rect">
            <a:avLst/>
          </a:prstGeom>
          <a:solidFill>
            <a:srgbClr val="E3E1DB"/>
          </a:solidFill>
          <a:ln/>
        </p:spPr>
        <p:txBody>
          <a:bodyPr/>
          <a:lstStyle/>
          <a:p>
            <a:endParaRPr lang="en-US"/>
          </a:p>
        </p:txBody>
      </p:sp>
      <p:sp>
        <p:nvSpPr>
          <p:cNvPr id="20" name="Text 18"/>
          <p:cNvSpPr/>
          <p:nvPr/>
        </p:nvSpPr>
        <p:spPr>
          <a:xfrm>
            <a:off x="1047750" y="516636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21" name="Text 19"/>
          <p:cNvSpPr/>
          <p:nvPr/>
        </p:nvSpPr>
        <p:spPr>
          <a:xfrm>
            <a:off x="1676400" y="518922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Some shops sell surplus food cheaply instead of binning it.</a:t>
            </a:r>
            <a:endParaRPr lang="en-US" sz="2175" dirty="0"/>
          </a:p>
        </p:txBody>
      </p:sp>
      <p:sp>
        <p:nvSpPr>
          <p:cNvPr id="22" name="Text 20"/>
          <p:cNvSpPr/>
          <p:nvPr/>
        </p:nvSpPr>
        <p:spPr>
          <a:xfrm>
            <a:off x="14997469" y="51739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593979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4" name="Text 22"/>
          <p:cNvSpPr/>
          <p:nvPr/>
        </p:nvSpPr>
        <p:spPr>
          <a:xfrm>
            <a:off x="1676400" y="596265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Food waste has almost no effect on the climate.</a:t>
            </a:r>
            <a:endParaRPr lang="en-US" sz="2175" dirty="0"/>
          </a:p>
        </p:txBody>
      </p:sp>
      <p:sp>
        <p:nvSpPr>
          <p:cNvPr id="25" name="Text 23"/>
          <p:cNvSpPr/>
          <p:nvPr/>
        </p:nvSpPr>
        <p:spPr>
          <a:xfrm>
            <a:off x="14997469" y="594741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670406" y="70104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38300"/>
            <a:ext cx="2419386"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43050"/>
            <a:ext cx="1601272" cy="388620"/>
          </a:xfrm>
          <a:prstGeom prst="rect">
            <a:avLst/>
          </a:prstGeom>
          <a:solidFill>
            <a:srgbClr val="1A2A5E"/>
          </a:solidFill>
          <a:ln/>
        </p:spPr>
        <p:txBody>
          <a:bodyPr/>
          <a:lstStyle/>
          <a:p>
            <a:endParaRPr lang="en-US"/>
          </a:p>
        </p:txBody>
      </p:sp>
      <p:sp>
        <p:nvSpPr>
          <p:cNvPr id="7" name="Text 5"/>
          <p:cNvSpPr/>
          <p:nvPr/>
        </p:nvSpPr>
        <p:spPr>
          <a:xfrm>
            <a:off x="3628192" y="16002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06502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True or False?</a:t>
            </a:r>
            <a:endParaRPr lang="en-US" sz="3900" dirty="0"/>
          </a:p>
        </p:txBody>
      </p:sp>
      <p:sp>
        <p:nvSpPr>
          <p:cNvPr id="9" name="Text 7"/>
          <p:cNvSpPr/>
          <p:nvPr/>
        </p:nvSpPr>
        <p:spPr>
          <a:xfrm>
            <a:off x="1047750" y="302514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0" name="Text 8"/>
          <p:cNvSpPr/>
          <p:nvPr/>
        </p:nvSpPr>
        <p:spPr>
          <a:xfrm>
            <a:off x="1676400" y="30099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1" name="Text 9"/>
          <p:cNvSpPr/>
          <p:nvPr/>
        </p:nvSpPr>
        <p:spPr>
          <a:xfrm>
            <a:off x="2952750" y="30441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About a third of the food grown for people is never eaten.</a:t>
            </a:r>
            <a:endParaRPr lang="en-US" sz="1950" dirty="0"/>
          </a:p>
        </p:txBody>
      </p:sp>
      <p:sp>
        <p:nvSpPr>
          <p:cNvPr id="12" name="Text 10"/>
          <p:cNvSpPr/>
          <p:nvPr/>
        </p:nvSpPr>
        <p:spPr>
          <a:xfrm>
            <a:off x="1047750" y="354711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3" name="Text 11"/>
          <p:cNvSpPr/>
          <p:nvPr/>
        </p:nvSpPr>
        <p:spPr>
          <a:xfrm>
            <a:off x="1676400" y="353187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4" name="Text 12"/>
          <p:cNvSpPr/>
          <p:nvPr/>
        </p:nvSpPr>
        <p:spPr>
          <a:xfrm>
            <a:off x="2952750" y="356616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Food rotting in a landfill releases methane.</a:t>
            </a:r>
            <a:endParaRPr lang="en-US" sz="1950" dirty="0"/>
          </a:p>
        </p:txBody>
      </p:sp>
      <p:sp>
        <p:nvSpPr>
          <p:cNvPr id="15" name="Text 13"/>
          <p:cNvSpPr/>
          <p:nvPr/>
        </p:nvSpPr>
        <p:spPr>
          <a:xfrm>
            <a:off x="1047750" y="406908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6" name="Text 14"/>
          <p:cNvSpPr/>
          <p:nvPr/>
        </p:nvSpPr>
        <p:spPr>
          <a:xfrm>
            <a:off x="1676400" y="405384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7" name="Text 15"/>
          <p:cNvSpPr/>
          <p:nvPr/>
        </p:nvSpPr>
        <p:spPr>
          <a:xfrm>
            <a:off x="2952750" y="408813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In wealthier countries, most food waste happens on farms. </a:t>
            </a:r>
            <a:r>
              <a:rPr lang="en-US" sz="1950" i="1" dirty="0">
                <a:solidFill>
                  <a:srgbClr val="888888"/>
                </a:solidFill>
                <a:latin typeface="Helvetica" pitchFamily="34" charset="0"/>
                <a:ea typeface="Helvetica" pitchFamily="34" charset="-122"/>
                <a:cs typeface="Helvetica" pitchFamily="34" charset="-120"/>
              </a:rPr>
              <a:t>— it happens at home.</a:t>
            </a:r>
            <a:endParaRPr lang="en-US" sz="1950" dirty="0"/>
          </a:p>
        </p:txBody>
      </p:sp>
      <p:sp>
        <p:nvSpPr>
          <p:cNvPr id="18" name="Text 16"/>
          <p:cNvSpPr/>
          <p:nvPr/>
        </p:nvSpPr>
        <p:spPr>
          <a:xfrm>
            <a:off x="1047750" y="459105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676400" y="457581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0" name="Text 18"/>
          <p:cNvSpPr/>
          <p:nvPr/>
        </p:nvSpPr>
        <p:spPr>
          <a:xfrm>
            <a:off x="2952750" y="461010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Some shops sell surplus food cheaply instead of binning it.</a:t>
            </a:r>
            <a:endParaRPr lang="en-US" sz="1950" dirty="0"/>
          </a:p>
        </p:txBody>
      </p:sp>
      <p:sp>
        <p:nvSpPr>
          <p:cNvPr id="21" name="Text 19"/>
          <p:cNvSpPr/>
          <p:nvPr/>
        </p:nvSpPr>
        <p:spPr>
          <a:xfrm>
            <a:off x="1047750" y="511302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2" name="Text 20"/>
          <p:cNvSpPr/>
          <p:nvPr/>
        </p:nvSpPr>
        <p:spPr>
          <a:xfrm>
            <a:off x="1676400" y="509778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23" name="Text 21"/>
          <p:cNvSpPr/>
          <p:nvPr/>
        </p:nvSpPr>
        <p:spPr>
          <a:xfrm>
            <a:off x="2952750" y="513207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Food waste has almost no effect on the climate. </a:t>
            </a:r>
            <a:r>
              <a:rPr lang="en-US" sz="1950" i="1" dirty="0">
                <a:solidFill>
                  <a:srgbClr val="888888"/>
                </a:solidFill>
                <a:latin typeface="Helvetica" pitchFamily="34" charset="0"/>
                <a:ea typeface="Helvetica" pitchFamily="34" charset="-122"/>
                <a:cs typeface="Helvetica" pitchFamily="34" charset="-120"/>
              </a:rPr>
              <a:t>— it drives methane.</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FFFFFF"/>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125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80975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FFFFFF"/>
                </a:solidFill>
                <a:latin typeface="Playfair Display" pitchFamily="34" charset="0"/>
                <a:ea typeface="Playfair Display" pitchFamily="34" charset="-122"/>
                <a:cs typeface="Playfair Display" pitchFamily="34" charset="-120"/>
              </a:rPr>
              <a:t>Talk it through</a:t>
            </a:r>
            <a:endParaRPr lang="en-US" sz="3900" dirty="0"/>
          </a:p>
        </p:txBody>
      </p:sp>
      <p:sp>
        <p:nvSpPr>
          <p:cNvPr id="7" name="Shape 5"/>
          <p:cNvSpPr/>
          <p:nvPr/>
        </p:nvSpPr>
        <p:spPr>
          <a:xfrm>
            <a:off x="1047750" y="3394710"/>
            <a:ext cx="15049500" cy="9525"/>
          </a:xfrm>
          <a:prstGeom prst="rect">
            <a:avLst/>
          </a:prstGeom>
          <a:solidFill>
            <a:srgbClr val="34437A"/>
          </a:solidFill>
          <a:ln/>
        </p:spPr>
        <p:txBody>
          <a:bodyPr/>
          <a:lstStyle/>
          <a:p>
            <a:endParaRPr lang="en-US"/>
          </a:p>
        </p:txBody>
      </p:sp>
      <p:sp>
        <p:nvSpPr>
          <p:cNvPr id="8" name="Text 6"/>
          <p:cNvSpPr/>
          <p:nvPr/>
        </p:nvSpPr>
        <p:spPr>
          <a:xfrm>
            <a:off x="1047750" y="2807970"/>
            <a:ext cx="20193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1</a:t>
            </a:r>
            <a:endParaRPr lang="en-US" sz="2550" dirty="0"/>
          </a:p>
        </p:txBody>
      </p:sp>
      <p:sp>
        <p:nvSpPr>
          <p:cNvPr id="9" name="Text 7"/>
          <p:cNvSpPr/>
          <p:nvPr/>
        </p:nvSpPr>
        <p:spPr>
          <a:xfrm>
            <a:off x="1402080" y="2891790"/>
            <a:ext cx="1616468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 you throw away much food at home? What kind, and why?</a:t>
            </a:r>
            <a:endParaRPr lang="en-US" sz="2100" dirty="0"/>
          </a:p>
        </p:txBody>
      </p:sp>
      <p:sp>
        <p:nvSpPr>
          <p:cNvPr id="10" name="Shape 8"/>
          <p:cNvSpPr/>
          <p:nvPr/>
        </p:nvSpPr>
        <p:spPr>
          <a:xfrm>
            <a:off x="1047750" y="4160520"/>
            <a:ext cx="15049500" cy="9525"/>
          </a:xfrm>
          <a:prstGeom prst="rect">
            <a:avLst/>
          </a:prstGeom>
          <a:solidFill>
            <a:srgbClr val="34437A"/>
          </a:solidFill>
          <a:ln/>
        </p:spPr>
        <p:txBody>
          <a:bodyPr/>
          <a:lstStyle/>
          <a:p>
            <a:endParaRPr lang="en-US"/>
          </a:p>
        </p:txBody>
      </p:sp>
      <p:sp>
        <p:nvSpPr>
          <p:cNvPr id="11" name="Text 9"/>
          <p:cNvSpPr/>
          <p:nvPr/>
        </p:nvSpPr>
        <p:spPr>
          <a:xfrm>
            <a:off x="1047750" y="3573780"/>
            <a:ext cx="250508"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2</a:t>
            </a:r>
            <a:endParaRPr lang="en-US" sz="2550" dirty="0"/>
          </a:p>
        </p:txBody>
      </p:sp>
      <p:sp>
        <p:nvSpPr>
          <p:cNvPr id="12" name="Text 10"/>
          <p:cNvSpPr/>
          <p:nvPr/>
        </p:nvSpPr>
        <p:spPr>
          <a:xfrm>
            <a:off x="1450658" y="3657600"/>
            <a:ext cx="16111253"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How was food treated in your home when you were growing up?</a:t>
            </a:r>
            <a:endParaRPr lang="en-US" sz="2100" dirty="0"/>
          </a:p>
        </p:txBody>
      </p:sp>
      <p:sp>
        <p:nvSpPr>
          <p:cNvPr id="13" name="Shape 11"/>
          <p:cNvSpPr/>
          <p:nvPr/>
        </p:nvSpPr>
        <p:spPr>
          <a:xfrm>
            <a:off x="1047750" y="4926330"/>
            <a:ext cx="15049500" cy="9525"/>
          </a:xfrm>
          <a:prstGeom prst="rect">
            <a:avLst/>
          </a:prstGeom>
          <a:solidFill>
            <a:srgbClr val="34437A"/>
          </a:solidFill>
          <a:ln/>
        </p:spPr>
        <p:txBody>
          <a:bodyPr/>
          <a:lstStyle/>
          <a:p>
            <a:endParaRPr lang="en-US"/>
          </a:p>
        </p:txBody>
      </p:sp>
      <p:sp>
        <p:nvSpPr>
          <p:cNvPr id="14" name="Text 12"/>
          <p:cNvSpPr/>
          <p:nvPr/>
        </p:nvSpPr>
        <p:spPr>
          <a:xfrm>
            <a:off x="1047750" y="4339590"/>
            <a:ext cx="23812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3</a:t>
            </a:r>
            <a:endParaRPr lang="en-US" sz="2550" dirty="0"/>
          </a:p>
        </p:txBody>
      </p:sp>
      <p:sp>
        <p:nvSpPr>
          <p:cNvPr id="15" name="Text 13"/>
          <p:cNvSpPr/>
          <p:nvPr/>
        </p:nvSpPr>
        <p:spPr>
          <a:xfrm>
            <a:off x="1438275" y="4423410"/>
            <a:ext cx="16124872"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Why do you think people in wealthier countries waste more food?</a:t>
            </a:r>
            <a:endParaRPr lang="en-US" sz="2100" dirty="0"/>
          </a:p>
        </p:txBody>
      </p:sp>
      <p:sp>
        <p:nvSpPr>
          <p:cNvPr id="16" name="Shape 14"/>
          <p:cNvSpPr/>
          <p:nvPr/>
        </p:nvSpPr>
        <p:spPr>
          <a:xfrm>
            <a:off x="1047750" y="5692140"/>
            <a:ext cx="15049500" cy="9525"/>
          </a:xfrm>
          <a:prstGeom prst="rect">
            <a:avLst/>
          </a:prstGeom>
          <a:solidFill>
            <a:srgbClr val="34437A"/>
          </a:solidFill>
          <a:ln/>
        </p:spPr>
        <p:txBody>
          <a:bodyPr/>
          <a:lstStyle/>
          <a:p>
            <a:endParaRPr lang="en-US"/>
          </a:p>
        </p:txBody>
      </p:sp>
      <p:sp>
        <p:nvSpPr>
          <p:cNvPr id="17" name="Text 15"/>
          <p:cNvSpPr/>
          <p:nvPr/>
        </p:nvSpPr>
        <p:spPr>
          <a:xfrm>
            <a:off x="1047750" y="5105400"/>
            <a:ext cx="25086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4</a:t>
            </a:r>
            <a:endParaRPr lang="en-US" sz="2550" dirty="0"/>
          </a:p>
        </p:txBody>
      </p:sp>
      <p:sp>
        <p:nvSpPr>
          <p:cNvPr id="18" name="Text 16"/>
          <p:cNvSpPr/>
          <p:nvPr/>
        </p:nvSpPr>
        <p:spPr>
          <a:xfrm>
            <a:off x="1451015" y="5189220"/>
            <a:ext cx="16110859"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Should supermarkets be allowed to throw away food that is still edible?</a:t>
            </a:r>
            <a:endParaRPr lang="en-US" sz="2100" dirty="0"/>
          </a:p>
        </p:txBody>
      </p:sp>
      <p:sp>
        <p:nvSpPr>
          <p:cNvPr id="19" name="Text 17"/>
          <p:cNvSpPr/>
          <p:nvPr/>
        </p:nvSpPr>
        <p:spPr>
          <a:xfrm>
            <a:off x="1047750" y="5871210"/>
            <a:ext cx="229791"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5</a:t>
            </a:r>
            <a:endParaRPr lang="en-US" sz="2550" dirty="0"/>
          </a:p>
        </p:txBody>
      </p:sp>
      <p:sp>
        <p:nvSpPr>
          <p:cNvPr id="20" name="Text 18"/>
          <p:cNvSpPr/>
          <p:nvPr/>
        </p:nvSpPr>
        <p:spPr>
          <a:xfrm>
            <a:off x="1429941" y="5955030"/>
            <a:ext cx="16134040"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Is it ever acceptable to waste food? Where would you draw the line?</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986790"/>
            <a:ext cx="16192500" cy="2286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1047750" y="571500"/>
            <a:ext cx="3771900" cy="320040"/>
          </a:xfrm>
          <a:prstGeom prst="rect">
            <a:avLst/>
          </a:prstGeom>
          <a:noFill/>
          <a:ln/>
        </p:spPr>
        <p:txBody>
          <a:bodyPr wrap="non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50" b="1" i="0" u="none" strike="noStrike" kern="0" cap="none" spc="38" normalizeH="0" baseline="0" noProof="0" dirty="0">
                <a:ln>
                  <a:noFill/>
                </a:ln>
                <a:solidFill>
                  <a:srgbClr val="1A2A5E"/>
                </a:solidFill>
                <a:effectLst/>
                <a:uLnTx/>
                <a:uFillTx/>
                <a:latin typeface="Georgia" pitchFamily="34" charset="0"/>
                <a:ea typeface="Georgia" pitchFamily="34" charset="-122"/>
                <a:cs typeface="Georgia" pitchFamily="34" charset="-120"/>
              </a:rPr>
              <a:t>PERSPECTIVE</a:t>
            </a:r>
            <a:endParaRPr kumimoji="0" lang="en-US" sz="1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4670406" y="605790"/>
            <a:ext cx="2826830" cy="25146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1A2A5E"/>
                </a:solidFill>
                <a:effectLst/>
                <a:uLnTx/>
                <a:uFillTx/>
                <a:latin typeface="Helvetica" pitchFamily="34" charset="0"/>
                <a:ea typeface="Helvetica" pitchFamily="34" charset="-122"/>
                <a:cs typeface="Helvetica" pitchFamily="34" charset="-120"/>
              </a:rPr>
              <a:t>ISSUE 003 · FOOD WASTE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1047750" y="1238250"/>
            <a:ext cx="2757547" cy="25908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300" normalizeH="0" baseline="0" noProof="0" dirty="0">
                <a:ln>
                  <a:noFill/>
                </a:ln>
                <a:solidFill>
                  <a:srgbClr val="BF842C"/>
                </a:solidFill>
                <a:effectLst/>
                <a:uLnTx/>
                <a:uFillTx/>
                <a:latin typeface="Helvetica" pitchFamily="34" charset="0"/>
                <a:ea typeface="Helvetica" pitchFamily="34" charset="-122"/>
                <a:cs typeface="Helvetica" pitchFamily="34" charset="-120"/>
              </a:rPr>
              <a:t>CRITICAL THINKING</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3764161" y="1247775"/>
            <a:ext cx="1942505" cy="240030"/>
          </a:xfrm>
          <a:prstGeom prst="rect">
            <a:avLst/>
          </a:prstGeom>
          <a:ln w="7620">
            <a:solidFill>
              <a:srgbClr val="D9B87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3886081" y="1283970"/>
            <a:ext cx="1774865" cy="205740"/>
          </a:xfrm>
          <a:prstGeom prst="rect">
            <a:avLst/>
          </a:prstGeom>
          <a:noFill/>
          <a:ln/>
        </p:spPr>
        <p:txBody>
          <a:bodyPr wrap="non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0" cap="none" spc="225" normalizeH="0" baseline="0" noProof="0" dirty="0">
                <a:ln>
                  <a:noFill/>
                </a:ln>
                <a:solidFill>
                  <a:srgbClr val="BF842C"/>
                </a:solidFill>
                <a:effectLst/>
                <a:uLnTx/>
                <a:uFillTx/>
                <a:latin typeface="Helvetica" pitchFamily="34" charset="0"/>
                <a:ea typeface="Helvetica" pitchFamily="34" charset="-122"/>
                <a:cs typeface="Helvetica" pitchFamily="34" charset="-120"/>
              </a:rPr>
              <a:t>THE FRIDGE TEST</a:t>
            </a:r>
            <a:endParaRPr kumimoji="0" lang="en-US" sz="112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1047750" y="1564005"/>
            <a:ext cx="17811750" cy="51054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300" b="1" i="0" u="none" strike="noStrike" kern="1200" cap="none" spc="0" normalizeH="0" baseline="0" noProof="0" dirty="0">
                <a:ln>
                  <a:noFill/>
                </a:ln>
                <a:solidFill>
                  <a:srgbClr val="1A2A5E"/>
                </a:solidFill>
                <a:effectLst/>
                <a:uLnTx/>
                <a:uFillTx/>
                <a:latin typeface="Georgia" pitchFamily="34" charset="0"/>
                <a:ea typeface="Georgia" pitchFamily="34" charset="-122"/>
                <a:cs typeface="Georgia" pitchFamily="34" charset="-120"/>
              </a:rPr>
              <a:t>Eight things in your fridge tonight. Which of them do you actually eat?</a:t>
            </a:r>
            <a:endParaRPr kumimoji="0" lang="en-US" sz="3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1047750" y="2112645"/>
            <a:ext cx="17811750" cy="28194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555555"/>
                </a:solidFill>
                <a:effectLst/>
                <a:uLnTx/>
                <a:uFillTx/>
                <a:latin typeface="Helvetica" pitchFamily="34" charset="0"/>
                <a:ea typeface="Helvetica" pitchFamily="34" charset="-122"/>
                <a:cs typeface="Helvetica" pitchFamily="34" charset="-120"/>
              </a:rPr>
              <a:t>Decide alone first: mark </a:t>
            </a:r>
            <a:r>
              <a:rPr kumimoji="0" lang="en-US" sz="1650" b="1" i="0" u="none" strike="noStrike" kern="1200" cap="none" spc="0" normalizeH="0" baseline="0" noProof="0" dirty="0">
                <a:ln>
                  <a:noFill/>
                </a:ln>
                <a:solidFill>
                  <a:srgbClr val="1A2A5E"/>
                </a:solidFill>
                <a:effectLst/>
                <a:uLnTx/>
                <a:uFillTx/>
                <a:latin typeface="Helvetica" pitchFamily="34" charset="0"/>
                <a:ea typeface="Helvetica" pitchFamily="34" charset="-122"/>
                <a:cs typeface="Helvetica" pitchFamily="34" charset="-120"/>
              </a:rPr>
              <a:t>EAT </a:t>
            </a:r>
            <a:r>
              <a:rPr kumimoji="0" lang="en-US" sz="1650" b="0" i="0" u="none" strike="noStrike" kern="1200" cap="none" spc="0" normalizeH="0" baseline="0" noProof="0" dirty="0">
                <a:ln>
                  <a:noFill/>
                </a:ln>
                <a:solidFill>
                  <a:srgbClr val="555555"/>
                </a:solidFill>
                <a:effectLst/>
                <a:uLnTx/>
                <a:uFillTx/>
                <a:latin typeface="Helvetica" pitchFamily="34" charset="0"/>
                <a:ea typeface="Helvetica" pitchFamily="34" charset="-122"/>
                <a:cs typeface="Helvetica" pitchFamily="34" charset="-120"/>
              </a:rPr>
              <a:t>or </a:t>
            </a:r>
            <a:r>
              <a:rPr kumimoji="0" lang="en-US" sz="1650" b="1" i="0" u="none" strike="noStrike" kern="1200" cap="none" spc="0" normalizeH="0" baseline="0" noProof="0" dirty="0">
                <a:ln>
                  <a:noFill/>
                </a:ln>
                <a:solidFill>
                  <a:srgbClr val="1A2A5E"/>
                </a:solidFill>
                <a:effectLst/>
                <a:uLnTx/>
                <a:uFillTx/>
                <a:latin typeface="Helvetica" pitchFamily="34" charset="0"/>
                <a:ea typeface="Helvetica" pitchFamily="34" charset="-122"/>
                <a:cs typeface="Helvetica" pitchFamily="34" charset="-120"/>
              </a:rPr>
              <a:t>THROW </a:t>
            </a:r>
            <a:r>
              <a:rPr kumimoji="0" lang="en-US" sz="1650" b="0" i="0" u="none" strike="noStrike" kern="1200" cap="none" spc="0" normalizeH="0" baseline="0" noProof="0" dirty="0">
                <a:ln>
                  <a:noFill/>
                </a:ln>
                <a:solidFill>
                  <a:srgbClr val="555555"/>
                </a:solidFill>
                <a:effectLst/>
                <a:uLnTx/>
                <a:uFillTx/>
                <a:latin typeface="Helvetica" pitchFamily="34" charset="0"/>
                <a:ea typeface="Helvetica" pitchFamily="34" charset="-122"/>
                <a:cs typeface="Helvetica" pitchFamily="34" charset="-120"/>
              </a:rPr>
              <a:t>for each one. Then compare in your group and count how many you would throw away.</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1047750" y="2527935"/>
            <a:ext cx="781050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1047750" y="2619375"/>
            <a:ext cx="5886450" cy="22098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0" cap="none" spc="150" normalizeH="0" baseline="0" noProof="0" dirty="0">
                <a:ln>
                  <a:noFill/>
                </a:ln>
                <a:solidFill>
                  <a:srgbClr val="8A8A8A"/>
                </a:solidFill>
                <a:effectLst/>
                <a:uLnTx/>
                <a:uFillTx/>
                <a:latin typeface="Helvetica" pitchFamily="34" charset="0"/>
                <a:ea typeface="Helvetica" pitchFamily="34" charset="-122"/>
                <a:cs typeface="Helvetica" pitchFamily="34" charset="-120"/>
              </a:rPr>
              <a:t>WHAT IS IN THE FRIDGE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6724650" y="2619375"/>
            <a:ext cx="1028700" cy="22098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0" cap="none" spc="75" normalizeH="0" baseline="0" noProof="0" dirty="0">
                <a:ln>
                  <a:noFill/>
                </a:ln>
                <a:solidFill>
                  <a:srgbClr val="8A8A8A"/>
                </a:solidFill>
                <a:effectLst/>
                <a:uLnTx/>
                <a:uFillTx/>
                <a:latin typeface="Helvetica" pitchFamily="34" charset="0"/>
                <a:ea typeface="Helvetica" pitchFamily="34" charset="-122"/>
                <a:cs typeface="Helvetica" pitchFamily="34" charset="-120"/>
              </a:rPr>
              <a:t>EAT</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7677150" y="2619375"/>
            <a:ext cx="1219200" cy="22098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0" cap="none" spc="75" normalizeH="0" baseline="0" noProof="0" dirty="0">
                <a:ln>
                  <a:noFill/>
                </a:ln>
                <a:solidFill>
                  <a:srgbClr val="8A8A8A"/>
                </a:solidFill>
                <a:effectLst/>
                <a:uLnTx/>
                <a:uFillTx/>
                <a:latin typeface="Helvetica" pitchFamily="34" charset="0"/>
                <a:ea typeface="Helvetica" pitchFamily="34" charset="-122"/>
                <a:cs typeface="Helvetica" pitchFamily="34" charset="-120"/>
              </a:rPr>
              <a:t>THROW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1047750" y="2878455"/>
            <a:ext cx="5715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1047750" y="3000375"/>
            <a:ext cx="5791200"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5847"/>
              </a:lnSpc>
              <a:spcBef>
                <a:spcPts val="0"/>
              </a:spcBef>
              <a:spcAft>
                <a:spcPts val="0"/>
              </a:spcAft>
              <a:buClrTx/>
              <a:buSzTx/>
              <a:buFontTx/>
              <a:buNone/>
              <a:tabLst/>
              <a:defRPr/>
            </a:pPr>
            <a:r>
              <a:rPr kumimoji="0" lang="en-US" sz="1575"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Yogurt, two days past the date on the lid.</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6762750" y="2878455"/>
            <a:ext cx="9525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6724650" y="3000375"/>
            <a:ext cx="10287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715250" y="2878455"/>
            <a:ext cx="1143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7677150" y="3000375"/>
            <a:ext cx="12192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1047750" y="3396615"/>
            <a:ext cx="5715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1047750" y="3518535"/>
            <a:ext cx="5791200"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5847"/>
              </a:lnSpc>
              <a:spcBef>
                <a:spcPts val="0"/>
              </a:spcBef>
              <a:spcAft>
                <a:spcPts val="0"/>
              </a:spcAft>
              <a:buClrTx/>
              <a:buSzTx/>
              <a:buFontTx/>
              <a:buNone/>
              <a:tabLst/>
              <a:defRPr/>
            </a:pPr>
            <a:r>
              <a:rPr kumimoji="0" lang="en-US" sz="1575"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A loaf of bread with mold on one slice.</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6762750" y="3396615"/>
            <a:ext cx="9525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6724650" y="3518535"/>
            <a:ext cx="10287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7715250" y="3396615"/>
            <a:ext cx="1143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7677150" y="3518535"/>
            <a:ext cx="12192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1047750" y="3914775"/>
            <a:ext cx="5715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1047750" y="4036695"/>
            <a:ext cx="5791200"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5847"/>
              </a:lnSpc>
              <a:spcBef>
                <a:spcPts val="0"/>
              </a:spcBef>
              <a:spcAft>
                <a:spcPts val="0"/>
              </a:spcAft>
              <a:buClrTx/>
              <a:buSzTx/>
              <a:buFontTx/>
              <a:buNone/>
              <a:tabLst/>
              <a:defRPr/>
            </a:pPr>
            <a:r>
              <a:rPr kumimoji="0" lang="en-US" sz="1575"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An apple with a large brown bruise.</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6762750" y="3914775"/>
            <a:ext cx="9525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6724650" y="4036695"/>
            <a:ext cx="10287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7715250" y="3914775"/>
            <a:ext cx="1143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7677150" y="4036695"/>
            <a:ext cx="12192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1047750" y="4951095"/>
            <a:ext cx="571500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Shape 31"/>
          <p:cNvSpPr/>
          <p:nvPr/>
        </p:nvSpPr>
        <p:spPr>
          <a:xfrm>
            <a:off x="1047750" y="4432935"/>
            <a:ext cx="5715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1047750" y="4554855"/>
            <a:ext cx="5791200"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5847"/>
              </a:lnSpc>
              <a:spcBef>
                <a:spcPts val="0"/>
              </a:spcBef>
              <a:spcAft>
                <a:spcPts val="0"/>
              </a:spcAft>
              <a:buClrTx/>
              <a:buSzTx/>
              <a:buFontTx/>
              <a:buNone/>
              <a:tabLst/>
              <a:defRPr/>
            </a:pPr>
            <a:r>
              <a:rPr kumimoji="0" lang="en-US" sz="1575"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Milk one day over, and it smells completely normal.</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6762750" y="4951095"/>
            <a:ext cx="95250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Shape 34"/>
          <p:cNvSpPr/>
          <p:nvPr/>
        </p:nvSpPr>
        <p:spPr>
          <a:xfrm>
            <a:off x="6762750" y="4432935"/>
            <a:ext cx="9525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6724650" y="4554855"/>
            <a:ext cx="10287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7715250" y="4951095"/>
            <a:ext cx="114300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Shape 37"/>
          <p:cNvSpPr/>
          <p:nvPr/>
        </p:nvSpPr>
        <p:spPr>
          <a:xfrm>
            <a:off x="7715250" y="4432935"/>
            <a:ext cx="1143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7677150" y="4554855"/>
            <a:ext cx="12192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9429750" y="2527935"/>
            <a:ext cx="781050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9429750" y="2619375"/>
            <a:ext cx="5886450" cy="22098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0" cap="none" spc="150" normalizeH="0" baseline="0" noProof="0" dirty="0">
                <a:ln>
                  <a:noFill/>
                </a:ln>
                <a:solidFill>
                  <a:srgbClr val="8A8A8A"/>
                </a:solidFill>
                <a:effectLst/>
                <a:uLnTx/>
                <a:uFillTx/>
                <a:latin typeface="Helvetica" pitchFamily="34" charset="0"/>
                <a:ea typeface="Helvetica" pitchFamily="34" charset="-122"/>
                <a:cs typeface="Helvetica" pitchFamily="34" charset="-120"/>
              </a:rPr>
              <a:t>WHAT IS IN THE FRIDGE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15106650" y="2619375"/>
            <a:ext cx="1028700" cy="22098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0" cap="none" spc="75" normalizeH="0" baseline="0" noProof="0" dirty="0">
                <a:ln>
                  <a:noFill/>
                </a:ln>
                <a:solidFill>
                  <a:srgbClr val="8A8A8A"/>
                </a:solidFill>
                <a:effectLst/>
                <a:uLnTx/>
                <a:uFillTx/>
                <a:latin typeface="Helvetica" pitchFamily="34" charset="0"/>
                <a:ea typeface="Helvetica" pitchFamily="34" charset="-122"/>
                <a:cs typeface="Helvetica" pitchFamily="34" charset="-120"/>
              </a:rPr>
              <a:t>EAT</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16059150" y="2619375"/>
            <a:ext cx="1219200" cy="22098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0" cap="none" spc="75" normalizeH="0" baseline="0" noProof="0" dirty="0">
                <a:ln>
                  <a:noFill/>
                </a:ln>
                <a:solidFill>
                  <a:srgbClr val="8A8A8A"/>
                </a:solidFill>
                <a:effectLst/>
                <a:uLnTx/>
                <a:uFillTx/>
                <a:latin typeface="Helvetica" pitchFamily="34" charset="0"/>
                <a:ea typeface="Helvetica" pitchFamily="34" charset="-122"/>
                <a:cs typeface="Helvetica" pitchFamily="34" charset="-120"/>
              </a:rPr>
              <a:t>THROW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9429750" y="2878455"/>
            <a:ext cx="5715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9429750" y="3000375"/>
            <a:ext cx="5791200"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5847"/>
              </a:lnSpc>
              <a:spcBef>
                <a:spcPts val="0"/>
              </a:spcBef>
              <a:spcAft>
                <a:spcPts val="0"/>
              </a:spcAft>
              <a:buClrTx/>
              <a:buSzTx/>
              <a:buFontTx/>
              <a:buNone/>
              <a:tabLst/>
              <a:defRPr/>
            </a:pPr>
            <a:r>
              <a:rPr kumimoji="0" lang="en-US" sz="1575"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Chicken on its use-by day. It looks and smells fine.</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Shape 45"/>
          <p:cNvSpPr/>
          <p:nvPr/>
        </p:nvSpPr>
        <p:spPr>
          <a:xfrm>
            <a:off x="15144750" y="2878455"/>
            <a:ext cx="9525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46"/>
          <p:cNvSpPr/>
          <p:nvPr/>
        </p:nvSpPr>
        <p:spPr>
          <a:xfrm>
            <a:off x="15106650" y="3000375"/>
            <a:ext cx="10287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16097250" y="2878455"/>
            <a:ext cx="1143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Text 48"/>
          <p:cNvSpPr/>
          <p:nvPr/>
        </p:nvSpPr>
        <p:spPr>
          <a:xfrm>
            <a:off x="16059150" y="3000375"/>
            <a:ext cx="12192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Shape 49"/>
          <p:cNvSpPr/>
          <p:nvPr/>
        </p:nvSpPr>
        <p:spPr>
          <a:xfrm>
            <a:off x="9429750" y="3396615"/>
            <a:ext cx="5715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 50"/>
          <p:cNvSpPr/>
          <p:nvPr/>
        </p:nvSpPr>
        <p:spPr>
          <a:xfrm>
            <a:off x="9429750" y="3518535"/>
            <a:ext cx="5791200"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5847"/>
              </a:lnSpc>
              <a:spcBef>
                <a:spcPts val="0"/>
              </a:spcBef>
              <a:spcAft>
                <a:spcPts val="0"/>
              </a:spcAft>
              <a:buClrTx/>
              <a:buSzTx/>
              <a:buFontTx/>
              <a:buNone/>
              <a:tabLst/>
              <a:defRPr/>
            </a:pPr>
            <a:r>
              <a:rPr kumimoji="0" lang="en-US" sz="1575"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Cooked rice that sat out on the counter all night.</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15144750" y="3396615"/>
            <a:ext cx="9525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15106650" y="3518535"/>
            <a:ext cx="10287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16097250" y="3396615"/>
            <a:ext cx="1143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Text 54"/>
          <p:cNvSpPr/>
          <p:nvPr/>
        </p:nvSpPr>
        <p:spPr>
          <a:xfrm>
            <a:off x="16059150" y="3518535"/>
            <a:ext cx="12192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9429750" y="3914775"/>
            <a:ext cx="5715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Text 56"/>
          <p:cNvSpPr/>
          <p:nvPr/>
        </p:nvSpPr>
        <p:spPr>
          <a:xfrm>
            <a:off x="9429750" y="4036695"/>
            <a:ext cx="5791200"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5847"/>
              </a:lnSpc>
              <a:spcBef>
                <a:spcPts val="0"/>
              </a:spcBef>
              <a:spcAft>
                <a:spcPts val="0"/>
              </a:spcAft>
              <a:buClrTx/>
              <a:buSzTx/>
              <a:buFontTx/>
              <a:buNone/>
              <a:tabLst/>
              <a:defRPr/>
            </a:pPr>
            <a:r>
              <a:rPr kumimoji="0" lang="en-US" sz="1575"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A bag of salad with a few slimy leaves on top.</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Shape 57"/>
          <p:cNvSpPr/>
          <p:nvPr/>
        </p:nvSpPr>
        <p:spPr>
          <a:xfrm>
            <a:off x="15144750" y="3914775"/>
            <a:ext cx="9525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Text 58"/>
          <p:cNvSpPr/>
          <p:nvPr/>
        </p:nvSpPr>
        <p:spPr>
          <a:xfrm>
            <a:off x="15106650" y="4036695"/>
            <a:ext cx="10287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Shape 59"/>
          <p:cNvSpPr/>
          <p:nvPr/>
        </p:nvSpPr>
        <p:spPr>
          <a:xfrm>
            <a:off x="16097250" y="3914775"/>
            <a:ext cx="1143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Text 60"/>
          <p:cNvSpPr/>
          <p:nvPr/>
        </p:nvSpPr>
        <p:spPr>
          <a:xfrm>
            <a:off x="16059150" y="4036695"/>
            <a:ext cx="12192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 name="Shape 61"/>
          <p:cNvSpPr/>
          <p:nvPr/>
        </p:nvSpPr>
        <p:spPr>
          <a:xfrm>
            <a:off x="9429750" y="4951095"/>
            <a:ext cx="571500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 name="Shape 62"/>
          <p:cNvSpPr/>
          <p:nvPr/>
        </p:nvSpPr>
        <p:spPr>
          <a:xfrm>
            <a:off x="9429750" y="4432935"/>
            <a:ext cx="5715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Text 63"/>
          <p:cNvSpPr/>
          <p:nvPr/>
        </p:nvSpPr>
        <p:spPr>
          <a:xfrm>
            <a:off x="9429750" y="4554855"/>
            <a:ext cx="5791200"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5847"/>
              </a:lnSpc>
              <a:spcBef>
                <a:spcPts val="0"/>
              </a:spcBef>
              <a:spcAft>
                <a:spcPts val="0"/>
              </a:spcAft>
              <a:buClrTx/>
              <a:buSzTx/>
              <a:buFontTx/>
              <a:buNone/>
              <a:tabLst/>
              <a:defRPr/>
            </a:pPr>
            <a:r>
              <a:rPr kumimoji="0" lang="en-US" sz="1575"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Half a meal a guest left on their plate last night.</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Shape 64"/>
          <p:cNvSpPr/>
          <p:nvPr/>
        </p:nvSpPr>
        <p:spPr>
          <a:xfrm>
            <a:off x="15144750" y="4951095"/>
            <a:ext cx="95250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Shape 65"/>
          <p:cNvSpPr/>
          <p:nvPr/>
        </p:nvSpPr>
        <p:spPr>
          <a:xfrm>
            <a:off x="15144750" y="4432935"/>
            <a:ext cx="9525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 name="Text 66"/>
          <p:cNvSpPr/>
          <p:nvPr/>
        </p:nvSpPr>
        <p:spPr>
          <a:xfrm>
            <a:off x="15106650" y="4554855"/>
            <a:ext cx="10287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16097250" y="4951095"/>
            <a:ext cx="114300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Shape 68"/>
          <p:cNvSpPr/>
          <p:nvPr/>
        </p:nvSpPr>
        <p:spPr>
          <a:xfrm>
            <a:off x="16097250" y="4432935"/>
            <a:ext cx="114300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Text 69"/>
          <p:cNvSpPr/>
          <p:nvPr/>
        </p:nvSpPr>
        <p:spPr>
          <a:xfrm>
            <a:off x="16059150" y="4554855"/>
            <a:ext cx="121920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2" name="Text 70"/>
          <p:cNvSpPr/>
          <p:nvPr/>
        </p:nvSpPr>
        <p:spPr>
          <a:xfrm>
            <a:off x="1047750" y="5183505"/>
            <a:ext cx="1575161" cy="236220"/>
          </a:xfrm>
          <a:prstGeom prst="rect">
            <a:avLst/>
          </a:prstGeom>
          <a:noFill/>
          <a:ln/>
        </p:spPr>
        <p:txBody>
          <a:bodyPr wrap="non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0" cap="none" spc="263" normalizeH="0" baseline="0" noProof="0" dirty="0">
                <a:ln>
                  <a:noFill/>
                </a:ln>
                <a:solidFill>
                  <a:srgbClr val="BF842C"/>
                </a:solidFill>
                <a:effectLst/>
                <a:uLnTx/>
                <a:uFillTx/>
                <a:latin typeface="Helvetica" pitchFamily="34" charset="0"/>
                <a:ea typeface="Helvetica" pitchFamily="34" charset="-122"/>
                <a:cs typeface="Helvetica" pitchFamily="34" charset="-120"/>
              </a:rPr>
              <a:t>YOUR TOTAL</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Text 71"/>
          <p:cNvSpPr/>
          <p:nvPr/>
        </p:nvSpPr>
        <p:spPr>
          <a:xfrm>
            <a:off x="2727365" y="5099685"/>
            <a:ext cx="10034695" cy="35814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23529"/>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Items you would throw away: _______ of 8 How many were genuinely unsafe? ________</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4" name="Shape 72"/>
          <p:cNvSpPr/>
          <p:nvPr/>
        </p:nvSpPr>
        <p:spPr>
          <a:xfrm>
            <a:off x="1047750" y="5534025"/>
            <a:ext cx="38100" cy="693420"/>
          </a:xfrm>
          <a:prstGeom prst="rect">
            <a:avLst/>
          </a:prstGeom>
          <a:solidFill>
            <a:srgbClr val="D9B87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 name="Text 73"/>
          <p:cNvSpPr/>
          <p:nvPr/>
        </p:nvSpPr>
        <p:spPr>
          <a:xfrm>
            <a:off x="1276350" y="5572125"/>
            <a:ext cx="1071801" cy="236220"/>
          </a:xfrm>
          <a:prstGeom prst="rect">
            <a:avLst/>
          </a:prstGeom>
          <a:noFill/>
          <a:ln/>
        </p:spPr>
        <p:txBody>
          <a:bodyPr wrap="non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0" cap="none" spc="263" normalizeH="0" baseline="0" noProof="0" dirty="0">
                <a:ln>
                  <a:noFill/>
                </a:ln>
                <a:solidFill>
                  <a:srgbClr val="BF842C"/>
                </a:solidFill>
                <a:effectLst/>
                <a:uLnTx/>
                <a:uFillTx/>
                <a:latin typeface="Helvetica" pitchFamily="34" charset="0"/>
                <a:ea typeface="Helvetica" pitchFamily="34" charset="-122"/>
                <a:cs typeface="Helvetica" pitchFamily="34" charset="-120"/>
              </a:rPr>
              <a:t>DISCUSS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6" name="Text 74"/>
          <p:cNvSpPr/>
          <p:nvPr/>
        </p:nvSpPr>
        <p:spPr>
          <a:xfrm>
            <a:off x="2519601" y="5534025"/>
            <a:ext cx="228719" cy="34671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96429"/>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A2A5E"/>
                </a:solidFill>
                <a:effectLst/>
                <a:uLnTx/>
                <a:uFillTx/>
                <a:latin typeface="Helvetica" pitchFamily="34" charset="0"/>
                <a:ea typeface="Helvetica" pitchFamily="34" charset="-122"/>
                <a:cs typeface="Helvetica" pitchFamily="34" charset="-120"/>
              </a:rPr>
              <a:t>1</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7" name="Text 75"/>
          <p:cNvSpPr/>
          <p:nvPr/>
        </p:nvSpPr>
        <p:spPr>
          <a:xfrm>
            <a:off x="2824520" y="5534025"/>
            <a:ext cx="8051697" cy="34671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19118"/>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Are you throwing away food, or throwing away a date printed on a label?</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8" name="Text 76"/>
          <p:cNvSpPr/>
          <p:nvPr/>
        </p:nvSpPr>
        <p:spPr>
          <a:xfrm>
            <a:off x="2519601" y="5918835"/>
            <a:ext cx="228719" cy="34671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96429"/>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A2A5E"/>
                </a:solidFill>
                <a:effectLst/>
                <a:uLnTx/>
                <a:uFillTx/>
                <a:latin typeface="Helvetica" pitchFamily="34" charset="0"/>
                <a:ea typeface="Helvetica" pitchFamily="34" charset="-122"/>
                <a:cs typeface="Helvetica" pitchFamily="34" charset="-120"/>
              </a:rPr>
              <a:t>2</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Text 77"/>
          <p:cNvSpPr/>
          <p:nvPr/>
        </p:nvSpPr>
        <p:spPr>
          <a:xfrm>
            <a:off x="2824520" y="5918835"/>
            <a:ext cx="10469380" cy="34671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19118"/>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Compare with another group. Who threw away the most, and would your grandparents agree?</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Text 78"/>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0" i="0" u="none" strike="noStrike" kern="0" cap="none" spc="38" normalizeH="0" baseline="0" noProof="0" dirty="0">
                <a:ln>
                  <a:noFill/>
                </a:ln>
                <a:solidFill>
                  <a:srgbClr val="9A9890"/>
                </a:solidFill>
                <a:effectLst/>
                <a:uLnTx/>
                <a:uFillTx/>
                <a:latin typeface="Helvetica" pitchFamily="34" charset="0"/>
                <a:ea typeface="Helvetica" pitchFamily="34" charset="-122"/>
                <a:cs typeface="Helvetica" pitchFamily="34" charset="-120"/>
              </a:rPr>
              <a:t>perspectiveenglish.com</a:t>
            </a:r>
            <a:endParaRPr kumimoji="0" lang="en-US" sz="12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6690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1A2A5E"/>
                </a:solidFill>
                <a:latin typeface="Playfair Display" pitchFamily="34" charset="0"/>
                <a:ea typeface="Playfair Display" pitchFamily="34" charset="-122"/>
                <a:cs typeface="Playfair Display" pitchFamily="34" charset="-120"/>
              </a:rPr>
              <a:t>Complete &amp; say each line</a:t>
            </a:r>
            <a:endParaRPr lang="en-US" sz="3900" dirty="0"/>
          </a:p>
        </p:txBody>
      </p:sp>
      <p:sp>
        <p:nvSpPr>
          <p:cNvPr id="7" name="Text 5"/>
          <p:cNvSpPr/>
          <p:nvPr/>
        </p:nvSpPr>
        <p:spPr>
          <a:xfrm>
            <a:off x="1047750" y="2636520"/>
            <a:ext cx="17811750"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312420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4082175" y="3310890"/>
            <a:ext cx="146750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perishable</a:t>
            </a:r>
            <a:endParaRPr lang="en-US" sz="2100" dirty="0"/>
          </a:p>
        </p:txBody>
      </p:sp>
      <p:sp>
        <p:nvSpPr>
          <p:cNvPr id="10" name="Text 8"/>
          <p:cNvSpPr/>
          <p:nvPr/>
        </p:nvSpPr>
        <p:spPr>
          <a:xfrm>
            <a:off x="7452360" y="3310890"/>
            <a:ext cx="102489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discard</a:t>
            </a:r>
            <a:endParaRPr lang="en-US" sz="2100" dirty="0"/>
          </a:p>
        </p:txBody>
      </p:sp>
      <p:sp>
        <p:nvSpPr>
          <p:cNvPr id="11" name="Text 9"/>
          <p:cNvSpPr/>
          <p:nvPr/>
        </p:nvSpPr>
        <p:spPr>
          <a:xfrm>
            <a:off x="1447800" y="3310890"/>
            <a:ext cx="103953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surplus</a:t>
            </a:r>
            <a:endParaRPr lang="en-US" sz="2100" dirty="0"/>
          </a:p>
        </p:txBody>
      </p:sp>
      <p:sp>
        <p:nvSpPr>
          <p:cNvPr id="12" name="Text 10"/>
          <p:cNvSpPr/>
          <p:nvPr/>
        </p:nvSpPr>
        <p:spPr>
          <a:xfrm>
            <a:off x="5775960" y="3310890"/>
            <a:ext cx="1187648"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compost</a:t>
            </a:r>
            <a:endParaRPr lang="en-US" sz="2100" dirty="0"/>
          </a:p>
        </p:txBody>
      </p:sp>
      <p:sp>
        <p:nvSpPr>
          <p:cNvPr id="13" name="Text 11"/>
          <p:cNvSpPr/>
          <p:nvPr/>
        </p:nvSpPr>
        <p:spPr>
          <a:xfrm>
            <a:off x="2861309" y="3310890"/>
            <a:ext cx="846892"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edible</a:t>
            </a:r>
            <a:endParaRPr lang="en-US" sz="2100" dirty="0"/>
          </a:p>
        </p:txBody>
      </p:sp>
      <p:sp>
        <p:nvSpPr>
          <p:cNvPr id="14" name="Text 12"/>
          <p:cNvSpPr/>
          <p:nvPr/>
        </p:nvSpPr>
        <p:spPr>
          <a:xfrm>
            <a:off x="1047750" y="408813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1</a:t>
            </a:r>
            <a:endParaRPr lang="en-US" sz="2250" dirty="0"/>
          </a:p>
        </p:txBody>
      </p:sp>
      <p:sp>
        <p:nvSpPr>
          <p:cNvPr id="15" name="Text 13"/>
          <p:cNvSpPr/>
          <p:nvPr/>
        </p:nvSpPr>
        <p:spPr>
          <a:xfrm>
            <a:off x="1581150" y="4110990"/>
            <a:ext cx="9406569"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1A1A1A"/>
                </a:solidFill>
                <a:latin typeface="Helvetica" pitchFamily="34" charset="0"/>
                <a:ea typeface="Helvetica" pitchFamily="34" charset="-122"/>
                <a:cs typeface="Helvetica" pitchFamily="34" charset="-120"/>
              </a:rPr>
              <a:t>Milk and fresh vegetables are ________________ , so they spoil quickly.</a:t>
            </a:r>
            <a:endParaRPr lang="en-US" sz="2250" dirty="0"/>
          </a:p>
        </p:txBody>
      </p:sp>
      <p:sp>
        <p:nvSpPr>
          <p:cNvPr id="16" name="Text 14"/>
          <p:cNvSpPr/>
          <p:nvPr/>
        </p:nvSpPr>
        <p:spPr>
          <a:xfrm>
            <a:off x="1047750" y="4706303"/>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2</a:t>
            </a:r>
            <a:endParaRPr lang="en-US" sz="2250" dirty="0"/>
          </a:p>
        </p:txBody>
      </p:sp>
      <p:sp>
        <p:nvSpPr>
          <p:cNvPr id="17" name="Text 15"/>
          <p:cNvSpPr/>
          <p:nvPr/>
        </p:nvSpPr>
        <p:spPr>
          <a:xfrm>
            <a:off x="1581150" y="4729163"/>
            <a:ext cx="7263396"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The shop sold its ________________ stock at half price.</a:t>
            </a:r>
            <a:endParaRPr lang="en-US" sz="2250" dirty="0"/>
          </a:p>
        </p:txBody>
      </p:sp>
      <p:sp>
        <p:nvSpPr>
          <p:cNvPr id="18" name="Text 16"/>
          <p:cNvSpPr/>
          <p:nvPr/>
        </p:nvSpPr>
        <p:spPr>
          <a:xfrm>
            <a:off x="1047750" y="5324475"/>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3</a:t>
            </a:r>
            <a:endParaRPr lang="en-US" sz="2250" dirty="0"/>
          </a:p>
        </p:txBody>
      </p:sp>
      <p:sp>
        <p:nvSpPr>
          <p:cNvPr id="19" name="Text 17"/>
          <p:cNvSpPr/>
          <p:nvPr/>
        </p:nvSpPr>
        <p:spPr>
          <a:xfrm>
            <a:off x="1581150" y="5347335"/>
            <a:ext cx="8103037"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Please don’t ________________ bread that is still good to eat.</a:t>
            </a:r>
            <a:endParaRPr lang="en-US" sz="2250" dirty="0"/>
          </a:p>
        </p:txBody>
      </p:sp>
      <p:sp>
        <p:nvSpPr>
          <p:cNvPr id="20" name="Text 18"/>
          <p:cNvSpPr/>
          <p:nvPr/>
        </p:nvSpPr>
        <p:spPr>
          <a:xfrm>
            <a:off x="1047750" y="5942648"/>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4</a:t>
            </a:r>
            <a:endParaRPr lang="en-US" sz="2250" dirty="0"/>
          </a:p>
        </p:txBody>
      </p:sp>
      <p:sp>
        <p:nvSpPr>
          <p:cNvPr id="21" name="Text 19"/>
          <p:cNvSpPr/>
          <p:nvPr/>
        </p:nvSpPr>
        <p:spPr>
          <a:xfrm>
            <a:off x="1581150" y="5965507"/>
            <a:ext cx="9092768"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We turn our vegetable scraps into ________________ for the garden.</a:t>
            </a:r>
            <a:endParaRPr lang="en-US" sz="2250" dirty="0"/>
          </a:p>
        </p:txBody>
      </p:sp>
      <p:sp>
        <p:nvSpPr>
          <p:cNvPr id="22" name="Text 20"/>
          <p:cNvSpPr/>
          <p:nvPr/>
        </p:nvSpPr>
        <p:spPr>
          <a:xfrm>
            <a:off x="1047750" y="656082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5</a:t>
            </a:r>
            <a:endParaRPr lang="en-US" sz="2250" dirty="0"/>
          </a:p>
        </p:txBody>
      </p:sp>
      <p:sp>
        <p:nvSpPr>
          <p:cNvPr id="23" name="Text 21"/>
          <p:cNvSpPr/>
          <p:nvPr/>
        </p:nvSpPr>
        <p:spPr>
          <a:xfrm>
            <a:off x="1581150" y="6583680"/>
            <a:ext cx="7385983" cy="423863"/>
          </a:xfrm>
          <a:prstGeom prst="rect">
            <a:avLst/>
          </a:prstGeom>
          <a:noFill/>
          <a:ln/>
        </p:spPr>
        <p:txBody>
          <a:bodyPr wrap="square" lIns="25400" tIns="25400" rIns="25400" bIns="25400" rtlCol="0" anchor="t">
            <a:normAutofit fontScale="925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A bruised apple looks ugly but is still ________________ .</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84020"/>
            <a:ext cx="332267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88770"/>
            <a:ext cx="3262670" cy="388620"/>
          </a:xfrm>
          <a:prstGeom prst="rect">
            <a:avLst/>
          </a:prstGeom>
          <a:solidFill>
            <a:srgbClr val="1A2A5E"/>
          </a:solidFill>
          <a:ln/>
        </p:spPr>
        <p:txBody>
          <a:bodyPr/>
          <a:lstStyle/>
          <a:p>
            <a:endParaRPr lang="en-US"/>
          </a:p>
        </p:txBody>
      </p:sp>
      <p:sp>
        <p:nvSpPr>
          <p:cNvPr id="7" name="Text 5"/>
          <p:cNvSpPr/>
          <p:nvPr/>
        </p:nvSpPr>
        <p:spPr>
          <a:xfrm>
            <a:off x="4449366" y="164592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11074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Complete &amp; say each line</a:t>
            </a:r>
            <a:endParaRPr lang="en-US" sz="3750" dirty="0"/>
          </a:p>
        </p:txBody>
      </p:sp>
      <p:sp>
        <p:nvSpPr>
          <p:cNvPr id="9" name="Text 7"/>
          <p:cNvSpPr/>
          <p:nvPr/>
        </p:nvSpPr>
        <p:spPr>
          <a:xfrm>
            <a:off x="1047750" y="313182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1</a:t>
            </a:r>
            <a:endParaRPr lang="en-US" sz="2100" dirty="0"/>
          </a:p>
        </p:txBody>
      </p:sp>
      <p:sp>
        <p:nvSpPr>
          <p:cNvPr id="10" name="Text 8"/>
          <p:cNvSpPr/>
          <p:nvPr/>
        </p:nvSpPr>
        <p:spPr>
          <a:xfrm>
            <a:off x="1581150" y="3147060"/>
            <a:ext cx="8213050"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Milk and fresh vegetables are </a:t>
            </a:r>
            <a:r>
              <a:rPr lang="en-US" sz="2100" b="1" dirty="0">
                <a:solidFill>
                  <a:srgbClr val="1A2A5E"/>
                </a:solidFill>
                <a:latin typeface="Helvetica" pitchFamily="34" charset="0"/>
                <a:ea typeface="Helvetica" pitchFamily="34" charset="-122"/>
                <a:cs typeface="Helvetica" pitchFamily="34" charset="-120"/>
              </a:rPr>
              <a:t>perishable</a:t>
            </a:r>
            <a:r>
              <a:rPr lang="en-US" sz="2100" dirty="0">
                <a:solidFill>
                  <a:srgbClr val="444444"/>
                </a:solidFill>
                <a:latin typeface="Helvetica" pitchFamily="34" charset="0"/>
                <a:ea typeface="Helvetica" pitchFamily="34" charset="-122"/>
                <a:cs typeface="Helvetica" pitchFamily="34" charset="-120"/>
              </a:rPr>
              <a:t>, so they spoil quickly.</a:t>
            </a:r>
            <a:endParaRPr lang="en-US" sz="2100" dirty="0"/>
          </a:p>
        </p:txBody>
      </p:sp>
      <p:sp>
        <p:nvSpPr>
          <p:cNvPr id="11" name="Text 9"/>
          <p:cNvSpPr/>
          <p:nvPr/>
        </p:nvSpPr>
        <p:spPr>
          <a:xfrm>
            <a:off x="1047750" y="371665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2</a:t>
            </a:r>
            <a:endParaRPr lang="en-US" sz="2100" dirty="0"/>
          </a:p>
        </p:txBody>
      </p:sp>
      <p:sp>
        <p:nvSpPr>
          <p:cNvPr id="12" name="Text 10"/>
          <p:cNvSpPr/>
          <p:nvPr/>
        </p:nvSpPr>
        <p:spPr>
          <a:xfrm>
            <a:off x="1581150" y="3731895"/>
            <a:ext cx="580479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The shop sold its </a:t>
            </a:r>
            <a:r>
              <a:rPr lang="en-US" sz="2100" b="1" dirty="0">
                <a:solidFill>
                  <a:srgbClr val="1A2A5E"/>
                </a:solidFill>
                <a:latin typeface="Helvetica" pitchFamily="34" charset="0"/>
                <a:ea typeface="Helvetica" pitchFamily="34" charset="-122"/>
                <a:cs typeface="Helvetica" pitchFamily="34" charset="-120"/>
              </a:rPr>
              <a:t>surplus </a:t>
            </a:r>
            <a:r>
              <a:rPr lang="en-US" sz="2100" dirty="0">
                <a:solidFill>
                  <a:srgbClr val="444444"/>
                </a:solidFill>
                <a:latin typeface="Helvetica" pitchFamily="34" charset="0"/>
                <a:ea typeface="Helvetica" pitchFamily="34" charset="-122"/>
                <a:cs typeface="Helvetica" pitchFamily="34" charset="-120"/>
              </a:rPr>
              <a:t>stock at half price.</a:t>
            </a:r>
            <a:endParaRPr lang="en-US" sz="2100" dirty="0"/>
          </a:p>
        </p:txBody>
      </p:sp>
      <p:sp>
        <p:nvSpPr>
          <p:cNvPr id="13" name="Text 11"/>
          <p:cNvSpPr/>
          <p:nvPr/>
        </p:nvSpPr>
        <p:spPr>
          <a:xfrm>
            <a:off x="1047750" y="430149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3</a:t>
            </a:r>
            <a:endParaRPr lang="en-US" sz="2100" dirty="0"/>
          </a:p>
        </p:txBody>
      </p:sp>
      <p:sp>
        <p:nvSpPr>
          <p:cNvPr id="14" name="Text 12"/>
          <p:cNvSpPr/>
          <p:nvPr/>
        </p:nvSpPr>
        <p:spPr>
          <a:xfrm>
            <a:off x="1581150" y="4316730"/>
            <a:ext cx="6572405"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Please don’t </a:t>
            </a:r>
            <a:r>
              <a:rPr lang="en-US" sz="2100" b="1" dirty="0">
                <a:solidFill>
                  <a:srgbClr val="1A2A5E"/>
                </a:solidFill>
                <a:latin typeface="Helvetica" pitchFamily="34" charset="0"/>
                <a:ea typeface="Helvetica" pitchFamily="34" charset="-122"/>
                <a:cs typeface="Helvetica" pitchFamily="34" charset="-120"/>
              </a:rPr>
              <a:t>discard </a:t>
            </a:r>
            <a:r>
              <a:rPr lang="en-US" sz="2100" dirty="0">
                <a:solidFill>
                  <a:srgbClr val="444444"/>
                </a:solidFill>
                <a:latin typeface="Helvetica" pitchFamily="34" charset="0"/>
                <a:ea typeface="Helvetica" pitchFamily="34" charset="-122"/>
                <a:cs typeface="Helvetica" pitchFamily="34" charset="-120"/>
              </a:rPr>
              <a:t>bread that is still good to eat.</a:t>
            </a:r>
            <a:endParaRPr lang="en-US" sz="2100" dirty="0"/>
          </a:p>
        </p:txBody>
      </p:sp>
      <p:sp>
        <p:nvSpPr>
          <p:cNvPr id="15" name="Text 13"/>
          <p:cNvSpPr/>
          <p:nvPr/>
        </p:nvSpPr>
        <p:spPr>
          <a:xfrm>
            <a:off x="1047750" y="488632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4</a:t>
            </a:r>
            <a:endParaRPr lang="en-US" sz="2100" dirty="0"/>
          </a:p>
        </p:txBody>
      </p:sp>
      <p:sp>
        <p:nvSpPr>
          <p:cNvPr id="16" name="Text 14"/>
          <p:cNvSpPr/>
          <p:nvPr/>
        </p:nvSpPr>
        <p:spPr>
          <a:xfrm>
            <a:off x="1581150" y="4901565"/>
            <a:ext cx="7675162"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We turn our vegetable scraps into </a:t>
            </a:r>
            <a:r>
              <a:rPr lang="en-US" sz="2100" b="1" dirty="0">
                <a:solidFill>
                  <a:srgbClr val="1A2A5E"/>
                </a:solidFill>
                <a:latin typeface="Helvetica" pitchFamily="34" charset="0"/>
                <a:ea typeface="Helvetica" pitchFamily="34" charset="-122"/>
                <a:cs typeface="Helvetica" pitchFamily="34" charset="-120"/>
              </a:rPr>
              <a:t>compost </a:t>
            </a:r>
            <a:r>
              <a:rPr lang="en-US" sz="2100" dirty="0">
                <a:solidFill>
                  <a:srgbClr val="444444"/>
                </a:solidFill>
                <a:latin typeface="Helvetica" pitchFamily="34" charset="0"/>
                <a:ea typeface="Helvetica" pitchFamily="34" charset="-122"/>
                <a:cs typeface="Helvetica" pitchFamily="34" charset="-120"/>
              </a:rPr>
              <a:t>for the garden.</a:t>
            </a:r>
            <a:endParaRPr lang="en-US" sz="2100" dirty="0"/>
          </a:p>
        </p:txBody>
      </p:sp>
      <p:sp>
        <p:nvSpPr>
          <p:cNvPr id="17" name="Text 15"/>
          <p:cNvSpPr/>
          <p:nvPr/>
        </p:nvSpPr>
        <p:spPr>
          <a:xfrm>
            <a:off x="1047750" y="547116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5</a:t>
            </a:r>
            <a:endParaRPr lang="en-US" sz="2100" dirty="0"/>
          </a:p>
        </p:txBody>
      </p:sp>
      <p:sp>
        <p:nvSpPr>
          <p:cNvPr id="18" name="Text 16"/>
          <p:cNvSpPr/>
          <p:nvPr/>
        </p:nvSpPr>
        <p:spPr>
          <a:xfrm>
            <a:off x="1581150" y="5486400"/>
            <a:ext cx="570748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bruised apple looks ugly but is still </a:t>
            </a:r>
            <a:r>
              <a:rPr lang="en-US" sz="2100" b="1" dirty="0">
                <a:solidFill>
                  <a:srgbClr val="1A2A5E"/>
                </a:solidFill>
                <a:latin typeface="Helvetica" pitchFamily="34" charset="0"/>
                <a:ea typeface="Helvetica" pitchFamily="34" charset="-122"/>
                <a:cs typeface="Helvetica" pitchFamily="34" charset="-120"/>
              </a:rPr>
              <a:t>edible</a:t>
            </a:r>
            <a:r>
              <a:rPr lang="en-US" sz="2100" dirty="0">
                <a:solidFill>
                  <a:srgbClr val="444444"/>
                </a:solidFill>
                <a:latin typeface="Helvetica" pitchFamily="34" charset="0"/>
                <a:ea typeface="Helvetica" pitchFamily="34" charset="-122"/>
                <a:cs typeface="Helvetica" pitchFamily="34" charset="-120"/>
              </a:rPr>
              <a:t>.</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3211092"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96390"/>
            <a:ext cx="2534507"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8595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You run a busy café</a:t>
            </a:r>
            <a:endParaRPr lang="en-US" sz="3750" dirty="0"/>
          </a:p>
        </p:txBody>
      </p:sp>
      <p:sp>
        <p:nvSpPr>
          <p:cNvPr id="8" name="Shape 6"/>
          <p:cNvSpPr/>
          <p:nvPr/>
        </p:nvSpPr>
        <p:spPr>
          <a:xfrm>
            <a:off x="1047750" y="2964180"/>
            <a:ext cx="14859000" cy="9525"/>
          </a:xfrm>
          <a:prstGeom prst="rect">
            <a:avLst/>
          </a:prstGeom>
          <a:solidFill>
            <a:srgbClr val="D8D6D0"/>
          </a:solidFill>
          <a:ln/>
        </p:spPr>
        <p:txBody>
          <a:bodyPr/>
          <a:lstStyle/>
          <a:p>
            <a:endParaRPr lang="en-US"/>
          </a:p>
        </p:txBody>
      </p:sp>
      <p:sp>
        <p:nvSpPr>
          <p:cNvPr id="9" name="Text 7"/>
          <p:cNvSpPr/>
          <p:nvPr/>
        </p:nvSpPr>
        <p:spPr>
          <a:xfrm>
            <a:off x="1047750" y="323850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200400"/>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You run a busy café that throws away food every night.</a:t>
            </a:r>
            <a:endParaRPr lang="en-US" sz="2250" dirty="0"/>
          </a:p>
        </p:txBody>
      </p:sp>
      <p:sp>
        <p:nvSpPr>
          <p:cNvPr id="11" name="Shape 9"/>
          <p:cNvSpPr/>
          <p:nvPr/>
        </p:nvSpPr>
        <p:spPr>
          <a:xfrm>
            <a:off x="1047750" y="3833812"/>
            <a:ext cx="14859000" cy="9525"/>
          </a:xfrm>
          <a:prstGeom prst="rect">
            <a:avLst/>
          </a:prstGeom>
          <a:solidFill>
            <a:srgbClr val="D8D6D0"/>
          </a:solidFill>
          <a:ln/>
        </p:spPr>
        <p:txBody>
          <a:bodyPr/>
          <a:lstStyle/>
          <a:p>
            <a:endParaRPr lang="en-US"/>
          </a:p>
        </p:txBody>
      </p:sp>
      <p:sp>
        <p:nvSpPr>
          <p:cNvPr id="12" name="Text 10"/>
          <p:cNvSpPr/>
          <p:nvPr/>
        </p:nvSpPr>
        <p:spPr>
          <a:xfrm>
            <a:off x="1047750" y="410813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4070033"/>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Agree on three ways to cut your waste without losing money.</a:t>
            </a:r>
            <a:endParaRPr lang="en-US" sz="2250" dirty="0"/>
          </a:p>
        </p:txBody>
      </p:sp>
      <p:sp>
        <p:nvSpPr>
          <p:cNvPr id="14" name="Shape 12"/>
          <p:cNvSpPr/>
          <p:nvPr/>
        </p:nvSpPr>
        <p:spPr>
          <a:xfrm>
            <a:off x="1047750" y="5554028"/>
            <a:ext cx="14859000" cy="9525"/>
          </a:xfrm>
          <a:prstGeom prst="rect">
            <a:avLst/>
          </a:prstGeom>
          <a:solidFill>
            <a:srgbClr val="D8D6D0"/>
          </a:solidFill>
          <a:ln/>
        </p:spPr>
        <p:txBody>
          <a:bodyPr/>
          <a:lstStyle/>
          <a:p>
            <a:endParaRPr lang="en-US"/>
          </a:p>
        </p:txBody>
      </p:sp>
      <p:sp>
        <p:nvSpPr>
          <p:cNvPr id="15" name="Shape 13"/>
          <p:cNvSpPr/>
          <p:nvPr/>
        </p:nvSpPr>
        <p:spPr>
          <a:xfrm>
            <a:off x="1047750" y="4703445"/>
            <a:ext cx="14859000" cy="9525"/>
          </a:xfrm>
          <a:prstGeom prst="rect">
            <a:avLst/>
          </a:prstGeom>
          <a:solidFill>
            <a:srgbClr val="D8D6D0"/>
          </a:solidFill>
          <a:ln/>
        </p:spPr>
        <p:txBody>
          <a:bodyPr/>
          <a:lstStyle/>
          <a:p>
            <a:endParaRPr lang="en-US"/>
          </a:p>
        </p:txBody>
      </p:sp>
      <p:sp>
        <p:nvSpPr>
          <p:cNvPr id="16" name="Text 14"/>
          <p:cNvSpPr/>
          <p:nvPr/>
        </p:nvSpPr>
        <p:spPr>
          <a:xfrm>
            <a:off x="1047750" y="497776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939665"/>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Share your plan and explain how it helps people and the planet.</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7411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90750"/>
            <a:ext cx="15206662" cy="158877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5550" b="1" dirty="0">
                <a:solidFill>
                  <a:srgbClr val="1A2A5E"/>
                </a:solidFill>
                <a:latin typeface="Playfair Display" pitchFamily="34" charset="0"/>
                <a:ea typeface="Playfair Display" pitchFamily="34" charset="-122"/>
                <a:cs typeface="Playfair Display" pitchFamily="34" charset="-120"/>
              </a:rPr>
              <a:t>Should supermarkets be banned from throwing away food that is still edible?</a:t>
            </a:r>
            <a:endParaRPr lang="en-US" sz="5550" dirty="0"/>
          </a:p>
        </p:txBody>
      </p:sp>
      <p:sp>
        <p:nvSpPr>
          <p:cNvPr id="7" name="Text 5"/>
          <p:cNvSpPr/>
          <p:nvPr/>
        </p:nvSpPr>
        <p:spPr>
          <a:xfrm>
            <a:off x="1047750" y="4122420"/>
            <a:ext cx="13620750"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5025390"/>
            <a:ext cx="2476500" cy="22860"/>
          </a:xfrm>
          <a:prstGeom prst="rect">
            <a:avLst/>
          </a:prstGeom>
          <a:solidFill>
            <a:srgbClr val="D9B877"/>
          </a:solidFill>
          <a:ln/>
        </p:spPr>
        <p:txBody>
          <a:bodyPr/>
          <a:lstStyle/>
          <a:p>
            <a:endParaRPr lang="en-US"/>
          </a:p>
        </p:txBody>
      </p:sp>
      <p:sp>
        <p:nvSpPr>
          <p:cNvPr id="9" name="Text 7"/>
          <p:cNvSpPr/>
          <p:nvPr/>
        </p:nvSpPr>
        <p:spPr>
          <a:xfrm>
            <a:off x="1047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5025390"/>
            <a:ext cx="2476500" cy="22860"/>
          </a:xfrm>
          <a:prstGeom prst="rect">
            <a:avLst/>
          </a:prstGeom>
          <a:solidFill>
            <a:srgbClr val="D9B877"/>
          </a:solidFill>
          <a:ln/>
        </p:spPr>
        <p:txBody>
          <a:bodyPr/>
          <a:lstStyle/>
          <a:p>
            <a:endParaRPr lang="en-US"/>
          </a:p>
        </p:txBody>
      </p:sp>
      <p:sp>
        <p:nvSpPr>
          <p:cNvPr id="11" name="Text 9"/>
          <p:cNvSpPr/>
          <p:nvPr/>
        </p:nvSpPr>
        <p:spPr>
          <a:xfrm>
            <a:off x="39052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5025390"/>
            <a:ext cx="2476500" cy="22860"/>
          </a:xfrm>
          <a:prstGeom prst="rect">
            <a:avLst/>
          </a:prstGeom>
          <a:solidFill>
            <a:srgbClr val="D9B877"/>
          </a:solidFill>
          <a:ln/>
        </p:spPr>
        <p:txBody>
          <a:bodyPr/>
          <a:lstStyle/>
          <a:p>
            <a:endParaRPr lang="en-US"/>
          </a:p>
        </p:txBody>
      </p:sp>
      <p:sp>
        <p:nvSpPr>
          <p:cNvPr id="13" name="Text 11"/>
          <p:cNvSpPr/>
          <p:nvPr/>
        </p:nvSpPr>
        <p:spPr>
          <a:xfrm>
            <a:off x="6762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238250" y="3808095"/>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42435"/>
            <a:ext cx="16285845" cy="19583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7200" b="1" dirty="0">
                <a:solidFill>
                  <a:srgbClr val="FFFFFF"/>
                </a:solidFill>
                <a:latin typeface="Playfair Display" pitchFamily="34" charset="0"/>
                <a:ea typeface="Playfair Display" pitchFamily="34" charset="-122"/>
                <a:cs typeface="Playfair Display" pitchFamily="34" charset="-120"/>
              </a:rPr>
              <a:t>One fact. One perspective. Endless discussion.</a:t>
            </a:r>
            <a:endParaRPr lang="en-US" sz="7200" dirty="0"/>
          </a:p>
        </p:txBody>
      </p:sp>
      <p:sp>
        <p:nvSpPr>
          <p:cNvPr id="5" name="Text 3"/>
          <p:cNvSpPr/>
          <p:nvPr/>
        </p:nvSpPr>
        <p:spPr>
          <a:xfrm>
            <a:off x="1238250" y="6448425"/>
            <a:ext cx="1739265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the next issue.</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TotalTime>
  <Words>2069</Words>
  <Application>Microsoft Office PowerPoint</Application>
  <PresentationFormat>Custom</PresentationFormat>
  <Paragraphs>284</Paragraphs>
  <Slides>16</Slides>
  <Notes>16</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Aptos</vt:lpstr>
      <vt:lpstr>Arial</vt:lpstr>
      <vt:lpstr>Calibri</vt:lpstr>
      <vt:lpstr>Georgia</vt:lpstr>
      <vt:lpstr>Helvetica</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8</cp:revision>
  <dcterms:created xsi:type="dcterms:W3CDTF">2026-07-06T08:18:11Z</dcterms:created>
  <dcterms:modified xsi:type="dcterms:W3CDTF">2026-08-24T23:34:24Z</dcterms:modified>
</cp:coreProperties>
</file>