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3" r:id="rId8"/>
    <p:sldId id="264" r:id="rId9"/>
    <p:sldId id="265" r:id="rId10"/>
    <p:sldId id="269" r:id="rId11"/>
    <p:sldId id="266" r:id="rId12"/>
    <p:sldId id="267" r:id="rId13"/>
    <p:sldId id="268" r:id="rId14"/>
    <p:sldId id="270" r:id="rId15"/>
    <p:sldId id="271" r:id="rId16"/>
    <p:sldId id="272" r:id="rId17"/>
  </p:sld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56" d="100"/>
          <a:sy n="56" d="100"/>
        </p:scale>
        <p:origin x="610"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96027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class. This is Issue 004 of Perspective — today's topic is Fast Fashion. Aim: read a short article, learn key words, and discuss opinions.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45–60 minutes. We move top to bottom: warm-up, vocabulary, article + audio, comprehension, then lots of discussion and a short writing task.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Books closed. Pairs discuss both questions for 3–4 minutes, then share with the class. No right answers — the goal is to activate the topic and get them speaking.</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photo and the headline. Before reading, students predict: what problem does this article describe? Elicit a few guesses. Pre-teach nothing — the vocabulary comes next.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match each word (1–5) to its meaning (A–E), alone or in pairs. These five words all appear in the article, so they can check as they read.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answers. Tip: in PowerPoint you can animate each answer chip to appear on click. Check pronunciation and drill the five words briefly.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read the full article, or follow the audio. Set a purpose: what is overtourism, where is it happening, and what are the possible solutions? End on the pull-quote question — it sets up the discussion. Give 4–5 minutes.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Comprehension check. Students decide True or False for each statement, referring back to the article. Answers on the next slide.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Ask students to find the line in the article that proves each answer — good re-reading practice. 3 and 5 are False because the article is balanced and says there is no easy answer.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heart of the lesson. Put students in pairs or small groups. Move through as many questions as time allows — don't rush. Encourage: ‘On the one hand… on the other…’, ‘It depends on…’, ‘I’d argue that…’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Ethical Dilemma. A clothing company has 100,000 unsold T-shirts and can choose only ONE option. In small groups, students decide what the company should do and defend it. There is no right answer — push them to weigh who benefits and who loses.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Speaking-focused language. Students complete each sentence so they can say it aloud — first person, useful for the discussion. Change the form if needed. Answers next slide (some are flexible).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Suggested answers — accept sensible variations, especially in 3 (residents / local people). The goal is that students can use the words in speech.</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role-play. Small groups act as a town council. Give ~8 minutes to agree on two rules, then each group presents. Encourage persuasive, balanced language.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reflection. Set as in-class writing or homework. 150–200 words. Remind students to use the vocabulary and ideas from the article. A model answer is in the Teacher Guide (Page 3).</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Thank the class. Preview that Issue 002 continues the series. Reminder: the worksheet, audio and teacher guide all live at perspectiveenglish.com.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5567446" y="1047750"/>
            <a:ext cx="1482304" cy="312420"/>
          </a:xfrm>
          <a:prstGeom prst="rect">
            <a:avLst/>
          </a:prstGeom>
          <a:noFill/>
          <a:ln/>
        </p:spPr>
        <p:txBody>
          <a:bodyPr wrap="square" lIns="25400" tIns="25400" rIns="25400" bIns="25400" rtlCol="0" anchor="t">
            <a:normAutofit/>
          </a:bodyPr>
          <a:lstStyle/>
          <a:p>
            <a:pPr marL="0" indent="0" algn="r">
              <a:buNone/>
            </a:pPr>
            <a:r>
              <a:rPr lang="en-US" sz="1500" b="1" kern="0" spc="225" dirty="0">
                <a:solidFill>
                  <a:srgbClr val="D9B877"/>
                </a:solidFill>
                <a:latin typeface="Helvetica" pitchFamily="34" charset="0"/>
                <a:ea typeface="Helvetica" pitchFamily="34" charset="-122"/>
                <a:cs typeface="Helvetica" pitchFamily="34" charset="-120"/>
              </a:rPr>
              <a:t>ISSUE 004</a:t>
            </a:r>
            <a:endParaRPr lang="en-US" sz="1500" dirty="0"/>
          </a:p>
        </p:txBody>
      </p:sp>
      <p:sp>
        <p:nvSpPr>
          <p:cNvPr id="4" name="Text 2"/>
          <p:cNvSpPr/>
          <p:nvPr/>
        </p:nvSpPr>
        <p:spPr>
          <a:xfrm>
            <a:off x="1238250" y="6719888"/>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LESSONS WORTH TALKING ABOUT</a:t>
            </a:r>
            <a:endParaRPr lang="en-US" sz="1650" dirty="0"/>
          </a:p>
        </p:txBody>
      </p:sp>
      <p:sp>
        <p:nvSpPr>
          <p:cNvPr id="5" name="Text 3"/>
          <p:cNvSpPr/>
          <p:nvPr/>
        </p:nvSpPr>
        <p:spPr>
          <a:xfrm>
            <a:off x="1238250" y="7211378"/>
            <a:ext cx="17392650" cy="1395413"/>
          </a:xfrm>
          <a:prstGeom prst="rect">
            <a:avLst/>
          </a:prstGeom>
          <a:noFill/>
          <a:ln/>
        </p:spPr>
        <p:txBody>
          <a:bodyPr wrap="square" lIns="25400" tIns="25400" rIns="25400" bIns="25400" rtlCol="0" anchor="t">
            <a:normAutofit/>
          </a:bodyPr>
          <a:lstStyle/>
          <a:p>
            <a:pPr marL="0" indent="0" algn="l">
              <a:lnSpc>
                <a:spcPct val="95000"/>
              </a:lnSpc>
              <a:buNone/>
            </a:pPr>
            <a:r>
              <a:rPr lang="en-US" sz="11250" b="1" kern="0" spc="-150" dirty="0">
                <a:solidFill>
                  <a:srgbClr val="FFFFFF"/>
                </a:solidFill>
                <a:latin typeface="Georgia" pitchFamily="34" charset="0"/>
                <a:ea typeface="Georgia" pitchFamily="34" charset="-122"/>
                <a:cs typeface="Georgia" pitchFamily="34" charset="-120"/>
              </a:rPr>
              <a:t>Fast Fashion</a:t>
            </a:r>
            <a:endParaRPr lang="en-US" sz="11250" dirty="0"/>
          </a:p>
        </p:txBody>
      </p:sp>
      <p:sp>
        <p:nvSpPr>
          <p:cNvPr id="6" name="Text 4"/>
          <p:cNvSpPr/>
          <p:nvPr/>
        </p:nvSpPr>
        <p:spPr>
          <a:xfrm>
            <a:off x="1238250" y="8797290"/>
            <a:ext cx="17392650" cy="480060"/>
          </a:xfrm>
          <a:prstGeom prst="rect">
            <a:avLst/>
          </a:prstGeom>
          <a:noFill/>
          <a:ln/>
        </p:spPr>
        <p:txBody>
          <a:bodyPr wrap="square" lIns="25400" tIns="25400" rIns="25400" bIns="25400" rtlCol="0" anchor="t">
            <a:normAutofit/>
          </a:bodyPr>
          <a:lstStyle/>
          <a:p>
            <a:pPr marL="0" indent="0" algn="l">
              <a:buNone/>
            </a:pPr>
            <a:r>
              <a:rPr lang="en-US" sz="3000" dirty="0">
                <a:solidFill>
                  <a:srgbClr val="DFE4F0"/>
                </a:solidFill>
                <a:latin typeface="Helvetica" pitchFamily="34" charset="0"/>
                <a:ea typeface="Helvetica" pitchFamily="34" charset="-122"/>
                <a:cs typeface="Helvetica" pitchFamily="34" charset="-120"/>
              </a:rPr>
              <a:t>How can clothes be so cheap?</a:t>
            </a:r>
            <a:endParaRPr lang="en-US" sz="3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LESSON OVERVIEW</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What we’ll do today</a:t>
            </a:r>
            <a:endParaRPr lang="en-US" sz="4500" dirty="0"/>
          </a:p>
        </p:txBody>
      </p:sp>
      <p:sp>
        <p:nvSpPr>
          <p:cNvPr id="7" name="Text 5"/>
          <p:cNvSpPr/>
          <p:nvPr/>
        </p:nvSpPr>
        <p:spPr>
          <a:xfrm>
            <a:off x="1047750" y="3097530"/>
            <a:ext cx="513517"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01</a:t>
            </a:r>
            <a:endParaRPr lang="en-US" sz="3300" dirty="0"/>
          </a:p>
        </p:txBody>
      </p:sp>
      <p:sp>
        <p:nvSpPr>
          <p:cNvPr id="8" name="Text 6"/>
          <p:cNvSpPr/>
          <p:nvPr/>
        </p:nvSpPr>
        <p:spPr>
          <a:xfrm>
            <a:off x="1713667" y="3097530"/>
            <a:ext cx="3715583"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Warm-up &amp; vocabulary</a:t>
            </a:r>
            <a:endParaRPr lang="en-US" sz="2250" dirty="0"/>
          </a:p>
        </p:txBody>
      </p:sp>
      <p:sp>
        <p:nvSpPr>
          <p:cNvPr id="9" name="Text 7"/>
          <p:cNvSpPr/>
          <p:nvPr/>
        </p:nvSpPr>
        <p:spPr>
          <a:xfrm>
            <a:off x="1713667" y="3463290"/>
            <a:ext cx="3715583"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Get talking and learn five key words.</a:t>
            </a:r>
            <a:endParaRPr lang="en-US" sz="1650" dirty="0"/>
          </a:p>
        </p:txBody>
      </p:sp>
      <p:sp>
        <p:nvSpPr>
          <p:cNvPr id="10" name="Text 8"/>
          <p:cNvSpPr/>
          <p:nvPr/>
        </p:nvSpPr>
        <p:spPr>
          <a:xfrm>
            <a:off x="9477375" y="3097530"/>
            <a:ext cx="567571"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02</a:t>
            </a:r>
            <a:endParaRPr lang="en-US" sz="3300" dirty="0"/>
          </a:p>
        </p:txBody>
      </p:sp>
      <p:sp>
        <p:nvSpPr>
          <p:cNvPr id="11" name="Text 9"/>
          <p:cNvSpPr/>
          <p:nvPr/>
        </p:nvSpPr>
        <p:spPr>
          <a:xfrm>
            <a:off x="10197346" y="3097530"/>
            <a:ext cx="317769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Read &amp; listen</a:t>
            </a:r>
            <a:endParaRPr lang="en-US" sz="2250" dirty="0"/>
          </a:p>
        </p:txBody>
      </p:sp>
      <p:sp>
        <p:nvSpPr>
          <p:cNvPr id="12" name="Text 10"/>
          <p:cNvSpPr/>
          <p:nvPr/>
        </p:nvSpPr>
        <p:spPr>
          <a:xfrm>
            <a:off x="10197346" y="3463290"/>
            <a:ext cx="317769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The article, with optional audio.</a:t>
            </a:r>
            <a:endParaRPr lang="en-US" sz="1650" dirty="0"/>
          </a:p>
        </p:txBody>
      </p:sp>
      <p:sp>
        <p:nvSpPr>
          <p:cNvPr id="13" name="Text 11"/>
          <p:cNvSpPr/>
          <p:nvPr/>
        </p:nvSpPr>
        <p:spPr>
          <a:xfrm>
            <a:off x="1047750" y="3992880"/>
            <a:ext cx="564713"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03</a:t>
            </a:r>
            <a:endParaRPr lang="en-US" sz="3300" dirty="0"/>
          </a:p>
        </p:txBody>
      </p:sp>
      <p:sp>
        <p:nvSpPr>
          <p:cNvPr id="14" name="Text 12"/>
          <p:cNvSpPr/>
          <p:nvPr/>
        </p:nvSpPr>
        <p:spPr>
          <a:xfrm>
            <a:off x="1764863" y="3992880"/>
            <a:ext cx="3985117"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Check &amp; discuss</a:t>
            </a:r>
            <a:endParaRPr lang="en-US" sz="2250" dirty="0"/>
          </a:p>
        </p:txBody>
      </p:sp>
      <p:sp>
        <p:nvSpPr>
          <p:cNvPr id="15" name="Text 13"/>
          <p:cNvSpPr/>
          <p:nvPr/>
        </p:nvSpPr>
        <p:spPr>
          <a:xfrm>
            <a:off x="1764863" y="4358640"/>
            <a:ext cx="3985117"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Comprehension, then open discussion.</a:t>
            </a:r>
            <a:endParaRPr lang="en-US" sz="1650" dirty="0"/>
          </a:p>
        </p:txBody>
      </p:sp>
      <p:sp>
        <p:nvSpPr>
          <p:cNvPr id="16" name="Text 14"/>
          <p:cNvSpPr/>
          <p:nvPr/>
        </p:nvSpPr>
        <p:spPr>
          <a:xfrm>
            <a:off x="9477375" y="3992880"/>
            <a:ext cx="570309" cy="457200"/>
          </a:xfrm>
          <a:prstGeom prst="rect">
            <a:avLst/>
          </a:prstGeom>
          <a:noFill/>
          <a:ln/>
        </p:spPr>
        <p:txBody>
          <a:bodyPr wrap="none" lIns="25400" tIns="25400" rIns="25400" bIns="25400" rtlCol="0" anchor="t">
            <a:normAutofit/>
          </a:bodyPr>
          <a:lstStyle/>
          <a:p>
            <a:pPr marL="0" indent="0" algn="l">
              <a:lnSpc>
                <a:spcPct val="100000"/>
              </a:lnSpc>
              <a:buNone/>
            </a:pPr>
            <a:r>
              <a:rPr lang="en-US" sz="3300" b="1" dirty="0">
                <a:solidFill>
                  <a:srgbClr val="D9B877"/>
                </a:solidFill>
                <a:latin typeface="Georgia" pitchFamily="34" charset="0"/>
                <a:ea typeface="Georgia" pitchFamily="34" charset="-122"/>
                <a:cs typeface="Georgia" pitchFamily="34" charset="-120"/>
              </a:rPr>
              <a:t>04</a:t>
            </a:r>
            <a:endParaRPr lang="en-US" sz="3300" dirty="0"/>
          </a:p>
        </p:txBody>
      </p:sp>
      <p:sp>
        <p:nvSpPr>
          <p:cNvPr id="17" name="Text 15"/>
          <p:cNvSpPr/>
          <p:nvPr/>
        </p:nvSpPr>
        <p:spPr>
          <a:xfrm>
            <a:off x="10200084" y="3992880"/>
            <a:ext cx="3626525" cy="365760"/>
          </a:xfrm>
          <a:prstGeom prst="rect">
            <a:avLst/>
          </a:prstGeom>
          <a:noFill/>
          <a:ln/>
        </p:spPr>
        <p:txBody>
          <a:bodyPr wrap="square" lIns="25400" tIns="25400" rIns="25400" bIns="25400" rtlCol="0" anchor="t">
            <a:normAutofit/>
          </a:bodyPr>
          <a:lstStyle/>
          <a:p>
            <a:pPr marL="0" indent="0" algn="l">
              <a:buNone/>
            </a:pPr>
            <a:r>
              <a:rPr lang="en-US" sz="2250" b="1" dirty="0">
                <a:solidFill>
                  <a:srgbClr val="1A2A5E"/>
                </a:solidFill>
                <a:latin typeface="Helvetica" pitchFamily="34" charset="0"/>
                <a:ea typeface="Helvetica" pitchFamily="34" charset="-122"/>
                <a:cs typeface="Helvetica" pitchFamily="34" charset="-120"/>
              </a:rPr>
              <a:t>Think &amp; write</a:t>
            </a:r>
            <a:endParaRPr lang="en-US" sz="2250" dirty="0"/>
          </a:p>
        </p:txBody>
      </p:sp>
      <p:sp>
        <p:nvSpPr>
          <p:cNvPr id="18" name="Text 16"/>
          <p:cNvSpPr/>
          <p:nvPr/>
        </p:nvSpPr>
        <p:spPr>
          <a:xfrm>
            <a:off x="10200084" y="4358640"/>
            <a:ext cx="3626525" cy="281940"/>
          </a:xfrm>
          <a:prstGeom prst="rect">
            <a:avLst/>
          </a:prstGeom>
          <a:noFill/>
          <a:ln/>
        </p:spPr>
        <p:txBody>
          <a:bodyPr wrap="square" lIns="25400" tIns="25400" rIns="25400" bIns="25400" rtlCol="0" anchor="t">
            <a:normAutofit/>
          </a:bodyPr>
          <a:lstStyle/>
          <a:p>
            <a:pPr marL="0" indent="0" algn="l">
              <a:buNone/>
            </a:pPr>
            <a:r>
              <a:rPr lang="en-US" sz="1650" dirty="0">
                <a:solidFill>
                  <a:srgbClr val="555555"/>
                </a:solidFill>
                <a:latin typeface="Helvetica" pitchFamily="34" charset="0"/>
                <a:ea typeface="Helvetica" pitchFamily="34" charset="-122"/>
                <a:cs typeface="Helvetica" pitchFamily="34" charset="-120"/>
              </a:rPr>
              <a:t>Rank ideas and share your opinion.</a:t>
            </a:r>
            <a:endParaRPr lang="en-US" sz="1650" dirty="0"/>
          </a:p>
        </p:txBody>
      </p:sp>
      <p:sp>
        <p:nvSpPr>
          <p:cNvPr id="19" name="Text 17"/>
          <p:cNvSpPr/>
          <p:nvPr/>
        </p:nvSpPr>
        <p:spPr>
          <a:xfrm>
            <a:off x="1047750" y="9429750"/>
            <a:ext cx="197658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
        <p:nvSpPr>
          <p:cNvPr id="20" name="Text 18"/>
          <p:cNvSpPr/>
          <p:nvPr/>
        </p:nvSpPr>
        <p:spPr>
          <a:xfrm>
            <a:off x="16116062" y="9429750"/>
            <a:ext cx="1200388"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45–60 minutes</a:t>
            </a:r>
            <a:endParaRPr lang="en-US" sz="12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811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WARM-UP</a:t>
            </a:r>
            <a:endParaRPr lang="en-US" sz="1500" dirty="0"/>
          </a:p>
        </p:txBody>
      </p:sp>
      <p:sp>
        <p:nvSpPr>
          <p:cNvPr id="6" name="Text 4"/>
          <p:cNvSpPr/>
          <p:nvPr/>
        </p:nvSpPr>
        <p:spPr>
          <a:xfrm>
            <a:off x="1047750" y="1916430"/>
            <a:ext cx="17811750" cy="685800"/>
          </a:xfrm>
          <a:prstGeom prst="rect">
            <a:avLst/>
          </a:prstGeom>
          <a:noFill/>
          <a:ln/>
        </p:spPr>
        <p:txBody>
          <a:bodyPr wrap="square" lIns="25400" tIns="25400" rIns="25400" bIns="25400" rtlCol="0" anchor="t">
            <a:normAutofit/>
          </a:bodyPr>
          <a:lstStyle/>
          <a:p>
            <a:pPr marL="0" indent="0" algn="l">
              <a:buNone/>
            </a:pPr>
            <a:r>
              <a:rPr lang="en-US" sz="4500" b="1" dirty="0">
                <a:solidFill>
                  <a:srgbClr val="1A2A5E"/>
                </a:solidFill>
                <a:latin typeface="Georgia" pitchFamily="34" charset="0"/>
                <a:ea typeface="Georgia" pitchFamily="34" charset="-122"/>
                <a:cs typeface="Georgia" pitchFamily="34" charset="-120"/>
              </a:rPr>
              <a:t>Talk with a partner</a:t>
            </a:r>
            <a:endParaRPr lang="en-US" sz="4500" dirty="0"/>
          </a:p>
        </p:txBody>
      </p:sp>
      <p:sp>
        <p:nvSpPr>
          <p:cNvPr id="7" name="Text 5"/>
          <p:cNvSpPr/>
          <p:nvPr/>
        </p:nvSpPr>
        <p:spPr>
          <a:xfrm>
            <a:off x="1047750" y="3230880"/>
            <a:ext cx="370880"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1</a:t>
            </a:r>
            <a:endParaRPr lang="en-US" sz="5400" dirty="0"/>
          </a:p>
        </p:txBody>
      </p:sp>
      <p:sp>
        <p:nvSpPr>
          <p:cNvPr id="8" name="Text 6"/>
          <p:cNvSpPr/>
          <p:nvPr/>
        </p:nvSpPr>
        <p:spPr>
          <a:xfrm>
            <a:off x="1666280" y="3288030"/>
            <a:ext cx="11903750" cy="55245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How many items of clothing do you own? Do you wear them all?</a:t>
            </a:r>
            <a:endParaRPr lang="en-US" sz="3000" dirty="0"/>
          </a:p>
        </p:txBody>
      </p:sp>
      <p:sp>
        <p:nvSpPr>
          <p:cNvPr id="9" name="Text 7"/>
          <p:cNvSpPr/>
          <p:nvPr/>
        </p:nvSpPr>
        <p:spPr>
          <a:xfrm>
            <a:off x="1047750" y="4267200"/>
            <a:ext cx="459343" cy="655320"/>
          </a:xfrm>
          <a:prstGeom prst="rect">
            <a:avLst/>
          </a:prstGeom>
          <a:noFill/>
          <a:ln/>
        </p:spPr>
        <p:txBody>
          <a:bodyPr wrap="square" lIns="25400" tIns="25400" rIns="25400" bIns="25400" rtlCol="0" anchor="t">
            <a:normAutofit/>
          </a:bodyPr>
          <a:lstStyle/>
          <a:p>
            <a:pPr marL="0" indent="0" algn="l">
              <a:lnSpc>
                <a:spcPct val="90000"/>
              </a:lnSpc>
              <a:buNone/>
            </a:pPr>
            <a:r>
              <a:rPr lang="en-US" sz="5400" b="1" dirty="0">
                <a:solidFill>
                  <a:srgbClr val="D9B877"/>
                </a:solidFill>
                <a:latin typeface="Georgia" pitchFamily="34" charset="0"/>
                <a:ea typeface="Georgia" pitchFamily="34" charset="-122"/>
                <a:cs typeface="Georgia" pitchFamily="34" charset="-120"/>
              </a:rPr>
              <a:t>2</a:t>
            </a:r>
            <a:endParaRPr lang="en-US" sz="5400" dirty="0"/>
          </a:p>
        </p:txBody>
      </p:sp>
      <p:sp>
        <p:nvSpPr>
          <p:cNvPr id="10" name="Text 8"/>
          <p:cNvSpPr/>
          <p:nvPr/>
        </p:nvSpPr>
        <p:spPr>
          <a:xfrm>
            <a:off x="1754743" y="4324350"/>
            <a:ext cx="12516310" cy="1066800"/>
          </a:xfrm>
          <a:prstGeom prst="rect">
            <a:avLst/>
          </a:prstGeom>
          <a:noFill/>
          <a:ln/>
        </p:spPr>
        <p:txBody>
          <a:bodyPr wrap="square" lIns="25400" tIns="25400" rIns="25400" bIns="25400" rtlCol="0" anchor="t">
            <a:normAutofit/>
          </a:bodyPr>
          <a:lstStyle/>
          <a:p>
            <a:pPr marL="0" indent="0" algn="l">
              <a:lnSpc>
                <a:spcPct val="135000"/>
              </a:lnSpc>
              <a:buNone/>
            </a:pPr>
            <a:r>
              <a:rPr lang="en-US" sz="3000" dirty="0">
                <a:solidFill>
                  <a:srgbClr val="1A1A1A"/>
                </a:solidFill>
                <a:latin typeface="Helvetica" pitchFamily="34" charset="0"/>
                <a:ea typeface="Helvetica" pitchFamily="34" charset="-122"/>
                <a:cs typeface="Helvetica" pitchFamily="34" charset="-120"/>
              </a:rPr>
              <a:t>What matters more to you when buying clothes — price, quality, or style?</a:t>
            </a:r>
            <a:endParaRPr lang="en-US" sz="3000" dirty="0"/>
          </a:p>
        </p:txBody>
      </p:sp>
      <p:sp>
        <p:nvSpPr>
          <p:cNvPr id="11"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4045744"/>
            <a:ext cx="8539163"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BEFORE YOU READ</a:t>
            </a:r>
            <a:endParaRPr lang="en-US" sz="1500" dirty="0"/>
          </a:p>
        </p:txBody>
      </p:sp>
      <p:sp>
        <p:nvSpPr>
          <p:cNvPr id="6" name="Text 4"/>
          <p:cNvSpPr/>
          <p:nvPr/>
        </p:nvSpPr>
        <p:spPr>
          <a:xfrm>
            <a:off x="1047750" y="4381024"/>
            <a:ext cx="8539163" cy="598170"/>
          </a:xfrm>
          <a:prstGeom prst="rect">
            <a:avLst/>
          </a:prstGeom>
          <a:noFill/>
          <a:ln/>
        </p:spPr>
        <p:txBody>
          <a:bodyPr wrap="square" lIns="25400" tIns="25400" rIns="25400" bIns="25400" rtlCol="0" anchor="t">
            <a:normAutofit/>
          </a:bodyPr>
          <a:lstStyle/>
          <a:p>
            <a:pPr marL="0" indent="0" algn="l">
              <a:lnSpc>
                <a:spcPct val="105000"/>
              </a:lnSpc>
              <a:buNone/>
            </a:pPr>
            <a:r>
              <a:rPr lang="en-US" sz="4200" b="1" dirty="0">
                <a:solidFill>
                  <a:srgbClr val="1A2A5E"/>
                </a:solidFill>
                <a:latin typeface="Georgia" pitchFamily="34" charset="0"/>
                <a:ea typeface="Georgia" pitchFamily="34" charset="-122"/>
                <a:cs typeface="Georgia" pitchFamily="34" charset="-120"/>
              </a:rPr>
              <a:t>Look and predict</a:t>
            </a:r>
            <a:endParaRPr lang="en-US" sz="4200" dirty="0"/>
          </a:p>
        </p:txBody>
      </p:sp>
      <p:sp>
        <p:nvSpPr>
          <p:cNvPr id="7" name="Text 5"/>
          <p:cNvSpPr/>
          <p:nvPr/>
        </p:nvSpPr>
        <p:spPr>
          <a:xfrm>
            <a:off x="1047750" y="5264944"/>
            <a:ext cx="8539163" cy="452438"/>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The article is called </a:t>
            </a:r>
            <a:r>
              <a:rPr lang="en-US" sz="2250" b="1" dirty="0">
                <a:solidFill>
                  <a:srgbClr val="1A2A5E"/>
                </a:solidFill>
                <a:latin typeface="Helvetica" pitchFamily="34" charset="0"/>
                <a:ea typeface="Helvetica" pitchFamily="34" charset="-122"/>
                <a:cs typeface="Helvetica" pitchFamily="34" charset="-120"/>
              </a:rPr>
              <a:t>“Fast Fashion.”</a:t>
            </a:r>
            <a:endParaRPr lang="en-US" sz="2250" dirty="0"/>
          </a:p>
        </p:txBody>
      </p:sp>
      <p:sp>
        <p:nvSpPr>
          <p:cNvPr id="8" name="Text 6"/>
          <p:cNvSpPr/>
          <p:nvPr/>
        </p:nvSpPr>
        <p:spPr>
          <a:xfrm>
            <a:off x="1047750" y="5869781"/>
            <a:ext cx="7995761" cy="866775"/>
          </a:xfrm>
          <a:prstGeom prst="rect">
            <a:avLst/>
          </a:prstGeom>
          <a:noFill/>
          <a:ln/>
        </p:spPr>
        <p:txBody>
          <a:bodyPr wrap="square" lIns="25400" tIns="25400" rIns="25400" bIns="25400" rtlCol="0" anchor="t">
            <a:normAutofit/>
          </a:bodyPr>
          <a:lstStyle/>
          <a:p>
            <a:pPr marL="0" indent="0" algn="l">
              <a:lnSpc>
                <a:spcPct val="145000"/>
              </a:lnSpc>
              <a:buNone/>
            </a:pPr>
            <a:r>
              <a:rPr lang="en-US" sz="2250" dirty="0">
                <a:solidFill>
                  <a:srgbClr val="333333"/>
                </a:solidFill>
                <a:latin typeface="Helvetica" pitchFamily="34" charset="0"/>
                <a:ea typeface="Helvetica" pitchFamily="34" charset="-122"/>
                <a:cs typeface="Helvetica" pitchFamily="34" charset="-120"/>
              </a:rPr>
              <a:t>Looking at the photo and title, what problem do you think it describes? What might be the causes?</a:t>
            </a:r>
            <a:endParaRPr lang="en-US" sz="2250" dirty="0"/>
          </a:p>
        </p:txBody>
      </p:sp>
      <p:sp>
        <p:nvSpPr>
          <p:cNvPr id="9" name="Shape 7"/>
          <p:cNvSpPr/>
          <p:nvPr/>
        </p:nvSpPr>
        <p:spPr>
          <a:xfrm>
            <a:off x="9477375" y="2548890"/>
            <a:ext cx="7762875" cy="5334000"/>
          </a:xfrm>
          <a:prstGeom prst="rect">
            <a:avLst/>
          </a:prstGeom>
          <a:ln w="7620">
            <a:solidFill>
              <a:srgbClr val="D8D6D0"/>
            </a:solidFill>
            <a:prstDash val="solid"/>
          </a:ln>
        </p:spPr>
        <p:txBody>
          <a:bodyPr/>
          <a:lstStyle/>
          <a:p>
            <a:endParaRPr lang="en-US"/>
          </a:p>
        </p:txBody>
      </p:sp>
      <p:pic>
        <p:nvPicPr>
          <p:cNvPr id="10" name="Image 0" descr="preencoded.png"/>
          <p:cNvPicPr>
            <a:picLocks noChangeAspect="1"/>
          </p:cNvPicPr>
          <p:nvPr/>
        </p:nvPicPr>
        <p:blipFill>
          <a:blip r:embed="rId3"/>
          <a:srcRect l="1445" r="1445"/>
          <a:stretch/>
        </p:blipFill>
        <p:spPr>
          <a:xfrm>
            <a:off x="9484995" y="2556510"/>
            <a:ext cx="7747635" cy="5318760"/>
          </a:xfrm>
          <a:prstGeom prst="rect">
            <a:avLst/>
          </a:prstGeom>
        </p:spPr>
      </p:pic>
      <p:sp>
        <p:nvSpPr>
          <p:cNvPr id="11" name="Text 8"/>
          <p:cNvSpPr/>
          <p:nvPr/>
        </p:nvSpPr>
        <p:spPr>
          <a:xfrm>
            <a:off x="9477375" y="7997190"/>
            <a:ext cx="8539163" cy="236220"/>
          </a:xfrm>
          <a:prstGeom prst="rect">
            <a:avLst/>
          </a:prstGeom>
          <a:noFill/>
          <a:ln/>
        </p:spPr>
        <p:txBody>
          <a:bodyPr wrap="square" lIns="25400" tIns="25400" rIns="25400" bIns="25400" rtlCol="0" anchor="t">
            <a:normAutofit/>
          </a:bodyPr>
          <a:lstStyle/>
          <a:p>
            <a:pPr marL="0" indent="0" algn="l">
              <a:buNone/>
            </a:pPr>
            <a:r>
              <a:rPr lang="en-US" sz="1350" i="1" dirty="0">
                <a:solidFill>
                  <a:srgbClr val="666666"/>
                </a:solidFill>
                <a:latin typeface="Helvetica" pitchFamily="34" charset="0"/>
                <a:ea typeface="Helvetica" pitchFamily="34" charset="-122"/>
                <a:cs typeface="Helvetica" pitchFamily="34" charset="-120"/>
              </a:rPr>
              <a:t>Cheap clothes are quickly worn out and thrown onto growing textile waste piles.</a:t>
            </a:r>
            <a:endParaRPr lang="en-US" sz="1350" dirty="0"/>
          </a:p>
        </p:txBody>
      </p:sp>
      <p:sp>
        <p:nvSpPr>
          <p:cNvPr id="12" name="Text 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Match the words to their meanings</a:t>
            </a:r>
            <a:endParaRPr lang="en-US" sz="4050" dirty="0"/>
          </a:p>
        </p:txBody>
      </p:sp>
      <p:sp>
        <p:nvSpPr>
          <p:cNvPr id="7" name="Text 5"/>
          <p:cNvSpPr/>
          <p:nvPr/>
        </p:nvSpPr>
        <p:spPr>
          <a:xfrm>
            <a:off x="1047750" y="282702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1</a:t>
            </a:r>
            <a:endParaRPr lang="en-US" sz="2400" dirty="0"/>
          </a:p>
        </p:txBody>
      </p:sp>
      <p:sp>
        <p:nvSpPr>
          <p:cNvPr id="8" name="Text 6"/>
          <p:cNvSpPr/>
          <p:nvPr/>
        </p:nvSpPr>
        <p:spPr>
          <a:xfrm>
            <a:off x="1524000" y="2834640"/>
            <a:ext cx="1322784"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garment</a:t>
            </a:r>
            <a:endParaRPr lang="en-US" sz="2400" dirty="0"/>
          </a:p>
        </p:txBody>
      </p:sp>
      <p:sp>
        <p:nvSpPr>
          <p:cNvPr id="9" name="Text 7"/>
          <p:cNvSpPr/>
          <p:nvPr/>
        </p:nvSpPr>
        <p:spPr>
          <a:xfrm>
            <a:off x="1047750" y="336804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2</a:t>
            </a:r>
            <a:endParaRPr lang="en-US" sz="2400" dirty="0"/>
          </a:p>
        </p:txBody>
      </p:sp>
      <p:sp>
        <p:nvSpPr>
          <p:cNvPr id="10" name="Text 8"/>
          <p:cNvSpPr/>
          <p:nvPr/>
        </p:nvSpPr>
        <p:spPr>
          <a:xfrm>
            <a:off x="1524000" y="3375660"/>
            <a:ext cx="957143"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textile</a:t>
            </a:r>
            <a:endParaRPr lang="en-US" sz="2400" dirty="0"/>
          </a:p>
        </p:txBody>
      </p:sp>
      <p:sp>
        <p:nvSpPr>
          <p:cNvPr id="11" name="Text 9"/>
          <p:cNvSpPr/>
          <p:nvPr/>
        </p:nvSpPr>
        <p:spPr>
          <a:xfrm>
            <a:off x="1047750" y="390906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3</a:t>
            </a:r>
            <a:endParaRPr lang="en-US" sz="2400" dirty="0"/>
          </a:p>
        </p:txBody>
      </p:sp>
      <p:sp>
        <p:nvSpPr>
          <p:cNvPr id="12" name="Text 10"/>
          <p:cNvSpPr/>
          <p:nvPr/>
        </p:nvSpPr>
        <p:spPr>
          <a:xfrm>
            <a:off x="1524000" y="3916680"/>
            <a:ext cx="1177171"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durable</a:t>
            </a:r>
            <a:endParaRPr lang="en-US" sz="2400" dirty="0"/>
          </a:p>
        </p:txBody>
      </p:sp>
      <p:sp>
        <p:nvSpPr>
          <p:cNvPr id="13" name="Text 11"/>
          <p:cNvSpPr/>
          <p:nvPr/>
        </p:nvSpPr>
        <p:spPr>
          <a:xfrm>
            <a:off x="1047750" y="445008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4</a:t>
            </a:r>
            <a:endParaRPr lang="en-US" sz="2400" dirty="0"/>
          </a:p>
        </p:txBody>
      </p:sp>
      <p:sp>
        <p:nvSpPr>
          <p:cNvPr id="14" name="Text 12"/>
          <p:cNvSpPr/>
          <p:nvPr/>
        </p:nvSpPr>
        <p:spPr>
          <a:xfrm>
            <a:off x="1524000" y="4457700"/>
            <a:ext cx="2104668"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consumption</a:t>
            </a:r>
            <a:endParaRPr lang="en-US" sz="2400" dirty="0"/>
          </a:p>
        </p:txBody>
      </p:sp>
      <p:sp>
        <p:nvSpPr>
          <p:cNvPr id="15" name="Text 13"/>
          <p:cNvSpPr/>
          <p:nvPr/>
        </p:nvSpPr>
        <p:spPr>
          <a:xfrm>
            <a:off x="1047750" y="4991100"/>
            <a:ext cx="400050" cy="388620"/>
          </a:xfrm>
          <a:prstGeom prst="rect">
            <a:avLst/>
          </a:prstGeom>
          <a:noFill/>
          <a:ln/>
        </p:spPr>
        <p:txBody>
          <a:bodyPr wrap="square" lIns="25400" tIns="25400" rIns="25400" bIns="25400" rtlCol="0" anchor="t">
            <a:normAutofit/>
          </a:bodyPr>
          <a:lstStyle/>
          <a:p>
            <a:pPr marL="0" indent="0" algn="l">
              <a:buNone/>
            </a:pPr>
            <a:r>
              <a:rPr lang="en-US" sz="2400" b="1" dirty="0">
                <a:solidFill>
                  <a:srgbClr val="D9B877"/>
                </a:solidFill>
                <a:latin typeface="Georgia" pitchFamily="34" charset="0"/>
                <a:ea typeface="Georgia" pitchFamily="34" charset="-122"/>
                <a:cs typeface="Georgia" pitchFamily="34" charset="-120"/>
              </a:rPr>
              <a:t>5</a:t>
            </a:r>
            <a:endParaRPr lang="en-US" sz="2400" dirty="0"/>
          </a:p>
        </p:txBody>
      </p:sp>
      <p:sp>
        <p:nvSpPr>
          <p:cNvPr id="16" name="Text 14"/>
          <p:cNvSpPr/>
          <p:nvPr/>
        </p:nvSpPr>
        <p:spPr>
          <a:xfrm>
            <a:off x="1524000" y="4998720"/>
            <a:ext cx="1228011" cy="381000"/>
          </a:xfrm>
          <a:prstGeom prst="rect">
            <a:avLst/>
          </a:prstGeom>
          <a:noFill/>
          <a:ln/>
        </p:spPr>
        <p:txBody>
          <a:bodyPr wrap="square" lIns="25400" tIns="25400" rIns="25400" bIns="25400" rtlCol="0" anchor="t">
            <a:normAutofit/>
          </a:bodyPr>
          <a:lstStyle/>
          <a:p>
            <a:pPr marL="0" indent="0" algn="l">
              <a:buNone/>
            </a:pPr>
            <a:r>
              <a:rPr lang="en-US" sz="2400" b="1" dirty="0">
                <a:solidFill>
                  <a:srgbClr val="1A2A5E"/>
                </a:solidFill>
                <a:latin typeface="Helvetica" pitchFamily="34" charset="0"/>
                <a:ea typeface="Helvetica" pitchFamily="34" charset="-122"/>
                <a:cs typeface="Helvetica" pitchFamily="34" charset="-120"/>
              </a:rPr>
              <a:t>dispose</a:t>
            </a:r>
            <a:endParaRPr lang="en-US" sz="2400" dirty="0"/>
          </a:p>
        </p:txBody>
      </p:sp>
      <p:sp>
        <p:nvSpPr>
          <p:cNvPr id="17" name="Text 15"/>
          <p:cNvSpPr/>
          <p:nvPr/>
        </p:nvSpPr>
        <p:spPr>
          <a:xfrm>
            <a:off x="7924800" y="282702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A</a:t>
            </a:r>
            <a:endParaRPr lang="en-US" sz="1950" dirty="0"/>
          </a:p>
        </p:txBody>
      </p:sp>
      <p:sp>
        <p:nvSpPr>
          <p:cNvPr id="18" name="Text 16"/>
          <p:cNvSpPr/>
          <p:nvPr/>
        </p:nvSpPr>
        <p:spPr>
          <a:xfrm>
            <a:off x="8401050" y="2759868"/>
            <a:ext cx="2784003"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tough and long-lasting</a:t>
            </a:r>
            <a:endParaRPr lang="en-US" sz="2025" dirty="0"/>
          </a:p>
        </p:txBody>
      </p:sp>
      <p:sp>
        <p:nvSpPr>
          <p:cNvPr id="19" name="Text 17"/>
          <p:cNvSpPr/>
          <p:nvPr/>
        </p:nvSpPr>
        <p:spPr>
          <a:xfrm>
            <a:off x="7924800" y="3374708"/>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B</a:t>
            </a:r>
            <a:endParaRPr lang="en-US" sz="1950" dirty="0"/>
          </a:p>
        </p:txBody>
      </p:sp>
      <p:sp>
        <p:nvSpPr>
          <p:cNvPr id="20" name="Text 18"/>
          <p:cNvSpPr/>
          <p:nvPr/>
        </p:nvSpPr>
        <p:spPr>
          <a:xfrm>
            <a:off x="8401050" y="3298983"/>
            <a:ext cx="3254835"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to get rid of or throw away</a:t>
            </a:r>
            <a:endParaRPr lang="en-US" sz="2025" dirty="0"/>
          </a:p>
        </p:txBody>
      </p:sp>
      <p:sp>
        <p:nvSpPr>
          <p:cNvPr id="21" name="Text 19"/>
          <p:cNvSpPr/>
          <p:nvPr/>
        </p:nvSpPr>
        <p:spPr>
          <a:xfrm>
            <a:off x="7924800" y="3922395"/>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C</a:t>
            </a:r>
            <a:endParaRPr lang="en-US" sz="1950" dirty="0"/>
          </a:p>
        </p:txBody>
      </p:sp>
      <p:sp>
        <p:nvSpPr>
          <p:cNvPr id="22" name="Text 20"/>
          <p:cNvSpPr/>
          <p:nvPr/>
        </p:nvSpPr>
        <p:spPr>
          <a:xfrm>
            <a:off x="8401050" y="3858955"/>
            <a:ext cx="2280428"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a piece of clothing</a:t>
            </a:r>
            <a:endParaRPr lang="en-US" sz="2025" dirty="0"/>
          </a:p>
        </p:txBody>
      </p:sp>
      <p:sp>
        <p:nvSpPr>
          <p:cNvPr id="23" name="Text 21"/>
          <p:cNvSpPr/>
          <p:nvPr/>
        </p:nvSpPr>
        <p:spPr>
          <a:xfrm>
            <a:off x="7924800" y="4470083"/>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D</a:t>
            </a:r>
            <a:endParaRPr lang="en-US" sz="1950" dirty="0"/>
          </a:p>
        </p:txBody>
      </p:sp>
      <p:sp>
        <p:nvSpPr>
          <p:cNvPr id="24" name="Text 22"/>
          <p:cNvSpPr/>
          <p:nvPr/>
        </p:nvSpPr>
        <p:spPr>
          <a:xfrm>
            <a:off x="8440087" y="4407390"/>
            <a:ext cx="2594491"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cloth or woven fabric</a:t>
            </a:r>
            <a:endParaRPr lang="en-US" sz="2025" dirty="0"/>
          </a:p>
        </p:txBody>
      </p:sp>
      <p:sp>
        <p:nvSpPr>
          <p:cNvPr id="25" name="Text 23"/>
          <p:cNvSpPr/>
          <p:nvPr/>
        </p:nvSpPr>
        <p:spPr>
          <a:xfrm>
            <a:off x="7924800" y="5017770"/>
            <a:ext cx="400050" cy="388620"/>
          </a:xfrm>
          <a:prstGeom prst="rect">
            <a:avLst/>
          </a:prstGeom>
          <a:noFill/>
          <a:ln/>
        </p:spPr>
        <p:txBody>
          <a:bodyPr wrap="square" lIns="25400" tIns="25400" rIns="25400" bIns="25400" rtlCol="0" anchor="t">
            <a:normAutofit/>
          </a:bodyPr>
          <a:lstStyle/>
          <a:p>
            <a:pPr marL="0" indent="0" algn="l">
              <a:buNone/>
            </a:pPr>
            <a:r>
              <a:rPr lang="en-US" sz="1950" b="1" dirty="0">
                <a:solidFill>
                  <a:srgbClr val="BF842C"/>
                </a:solidFill>
                <a:latin typeface="Helvetica" pitchFamily="34" charset="0"/>
                <a:ea typeface="Helvetica" pitchFamily="34" charset="-122"/>
                <a:cs typeface="Helvetica" pitchFamily="34" charset="-120"/>
              </a:rPr>
              <a:t>E</a:t>
            </a:r>
            <a:endParaRPr lang="en-US" sz="1950" dirty="0"/>
          </a:p>
        </p:txBody>
      </p:sp>
      <p:sp>
        <p:nvSpPr>
          <p:cNvPr id="26" name="Text 24"/>
          <p:cNvSpPr/>
          <p:nvPr/>
        </p:nvSpPr>
        <p:spPr>
          <a:xfrm>
            <a:off x="8401050" y="4970818"/>
            <a:ext cx="3774912" cy="372428"/>
          </a:xfrm>
          <a:prstGeom prst="rect">
            <a:avLst/>
          </a:prstGeom>
          <a:noFill/>
          <a:ln/>
        </p:spPr>
        <p:txBody>
          <a:bodyPr wrap="square" lIns="25400" tIns="25400" rIns="25400" bIns="25400" rtlCol="0" anchor="t">
            <a:normAutofit fontScale="92500" lnSpcReduction="20000"/>
          </a:bodyPr>
          <a:lstStyle/>
          <a:p>
            <a:pPr marL="0" indent="0" algn="l">
              <a:lnSpc>
                <a:spcPct val="130000"/>
              </a:lnSpc>
              <a:buNone/>
            </a:pPr>
            <a:r>
              <a:rPr lang="en-US" sz="2025" dirty="0">
                <a:solidFill>
                  <a:srgbClr val="222222"/>
                </a:solidFill>
                <a:latin typeface="Helvetica" pitchFamily="34" charset="0"/>
                <a:ea typeface="Helvetica" pitchFamily="34" charset="-122"/>
                <a:cs typeface="Helvetica" pitchFamily="34" charset="-120"/>
              </a:rPr>
              <a:t>the buying and using of goods</a:t>
            </a:r>
            <a:endParaRPr lang="en-US" sz="20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76400"/>
            <a:ext cx="1889879"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VOCABULARY</a:t>
            </a:r>
            <a:endParaRPr lang="en-US" sz="1500" dirty="0"/>
          </a:p>
        </p:txBody>
      </p:sp>
      <p:sp>
        <p:nvSpPr>
          <p:cNvPr id="6" name="Shape 4"/>
          <p:cNvSpPr/>
          <p:nvPr/>
        </p:nvSpPr>
        <p:spPr>
          <a:xfrm>
            <a:off x="2975372" y="1581150"/>
            <a:ext cx="1601272" cy="388620"/>
          </a:xfrm>
          <a:prstGeom prst="rect">
            <a:avLst/>
          </a:prstGeom>
          <a:solidFill>
            <a:srgbClr val="1A2A5E"/>
          </a:solidFill>
          <a:ln/>
        </p:spPr>
        <p:txBody>
          <a:bodyPr/>
          <a:lstStyle/>
          <a:p>
            <a:endParaRPr lang="en-US"/>
          </a:p>
        </p:txBody>
      </p:sp>
      <p:sp>
        <p:nvSpPr>
          <p:cNvPr id="7" name="Text 5"/>
          <p:cNvSpPr/>
          <p:nvPr/>
        </p:nvSpPr>
        <p:spPr>
          <a:xfrm>
            <a:off x="3146822" y="16383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103120"/>
            <a:ext cx="17811750" cy="640080"/>
          </a:xfrm>
          <a:prstGeom prst="rect">
            <a:avLst/>
          </a:prstGeom>
          <a:noFill/>
          <a:ln/>
        </p:spPr>
        <p:txBody>
          <a:bodyPr wrap="square" lIns="25400" tIns="25400" rIns="25400" bIns="25400" rtlCol="0" anchor="t">
            <a:normAutofit/>
          </a:bodyPr>
          <a:lstStyle/>
          <a:p>
            <a:pPr marL="0" indent="0" algn="l">
              <a:buNone/>
            </a:pPr>
            <a:r>
              <a:rPr lang="en-US" sz="4200" b="1" dirty="0">
                <a:solidFill>
                  <a:srgbClr val="1A2A5E"/>
                </a:solidFill>
                <a:latin typeface="Georgia" pitchFamily="34" charset="0"/>
                <a:ea typeface="Georgia" pitchFamily="34" charset="-122"/>
                <a:cs typeface="Georgia" pitchFamily="34" charset="-120"/>
              </a:rPr>
              <a:t>How did you do?</a:t>
            </a:r>
            <a:endParaRPr lang="en-US" sz="4200" dirty="0"/>
          </a:p>
        </p:txBody>
      </p:sp>
      <p:sp>
        <p:nvSpPr>
          <p:cNvPr id="9" name="Shape 7"/>
          <p:cNvSpPr/>
          <p:nvPr/>
        </p:nvSpPr>
        <p:spPr>
          <a:xfrm>
            <a:off x="1047750" y="3276600"/>
            <a:ext cx="2857500" cy="883920"/>
          </a:xfrm>
          <a:prstGeom prst="rect">
            <a:avLst/>
          </a:prstGeom>
          <a:ln w="15240">
            <a:solidFill>
              <a:srgbClr val="1A2A5E"/>
            </a:solidFill>
            <a:prstDash val="solid"/>
          </a:ln>
        </p:spPr>
        <p:txBody>
          <a:bodyPr/>
          <a:lstStyle/>
          <a:p>
            <a:endParaRPr lang="en-US"/>
          </a:p>
        </p:txBody>
      </p:sp>
      <p:sp>
        <p:nvSpPr>
          <p:cNvPr id="10" name="Text 8"/>
          <p:cNvSpPr/>
          <p:nvPr/>
        </p:nvSpPr>
        <p:spPr>
          <a:xfrm>
            <a:off x="1386840"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1–C </a:t>
            </a:r>
            <a:r>
              <a:rPr lang="en-US" sz="2250" b="1" dirty="0">
                <a:solidFill>
                  <a:srgbClr val="1A2A5E"/>
                </a:solidFill>
                <a:latin typeface="Helvetica" pitchFamily="34" charset="0"/>
                <a:ea typeface="Helvetica" pitchFamily="34" charset="-122"/>
                <a:cs typeface="Helvetica" pitchFamily="34" charset="-120"/>
              </a:rPr>
              <a:t>garment</a:t>
            </a:r>
            <a:endParaRPr lang="en-US" sz="1200" dirty="0"/>
          </a:p>
        </p:txBody>
      </p:sp>
      <p:sp>
        <p:nvSpPr>
          <p:cNvPr id="11" name="Shape 9"/>
          <p:cNvSpPr/>
          <p:nvPr/>
        </p:nvSpPr>
        <p:spPr>
          <a:xfrm>
            <a:off x="4152900" y="3276600"/>
            <a:ext cx="2857500" cy="883920"/>
          </a:xfrm>
          <a:prstGeom prst="rect">
            <a:avLst/>
          </a:prstGeom>
          <a:ln w="15240">
            <a:solidFill>
              <a:srgbClr val="1A2A5E"/>
            </a:solidFill>
            <a:prstDash val="solid"/>
          </a:ln>
        </p:spPr>
        <p:txBody>
          <a:bodyPr/>
          <a:lstStyle/>
          <a:p>
            <a:endParaRPr lang="en-US"/>
          </a:p>
        </p:txBody>
      </p:sp>
      <p:sp>
        <p:nvSpPr>
          <p:cNvPr id="12" name="Text 10"/>
          <p:cNvSpPr/>
          <p:nvPr/>
        </p:nvSpPr>
        <p:spPr>
          <a:xfrm>
            <a:off x="4491990"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2–D </a:t>
            </a:r>
            <a:r>
              <a:rPr lang="en-US" sz="2250" b="1" dirty="0">
                <a:solidFill>
                  <a:srgbClr val="1A2A5E"/>
                </a:solidFill>
                <a:latin typeface="Helvetica" pitchFamily="34" charset="0"/>
                <a:ea typeface="Helvetica" pitchFamily="34" charset="-122"/>
                <a:cs typeface="Helvetica" pitchFamily="34" charset="-120"/>
              </a:rPr>
              <a:t>textile</a:t>
            </a:r>
            <a:endParaRPr lang="en-US" sz="1200" dirty="0"/>
          </a:p>
        </p:txBody>
      </p:sp>
      <p:sp>
        <p:nvSpPr>
          <p:cNvPr id="13" name="Shape 11"/>
          <p:cNvSpPr/>
          <p:nvPr/>
        </p:nvSpPr>
        <p:spPr>
          <a:xfrm>
            <a:off x="7258050" y="3276600"/>
            <a:ext cx="2857500" cy="883920"/>
          </a:xfrm>
          <a:prstGeom prst="rect">
            <a:avLst/>
          </a:prstGeom>
          <a:ln w="15240">
            <a:solidFill>
              <a:srgbClr val="1A2A5E"/>
            </a:solidFill>
            <a:prstDash val="solid"/>
          </a:ln>
        </p:spPr>
        <p:txBody>
          <a:bodyPr/>
          <a:lstStyle/>
          <a:p>
            <a:endParaRPr lang="en-US"/>
          </a:p>
        </p:txBody>
      </p:sp>
      <p:sp>
        <p:nvSpPr>
          <p:cNvPr id="14" name="Text 12"/>
          <p:cNvSpPr/>
          <p:nvPr/>
        </p:nvSpPr>
        <p:spPr>
          <a:xfrm>
            <a:off x="7597140"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3–A </a:t>
            </a:r>
            <a:r>
              <a:rPr lang="en-US" sz="2250" b="1" dirty="0">
                <a:solidFill>
                  <a:srgbClr val="1A2A5E"/>
                </a:solidFill>
                <a:latin typeface="Helvetica" pitchFamily="34" charset="0"/>
                <a:ea typeface="Helvetica" pitchFamily="34" charset="-122"/>
                <a:cs typeface="Helvetica" pitchFamily="34" charset="-120"/>
              </a:rPr>
              <a:t>durable</a:t>
            </a:r>
            <a:endParaRPr lang="en-US" sz="1200" dirty="0"/>
          </a:p>
        </p:txBody>
      </p:sp>
      <p:sp>
        <p:nvSpPr>
          <p:cNvPr id="15" name="Shape 13"/>
          <p:cNvSpPr/>
          <p:nvPr/>
        </p:nvSpPr>
        <p:spPr>
          <a:xfrm>
            <a:off x="10363200" y="3276600"/>
            <a:ext cx="3352681" cy="883920"/>
          </a:xfrm>
          <a:prstGeom prst="rect">
            <a:avLst/>
          </a:prstGeom>
          <a:ln w="15240">
            <a:solidFill>
              <a:srgbClr val="1A2A5E"/>
            </a:solidFill>
            <a:prstDash val="solid"/>
          </a:ln>
        </p:spPr>
        <p:txBody>
          <a:bodyPr/>
          <a:lstStyle/>
          <a:p>
            <a:endParaRPr lang="en-US"/>
          </a:p>
        </p:txBody>
      </p:sp>
      <p:sp>
        <p:nvSpPr>
          <p:cNvPr id="16" name="Text 14"/>
          <p:cNvSpPr/>
          <p:nvPr/>
        </p:nvSpPr>
        <p:spPr>
          <a:xfrm>
            <a:off x="10702290" y="3501390"/>
            <a:ext cx="2775082"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4–E </a:t>
            </a:r>
            <a:r>
              <a:rPr lang="en-US" sz="2250" b="1" dirty="0">
                <a:solidFill>
                  <a:srgbClr val="1A2A5E"/>
                </a:solidFill>
                <a:latin typeface="Helvetica" pitchFamily="34" charset="0"/>
                <a:ea typeface="Helvetica" pitchFamily="34" charset="-122"/>
                <a:cs typeface="Helvetica" pitchFamily="34" charset="-120"/>
              </a:rPr>
              <a:t>consumption</a:t>
            </a:r>
            <a:endParaRPr lang="en-US" sz="1200" dirty="0"/>
          </a:p>
        </p:txBody>
      </p:sp>
      <p:sp>
        <p:nvSpPr>
          <p:cNvPr id="17" name="Shape 15"/>
          <p:cNvSpPr/>
          <p:nvPr/>
        </p:nvSpPr>
        <p:spPr>
          <a:xfrm>
            <a:off x="13963531" y="3276600"/>
            <a:ext cx="2857500" cy="883920"/>
          </a:xfrm>
          <a:prstGeom prst="rect">
            <a:avLst/>
          </a:prstGeom>
          <a:ln w="15240">
            <a:solidFill>
              <a:srgbClr val="1A2A5E"/>
            </a:solidFill>
            <a:prstDash val="solid"/>
          </a:ln>
        </p:spPr>
        <p:txBody>
          <a:bodyPr/>
          <a:lstStyle/>
          <a:p>
            <a:endParaRPr lang="en-US"/>
          </a:p>
        </p:txBody>
      </p:sp>
      <p:sp>
        <p:nvSpPr>
          <p:cNvPr id="18" name="Text 16"/>
          <p:cNvSpPr/>
          <p:nvPr/>
        </p:nvSpPr>
        <p:spPr>
          <a:xfrm>
            <a:off x="14302621" y="3501390"/>
            <a:ext cx="2265045" cy="472440"/>
          </a:xfrm>
          <a:prstGeom prst="rect">
            <a:avLst/>
          </a:prstGeom>
          <a:noFill/>
          <a:ln/>
        </p:spPr>
        <p:txBody>
          <a:bodyPr wrap="square" lIns="25400" tIns="25400" rIns="25400" bIns="25400" rtlCol="0" anchor="t">
            <a:normAutofit/>
          </a:bodyPr>
          <a:lstStyle/>
          <a:p>
            <a:pPr marL="0" indent="0" algn="l">
              <a:buNone/>
            </a:pPr>
            <a:r>
              <a:rPr lang="en-US" sz="3000" b="1" dirty="0">
                <a:solidFill>
                  <a:srgbClr val="D9B877"/>
                </a:solidFill>
                <a:latin typeface="Georgia" pitchFamily="34" charset="0"/>
                <a:ea typeface="Georgia" pitchFamily="34" charset="-122"/>
                <a:cs typeface="Georgia" pitchFamily="34" charset="-120"/>
              </a:rPr>
              <a:t>5–B </a:t>
            </a:r>
            <a:r>
              <a:rPr lang="en-US" sz="2250" b="1" dirty="0">
                <a:solidFill>
                  <a:srgbClr val="1A2A5E"/>
                </a:solidFill>
                <a:latin typeface="Helvetica" pitchFamily="34" charset="0"/>
                <a:ea typeface="Helvetica" pitchFamily="34" charset="-122"/>
                <a:cs typeface="Helvetica" pitchFamily="34" charset="-120"/>
              </a:rPr>
              <a:t>dispose</a:t>
            </a:r>
            <a:endParaRPr lang="en-US" sz="12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986790"/>
            <a:ext cx="16192500" cy="22860"/>
          </a:xfrm>
          <a:prstGeom prst="rect">
            <a:avLst/>
          </a:prstGeom>
          <a:solidFill>
            <a:srgbClr val="1A2A5E"/>
          </a:solidFill>
          <a:ln/>
        </p:spPr>
        <p:txBody>
          <a:bodyPr/>
          <a:lstStyle/>
          <a:p>
            <a:endParaRPr lang="en-US"/>
          </a:p>
        </p:txBody>
      </p:sp>
      <p:sp>
        <p:nvSpPr>
          <p:cNvPr id="3" name="Text 1"/>
          <p:cNvSpPr/>
          <p:nvPr/>
        </p:nvSpPr>
        <p:spPr>
          <a:xfrm>
            <a:off x="1047750" y="57150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60579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219200"/>
            <a:ext cx="17811750" cy="236220"/>
          </a:xfrm>
          <a:prstGeom prst="rect">
            <a:avLst/>
          </a:prstGeom>
          <a:noFill/>
          <a:ln/>
        </p:spPr>
        <p:txBody>
          <a:bodyPr wrap="square" lIns="25400" tIns="25400" rIns="25400" bIns="25400" rtlCol="0" anchor="t">
            <a:normAutofit/>
          </a:bodyPr>
          <a:lstStyle/>
          <a:p>
            <a:pPr marL="0" indent="0" algn="l">
              <a:buNone/>
            </a:pPr>
            <a:r>
              <a:rPr lang="en-US" sz="1350" b="1" kern="0" spc="300" dirty="0">
                <a:solidFill>
                  <a:srgbClr val="BF842C"/>
                </a:solidFill>
                <a:latin typeface="Helvetica" pitchFamily="34" charset="0"/>
                <a:ea typeface="Helvetica" pitchFamily="34" charset="-122"/>
                <a:cs typeface="Helvetica" pitchFamily="34" charset="-120"/>
              </a:rPr>
              <a:t>THE ARTICLE</a:t>
            </a:r>
            <a:endParaRPr lang="en-US" sz="1350" dirty="0"/>
          </a:p>
        </p:txBody>
      </p:sp>
      <p:sp>
        <p:nvSpPr>
          <p:cNvPr id="6" name="Text 4"/>
          <p:cNvSpPr/>
          <p:nvPr/>
        </p:nvSpPr>
        <p:spPr>
          <a:xfrm>
            <a:off x="1047750" y="147447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Fast Fashion</a:t>
            </a:r>
            <a:endParaRPr lang="en-US" sz="3750" dirty="0"/>
          </a:p>
        </p:txBody>
      </p:sp>
      <p:sp>
        <p:nvSpPr>
          <p:cNvPr id="7" name="Text 5"/>
          <p:cNvSpPr/>
          <p:nvPr/>
        </p:nvSpPr>
        <p:spPr>
          <a:xfrm>
            <a:off x="1047750" y="2091690"/>
            <a:ext cx="17811750" cy="335280"/>
          </a:xfrm>
          <a:prstGeom prst="rect">
            <a:avLst/>
          </a:prstGeom>
          <a:noFill/>
          <a:ln/>
        </p:spPr>
        <p:txBody>
          <a:bodyPr wrap="square" lIns="25400" tIns="25400" rIns="25400" bIns="25400" rtlCol="0" anchor="t">
            <a:normAutofit/>
          </a:bodyPr>
          <a:lstStyle/>
          <a:p>
            <a:pPr marL="0" indent="0" algn="l">
              <a:buNone/>
            </a:pPr>
            <a:r>
              <a:rPr lang="en-US" sz="2025" b="1" dirty="0">
                <a:solidFill>
                  <a:srgbClr val="1A2A5E"/>
                </a:solidFill>
                <a:latin typeface="Helvetica" pitchFamily="34" charset="0"/>
                <a:ea typeface="Helvetica" pitchFamily="34" charset="-122"/>
                <a:cs typeface="Helvetica" pitchFamily="34" charset="-120"/>
              </a:rPr>
              <a:t>How can clothes be so cheap?</a:t>
            </a:r>
            <a:endParaRPr lang="en-US" sz="2025" dirty="0"/>
          </a:p>
        </p:txBody>
      </p:sp>
      <p:sp>
        <p:nvSpPr>
          <p:cNvPr id="8" name="Shape 6"/>
          <p:cNvSpPr/>
          <p:nvPr/>
        </p:nvSpPr>
        <p:spPr>
          <a:xfrm>
            <a:off x="1047750" y="2522220"/>
            <a:ext cx="609600" cy="38100"/>
          </a:xfrm>
          <a:prstGeom prst="rect">
            <a:avLst/>
          </a:prstGeom>
          <a:solidFill>
            <a:srgbClr val="D9B877"/>
          </a:solidFill>
          <a:ln/>
        </p:spPr>
        <p:txBody>
          <a:bodyPr/>
          <a:lstStyle/>
          <a:p>
            <a:endParaRPr lang="en-US"/>
          </a:p>
        </p:txBody>
      </p:sp>
      <p:sp>
        <p:nvSpPr>
          <p:cNvPr id="9" name="Text 7"/>
          <p:cNvSpPr/>
          <p:nvPr/>
        </p:nvSpPr>
        <p:spPr>
          <a:xfrm>
            <a:off x="1047750" y="2674620"/>
            <a:ext cx="17811750" cy="281940"/>
          </a:xfrm>
          <a:prstGeom prst="rect">
            <a:avLst/>
          </a:prstGeom>
          <a:noFill/>
          <a:ln/>
        </p:spPr>
        <p:txBody>
          <a:bodyPr wrap="square" lIns="25400" tIns="25400" rIns="25400" bIns="25400" rtlCol="0" anchor="t">
            <a:normAutofit/>
          </a:bodyPr>
          <a:lstStyle/>
          <a:p>
            <a:pPr marL="0" indent="0" algn="l">
              <a:buNone/>
            </a:pPr>
            <a:r>
              <a:rPr lang="en-US" sz="1650" i="1" dirty="0">
                <a:solidFill>
                  <a:srgbClr val="555555"/>
                </a:solidFill>
                <a:latin typeface="Helvetica" pitchFamily="34" charset="0"/>
                <a:ea typeface="Helvetica" pitchFamily="34" charset="-122"/>
                <a:cs typeface="Helvetica" pitchFamily="34" charset="-120"/>
              </a:rPr>
              <a:t>A five-dollar T-shirt looks like a bargain — but someone, or something, pays the difference.</a:t>
            </a:r>
            <a:endParaRPr lang="en-US" sz="1650" dirty="0"/>
          </a:p>
        </p:txBody>
      </p:sp>
      <p:sp>
        <p:nvSpPr>
          <p:cNvPr id="10" name="Text 8"/>
          <p:cNvSpPr/>
          <p:nvPr/>
        </p:nvSpPr>
        <p:spPr>
          <a:xfrm>
            <a:off x="1047750" y="3128010"/>
            <a:ext cx="8074247" cy="1278255"/>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A brand-new T-shirt for the price of a coffee sounds like a bargain. In fast-fashion stores, shelves are refilled with cheap new </a:t>
            </a:r>
            <a:r>
              <a:rPr lang="en-US" sz="1650" b="1" dirty="0">
                <a:solidFill>
                  <a:srgbClr val="1A2A5E"/>
                </a:solidFill>
                <a:latin typeface="Helvetica" pitchFamily="34" charset="0"/>
                <a:ea typeface="Helvetica" pitchFamily="34" charset="-122"/>
                <a:cs typeface="Helvetica" pitchFamily="34" charset="-120"/>
              </a:rPr>
              <a:t>garments </a:t>
            </a:r>
            <a:r>
              <a:rPr lang="en-US" sz="1650" dirty="0">
                <a:solidFill>
                  <a:srgbClr val="222222"/>
                </a:solidFill>
                <a:latin typeface="Helvetica" pitchFamily="34" charset="0"/>
                <a:ea typeface="Helvetica" pitchFamily="34" charset="-122"/>
                <a:cs typeface="Helvetica" pitchFamily="34" charset="-120"/>
              </a:rPr>
              <a:t>almost every week, and shoppers are encouraged to buy far more than they need. But behind that five-dollar price tag lies a hidden cost that never appears on the receipt.</a:t>
            </a:r>
            <a:endParaRPr lang="en-US" sz="1650" dirty="0"/>
          </a:p>
        </p:txBody>
      </p:sp>
      <p:sp>
        <p:nvSpPr>
          <p:cNvPr id="11" name="Text 9"/>
          <p:cNvSpPr/>
          <p:nvPr/>
        </p:nvSpPr>
        <p:spPr>
          <a:xfrm>
            <a:off x="1047750" y="4876800"/>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Fast fashion means clothing designed, made, and sold at astonishing speed. To keep prices low, factories use cheap </a:t>
            </a:r>
            <a:r>
              <a:rPr lang="en-US" sz="1650" b="1" dirty="0">
                <a:solidFill>
                  <a:srgbClr val="1A2A5E"/>
                </a:solidFill>
                <a:latin typeface="Helvetica" pitchFamily="34" charset="0"/>
                <a:ea typeface="Helvetica" pitchFamily="34" charset="-122"/>
                <a:cs typeface="Helvetica" pitchFamily="34" charset="-120"/>
              </a:rPr>
              <a:t>textiles </a:t>
            </a:r>
            <a:r>
              <a:rPr lang="en-US" sz="1650" dirty="0">
                <a:solidFill>
                  <a:srgbClr val="222222"/>
                </a:solidFill>
                <a:latin typeface="Helvetica" pitchFamily="34" charset="0"/>
                <a:ea typeface="Helvetica" pitchFamily="34" charset="-122"/>
                <a:cs typeface="Helvetica" pitchFamily="34" charset="-120"/>
              </a:rPr>
              <a:t>and rushed labour, often where wages are small. The clothes are rarely </a:t>
            </a:r>
            <a:r>
              <a:rPr lang="en-US" sz="1650" b="1" dirty="0">
                <a:solidFill>
                  <a:srgbClr val="1A2A5E"/>
                </a:solidFill>
                <a:latin typeface="Helvetica" pitchFamily="34" charset="0"/>
                <a:ea typeface="Helvetica" pitchFamily="34" charset="-122"/>
                <a:cs typeface="Helvetica" pitchFamily="34" charset="-120"/>
              </a:rPr>
              <a:t>durable </a:t>
            </a:r>
            <a:r>
              <a:rPr lang="en-US" sz="1650" dirty="0">
                <a:solidFill>
                  <a:srgbClr val="222222"/>
                </a:solidFill>
                <a:latin typeface="Helvetica" pitchFamily="34" charset="0"/>
                <a:ea typeface="Helvetica" pitchFamily="34" charset="-122"/>
                <a:cs typeface="Helvetica" pitchFamily="34" charset="-120"/>
              </a:rPr>
              <a:t>; a shirt worn a few times may lose its shape and be thrown out within a single season.</a:t>
            </a:r>
            <a:endParaRPr lang="en-US" sz="1650" dirty="0"/>
          </a:p>
        </p:txBody>
      </p:sp>
      <p:sp>
        <p:nvSpPr>
          <p:cNvPr id="12" name="Text 10"/>
          <p:cNvSpPr/>
          <p:nvPr/>
        </p:nvSpPr>
        <p:spPr>
          <a:xfrm>
            <a:off x="9401175" y="3128010"/>
            <a:ext cx="8074247" cy="1278255"/>
          </a:xfrm>
          <a:prstGeom prst="rect">
            <a:avLst/>
          </a:prstGeom>
          <a:noFill/>
          <a:ln/>
        </p:spPr>
        <p:txBody>
          <a:bodyPr wrap="square" lIns="25400" tIns="25400" rIns="25400" bIns="25400" rtlCol="0" anchor="t">
            <a:norm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The numbers are staggering. Making a single cotton T-shirt can use around 2,700 litres of water — enough for one person to drink for years. Around the world, a rubbish truck full of clothing is burned or buried every second. This constant </a:t>
            </a:r>
            <a:r>
              <a:rPr lang="en-US" sz="1650" b="1" dirty="0">
                <a:solidFill>
                  <a:srgbClr val="1A2A5E"/>
                </a:solidFill>
                <a:latin typeface="Helvetica" pitchFamily="34" charset="0"/>
                <a:ea typeface="Helvetica" pitchFamily="34" charset="-122"/>
                <a:cs typeface="Helvetica" pitchFamily="34" charset="-120"/>
              </a:rPr>
              <a:t>consumption </a:t>
            </a:r>
            <a:r>
              <a:rPr lang="en-US" sz="1650" dirty="0">
                <a:solidFill>
                  <a:srgbClr val="222222"/>
                </a:solidFill>
                <a:latin typeface="Helvetica" pitchFamily="34" charset="0"/>
                <a:ea typeface="Helvetica" pitchFamily="34" charset="-122"/>
                <a:cs typeface="Helvetica" pitchFamily="34" charset="-120"/>
              </a:rPr>
              <a:t>has made fashion one of the most polluting industries on Earth.</a:t>
            </a:r>
            <a:endParaRPr lang="en-US" sz="1650" dirty="0"/>
          </a:p>
        </p:txBody>
      </p:sp>
      <p:sp>
        <p:nvSpPr>
          <p:cNvPr id="13" name="Text 11"/>
          <p:cNvSpPr/>
          <p:nvPr/>
        </p:nvSpPr>
        <p:spPr>
          <a:xfrm>
            <a:off x="9437478" y="4877568"/>
            <a:ext cx="8074247" cy="1278255"/>
          </a:xfrm>
          <a:prstGeom prst="rect">
            <a:avLst/>
          </a:prstGeom>
          <a:noFill/>
          <a:ln/>
        </p:spPr>
        <p:txBody>
          <a:bodyPr wrap="square" lIns="25400" tIns="25400" rIns="25400" bIns="25400" rtlCol="0" anchor="t">
            <a:noAutofit/>
          </a:bodyPr>
          <a:lstStyle/>
          <a:p>
            <a:pPr marL="0" indent="0" algn="l">
              <a:lnSpc>
                <a:spcPct val="148000"/>
              </a:lnSpc>
              <a:buNone/>
            </a:pPr>
            <a:r>
              <a:rPr lang="en-US" sz="1650" dirty="0">
                <a:solidFill>
                  <a:srgbClr val="222222"/>
                </a:solidFill>
                <a:latin typeface="Helvetica" pitchFamily="34" charset="0"/>
                <a:ea typeface="Helvetica" pitchFamily="34" charset="-122"/>
                <a:cs typeface="Helvetica" pitchFamily="34" charset="-120"/>
              </a:rPr>
              <a:t>Change, though, is within reach. A growing number of shoppers now </a:t>
            </a:r>
            <a:r>
              <a:rPr lang="en-US" sz="1650" b="1" dirty="0">
                <a:solidFill>
                  <a:srgbClr val="1A2A5E"/>
                </a:solidFill>
                <a:latin typeface="Helvetica" pitchFamily="34" charset="0"/>
                <a:ea typeface="Helvetica" pitchFamily="34" charset="-122"/>
                <a:cs typeface="Helvetica" pitchFamily="34" charset="-120"/>
              </a:rPr>
              <a:t>dispose </a:t>
            </a:r>
            <a:r>
              <a:rPr lang="en-US" sz="1650" dirty="0">
                <a:solidFill>
                  <a:srgbClr val="222222"/>
                </a:solidFill>
                <a:latin typeface="Helvetica" pitchFamily="34" charset="0"/>
                <a:ea typeface="Helvetica" pitchFamily="34" charset="-122"/>
                <a:cs typeface="Helvetica" pitchFamily="34" charset="-120"/>
              </a:rPr>
              <a:t>of far less by buying second-hand, repairing what they own, or simply choosing fewer, better-made pieces. Owning ten quality items you love may bring more satisfaction than a hundred that fall apart.</a:t>
            </a:r>
            <a:endParaRPr lang="en-US" sz="1650" dirty="0"/>
          </a:p>
        </p:txBody>
      </p:sp>
      <p:sp>
        <p:nvSpPr>
          <p:cNvPr id="14" name="Shape 12"/>
          <p:cNvSpPr/>
          <p:nvPr/>
        </p:nvSpPr>
        <p:spPr>
          <a:xfrm>
            <a:off x="1047750" y="7459980"/>
            <a:ext cx="45720" cy="421005"/>
          </a:xfrm>
          <a:prstGeom prst="rect">
            <a:avLst/>
          </a:prstGeom>
          <a:solidFill>
            <a:srgbClr val="D9B877"/>
          </a:solidFill>
          <a:ln/>
        </p:spPr>
        <p:txBody>
          <a:bodyPr/>
          <a:lstStyle/>
          <a:p>
            <a:endParaRPr lang="en-US"/>
          </a:p>
        </p:txBody>
      </p:sp>
      <p:sp>
        <p:nvSpPr>
          <p:cNvPr id="15" name="Text 13"/>
          <p:cNvSpPr/>
          <p:nvPr/>
        </p:nvSpPr>
        <p:spPr>
          <a:xfrm>
            <a:off x="1360170" y="7459980"/>
            <a:ext cx="14356080" cy="459105"/>
          </a:xfrm>
          <a:prstGeom prst="rect">
            <a:avLst/>
          </a:prstGeom>
          <a:noFill/>
          <a:ln/>
        </p:spPr>
        <p:txBody>
          <a:bodyPr wrap="square" lIns="25400" tIns="25400" rIns="25400" bIns="25400" rtlCol="0" anchor="t">
            <a:normAutofit fontScale="92500" lnSpcReduction="10000"/>
          </a:bodyPr>
          <a:lstStyle/>
          <a:p>
            <a:pPr marL="0" indent="0" algn="l">
              <a:lnSpc>
                <a:spcPct val="130000"/>
              </a:lnSpc>
              <a:buNone/>
            </a:pPr>
            <a:r>
              <a:rPr lang="en-US" sz="2550" b="1" i="1" dirty="0">
                <a:solidFill>
                  <a:srgbClr val="1A2A5E"/>
                </a:solidFill>
                <a:latin typeface="Georgia" pitchFamily="34" charset="0"/>
                <a:ea typeface="Georgia" pitchFamily="34" charset="-122"/>
                <a:cs typeface="Georgia" pitchFamily="34" charset="-120"/>
              </a:rPr>
              <a:t>If a T-shirt costs only five dollars, who — or what — is paying the difference?</a:t>
            </a:r>
            <a:endParaRPr lang="en-US" sz="2550" dirty="0"/>
          </a:p>
        </p:txBody>
      </p:sp>
      <p:sp>
        <p:nvSpPr>
          <p:cNvPr id="16" name="Text 14"/>
          <p:cNvSpPr/>
          <p:nvPr/>
        </p:nvSpPr>
        <p:spPr>
          <a:xfrm>
            <a:off x="1047750" y="952500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pic>
        <p:nvPicPr>
          <p:cNvPr id="17" name="issue004-audio">
            <a:hlinkClick r:id="" action="ppaction://media"/>
            <a:extLst>
              <a:ext uri="{FF2B5EF4-FFF2-40B4-BE49-F238E27FC236}">
                <a16:creationId xmlns:a16="http://schemas.microsoft.com/office/drawing/2014/main" id="{F5DF33BC-74FF-D195-5AF9-C88FBD6E3FA0}"/>
              </a:ext>
            </a:extLst>
          </p:cNvPr>
          <p:cNvPicPr>
            <a:picLocks noChangeAspect="1"/>
          </p:cNvPicPr>
          <p:nvPr>
            <a:audioFile r:link="rId2"/>
            <p:extLst>
              <p:ext uri="{DAA4B4D4-6D71-4841-9C94-3DE7FCFB9230}">
                <p14:media xmlns:p14="http://schemas.microsoft.com/office/powerpoint/2010/main" r:embed="rId1"/>
              </p:ext>
            </p:extLst>
          </p:nvPr>
        </p:nvPicPr>
        <p:blipFill>
          <a:blip r:embed="rId5"/>
          <a:stretch>
            <a:fillRect/>
          </a:stretch>
        </p:blipFill>
        <p:spPr>
          <a:xfrm>
            <a:off x="6496844" y="1459388"/>
            <a:ext cx="487362" cy="487363"/>
          </a:xfrm>
          <a:prstGeom prst="rect">
            <a:avLst/>
          </a:prstGeom>
        </p:spPr>
      </p:pic>
    </p:spTree>
  </p:cSld>
  <p:clrMapOvr>
    <a:masterClrMapping/>
  </p:clrMapOvr>
  <p:timing>
    <p:tnLst>
      <p:par>
        <p:cTn id="1" dur="indefinite" restart="never" nodeType="tmRoot">
          <p:childTnLst>
            <p:audio>
              <p:cMediaNode vol="80000">
                <p:cTn id="2" fill="hold" display="0">
                  <p:stCondLst>
                    <p:cond delay="indefinite"/>
                  </p:stCondLst>
                  <p:endCondLst>
                    <p:cond evt="onStopAudio" delay="0">
                      <p:tgtEl>
                        <p:sldTgt/>
                      </p:tgtEl>
                    </p:cond>
                  </p:endCondLst>
                </p:cTn>
                <p:tgtEl>
                  <p:spTgt spid="17"/>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Text 4"/>
          <p:cNvSpPr/>
          <p:nvPr/>
        </p:nvSpPr>
        <p:spPr>
          <a:xfrm>
            <a:off x="1047750" y="1821180"/>
            <a:ext cx="17811750" cy="624840"/>
          </a:xfrm>
          <a:prstGeom prst="rect">
            <a:avLst/>
          </a:prstGeom>
          <a:noFill/>
          <a:ln/>
        </p:spPr>
        <p:txBody>
          <a:bodyPr wrap="square" lIns="25400" tIns="25400" rIns="25400" bIns="25400" rtlCol="0" anchor="t">
            <a:normAutofit/>
          </a:bodyPr>
          <a:lstStyle/>
          <a:p>
            <a:pPr marL="0" indent="0" algn="l">
              <a:buNone/>
            </a:pPr>
            <a:r>
              <a:rPr lang="en-US" sz="4050" b="1" dirty="0">
                <a:solidFill>
                  <a:srgbClr val="1A2A5E"/>
                </a:solidFill>
                <a:latin typeface="Georgia" pitchFamily="34" charset="0"/>
                <a:ea typeface="Georgia" pitchFamily="34" charset="-122"/>
                <a:cs typeface="Georgia" pitchFamily="34" charset="-120"/>
              </a:rPr>
              <a:t>True or False?</a:t>
            </a:r>
            <a:endParaRPr lang="en-US" sz="4050" dirty="0"/>
          </a:p>
        </p:txBody>
      </p:sp>
      <p:sp>
        <p:nvSpPr>
          <p:cNvPr id="7" name="Shape 5"/>
          <p:cNvSpPr/>
          <p:nvPr/>
        </p:nvSpPr>
        <p:spPr>
          <a:xfrm>
            <a:off x="1047750" y="3402330"/>
            <a:ext cx="14763750" cy="9525"/>
          </a:xfrm>
          <a:prstGeom prst="rect">
            <a:avLst/>
          </a:prstGeom>
          <a:solidFill>
            <a:srgbClr val="E3E1DB"/>
          </a:solidFill>
          <a:ln/>
        </p:spPr>
        <p:txBody>
          <a:bodyPr/>
          <a:lstStyle/>
          <a:p>
            <a:endParaRPr lang="en-US"/>
          </a:p>
        </p:txBody>
      </p:sp>
      <p:sp>
        <p:nvSpPr>
          <p:cNvPr id="8" name="Text 6"/>
          <p:cNvSpPr/>
          <p:nvPr/>
        </p:nvSpPr>
        <p:spPr>
          <a:xfrm>
            <a:off x="1047750" y="284607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676400" y="286893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Making one cotton T-shirt can use around 2,700 litres of water.</a:t>
            </a:r>
            <a:endParaRPr lang="en-US" sz="2175" dirty="0"/>
          </a:p>
        </p:txBody>
      </p:sp>
      <p:sp>
        <p:nvSpPr>
          <p:cNvPr id="10" name="Text 8"/>
          <p:cNvSpPr/>
          <p:nvPr/>
        </p:nvSpPr>
        <p:spPr>
          <a:xfrm>
            <a:off x="14997469" y="285369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1" name="Shape 9"/>
          <p:cNvSpPr/>
          <p:nvPr/>
        </p:nvSpPr>
        <p:spPr>
          <a:xfrm>
            <a:off x="1047750" y="4175760"/>
            <a:ext cx="14763750" cy="9525"/>
          </a:xfrm>
          <a:prstGeom prst="rect">
            <a:avLst/>
          </a:prstGeom>
          <a:solidFill>
            <a:srgbClr val="E3E1DB"/>
          </a:solidFill>
          <a:ln/>
        </p:spPr>
        <p:txBody>
          <a:bodyPr/>
          <a:lstStyle/>
          <a:p>
            <a:endParaRPr lang="en-US"/>
          </a:p>
        </p:txBody>
      </p:sp>
      <p:sp>
        <p:nvSpPr>
          <p:cNvPr id="12" name="Text 10"/>
          <p:cNvSpPr/>
          <p:nvPr/>
        </p:nvSpPr>
        <p:spPr>
          <a:xfrm>
            <a:off x="1047750" y="361950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3" name="Text 11"/>
          <p:cNvSpPr/>
          <p:nvPr/>
        </p:nvSpPr>
        <p:spPr>
          <a:xfrm>
            <a:off x="1676400" y="364236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Fast-fashion clothes are usually made to last for many years.</a:t>
            </a:r>
            <a:endParaRPr lang="en-US" sz="2175" dirty="0"/>
          </a:p>
        </p:txBody>
      </p:sp>
      <p:sp>
        <p:nvSpPr>
          <p:cNvPr id="14" name="Text 12"/>
          <p:cNvSpPr/>
          <p:nvPr/>
        </p:nvSpPr>
        <p:spPr>
          <a:xfrm>
            <a:off x="14997469" y="362712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5" name="Shape 13"/>
          <p:cNvSpPr/>
          <p:nvPr/>
        </p:nvSpPr>
        <p:spPr>
          <a:xfrm>
            <a:off x="1047750" y="4949190"/>
            <a:ext cx="14763750" cy="9525"/>
          </a:xfrm>
          <a:prstGeom prst="rect">
            <a:avLst/>
          </a:prstGeom>
          <a:solidFill>
            <a:srgbClr val="E3E1DB"/>
          </a:solidFill>
          <a:ln/>
        </p:spPr>
        <p:txBody>
          <a:bodyPr/>
          <a:lstStyle/>
          <a:p>
            <a:endParaRPr lang="en-US"/>
          </a:p>
        </p:txBody>
      </p:sp>
      <p:sp>
        <p:nvSpPr>
          <p:cNvPr id="16" name="Text 14"/>
          <p:cNvSpPr/>
          <p:nvPr/>
        </p:nvSpPr>
        <p:spPr>
          <a:xfrm>
            <a:off x="1047750" y="439293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7" name="Text 15"/>
          <p:cNvSpPr/>
          <p:nvPr/>
        </p:nvSpPr>
        <p:spPr>
          <a:xfrm>
            <a:off x="1676400" y="441579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A truckload of clothing is thrown away or burned every second.</a:t>
            </a:r>
            <a:endParaRPr lang="en-US" sz="2175" dirty="0"/>
          </a:p>
        </p:txBody>
      </p:sp>
      <p:sp>
        <p:nvSpPr>
          <p:cNvPr id="18" name="Text 16"/>
          <p:cNvSpPr/>
          <p:nvPr/>
        </p:nvSpPr>
        <p:spPr>
          <a:xfrm>
            <a:off x="14997469" y="440055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19" name="Shape 17"/>
          <p:cNvSpPr/>
          <p:nvPr/>
        </p:nvSpPr>
        <p:spPr>
          <a:xfrm>
            <a:off x="1047750" y="5722620"/>
            <a:ext cx="14763750" cy="9525"/>
          </a:xfrm>
          <a:prstGeom prst="rect">
            <a:avLst/>
          </a:prstGeom>
          <a:solidFill>
            <a:srgbClr val="E3E1DB"/>
          </a:solidFill>
          <a:ln/>
        </p:spPr>
        <p:txBody>
          <a:bodyPr/>
          <a:lstStyle/>
          <a:p>
            <a:endParaRPr lang="en-US"/>
          </a:p>
        </p:txBody>
      </p:sp>
      <p:sp>
        <p:nvSpPr>
          <p:cNvPr id="20" name="Text 18"/>
          <p:cNvSpPr/>
          <p:nvPr/>
        </p:nvSpPr>
        <p:spPr>
          <a:xfrm>
            <a:off x="1047750" y="516636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21" name="Text 19"/>
          <p:cNvSpPr/>
          <p:nvPr/>
        </p:nvSpPr>
        <p:spPr>
          <a:xfrm>
            <a:off x="1676400" y="518922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Fast fashion is one of the world’s cleanest industries.</a:t>
            </a:r>
            <a:endParaRPr lang="en-US" sz="2175" dirty="0"/>
          </a:p>
        </p:txBody>
      </p:sp>
      <p:sp>
        <p:nvSpPr>
          <p:cNvPr id="22" name="Text 20"/>
          <p:cNvSpPr/>
          <p:nvPr/>
        </p:nvSpPr>
        <p:spPr>
          <a:xfrm>
            <a:off x="14997469" y="517398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3" name="Text 21"/>
          <p:cNvSpPr/>
          <p:nvPr/>
        </p:nvSpPr>
        <p:spPr>
          <a:xfrm>
            <a:off x="1047750" y="5939790"/>
            <a:ext cx="457200"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4" name="Text 22"/>
          <p:cNvSpPr/>
          <p:nvPr/>
        </p:nvSpPr>
        <p:spPr>
          <a:xfrm>
            <a:off x="1676400" y="5962650"/>
            <a:ext cx="14380761" cy="358140"/>
          </a:xfrm>
          <a:prstGeom prst="rect">
            <a:avLst/>
          </a:prstGeom>
          <a:noFill/>
          <a:ln/>
        </p:spPr>
        <p:txBody>
          <a:bodyPr wrap="square" lIns="25400" tIns="25400" rIns="25400" bIns="25400" rtlCol="0" anchor="t">
            <a:normAutofit/>
          </a:bodyPr>
          <a:lstStyle/>
          <a:p>
            <a:pPr marL="0" indent="0" algn="l">
              <a:buNone/>
            </a:pPr>
            <a:r>
              <a:rPr lang="en-US" sz="2175" dirty="0">
                <a:solidFill>
                  <a:srgbClr val="1A1A1A"/>
                </a:solidFill>
                <a:latin typeface="Helvetica" pitchFamily="34" charset="0"/>
                <a:ea typeface="Helvetica" pitchFamily="34" charset="-122"/>
                <a:cs typeface="Helvetica" pitchFamily="34" charset="-120"/>
              </a:rPr>
              <a:t>Buying second-hand is one way to waste less.</a:t>
            </a:r>
            <a:endParaRPr lang="en-US" sz="2175" dirty="0"/>
          </a:p>
        </p:txBody>
      </p:sp>
      <p:sp>
        <p:nvSpPr>
          <p:cNvPr id="25" name="Text 23"/>
          <p:cNvSpPr/>
          <p:nvPr/>
        </p:nvSpPr>
        <p:spPr>
          <a:xfrm>
            <a:off x="14997469" y="5947410"/>
            <a:ext cx="890230" cy="388620"/>
          </a:xfrm>
          <a:prstGeom prst="rect">
            <a:avLst/>
          </a:prstGeom>
          <a:noFill/>
          <a:ln/>
        </p:spPr>
        <p:txBody>
          <a:bodyPr wrap="square" lIns="25400" tIns="25400" rIns="25400" bIns="25400" rtlCol="0" anchor="t">
            <a:normAutofit/>
          </a:bodyPr>
          <a:lstStyle/>
          <a:p>
            <a:pPr marL="0" indent="0" algn="l">
              <a:buNone/>
            </a:pPr>
            <a:r>
              <a:rPr lang="en-US" sz="1950" b="1" kern="0" spc="600" dirty="0">
                <a:solidFill>
                  <a:srgbClr val="1A2A5E"/>
                </a:solidFill>
                <a:latin typeface="Helvetica" pitchFamily="34" charset="0"/>
                <a:ea typeface="Helvetica" pitchFamily="34" charset="-122"/>
                <a:cs typeface="Helvetica" pitchFamily="34" charset="-120"/>
              </a:rPr>
              <a:t>T F</a:t>
            </a:r>
            <a:endParaRPr lang="en-US" sz="1950" dirty="0"/>
          </a:p>
        </p:txBody>
      </p:sp>
      <p:sp>
        <p:nvSpPr>
          <p:cNvPr id="26" name="Text 24"/>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38300"/>
            <a:ext cx="2419386"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COMPREHENSION</a:t>
            </a:r>
            <a:endParaRPr lang="en-US" sz="1500" dirty="0"/>
          </a:p>
        </p:txBody>
      </p:sp>
      <p:sp>
        <p:nvSpPr>
          <p:cNvPr id="6" name="Shape 4"/>
          <p:cNvSpPr/>
          <p:nvPr/>
        </p:nvSpPr>
        <p:spPr>
          <a:xfrm>
            <a:off x="3456742" y="1543050"/>
            <a:ext cx="1601272" cy="388620"/>
          </a:xfrm>
          <a:prstGeom prst="rect">
            <a:avLst/>
          </a:prstGeom>
          <a:solidFill>
            <a:srgbClr val="1A2A5E"/>
          </a:solidFill>
          <a:ln/>
        </p:spPr>
        <p:txBody>
          <a:bodyPr/>
          <a:lstStyle/>
          <a:p>
            <a:endParaRPr lang="en-US"/>
          </a:p>
        </p:txBody>
      </p:sp>
      <p:sp>
        <p:nvSpPr>
          <p:cNvPr id="7" name="Text 5"/>
          <p:cNvSpPr/>
          <p:nvPr/>
        </p:nvSpPr>
        <p:spPr>
          <a:xfrm>
            <a:off x="3628192" y="1600200"/>
            <a:ext cx="1334572"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ANSWERS</a:t>
            </a:r>
            <a:endParaRPr lang="en-US" sz="1500" dirty="0"/>
          </a:p>
        </p:txBody>
      </p:sp>
      <p:sp>
        <p:nvSpPr>
          <p:cNvPr id="8" name="Text 6"/>
          <p:cNvSpPr/>
          <p:nvPr/>
        </p:nvSpPr>
        <p:spPr>
          <a:xfrm>
            <a:off x="1047750" y="206502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True or False?</a:t>
            </a:r>
            <a:endParaRPr lang="en-US" sz="3900" dirty="0"/>
          </a:p>
        </p:txBody>
      </p:sp>
      <p:sp>
        <p:nvSpPr>
          <p:cNvPr id="9" name="Text 7"/>
          <p:cNvSpPr/>
          <p:nvPr/>
        </p:nvSpPr>
        <p:spPr>
          <a:xfrm>
            <a:off x="1047750" y="302514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0" name="Text 8"/>
          <p:cNvSpPr/>
          <p:nvPr/>
        </p:nvSpPr>
        <p:spPr>
          <a:xfrm>
            <a:off x="1676400" y="300990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1" name="Text 9"/>
          <p:cNvSpPr/>
          <p:nvPr/>
        </p:nvSpPr>
        <p:spPr>
          <a:xfrm>
            <a:off x="2952750" y="304419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Making one cotton T-shirt can use around 2,700 litres of water.</a:t>
            </a:r>
            <a:endParaRPr lang="en-US" sz="1950" dirty="0"/>
          </a:p>
        </p:txBody>
      </p:sp>
      <p:sp>
        <p:nvSpPr>
          <p:cNvPr id="12" name="Text 10"/>
          <p:cNvSpPr/>
          <p:nvPr/>
        </p:nvSpPr>
        <p:spPr>
          <a:xfrm>
            <a:off x="1047750" y="354711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3" name="Text 11"/>
          <p:cNvSpPr/>
          <p:nvPr/>
        </p:nvSpPr>
        <p:spPr>
          <a:xfrm>
            <a:off x="1676400" y="353187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14" name="Text 12"/>
          <p:cNvSpPr/>
          <p:nvPr/>
        </p:nvSpPr>
        <p:spPr>
          <a:xfrm>
            <a:off x="2952750" y="356616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Fast-fashion clothes are usually made to last for many years. </a:t>
            </a:r>
            <a:r>
              <a:rPr lang="en-US" sz="1950" i="1" dirty="0">
                <a:solidFill>
                  <a:srgbClr val="888888"/>
                </a:solidFill>
                <a:latin typeface="Helvetica" pitchFamily="34" charset="0"/>
                <a:ea typeface="Helvetica" pitchFamily="34" charset="-122"/>
                <a:cs typeface="Helvetica" pitchFamily="34" charset="-120"/>
              </a:rPr>
              <a:t>— rarely durable.</a:t>
            </a:r>
            <a:endParaRPr lang="en-US" sz="1950" dirty="0"/>
          </a:p>
        </p:txBody>
      </p:sp>
      <p:sp>
        <p:nvSpPr>
          <p:cNvPr id="15" name="Text 13"/>
          <p:cNvSpPr/>
          <p:nvPr/>
        </p:nvSpPr>
        <p:spPr>
          <a:xfrm>
            <a:off x="1047750" y="406908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6" name="Text 14"/>
          <p:cNvSpPr/>
          <p:nvPr/>
        </p:nvSpPr>
        <p:spPr>
          <a:xfrm>
            <a:off x="1676400" y="405384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17" name="Text 15"/>
          <p:cNvSpPr/>
          <p:nvPr/>
        </p:nvSpPr>
        <p:spPr>
          <a:xfrm>
            <a:off x="2952750" y="408813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A truckload of clothing is thrown away or burned every second.</a:t>
            </a:r>
            <a:endParaRPr lang="en-US" sz="1950" dirty="0"/>
          </a:p>
        </p:txBody>
      </p:sp>
      <p:sp>
        <p:nvSpPr>
          <p:cNvPr id="18" name="Text 16"/>
          <p:cNvSpPr/>
          <p:nvPr/>
        </p:nvSpPr>
        <p:spPr>
          <a:xfrm>
            <a:off x="1047750" y="459105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19" name="Text 17"/>
          <p:cNvSpPr/>
          <p:nvPr/>
        </p:nvSpPr>
        <p:spPr>
          <a:xfrm>
            <a:off x="1676400" y="457581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B0392F"/>
                </a:solidFill>
                <a:latin typeface="Helvetica" pitchFamily="34" charset="0"/>
                <a:ea typeface="Helvetica" pitchFamily="34" charset="-122"/>
                <a:cs typeface="Helvetica" pitchFamily="34" charset="-120"/>
              </a:rPr>
              <a:t>FALSE</a:t>
            </a:r>
            <a:endParaRPr lang="en-US" sz="1950" dirty="0"/>
          </a:p>
        </p:txBody>
      </p:sp>
      <p:sp>
        <p:nvSpPr>
          <p:cNvPr id="20" name="Text 18"/>
          <p:cNvSpPr/>
          <p:nvPr/>
        </p:nvSpPr>
        <p:spPr>
          <a:xfrm>
            <a:off x="2952750" y="461010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Fast fashion is one of the world’s cleanest industries. </a:t>
            </a:r>
            <a:r>
              <a:rPr lang="en-US" sz="1950" i="1" dirty="0">
                <a:solidFill>
                  <a:srgbClr val="888888"/>
                </a:solidFill>
                <a:latin typeface="Helvetica" pitchFamily="34" charset="0"/>
                <a:ea typeface="Helvetica" pitchFamily="34" charset="-122"/>
                <a:cs typeface="Helvetica" pitchFamily="34" charset="-120"/>
              </a:rPr>
              <a:t>— one of the most polluting.</a:t>
            </a:r>
            <a:endParaRPr lang="en-US" sz="1950" dirty="0"/>
          </a:p>
        </p:txBody>
      </p:sp>
      <p:sp>
        <p:nvSpPr>
          <p:cNvPr id="21" name="Text 19"/>
          <p:cNvSpPr/>
          <p:nvPr/>
        </p:nvSpPr>
        <p:spPr>
          <a:xfrm>
            <a:off x="1047750" y="5113020"/>
            <a:ext cx="45720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2" name="Text 20"/>
          <p:cNvSpPr/>
          <p:nvPr/>
        </p:nvSpPr>
        <p:spPr>
          <a:xfrm>
            <a:off x="1676400" y="5097780"/>
            <a:ext cx="1104900" cy="388620"/>
          </a:xfrm>
          <a:prstGeom prst="rect">
            <a:avLst/>
          </a:prstGeom>
          <a:noFill/>
          <a:ln/>
        </p:spPr>
        <p:txBody>
          <a:bodyPr wrap="none" lIns="25400" tIns="25400" rIns="25400" bIns="25400" rtlCol="0" anchor="t">
            <a:normAutofit/>
          </a:bodyPr>
          <a:lstStyle/>
          <a:p>
            <a:pPr marL="0" indent="0" algn="l">
              <a:buNone/>
            </a:pPr>
            <a:r>
              <a:rPr lang="en-US" sz="1950" b="1" dirty="0">
                <a:solidFill>
                  <a:srgbClr val="1A7A4A"/>
                </a:solidFill>
                <a:latin typeface="Helvetica" pitchFamily="34" charset="0"/>
                <a:ea typeface="Helvetica" pitchFamily="34" charset="-122"/>
                <a:cs typeface="Helvetica" pitchFamily="34" charset="-120"/>
              </a:rPr>
              <a:t>TRUE</a:t>
            </a:r>
            <a:endParaRPr lang="en-US" sz="1950" dirty="0"/>
          </a:p>
        </p:txBody>
      </p:sp>
      <p:sp>
        <p:nvSpPr>
          <p:cNvPr id="23" name="Text 21"/>
          <p:cNvSpPr/>
          <p:nvPr/>
        </p:nvSpPr>
        <p:spPr>
          <a:xfrm>
            <a:off x="2952750" y="5132070"/>
            <a:ext cx="14144625" cy="320040"/>
          </a:xfrm>
          <a:prstGeom prst="rect">
            <a:avLst/>
          </a:prstGeom>
          <a:noFill/>
          <a:ln/>
        </p:spPr>
        <p:txBody>
          <a:bodyPr wrap="square" lIns="25400" tIns="25400" rIns="25400" bIns="25400" rtlCol="0" anchor="t">
            <a:normAutofit/>
          </a:bodyPr>
          <a:lstStyle/>
          <a:p>
            <a:pPr marL="0" indent="0" algn="l">
              <a:buNone/>
            </a:pPr>
            <a:r>
              <a:rPr lang="en-US" sz="1950" dirty="0">
                <a:solidFill>
                  <a:srgbClr val="444444"/>
                </a:solidFill>
                <a:latin typeface="Helvetica" pitchFamily="34" charset="0"/>
                <a:ea typeface="Helvetica" pitchFamily="34" charset="-122"/>
                <a:cs typeface="Helvetica" pitchFamily="34" charset="-120"/>
              </a:rPr>
              <a:t>Buying second-hand is one way to waste less.</a:t>
            </a:r>
            <a:endParaRPr lang="en-US" sz="19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4">
    <p:bg>
      <p:bgPr>
        <a:solidFill>
          <a:srgbClr val="1A2A5E"/>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D9B877"/>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FFFFFF"/>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D9B877"/>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4668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D9B877"/>
                </a:solidFill>
                <a:latin typeface="Helvetica" pitchFamily="34" charset="0"/>
                <a:ea typeface="Helvetica" pitchFamily="34" charset="-122"/>
                <a:cs typeface="Helvetica" pitchFamily="34" charset="-120"/>
              </a:rPr>
              <a:t>DISCUSSION</a:t>
            </a:r>
            <a:endParaRPr lang="en-US" sz="1500" dirty="0"/>
          </a:p>
        </p:txBody>
      </p:sp>
      <p:sp>
        <p:nvSpPr>
          <p:cNvPr id="6" name="Text 4"/>
          <p:cNvSpPr/>
          <p:nvPr/>
        </p:nvSpPr>
        <p:spPr>
          <a:xfrm>
            <a:off x="1047750" y="176403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FFFFFF"/>
                </a:solidFill>
                <a:latin typeface="Georgia" pitchFamily="34" charset="0"/>
                <a:ea typeface="Georgia" pitchFamily="34" charset="-122"/>
                <a:cs typeface="Georgia" pitchFamily="34" charset="-120"/>
              </a:rPr>
              <a:t>Talk it through</a:t>
            </a:r>
            <a:endParaRPr lang="en-US" sz="3900" dirty="0"/>
          </a:p>
        </p:txBody>
      </p:sp>
      <p:sp>
        <p:nvSpPr>
          <p:cNvPr id="7" name="Shape 5"/>
          <p:cNvSpPr/>
          <p:nvPr/>
        </p:nvSpPr>
        <p:spPr>
          <a:xfrm>
            <a:off x="1047750" y="3200400"/>
            <a:ext cx="15049500" cy="9525"/>
          </a:xfrm>
          <a:prstGeom prst="rect">
            <a:avLst/>
          </a:prstGeom>
          <a:solidFill>
            <a:srgbClr val="34437A"/>
          </a:solidFill>
          <a:ln/>
        </p:spPr>
        <p:txBody>
          <a:bodyPr/>
          <a:lstStyle/>
          <a:p>
            <a:endParaRPr lang="en-US"/>
          </a:p>
        </p:txBody>
      </p:sp>
      <p:sp>
        <p:nvSpPr>
          <p:cNvPr id="8" name="Text 6"/>
          <p:cNvSpPr/>
          <p:nvPr/>
        </p:nvSpPr>
        <p:spPr>
          <a:xfrm>
            <a:off x="1047750" y="2670810"/>
            <a:ext cx="215384"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1</a:t>
            </a:r>
            <a:endParaRPr lang="en-US" sz="2550" dirty="0"/>
          </a:p>
        </p:txBody>
      </p:sp>
      <p:sp>
        <p:nvSpPr>
          <p:cNvPr id="9" name="Text 7"/>
          <p:cNvSpPr/>
          <p:nvPr/>
        </p:nvSpPr>
        <p:spPr>
          <a:xfrm>
            <a:off x="1415534" y="2701290"/>
            <a:ext cx="1614988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Do you buy clothes often? What makes you decide to buy something new?</a:t>
            </a:r>
            <a:endParaRPr lang="en-US" sz="2100" dirty="0"/>
          </a:p>
        </p:txBody>
      </p:sp>
      <p:sp>
        <p:nvSpPr>
          <p:cNvPr id="10" name="Shape 8"/>
          <p:cNvSpPr/>
          <p:nvPr/>
        </p:nvSpPr>
        <p:spPr>
          <a:xfrm>
            <a:off x="1047750" y="3909060"/>
            <a:ext cx="15049500" cy="9525"/>
          </a:xfrm>
          <a:prstGeom prst="rect">
            <a:avLst/>
          </a:prstGeom>
          <a:solidFill>
            <a:srgbClr val="34437A"/>
          </a:solidFill>
          <a:ln/>
        </p:spPr>
        <p:txBody>
          <a:bodyPr/>
          <a:lstStyle/>
          <a:p>
            <a:endParaRPr lang="en-US"/>
          </a:p>
        </p:txBody>
      </p:sp>
      <p:sp>
        <p:nvSpPr>
          <p:cNvPr id="11" name="Text 9"/>
          <p:cNvSpPr/>
          <p:nvPr/>
        </p:nvSpPr>
        <p:spPr>
          <a:xfrm>
            <a:off x="1047750" y="3379470"/>
            <a:ext cx="257175"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2</a:t>
            </a:r>
            <a:endParaRPr lang="en-US" sz="2550" dirty="0"/>
          </a:p>
        </p:txBody>
      </p:sp>
      <p:sp>
        <p:nvSpPr>
          <p:cNvPr id="12" name="Text 10"/>
          <p:cNvSpPr/>
          <p:nvPr/>
        </p:nvSpPr>
        <p:spPr>
          <a:xfrm>
            <a:off x="1457325" y="3409950"/>
            <a:ext cx="16103918"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How has the way you shop for clothes changed over your life?</a:t>
            </a:r>
            <a:endParaRPr lang="en-US" sz="2100" dirty="0"/>
          </a:p>
        </p:txBody>
      </p:sp>
      <p:sp>
        <p:nvSpPr>
          <p:cNvPr id="13" name="Shape 11"/>
          <p:cNvSpPr/>
          <p:nvPr/>
        </p:nvSpPr>
        <p:spPr>
          <a:xfrm>
            <a:off x="1047750" y="4617720"/>
            <a:ext cx="15049500" cy="9525"/>
          </a:xfrm>
          <a:prstGeom prst="rect">
            <a:avLst/>
          </a:prstGeom>
          <a:solidFill>
            <a:srgbClr val="34437A"/>
          </a:solidFill>
          <a:ln/>
        </p:spPr>
        <p:txBody>
          <a:bodyPr/>
          <a:lstStyle/>
          <a:p>
            <a:endParaRPr lang="en-US"/>
          </a:p>
        </p:txBody>
      </p:sp>
      <p:sp>
        <p:nvSpPr>
          <p:cNvPr id="14" name="Text 12"/>
          <p:cNvSpPr/>
          <p:nvPr/>
        </p:nvSpPr>
        <p:spPr>
          <a:xfrm>
            <a:off x="1047750" y="4088130"/>
            <a:ext cx="254913"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3</a:t>
            </a:r>
            <a:endParaRPr lang="en-US" sz="2550" dirty="0"/>
          </a:p>
        </p:txBody>
      </p:sp>
      <p:sp>
        <p:nvSpPr>
          <p:cNvPr id="15" name="Text 13"/>
          <p:cNvSpPr/>
          <p:nvPr/>
        </p:nvSpPr>
        <p:spPr>
          <a:xfrm>
            <a:off x="1455063" y="4118610"/>
            <a:ext cx="16106406"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Why do you think people keep buying clothes they don’t really need?</a:t>
            </a:r>
            <a:endParaRPr lang="en-US" sz="2100" dirty="0"/>
          </a:p>
        </p:txBody>
      </p:sp>
      <p:sp>
        <p:nvSpPr>
          <p:cNvPr id="16" name="Shape 14"/>
          <p:cNvSpPr/>
          <p:nvPr/>
        </p:nvSpPr>
        <p:spPr>
          <a:xfrm>
            <a:off x="1047750" y="5326380"/>
            <a:ext cx="15049500" cy="9525"/>
          </a:xfrm>
          <a:prstGeom prst="rect">
            <a:avLst/>
          </a:prstGeom>
          <a:solidFill>
            <a:srgbClr val="34437A"/>
          </a:solidFill>
          <a:ln/>
        </p:spPr>
        <p:txBody>
          <a:bodyPr/>
          <a:lstStyle/>
          <a:p>
            <a:endParaRPr lang="en-US"/>
          </a:p>
        </p:txBody>
      </p:sp>
      <p:sp>
        <p:nvSpPr>
          <p:cNvPr id="17" name="Text 15"/>
          <p:cNvSpPr/>
          <p:nvPr/>
        </p:nvSpPr>
        <p:spPr>
          <a:xfrm>
            <a:off x="1047750" y="4796790"/>
            <a:ext cx="259199"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4</a:t>
            </a:r>
            <a:endParaRPr lang="en-US" sz="2550" dirty="0"/>
          </a:p>
        </p:txBody>
      </p:sp>
      <p:sp>
        <p:nvSpPr>
          <p:cNvPr id="18" name="Text 16"/>
          <p:cNvSpPr/>
          <p:nvPr/>
        </p:nvSpPr>
        <p:spPr>
          <a:xfrm>
            <a:off x="1459349" y="4827270"/>
            <a:ext cx="16101691"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fair to blame shoppers for the problems of fast fashion?</a:t>
            </a:r>
            <a:endParaRPr lang="en-US" sz="2100" dirty="0"/>
          </a:p>
        </p:txBody>
      </p:sp>
      <p:sp>
        <p:nvSpPr>
          <p:cNvPr id="19" name="Text 17"/>
          <p:cNvSpPr/>
          <p:nvPr/>
        </p:nvSpPr>
        <p:spPr>
          <a:xfrm>
            <a:off x="1047750" y="5505450"/>
            <a:ext cx="247412" cy="403860"/>
          </a:xfrm>
          <a:prstGeom prst="rect">
            <a:avLst/>
          </a:prstGeom>
          <a:noFill/>
          <a:ln/>
        </p:spPr>
        <p:txBody>
          <a:bodyPr wrap="square" lIns="25400" tIns="25400" rIns="25400" bIns="25400" rtlCol="0" anchor="t">
            <a:normAutofit/>
          </a:bodyPr>
          <a:lstStyle/>
          <a:p>
            <a:pPr marL="0" indent="0" algn="l">
              <a:buNone/>
            </a:pPr>
            <a:r>
              <a:rPr lang="en-US" sz="2550" b="1" dirty="0">
                <a:solidFill>
                  <a:srgbClr val="D9B877"/>
                </a:solidFill>
                <a:latin typeface="Georgia" pitchFamily="34" charset="0"/>
                <a:ea typeface="Georgia" pitchFamily="34" charset="-122"/>
                <a:cs typeface="Georgia" pitchFamily="34" charset="-120"/>
              </a:rPr>
              <a:t>5</a:t>
            </a:r>
            <a:endParaRPr lang="en-US" sz="2550" dirty="0"/>
          </a:p>
        </p:txBody>
      </p:sp>
      <p:sp>
        <p:nvSpPr>
          <p:cNvPr id="20" name="Text 18"/>
          <p:cNvSpPr/>
          <p:nvPr/>
        </p:nvSpPr>
        <p:spPr>
          <a:xfrm>
            <a:off x="1447562" y="5535930"/>
            <a:ext cx="16114657" cy="384810"/>
          </a:xfrm>
          <a:prstGeom prst="rect">
            <a:avLst/>
          </a:prstGeom>
          <a:noFill/>
          <a:ln/>
        </p:spPr>
        <p:txBody>
          <a:bodyPr wrap="square" lIns="25400" tIns="25400" rIns="25400" bIns="25400" rtlCol="0" anchor="t">
            <a:normAutofit/>
          </a:bodyPr>
          <a:lstStyle/>
          <a:p>
            <a:pPr marL="0" indent="0" algn="l">
              <a:lnSpc>
                <a:spcPct val="130000"/>
              </a:lnSpc>
              <a:buNone/>
            </a:pPr>
            <a:r>
              <a:rPr lang="en-US" sz="2100" dirty="0">
                <a:solidFill>
                  <a:srgbClr val="EEF1F8"/>
                </a:solidFill>
                <a:latin typeface="Helvetica" pitchFamily="34" charset="0"/>
                <a:ea typeface="Helvetica" pitchFamily="34" charset="-122"/>
                <a:cs typeface="Helvetica" pitchFamily="34" charset="-120"/>
              </a:rPr>
              <a:t>Is it better to own ten good items or a hundred cheap ones? Why?</a:t>
            </a:r>
            <a:endParaRPr lang="en-US" sz="2100" dirty="0"/>
          </a:p>
        </p:txBody>
      </p:sp>
      <p:sp>
        <p:nvSpPr>
          <p:cNvPr id="21" name="Text 19"/>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A6C6"/>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04950"/>
            <a:ext cx="275754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CRITICAL THINKING</a:t>
            </a:r>
            <a:endParaRPr lang="en-US" sz="1500" dirty="0"/>
          </a:p>
        </p:txBody>
      </p:sp>
      <p:sp>
        <p:nvSpPr>
          <p:cNvPr id="6" name="Shape 4"/>
          <p:cNvSpPr/>
          <p:nvPr/>
        </p:nvSpPr>
        <p:spPr>
          <a:xfrm>
            <a:off x="3764161" y="1514475"/>
            <a:ext cx="1995368" cy="240030"/>
          </a:xfrm>
          <a:prstGeom prst="rect">
            <a:avLst/>
          </a:prstGeom>
          <a:ln w="7620">
            <a:solidFill>
              <a:srgbClr val="D9B877"/>
            </a:solidFill>
            <a:prstDash val="solid"/>
          </a:ln>
        </p:spPr>
        <p:txBody>
          <a:bodyPr/>
          <a:lstStyle/>
          <a:p>
            <a:endParaRPr lang="en-US"/>
          </a:p>
        </p:txBody>
      </p:sp>
      <p:sp>
        <p:nvSpPr>
          <p:cNvPr id="7" name="Text 5"/>
          <p:cNvSpPr/>
          <p:nvPr/>
        </p:nvSpPr>
        <p:spPr>
          <a:xfrm>
            <a:off x="3886081" y="1550670"/>
            <a:ext cx="1827728" cy="205740"/>
          </a:xfrm>
          <a:prstGeom prst="rect">
            <a:avLst/>
          </a:prstGeom>
          <a:noFill/>
          <a:ln/>
        </p:spPr>
        <p:txBody>
          <a:bodyPr wrap="none" lIns="25400" tIns="25400" rIns="25400" bIns="25400" rtlCol="0" anchor="t">
            <a:normAutofit/>
          </a:bodyPr>
          <a:lstStyle/>
          <a:p>
            <a:pPr marL="0" indent="0" algn="l">
              <a:buNone/>
            </a:pPr>
            <a:r>
              <a:rPr lang="en-US" sz="1125" b="1" kern="0" spc="225" dirty="0">
                <a:solidFill>
                  <a:srgbClr val="BF842C"/>
                </a:solidFill>
                <a:latin typeface="Helvetica" pitchFamily="34" charset="0"/>
                <a:ea typeface="Helvetica" pitchFamily="34" charset="-122"/>
                <a:cs typeface="Helvetica" pitchFamily="34" charset="-120"/>
              </a:rPr>
              <a:t>ETHICAL DILEMMA</a:t>
            </a:r>
            <a:endParaRPr lang="en-US" sz="1125" dirty="0"/>
          </a:p>
        </p:txBody>
      </p:sp>
      <p:sp>
        <p:nvSpPr>
          <p:cNvPr id="8" name="Text 6"/>
          <p:cNvSpPr/>
          <p:nvPr/>
        </p:nvSpPr>
        <p:spPr>
          <a:xfrm>
            <a:off x="1047750" y="1868805"/>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What should the company do?</a:t>
            </a:r>
            <a:endParaRPr lang="en-US" sz="3750" dirty="0"/>
          </a:p>
        </p:txBody>
      </p:sp>
      <p:sp>
        <p:nvSpPr>
          <p:cNvPr id="9" name="Text 7"/>
          <p:cNvSpPr/>
          <p:nvPr/>
        </p:nvSpPr>
        <p:spPr>
          <a:xfrm>
            <a:off x="1047750" y="2524125"/>
            <a:ext cx="15697200" cy="601980"/>
          </a:xfrm>
          <a:prstGeom prst="rect">
            <a:avLst/>
          </a:prstGeom>
          <a:noFill/>
          <a:ln/>
        </p:spPr>
        <p:txBody>
          <a:bodyPr wrap="square" lIns="25400" tIns="25400" rIns="25400" bIns="25400" rtlCol="0" anchor="t">
            <a:normAutofit/>
          </a:bodyPr>
          <a:lstStyle/>
          <a:p>
            <a:pPr marL="0" indent="0" algn="l">
              <a:buNone/>
            </a:pPr>
            <a:r>
              <a:rPr lang="en-US" sz="1950" dirty="0">
                <a:solidFill>
                  <a:srgbClr val="555555"/>
                </a:solidFill>
                <a:latin typeface="Helvetica" pitchFamily="34" charset="0"/>
                <a:ea typeface="Helvetica" pitchFamily="34" charset="-122"/>
                <a:cs typeface="Helvetica" pitchFamily="34" charset="-120"/>
              </a:rPr>
              <a:t>A clothing company has 100,000 unsold T-shirts. It can only choose </a:t>
            </a:r>
            <a:r>
              <a:rPr lang="en-US" sz="1950" b="1" dirty="0">
                <a:solidFill>
                  <a:srgbClr val="1A2A5E"/>
                </a:solidFill>
                <a:latin typeface="Helvetica" pitchFamily="34" charset="0"/>
                <a:ea typeface="Helvetica" pitchFamily="34" charset="-122"/>
                <a:cs typeface="Helvetica" pitchFamily="34" charset="-120"/>
              </a:rPr>
              <a:t>ONE </a:t>
            </a:r>
            <a:r>
              <a:rPr lang="en-US" sz="1950" dirty="0">
                <a:solidFill>
                  <a:srgbClr val="555555"/>
                </a:solidFill>
                <a:latin typeface="Helvetica" pitchFamily="34" charset="0"/>
                <a:ea typeface="Helvetica" pitchFamily="34" charset="-122"/>
                <a:cs typeface="Helvetica" pitchFamily="34" charset="-120"/>
              </a:rPr>
              <a:t>option. As a group, decide what the company should do — and be ready to defend your choice.</a:t>
            </a:r>
            <a:endParaRPr lang="en-US" sz="1950" dirty="0"/>
          </a:p>
        </p:txBody>
      </p:sp>
      <p:sp>
        <p:nvSpPr>
          <p:cNvPr id="10" name="Shape 8"/>
          <p:cNvSpPr/>
          <p:nvPr/>
        </p:nvSpPr>
        <p:spPr>
          <a:xfrm>
            <a:off x="1047750" y="3926205"/>
            <a:ext cx="14859000" cy="9525"/>
          </a:xfrm>
          <a:prstGeom prst="rect">
            <a:avLst/>
          </a:prstGeom>
          <a:solidFill>
            <a:srgbClr val="D8D6D0"/>
          </a:solidFill>
          <a:ln/>
        </p:spPr>
        <p:txBody>
          <a:bodyPr/>
          <a:lstStyle/>
          <a:p>
            <a:endParaRPr lang="en-US"/>
          </a:p>
        </p:txBody>
      </p:sp>
      <p:sp>
        <p:nvSpPr>
          <p:cNvPr id="11" name="Shape 9"/>
          <p:cNvSpPr/>
          <p:nvPr/>
        </p:nvSpPr>
        <p:spPr>
          <a:xfrm>
            <a:off x="1047750" y="3449955"/>
            <a:ext cx="323850" cy="323850"/>
          </a:xfrm>
          <a:prstGeom prst="rect">
            <a:avLst/>
          </a:prstGeom>
          <a:ln w="15240">
            <a:solidFill>
              <a:srgbClr val="1A2A5E"/>
            </a:solidFill>
            <a:prstDash val="solid"/>
          </a:ln>
        </p:spPr>
        <p:txBody>
          <a:bodyPr/>
          <a:lstStyle/>
          <a:p>
            <a:endParaRPr lang="en-US"/>
          </a:p>
        </p:txBody>
      </p:sp>
      <p:sp>
        <p:nvSpPr>
          <p:cNvPr id="12" name="Text 10"/>
          <p:cNvSpPr/>
          <p:nvPr/>
        </p:nvSpPr>
        <p:spPr>
          <a:xfrm>
            <a:off x="1600200" y="3451860"/>
            <a:ext cx="5331607" cy="358140"/>
          </a:xfrm>
          <a:prstGeom prst="rect">
            <a:avLst/>
          </a:prstGeom>
          <a:noFill/>
          <a:ln/>
        </p:spPr>
        <p:txBody>
          <a:bodyPr wrap="square" lIns="25400" tIns="25400" rIns="25400" bIns="25400" rtlCol="0" anchor="t">
            <a:normAutofit/>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Burn them to protect the brand’s image.</a:t>
            </a:r>
            <a:endParaRPr lang="en-US" sz="2175" dirty="0"/>
          </a:p>
        </p:txBody>
      </p:sp>
      <p:sp>
        <p:nvSpPr>
          <p:cNvPr id="13" name="Shape 11"/>
          <p:cNvSpPr/>
          <p:nvPr/>
        </p:nvSpPr>
        <p:spPr>
          <a:xfrm>
            <a:off x="1047750" y="4562475"/>
            <a:ext cx="14859000" cy="9525"/>
          </a:xfrm>
          <a:prstGeom prst="rect">
            <a:avLst/>
          </a:prstGeom>
          <a:solidFill>
            <a:srgbClr val="D8D6D0"/>
          </a:solidFill>
          <a:ln/>
        </p:spPr>
        <p:txBody>
          <a:bodyPr/>
          <a:lstStyle/>
          <a:p>
            <a:endParaRPr lang="en-US"/>
          </a:p>
        </p:txBody>
      </p:sp>
      <p:sp>
        <p:nvSpPr>
          <p:cNvPr id="14" name="Shape 12"/>
          <p:cNvSpPr/>
          <p:nvPr/>
        </p:nvSpPr>
        <p:spPr>
          <a:xfrm>
            <a:off x="1047750" y="4086225"/>
            <a:ext cx="323850" cy="323850"/>
          </a:xfrm>
          <a:prstGeom prst="rect">
            <a:avLst/>
          </a:prstGeom>
          <a:ln w="15240">
            <a:solidFill>
              <a:srgbClr val="1A2A5E"/>
            </a:solidFill>
            <a:prstDash val="solid"/>
          </a:ln>
        </p:spPr>
        <p:txBody>
          <a:bodyPr/>
          <a:lstStyle/>
          <a:p>
            <a:endParaRPr lang="en-US"/>
          </a:p>
        </p:txBody>
      </p:sp>
      <p:sp>
        <p:nvSpPr>
          <p:cNvPr id="15" name="Text 13"/>
          <p:cNvSpPr/>
          <p:nvPr/>
        </p:nvSpPr>
        <p:spPr>
          <a:xfrm>
            <a:off x="1600200" y="4088130"/>
            <a:ext cx="4763465" cy="358140"/>
          </a:xfrm>
          <a:prstGeom prst="rect">
            <a:avLst/>
          </a:prstGeom>
          <a:noFill/>
          <a:ln/>
        </p:spPr>
        <p:txBody>
          <a:bodyPr wrap="square" lIns="25400" tIns="25400" rIns="25400" bIns="25400" rtlCol="0" anchor="t">
            <a:normAutofit/>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Send them to developing countries.</a:t>
            </a:r>
            <a:endParaRPr lang="en-US" sz="2175" dirty="0"/>
          </a:p>
        </p:txBody>
      </p:sp>
      <p:sp>
        <p:nvSpPr>
          <p:cNvPr id="16" name="Shape 14"/>
          <p:cNvSpPr/>
          <p:nvPr/>
        </p:nvSpPr>
        <p:spPr>
          <a:xfrm>
            <a:off x="1047750" y="5198745"/>
            <a:ext cx="14859000" cy="9525"/>
          </a:xfrm>
          <a:prstGeom prst="rect">
            <a:avLst/>
          </a:prstGeom>
          <a:solidFill>
            <a:srgbClr val="D8D6D0"/>
          </a:solidFill>
          <a:ln/>
        </p:spPr>
        <p:txBody>
          <a:bodyPr/>
          <a:lstStyle/>
          <a:p>
            <a:endParaRPr lang="en-US"/>
          </a:p>
        </p:txBody>
      </p:sp>
      <p:sp>
        <p:nvSpPr>
          <p:cNvPr id="17" name="Shape 15"/>
          <p:cNvSpPr/>
          <p:nvPr/>
        </p:nvSpPr>
        <p:spPr>
          <a:xfrm>
            <a:off x="1047750" y="4722495"/>
            <a:ext cx="323850" cy="323850"/>
          </a:xfrm>
          <a:prstGeom prst="rect">
            <a:avLst/>
          </a:prstGeom>
          <a:ln w="15240">
            <a:solidFill>
              <a:srgbClr val="1A2A5E"/>
            </a:solidFill>
            <a:prstDash val="solid"/>
          </a:ln>
        </p:spPr>
        <p:txBody>
          <a:bodyPr/>
          <a:lstStyle/>
          <a:p>
            <a:endParaRPr lang="en-US"/>
          </a:p>
        </p:txBody>
      </p:sp>
      <p:sp>
        <p:nvSpPr>
          <p:cNvPr id="18" name="Text 16"/>
          <p:cNvSpPr/>
          <p:nvPr/>
        </p:nvSpPr>
        <p:spPr>
          <a:xfrm>
            <a:off x="1600200" y="4724400"/>
            <a:ext cx="5100316" cy="358140"/>
          </a:xfrm>
          <a:prstGeom prst="rect">
            <a:avLst/>
          </a:prstGeom>
          <a:noFill/>
          <a:ln/>
        </p:spPr>
        <p:txBody>
          <a:bodyPr wrap="square" lIns="25400" tIns="25400" rIns="25400" bIns="25400" rtlCol="0" anchor="t">
            <a:normAutofit/>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Recycle the material into new clothes.</a:t>
            </a:r>
            <a:endParaRPr lang="en-US" sz="2175" dirty="0"/>
          </a:p>
        </p:txBody>
      </p:sp>
      <p:sp>
        <p:nvSpPr>
          <p:cNvPr id="19" name="Shape 17"/>
          <p:cNvSpPr/>
          <p:nvPr/>
        </p:nvSpPr>
        <p:spPr>
          <a:xfrm>
            <a:off x="1047750" y="5835015"/>
            <a:ext cx="14859000" cy="9525"/>
          </a:xfrm>
          <a:prstGeom prst="rect">
            <a:avLst/>
          </a:prstGeom>
          <a:solidFill>
            <a:srgbClr val="D8D6D0"/>
          </a:solidFill>
          <a:ln/>
        </p:spPr>
        <p:txBody>
          <a:bodyPr/>
          <a:lstStyle/>
          <a:p>
            <a:endParaRPr lang="en-US"/>
          </a:p>
        </p:txBody>
      </p:sp>
      <p:sp>
        <p:nvSpPr>
          <p:cNvPr id="20" name="Shape 18"/>
          <p:cNvSpPr/>
          <p:nvPr/>
        </p:nvSpPr>
        <p:spPr>
          <a:xfrm>
            <a:off x="1047750" y="5358765"/>
            <a:ext cx="323850" cy="323850"/>
          </a:xfrm>
          <a:prstGeom prst="rect">
            <a:avLst/>
          </a:prstGeom>
          <a:ln w="15240">
            <a:solidFill>
              <a:srgbClr val="1A2A5E"/>
            </a:solidFill>
            <a:prstDash val="solid"/>
          </a:ln>
        </p:spPr>
        <p:txBody>
          <a:bodyPr/>
          <a:lstStyle/>
          <a:p>
            <a:endParaRPr lang="en-US"/>
          </a:p>
        </p:txBody>
      </p:sp>
      <p:sp>
        <p:nvSpPr>
          <p:cNvPr id="21" name="Text 19"/>
          <p:cNvSpPr/>
          <p:nvPr/>
        </p:nvSpPr>
        <p:spPr>
          <a:xfrm>
            <a:off x="1600200" y="5360670"/>
            <a:ext cx="3850743" cy="358140"/>
          </a:xfrm>
          <a:prstGeom prst="rect">
            <a:avLst/>
          </a:prstGeom>
          <a:noFill/>
          <a:ln/>
        </p:spPr>
        <p:txBody>
          <a:bodyPr wrap="square" lIns="25400" tIns="25400" rIns="25400" bIns="25400" rtlCol="0" anchor="t">
            <a:normAutofit/>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Sell them for almost nothing.</a:t>
            </a:r>
            <a:endParaRPr lang="en-US" sz="2175" dirty="0"/>
          </a:p>
        </p:txBody>
      </p:sp>
      <p:sp>
        <p:nvSpPr>
          <p:cNvPr id="22" name="Shape 20"/>
          <p:cNvSpPr/>
          <p:nvPr/>
        </p:nvSpPr>
        <p:spPr>
          <a:xfrm>
            <a:off x="1047750" y="6471285"/>
            <a:ext cx="14859000" cy="9525"/>
          </a:xfrm>
          <a:prstGeom prst="rect">
            <a:avLst/>
          </a:prstGeom>
          <a:solidFill>
            <a:srgbClr val="D8D6D0"/>
          </a:solidFill>
          <a:ln/>
        </p:spPr>
        <p:txBody>
          <a:bodyPr/>
          <a:lstStyle/>
          <a:p>
            <a:endParaRPr lang="en-US"/>
          </a:p>
        </p:txBody>
      </p:sp>
      <p:sp>
        <p:nvSpPr>
          <p:cNvPr id="23" name="Shape 21"/>
          <p:cNvSpPr/>
          <p:nvPr/>
        </p:nvSpPr>
        <p:spPr>
          <a:xfrm>
            <a:off x="1047750" y="5995035"/>
            <a:ext cx="323850" cy="323850"/>
          </a:xfrm>
          <a:prstGeom prst="rect">
            <a:avLst/>
          </a:prstGeom>
          <a:ln w="15240">
            <a:solidFill>
              <a:srgbClr val="1A2A5E"/>
            </a:solidFill>
            <a:prstDash val="solid"/>
          </a:ln>
        </p:spPr>
        <p:txBody>
          <a:bodyPr/>
          <a:lstStyle/>
          <a:p>
            <a:endParaRPr lang="en-US"/>
          </a:p>
        </p:txBody>
      </p:sp>
      <p:sp>
        <p:nvSpPr>
          <p:cNvPr id="24" name="Text 22"/>
          <p:cNvSpPr/>
          <p:nvPr/>
        </p:nvSpPr>
        <p:spPr>
          <a:xfrm>
            <a:off x="1600200" y="5996940"/>
            <a:ext cx="3377815" cy="358140"/>
          </a:xfrm>
          <a:prstGeom prst="rect">
            <a:avLst/>
          </a:prstGeom>
          <a:noFill/>
          <a:ln/>
        </p:spPr>
        <p:txBody>
          <a:bodyPr wrap="square" lIns="25400" tIns="25400" rIns="25400" bIns="25400" rtlCol="0" anchor="t">
            <a:normAutofit/>
          </a:bodyPr>
          <a:lstStyle/>
          <a:p>
            <a:pPr marL="0" indent="0" algn="l">
              <a:buNone/>
            </a:pPr>
            <a:r>
              <a:rPr lang="en-US" sz="2175" dirty="0">
                <a:solidFill>
                  <a:srgbClr val="222222"/>
                </a:solidFill>
                <a:latin typeface="Helvetica" pitchFamily="34" charset="0"/>
                <a:ea typeface="Helvetica" pitchFamily="34" charset="-122"/>
                <a:cs typeface="Helvetica" pitchFamily="34" charset="-120"/>
              </a:rPr>
              <a:t>Donate them to charities.</a:t>
            </a:r>
            <a:endParaRPr lang="en-US" sz="2175" dirty="0"/>
          </a:p>
        </p:txBody>
      </p:sp>
      <p:sp>
        <p:nvSpPr>
          <p:cNvPr id="25" name="Text 23"/>
          <p:cNvSpPr/>
          <p:nvPr/>
        </p:nvSpPr>
        <p:spPr>
          <a:xfrm>
            <a:off x="1047750" y="6894195"/>
            <a:ext cx="953691" cy="213360"/>
          </a:xfrm>
          <a:prstGeom prst="rect">
            <a:avLst/>
          </a:prstGeom>
          <a:noFill/>
          <a:ln/>
        </p:spPr>
        <p:txBody>
          <a:bodyPr wrap="none" lIns="25400" tIns="25400" rIns="25400" bIns="25400" rtlCol="0" anchor="t">
            <a:normAutofit/>
          </a:bodyPr>
          <a:lstStyle/>
          <a:p>
            <a:pPr marL="0" indent="0" algn="l">
              <a:buNone/>
            </a:pPr>
            <a:r>
              <a:rPr lang="en-US" sz="1200" b="1" kern="0" spc="225" dirty="0">
                <a:solidFill>
                  <a:srgbClr val="BF842C"/>
                </a:solidFill>
                <a:latin typeface="Helvetica" pitchFamily="34" charset="0"/>
                <a:ea typeface="Helvetica" pitchFamily="34" charset="-122"/>
                <a:cs typeface="Helvetica" pitchFamily="34" charset="-120"/>
              </a:rPr>
              <a:t>DISCUSS</a:t>
            </a:r>
            <a:endParaRPr lang="en-US" sz="1200" dirty="0"/>
          </a:p>
        </p:txBody>
      </p:sp>
      <p:sp>
        <p:nvSpPr>
          <p:cNvPr id="26" name="Text 24"/>
          <p:cNvSpPr/>
          <p:nvPr/>
        </p:nvSpPr>
        <p:spPr>
          <a:xfrm>
            <a:off x="2115741" y="6802755"/>
            <a:ext cx="7821585" cy="355759"/>
          </a:xfrm>
          <a:prstGeom prst="rect">
            <a:avLst/>
          </a:prstGeom>
          <a:noFill/>
          <a:ln/>
        </p:spPr>
        <p:txBody>
          <a:bodyPr wrap="square" lIns="25400" tIns="25400" rIns="25400" bIns="25400" rtlCol="0" anchor="t">
            <a:normAutofit/>
          </a:bodyPr>
          <a:lstStyle/>
          <a:p>
            <a:pPr marL="0" indent="0" algn="l">
              <a:lnSpc>
                <a:spcPct val="145000"/>
              </a:lnSpc>
              <a:buNone/>
            </a:pPr>
            <a:r>
              <a:rPr lang="en-US" sz="1725" dirty="0">
                <a:solidFill>
                  <a:srgbClr val="1A1A1A"/>
                </a:solidFill>
                <a:latin typeface="Helvetica" pitchFamily="34" charset="0"/>
                <a:ea typeface="Helvetica" pitchFamily="34" charset="-122"/>
                <a:cs typeface="Helvetica" pitchFamily="34" charset="-120"/>
              </a:rPr>
              <a:t>Which option is best? · Which is worst? · Who benefits? · Who loses?</a:t>
            </a:r>
            <a:endParaRPr lang="en-US" sz="1725" dirty="0"/>
          </a:p>
        </p:txBody>
      </p:sp>
      <p:sp>
        <p:nvSpPr>
          <p:cNvPr id="27" name="Text 25"/>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No single correct answer — the reasons matter most.</a:t>
            </a:r>
            <a:endParaRPr lang="en-US" sz="127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049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Text 4"/>
          <p:cNvSpPr/>
          <p:nvPr/>
        </p:nvSpPr>
        <p:spPr>
          <a:xfrm>
            <a:off x="1047750" y="1821180"/>
            <a:ext cx="17811750" cy="601980"/>
          </a:xfrm>
          <a:prstGeom prst="rect">
            <a:avLst/>
          </a:prstGeom>
          <a:noFill/>
          <a:ln/>
        </p:spPr>
        <p:txBody>
          <a:bodyPr wrap="square" lIns="25400" tIns="25400" rIns="25400" bIns="25400" rtlCol="0" anchor="t">
            <a:normAutofit/>
          </a:bodyPr>
          <a:lstStyle/>
          <a:p>
            <a:pPr marL="0" indent="0" algn="l">
              <a:buNone/>
            </a:pPr>
            <a:r>
              <a:rPr lang="en-US" sz="3900" b="1" dirty="0">
                <a:solidFill>
                  <a:srgbClr val="1A2A5E"/>
                </a:solidFill>
                <a:latin typeface="Georgia" pitchFamily="34" charset="0"/>
                <a:ea typeface="Georgia" pitchFamily="34" charset="-122"/>
                <a:cs typeface="Georgia" pitchFamily="34" charset="-120"/>
              </a:rPr>
              <a:t>Complete &amp; say each line</a:t>
            </a:r>
            <a:endParaRPr lang="en-US" sz="3900" dirty="0"/>
          </a:p>
        </p:txBody>
      </p:sp>
      <p:sp>
        <p:nvSpPr>
          <p:cNvPr id="7" name="Text 5"/>
          <p:cNvSpPr/>
          <p:nvPr/>
        </p:nvSpPr>
        <p:spPr>
          <a:xfrm>
            <a:off x="1047750" y="2499360"/>
            <a:ext cx="17811750" cy="297180"/>
          </a:xfrm>
          <a:prstGeom prst="rect">
            <a:avLst/>
          </a:prstGeom>
          <a:noFill/>
          <a:ln/>
        </p:spPr>
        <p:txBody>
          <a:bodyPr wrap="square" lIns="25400" tIns="25400" rIns="25400" bIns="25400" rtlCol="0" anchor="t">
            <a:normAutofit/>
          </a:bodyPr>
          <a:lstStyle/>
          <a:p>
            <a:pPr marL="0" indent="0" algn="l">
              <a:buNone/>
            </a:pPr>
            <a:r>
              <a:rPr lang="en-US" sz="1800" dirty="0">
                <a:solidFill>
                  <a:srgbClr val="555555"/>
                </a:solidFill>
                <a:latin typeface="Helvetica" pitchFamily="34" charset="0"/>
                <a:ea typeface="Helvetica" pitchFamily="34" charset="-122"/>
                <a:cs typeface="Helvetica" pitchFamily="34" charset="-120"/>
              </a:rPr>
              <a:t>Complete each sentence with a word from the box. Change the form if you need to.</a:t>
            </a:r>
            <a:endParaRPr lang="en-US" sz="1800" dirty="0"/>
          </a:p>
        </p:txBody>
      </p:sp>
      <p:sp>
        <p:nvSpPr>
          <p:cNvPr id="8" name="Shape 6"/>
          <p:cNvSpPr/>
          <p:nvPr/>
        </p:nvSpPr>
        <p:spPr>
          <a:xfrm>
            <a:off x="1047750" y="2987040"/>
            <a:ext cx="14859000" cy="678180"/>
          </a:xfrm>
          <a:prstGeom prst="rect">
            <a:avLst/>
          </a:prstGeom>
          <a:ln w="15240">
            <a:solidFill>
              <a:srgbClr val="1A2A5E"/>
            </a:solidFill>
            <a:prstDash val="solid"/>
          </a:ln>
        </p:spPr>
        <p:txBody>
          <a:bodyPr/>
          <a:lstStyle/>
          <a:p>
            <a:endParaRPr lang="en-US"/>
          </a:p>
        </p:txBody>
      </p:sp>
      <p:sp>
        <p:nvSpPr>
          <p:cNvPr id="9" name="Text 7"/>
          <p:cNvSpPr/>
          <p:nvPr/>
        </p:nvSpPr>
        <p:spPr>
          <a:xfrm>
            <a:off x="1386840" y="3173730"/>
            <a:ext cx="1128474"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garment</a:t>
            </a:r>
            <a:endParaRPr lang="en-US" sz="2100" dirty="0"/>
          </a:p>
        </p:txBody>
      </p:sp>
      <p:sp>
        <p:nvSpPr>
          <p:cNvPr id="10" name="Text 8"/>
          <p:cNvSpPr/>
          <p:nvPr/>
        </p:nvSpPr>
        <p:spPr>
          <a:xfrm>
            <a:off x="2820114" y="3173730"/>
            <a:ext cx="847011"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textile</a:t>
            </a:r>
            <a:endParaRPr lang="en-US" sz="2100" dirty="0"/>
          </a:p>
        </p:txBody>
      </p:sp>
      <p:sp>
        <p:nvSpPr>
          <p:cNvPr id="11" name="Text 9"/>
          <p:cNvSpPr/>
          <p:nvPr/>
        </p:nvSpPr>
        <p:spPr>
          <a:xfrm>
            <a:off x="3971925" y="3173730"/>
            <a:ext cx="1039535"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durable</a:t>
            </a:r>
            <a:endParaRPr lang="en-US" sz="2100" dirty="0"/>
          </a:p>
        </p:txBody>
      </p:sp>
      <p:sp>
        <p:nvSpPr>
          <p:cNvPr id="12" name="Text 10"/>
          <p:cNvSpPr/>
          <p:nvPr/>
        </p:nvSpPr>
        <p:spPr>
          <a:xfrm>
            <a:off x="5316260" y="3173730"/>
            <a:ext cx="1841683"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consumption</a:t>
            </a:r>
            <a:endParaRPr lang="en-US" sz="2100" dirty="0"/>
          </a:p>
        </p:txBody>
      </p:sp>
      <p:sp>
        <p:nvSpPr>
          <p:cNvPr id="13" name="Text 11"/>
          <p:cNvSpPr/>
          <p:nvPr/>
        </p:nvSpPr>
        <p:spPr>
          <a:xfrm>
            <a:off x="7371517" y="3173730"/>
            <a:ext cx="1084064"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1A2A5E"/>
                </a:solidFill>
                <a:latin typeface="Helvetica" pitchFamily="34" charset="0"/>
                <a:ea typeface="Helvetica" pitchFamily="34" charset="-122"/>
                <a:cs typeface="Helvetica" pitchFamily="34" charset="-120"/>
              </a:rPr>
              <a:t>dispose</a:t>
            </a:r>
            <a:endParaRPr lang="en-US" sz="2100" dirty="0"/>
          </a:p>
        </p:txBody>
      </p:sp>
      <p:sp>
        <p:nvSpPr>
          <p:cNvPr id="14" name="Text 12"/>
          <p:cNvSpPr/>
          <p:nvPr/>
        </p:nvSpPr>
        <p:spPr>
          <a:xfrm>
            <a:off x="1047750" y="398145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1</a:t>
            </a:r>
            <a:endParaRPr lang="en-US" sz="2250" dirty="0"/>
          </a:p>
        </p:txBody>
      </p:sp>
      <p:sp>
        <p:nvSpPr>
          <p:cNvPr id="15" name="Text 13"/>
          <p:cNvSpPr/>
          <p:nvPr/>
        </p:nvSpPr>
        <p:spPr>
          <a:xfrm>
            <a:off x="1581150" y="3950970"/>
            <a:ext cx="7402877"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A well-made ________________ can last for many years.</a:t>
            </a:r>
            <a:endParaRPr lang="en-US" sz="2250" dirty="0"/>
          </a:p>
        </p:txBody>
      </p:sp>
      <p:sp>
        <p:nvSpPr>
          <p:cNvPr id="16" name="Text 14"/>
          <p:cNvSpPr/>
          <p:nvPr/>
        </p:nvSpPr>
        <p:spPr>
          <a:xfrm>
            <a:off x="1047750" y="4576763"/>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2</a:t>
            </a:r>
            <a:endParaRPr lang="en-US" sz="2250" dirty="0"/>
          </a:p>
        </p:txBody>
      </p:sp>
      <p:sp>
        <p:nvSpPr>
          <p:cNvPr id="17" name="Text 15"/>
          <p:cNvSpPr/>
          <p:nvPr/>
        </p:nvSpPr>
        <p:spPr>
          <a:xfrm>
            <a:off x="1581150" y="4546283"/>
            <a:ext cx="7065633"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Cheap _______________ often wear out very quickly.</a:t>
            </a:r>
            <a:endParaRPr lang="en-US" sz="2250" dirty="0"/>
          </a:p>
        </p:txBody>
      </p:sp>
      <p:sp>
        <p:nvSpPr>
          <p:cNvPr id="18" name="Text 16"/>
          <p:cNvSpPr/>
          <p:nvPr/>
        </p:nvSpPr>
        <p:spPr>
          <a:xfrm>
            <a:off x="1047750" y="5172075"/>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3</a:t>
            </a:r>
            <a:endParaRPr lang="en-US" sz="2250" dirty="0"/>
          </a:p>
        </p:txBody>
      </p:sp>
      <p:sp>
        <p:nvSpPr>
          <p:cNvPr id="19" name="Text 17"/>
          <p:cNvSpPr/>
          <p:nvPr/>
        </p:nvSpPr>
        <p:spPr>
          <a:xfrm>
            <a:off x="1581150" y="5141595"/>
            <a:ext cx="8765738"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This coat is so _______________ that I have worn it for ten years.</a:t>
            </a:r>
            <a:endParaRPr lang="en-US" sz="2250" dirty="0"/>
          </a:p>
        </p:txBody>
      </p:sp>
      <p:sp>
        <p:nvSpPr>
          <p:cNvPr id="20" name="Text 18"/>
          <p:cNvSpPr/>
          <p:nvPr/>
        </p:nvSpPr>
        <p:spPr>
          <a:xfrm>
            <a:off x="1047750" y="5767388"/>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4</a:t>
            </a:r>
            <a:endParaRPr lang="en-US" sz="2250" dirty="0"/>
          </a:p>
        </p:txBody>
      </p:sp>
      <p:sp>
        <p:nvSpPr>
          <p:cNvPr id="21" name="Text 19"/>
          <p:cNvSpPr/>
          <p:nvPr/>
        </p:nvSpPr>
        <p:spPr>
          <a:xfrm>
            <a:off x="1581150" y="5736907"/>
            <a:ext cx="8276701"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Our ________________ of new clothes keeps rising every year.</a:t>
            </a:r>
            <a:endParaRPr lang="en-US" sz="2250" dirty="0"/>
          </a:p>
        </p:txBody>
      </p:sp>
      <p:sp>
        <p:nvSpPr>
          <p:cNvPr id="22" name="Text 20"/>
          <p:cNvSpPr/>
          <p:nvPr/>
        </p:nvSpPr>
        <p:spPr>
          <a:xfrm>
            <a:off x="1047750" y="6362700"/>
            <a:ext cx="400050" cy="358140"/>
          </a:xfrm>
          <a:prstGeom prst="rect">
            <a:avLst/>
          </a:prstGeom>
          <a:noFill/>
          <a:ln/>
        </p:spPr>
        <p:txBody>
          <a:bodyPr wrap="square" lIns="25400" tIns="25400" rIns="25400" bIns="25400" rtlCol="0" anchor="t">
            <a:normAutofit/>
          </a:bodyPr>
          <a:lstStyle/>
          <a:p>
            <a:pPr marL="0" indent="0" algn="l">
              <a:buNone/>
            </a:pPr>
            <a:r>
              <a:rPr lang="en-US" sz="2250" b="1" dirty="0">
                <a:solidFill>
                  <a:srgbClr val="D9B877"/>
                </a:solidFill>
                <a:latin typeface="Georgia" pitchFamily="34" charset="0"/>
                <a:ea typeface="Georgia" pitchFamily="34" charset="-122"/>
                <a:cs typeface="Georgia" pitchFamily="34" charset="-120"/>
              </a:rPr>
              <a:t>5</a:t>
            </a:r>
            <a:endParaRPr lang="en-US" sz="2250" dirty="0"/>
          </a:p>
        </p:txBody>
      </p:sp>
      <p:sp>
        <p:nvSpPr>
          <p:cNvPr id="23" name="Text 21"/>
          <p:cNvSpPr/>
          <p:nvPr/>
        </p:nvSpPr>
        <p:spPr>
          <a:xfrm>
            <a:off x="1581150" y="6332220"/>
            <a:ext cx="6908602" cy="423863"/>
          </a:xfrm>
          <a:prstGeom prst="rect">
            <a:avLst/>
          </a:prstGeom>
          <a:noFill/>
          <a:ln/>
        </p:spPr>
        <p:txBody>
          <a:bodyPr wrap="square" lIns="25400" tIns="25400" rIns="25400" bIns="25400" rtlCol="0" anchor="t">
            <a:normAutofit fontScale="92500" lnSpcReduction="10000"/>
          </a:bodyPr>
          <a:lstStyle/>
          <a:p>
            <a:pPr marL="0" indent="0" algn="l">
              <a:lnSpc>
                <a:spcPct val="135000"/>
              </a:lnSpc>
              <a:buNone/>
            </a:pPr>
            <a:r>
              <a:rPr lang="en-US" sz="2250" dirty="0">
                <a:solidFill>
                  <a:srgbClr val="1A1A1A"/>
                </a:solidFill>
                <a:latin typeface="Helvetica" pitchFamily="34" charset="0"/>
                <a:ea typeface="Helvetica" pitchFamily="34" charset="-122"/>
                <a:cs typeface="Helvetica" pitchFamily="34" charset="-120"/>
              </a:rPr>
              <a:t>Please ________________ of old clothes responsibly.</a:t>
            </a:r>
            <a:endParaRPr lang="en-US" sz="2250" dirty="0"/>
          </a:p>
        </p:txBody>
      </p:sp>
      <p:sp>
        <p:nvSpPr>
          <p:cNvPr id="24" name="Text 2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38300"/>
            <a:ext cx="3322677"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LANGUAGE IN CONTEXT</a:t>
            </a:r>
            <a:endParaRPr lang="en-US" sz="1500" dirty="0"/>
          </a:p>
        </p:txBody>
      </p:sp>
      <p:sp>
        <p:nvSpPr>
          <p:cNvPr id="6" name="Shape 4"/>
          <p:cNvSpPr/>
          <p:nvPr/>
        </p:nvSpPr>
        <p:spPr>
          <a:xfrm>
            <a:off x="4277916" y="1543050"/>
            <a:ext cx="3262670" cy="388620"/>
          </a:xfrm>
          <a:prstGeom prst="rect">
            <a:avLst/>
          </a:prstGeom>
          <a:solidFill>
            <a:srgbClr val="1A2A5E"/>
          </a:solidFill>
          <a:ln/>
        </p:spPr>
        <p:txBody>
          <a:bodyPr/>
          <a:lstStyle/>
          <a:p>
            <a:endParaRPr lang="en-US"/>
          </a:p>
        </p:txBody>
      </p:sp>
      <p:sp>
        <p:nvSpPr>
          <p:cNvPr id="7" name="Text 5"/>
          <p:cNvSpPr/>
          <p:nvPr/>
        </p:nvSpPr>
        <p:spPr>
          <a:xfrm>
            <a:off x="4449366" y="1600200"/>
            <a:ext cx="3017650" cy="312420"/>
          </a:xfrm>
          <a:prstGeom prst="rect">
            <a:avLst/>
          </a:prstGeom>
          <a:noFill/>
          <a:ln/>
        </p:spPr>
        <p:txBody>
          <a:bodyPr wrap="square" lIns="25400" tIns="25400" rIns="25400" bIns="25400" rtlCol="0" anchor="t">
            <a:normAutofit/>
          </a:bodyPr>
          <a:lstStyle/>
          <a:p>
            <a:pPr marL="0" indent="0" algn="l">
              <a:buNone/>
            </a:pPr>
            <a:r>
              <a:rPr lang="en-US" sz="1500" b="1" kern="0" spc="225" dirty="0">
                <a:solidFill>
                  <a:srgbClr val="FFFFFF"/>
                </a:solidFill>
                <a:latin typeface="Helvetica" pitchFamily="34" charset="0"/>
                <a:ea typeface="Helvetica" pitchFamily="34" charset="-122"/>
                <a:cs typeface="Helvetica" pitchFamily="34" charset="-120"/>
              </a:rPr>
              <a:t>SUGGESTED ANSWERS</a:t>
            </a:r>
            <a:endParaRPr lang="en-US" sz="1500" dirty="0"/>
          </a:p>
        </p:txBody>
      </p:sp>
      <p:sp>
        <p:nvSpPr>
          <p:cNvPr id="8" name="Text 6"/>
          <p:cNvSpPr/>
          <p:nvPr/>
        </p:nvSpPr>
        <p:spPr>
          <a:xfrm>
            <a:off x="1047750" y="206502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Complete &amp; say each line</a:t>
            </a:r>
            <a:endParaRPr lang="en-US" sz="3750" dirty="0"/>
          </a:p>
        </p:txBody>
      </p:sp>
      <p:sp>
        <p:nvSpPr>
          <p:cNvPr id="9" name="Text 7"/>
          <p:cNvSpPr/>
          <p:nvPr/>
        </p:nvSpPr>
        <p:spPr>
          <a:xfrm>
            <a:off x="1047750" y="301752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1</a:t>
            </a:r>
            <a:endParaRPr lang="en-US" sz="2100" dirty="0"/>
          </a:p>
        </p:txBody>
      </p:sp>
      <p:sp>
        <p:nvSpPr>
          <p:cNvPr id="10" name="Text 8"/>
          <p:cNvSpPr/>
          <p:nvPr/>
        </p:nvSpPr>
        <p:spPr>
          <a:xfrm>
            <a:off x="1581150" y="2987040"/>
            <a:ext cx="6032814"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A well-made </a:t>
            </a:r>
            <a:r>
              <a:rPr lang="en-US" sz="2100" b="1" dirty="0">
                <a:solidFill>
                  <a:srgbClr val="1A2A5E"/>
                </a:solidFill>
                <a:latin typeface="Helvetica" pitchFamily="34" charset="0"/>
                <a:ea typeface="Helvetica" pitchFamily="34" charset="-122"/>
                <a:cs typeface="Helvetica" pitchFamily="34" charset="-120"/>
              </a:rPr>
              <a:t>garment </a:t>
            </a:r>
            <a:r>
              <a:rPr lang="en-US" sz="2100" dirty="0">
                <a:solidFill>
                  <a:srgbClr val="444444"/>
                </a:solidFill>
                <a:latin typeface="Helvetica" pitchFamily="34" charset="0"/>
                <a:ea typeface="Helvetica" pitchFamily="34" charset="-122"/>
                <a:cs typeface="Helvetica" pitchFamily="34" charset="-120"/>
              </a:rPr>
              <a:t>can last for many years.</a:t>
            </a:r>
            <a:endParaRPr lang="en-US" sz="2100" dirty="0"/>
          </a:p>
        </p:txBody>
      </p:sp>
      <p:sp>
        <p:nvSpPr>
          <p:cNvPr id="11" name="Text 9"/>
          <p:cNvSpPr/>
          <p:nvPr/>
        </p:nvSpPr>
        <p:spPr>
          <a:xfrm>
            <a:off x="1047750" y="358711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2</a:t>
            </a:r>
            <a:endParaRPr lang="en-US" sz="2100" dirty="0"/>
          </a:p>
        </p:txBody>
      </p:sp>
      <p:sp>
        <p:nvSpPr>
          <p:cNvPr id="12" name="Text 10"/>
          <p:cNvSpPr/>
          <p:nvPr/>
        </p:nvSpPr>
        <p:spPr>
          <a:xfrm>
            <a:off x="1581150" y="3556635"/>
            <a:ext cx="5571673"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Cheap </a:t>
            </a:r>
            <a:r>
              <a:rPr lang="en-US" sz="2100" b="1" dirty="0">
                <a:solidFill>
                  <a:srgbClr val="1A2A5E"/>
                </a:solidFill>
                <a:latin typeface="Helvetica" pitchFamily="34" charset="0"/>
                <a:ea typeface="Helvetica" pitchFamily="34" charset="-122"/>
                <a:cs typeface="Helvetica" pitchFamily="34" charset="-120"/>
              </a:rPr>
              <a:t>textiles </a:t>
            </a:r>
            <a:r>
              <a:rPr lang="en-US" sz="2100" dirty="0">
                <a:solidFill>
                  <a:srgbClr val="444444"/>
                </a:solidFill>
                <a:latin typeface="Helvetica" pitchFamily="34" charset="0"/>
                <a:ea typeface="Helvetica" pitchFamily="34" charset="-122"/>
                <a:cs typeface="Helvetica" pitchFamily="34" charset="-120"/>
              </a:rPr>
              <a:t>often wear out very quickly.</a:t>
            </a:r>
            <a:endParaRPr lang="en-US" sz="2100" dirty="0"/>
          </a:p>
        </p:txBody>
      </p:sp>
      <p:sp>
        <p:nvSpPr>
          <p:cNvPr id="13" name="Text 11"/>
          <p:cNvSpPr/>
          <p:nvPr/>
        </p:nvSpPr>
        <p:spPr>
          <a:xfrm>
            <a:off x="1047750" y="415671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3</a:t>
            </a:r>
            <a:endParaRPr lang="en-US" sz="2100" dirty="0"/>
          </a:p>
        </p:txBody>
      </p:sp>
      <p:sp>
        <p:nvSpPr>
          <p:cNvPr id="14" name="Text 12"/>
          <p:cNvSpPr/>
          <p:nvPr/>
        </p:nvSpPr>
        <p:spPr>
          <a:xfrm>
            <a:off x="1581150" y="4126230"/>
            <a:ext cx="7206949"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This coat is so </a:t>
            </a:r>
            <a:r>
              <a:rPr lang="en-US" sz="2100" b="1" dirty="0">
                <a:solidFill>
                  <a:srgbClr val="1A2A5E"/>
                </a:solidFill>
                <a:latin typeface="Helvetica" pitchFamily="34" charset="0"/>
                <a:ea typeface="Helvetica" pitchFamily="34" charset="-122"/>
                <a:cs typeface="Helvetica" pitchFamily="34" charset="-120"/>
              </a:rPr>
              <a:t>durable </a:t>
            </a:r>
            <a:r>
              <a:rPr lang="en-US" sz="2100" dirty="0">
                <a:solidFill>
                  <a:srgbClr val="444444"/>
                </a:solidFill>
                <a:latin typeface="Helvetica" pitchFamily="34" charset="0"/>
                <a:ea typeface="Helvetica" pitchFamily="34" charset="-122"/>
                <a:cs typeface="Helvetica" pitchFamily="34" charset="-120"/>
              </a:rPr>
              <a:t>that I have worn it for ten years.</a:t>
            </a:r>
            <a:endParaRPr lang="en-US" sz="2100" dirty="0"/>
          </a:p>
        </p:txBody>
      </p:sp>
      <p:sp>
        <p:nvSpPr>
          <p:cNvPr id="15" name="Text 13"/>
          <p:cNvSpPr/>
          <p:nvPr/>
        </p:nvSpPr>
        <p:spPr>
          <a:xfrm>
            <a:off x="1047750" y="4726305"/>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4</a:t>
            </a:r>
            <a:endParaRPr lang="en-US" sz="2100" dirty="0"/>
          </a:p>
        </p:txBody>
      </p:sp>
      <p:sp>
        <p:nvSpPr>
          <p:cNvPr id="16" name="Text 14"/>
          <p:cNvSpPr/>
          <p:nvPr/>
        </p:nvSpPr>
        <p:spPr>
          <a:xfrm>
            <a:off x="1581150" y="4695825"/>
            <a:ext cx="7532537"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Our </a:t>
            </a:r>
            <a:r>
              <a:rPr lang="en-US" sz="2100" b="1" dirty="0">
                <a:solidFill>
                  <a:srgbClr val="1A2A5E"/>
                </a:solidFill>
                <a:latin typeface="Helvetica" pitchFamily="34" charset="0"/>
                <a:ea typeface="Helvetica" pitchFamily="34" charset="-122"/>
                <a:cs typeface="Helvetica" pitchFamily="34" charset="-120"/>
              </a:rPr>
              <a:t>consumption </a:t>
            </a:r>
            <a:r>
              <a:rPr lang="en-US" sz="2100" dirty="0">
                <a:solidFill>
                  <a:srgbClr val="444444"/>
                </a:solidFill>
                <a:latin typeface="Helvetica" pitchFamily="34" charset="0"/>
                <a:ea typeface="Helvetica" pitchFamily="34" charset="-122"/>
                <a:cs typeface="Helvetica" pitchFamily="34" charset="-120"/>
              </a:rPr>
              <a:t>of new clothes keeps rising every year.</a:t>
            </a:r>
            <a:endParaRPr lang="en-US" sz="2100" dirty="0"/>
          </a:p>
        </p:txBody>
      </p:sp>
      <p:sp>
        <p:nvSpPr>
          <p:cNvPr id="17" name="Text 15"/>
          <p:cNvSpPr/>
          <p:nvPr/>
        </p:nvSpPr>
        <p:spPr>
          <a:xfrm>
            <a:off x="1047750" y="5295900"/>
            <a:ext cx="400050" cy="342900"/>
          </a:xfrm>
          <a:prstGeom prst="rect">
            <a:avLst/>
          </a:prstGeom>
          <a:noFill/>
          <a:ln/>
        </p:spPr>
        <p:txBody>
          <a:bodyPr wrap="square" lIns="25400" tIns="25400" rIns="25400" bIns="25400" rtlCol="0" anchor="t">
            <a:normAutofit/>
          </a:bodyPr>
          <a:lstStyle/>
          <a:p>
            <a:pPr marL="0" indent="0" algn="l">
              <a:buNone/>
            </a:pPr>
            <a:r>
              <a:rPr lang="en-US" sz="2100" b="1" dirty="0">
                <a:solidFill>
                  <a:srgbClr val="D9B877"/>
                </a:solidFill>
                <a:latin typeface="Georgia" pitchFamily="34" charset="0"/>
                <a:ea typeface="Georgia" pitchFamily="34" charset="-122"/>
                <a:cs typeface="Georgia" pitchFamily="34" charset="-120"/>
              </a:rPr>
              <a:t>5</a:t>
            </a:r>
            <a:endParaRPr lang="en-US" sz="2100" dirty="0"/>
          </a:p>
        </p:txBody>
      </p:sp>
      <p:sp>
        <p:nvSpPr>
          <p:cNvPr id="18" name="Text 16"/>
          <p:cNvSpPr/>
          <p:nvPr/>
        </p:nvSpPr>
        <p:spPr>
          <a:xfrm>
            <a:off x="1581150" y="5265420"/>
            <a:ext cx="5522691" cy="398145"/>
          </a:xfrm>
          <a:prstGeom prst="rect">
            <a:avLst/>
          </a:prstGeom>
          <a:noFill/>
          <a:ln/>
        </p:spPr>
        <p:txBody>
          <a:bodyPr wrap="square" lIns="25400" tIns="25400" rIns="25400" bIns="25400" rtlCol="0" anchor="t">
            <a:normAutofit/>
          </a:bodyPr>
          <a:lstStyle/>
          <a:p>
            <a:pPr marL="0" indent="0" algn="l">
              <a:lnSpc>
                <a:spcPct val="135000"/>
              </a:lnSpc>
              <a:buNone/>
            </a:pPr>
            <a:r>
              <a:rPr lang="en-US" sz="2100" dirty="0">
                <a:solidFill>
                  <a:srgbClr val="444444"/>
                </a:solidFill>
                <a:latin typeface="Helvetica" pitchFamily="34" charset="0"/>
                <a:ea typeface="Helvetica" pitchFamily="34" charset="-122"/>
                <a:cs typeface="Helvetica" pitchFamily="34" charset="-120"/>
              </a:rPr>
              <a:t>Please </a:t>
            </a:r>
            <a:r>
              <a:rPr lang="en-US" sz="2100" b="1" dirty="0">
                <a:solidFill>
                  <a:srgbClr val="1A2A5E"/>
                </a:solidFill>
                <a:latin typeface="Helvetica" pitchFamily="34" charset="0"/>
                <a:ea typeface="Helvetica" pitchFamily="34" charset="-122"/>
                <a:cs typeface="Helvetica" pitchFamily="34" charset="-120"/>
              </a:rPr>
              <a:t>dispose </a:t>
            </a:r>
            <a:r>
              <a:rPr lang="en-US" sz="2100" dirty="0">
                <a:solidFill>
                  <a:srgbClr val="444444"/>
                </a:solidFill>
                <a:latin typeface="Helvetica" pitchFamily="34" charset="0"/>
                <a:ea typeface="Helvetica" pitchFamily="34" charset="-122"/>
                <a:cs typeface="Helvetica" pitchFamily="34" charset="-120"/>
              </a:rPr>
              <a:t>of old clothes responsibly.</a:t>
            </a:r>
            <a:endParaRPr lang="en-US" sz="2100" dirty="0"/>
          </a:p>
        </p:txBody>
      </p:sp>
      <p:sp>
        <p:nvSpPr>
          <p:cNvPr id="19" name="Text 17"/>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AF9F6"/>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504950"/>
            <a:ext cx="3211092"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SPEAKING CHALLENGE</a:t>
            </a:r>
            <a:endParaRPr lang="en-US" sz="1500" dirty="0"/>
          </a:p>
        </p:txBody>
      </p:sp>
      <p:sp>
        <p:nvSpPr>
          <p:cNvPr id="6" name="Text 4"/>
          <p:cNvSpPr/>
          <p:nvPr/>
        </p:nvSpPr>
        <p:spPr>
          <a:xfrm>
            <a:off x="4176474" y="1550670"/>
            <a:ext cx="2534507" cy="205740"/>
          </a:xfrm>
          <a:prstGeom prst="rect">
            <a:avLst/>
          </a:prstGeom>
          <a:noFill/>
          <a:ln/>
        </p:spPr>
        <p:txBody>
          <a:bodyPr wrap="square" lIns="25400" tIns="25400" rIns="25400" bIns="25400" rtlCol="0" anchor="t">
            <a:normAutofit/>
          </a:bodyPr>
          <a:lstStyle/>
          <a:p>
            <a:pPr marL="0" indent="0" algn="l">
              <a:buNone/>
            </a:pPr>
            <a:r>
              <a:rPr lang="en-US" sz="1125" b="1" kern="0" spc="225" dirty="0">
                <a:solidFill>
                  <a:srgbClr val="8A8A8A"/>
                </a:solidFill>
                <a:latin typeface="Helvetica" pitchFamily="34" charset="0"/>
                <a:ea typeface="Helvetica" pitchFamily="34" charset="-122"/>
                <a:cs typeface="Helvetica" pitchFamily="34" charset="-120"/>
              </a:rPr>
              <a:t>ROLE · TASK · PRESENT</a:t>
            </a:r>
            <a:endParaRPr lang="en-US" sz="1125" dirty="0"/>
          </a:p>
        </p:txBody>
      </p:sp>
      <p:sp>
        <p:nvSpPr>
          <p:cNvPr id="7" name="Text 5"/>
          <p:cNvSpPr/>
          <p:nvPr/>
        </p:nvSpPr>
        <p:spPr>
          <a:xfrm>
            <a:off x="1047750" y="1840230"/>
            <a:ext cx="17811750" cy="579120"/>
          </a:xfrm>
          <a:prstGeom prst="rect">
            <a:avLst/>
          </a:prstGeom>
          <a:noFill/>
          <a:ln/>
        </p:spPr>
        <p:txBody>
          <a:bodyPr wrap="square" lIns="25400" tIns="25400" rIns="25400" bIns="25400" rtlCol="0" anchor="t">
            <a:normAutofit/>
          </a:bodyPr>
          <a:lstStyle/>
          <a:p>
            <a:pPr marL="0" indent="0" algn="l">
              <a:buNone/>
            </a:pPr>
            <a:r>
              <a:rPr lang="en-US" sz="3750" b="1" dirty="0">
                <a:solidFill>
                  <a:srgbClr val="1A2A5E"/>
                </a:solidFill>
                <a:latin typeface="Georgia" pitchFamily="34" charset="0"/>
                <a:ea typeface="Georgia" pitchFamily="34" charset="-122"/>
                <a:cs typeface="Georgia" pitchFamily="34" charset="-120"/>
              </a:rPr>
              <a:t>You design for a fashion brand</a:t>
            </a:r>
            <a:endParaRPr lang="en-US" sz="3750" dirty="0"/>
          </a:p>
        </p:txBody>
      </p:sp>
      <p:sp>
        <p:nvSpPr>
          <p:cNvPr id="8" name="Shape 6"/>
          <p:cNvSpPr/>
          <p:nvPr/>
        </p:nvSpPr>
        <p:spPr>
          <a:xfrm>
            <a:off x="1047750" y="2819400"/>
            <a:ext cx="14859000" cy="9525"/>
          </a:xfrm>
          <a:prstGeom prst="rect">
            <a:avLst/>
          </a:prstGeom>
          <a:solidFill>
            <a:srgbClr val="D8D6D0"/>
          </a:solidFill>
          <a:ln/>
        </p:spPr>
        <p:txBody>
          <a:bodyPr/>
          <a:lstStyle/>
          <a:p>
            <a:endParaRPr lang="en-US"/>
          </a:p>
        </p:txBody>
      </p:sp>
      <p:sp>
        <p:nvSpPr>
          <p:cNvPr id="9" name="Text 7"/>
          <p:cNvSpPr/>
          <p:nvPr/>
        </p:nvSpPr>
        <p:spPr>
          <a:xfrm>
            <a:off x="1047750" y="3093720"/>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ROLE</a:t>
            </a:r>
            <a:endParaRPr lang="en-US" sz="1800" dirty="0"/>
          </a:p>
        </p:txBody>
      </p:sp>
      <p:sp>
        <p:nvSpPr>
          <p:cNvPr id="10" name="Text 8"/>
          <p:cNvSpPr/>
          <p:nvPr/>
        </p:nvSpPr>
        <p:spPr>
          <a:xfrm>
            <a:off x="3238500" y="3055620"/>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You design clothes for a popular fashion brand.</a:t>
            </a:r>
            <a:endParaRPr lang="en-US" sz="2250" dirty="0"/>
          </a:p>
        </p:txBody>
      </p:sp>
      <p:sp>
        <p:nvSpPr>
          <p:cNvPr id="11" name="Shape 9"/>
          <p:cNvSpPr/>
          <p:nvPr/>
        </p:nvSpPr>
        <p:spPr>
          <a:xfrm>
            <a:off x="1047750" y="3689033"/>
            <a:ext cx="14859000" cy="9525"/>
          </a:xfrm>
          <a:prstGeom prst="rect">
            <a:avLst/>
          </a:prstGeom>
          <a:solidFill>
            <a:srgbClr val="D8D6D0"/>
          </a:solidFill>
          <a:ln/>
        </p:spPr>
        <p:txBody>
          <a:bodyPr/>
          <a:lstStyle/>
          <a:p>
            <a:endParaRPr lang="en-US"/>
          </a:p>
        </p:txBody>
      </p:sp>
      <p:sp>
        <p:nvSpPr>
          <p:cNvPr id="12" name="Text 10"/>
          <p:cNvSpPr/>
          <p:nvPr/>
        </p:nvSpPr>
        <p:spPr>
          <a:xfrm>
            <a:off x="1047750" y="3963353"/>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TASK</a:t>
            </a:r>
            <a:endParaRPr lang="en-US" sz="1800" dirty="0"/>
          </a:p>
        </p:txBody>
      </p:sp>
      <p:sp>
        <p:nvSpPr>
          <p:cNvPr id="13" name="Text 11"/>
          <p:cNvSpPr/>
          <p:nvPr/>
        </p:nvSpPr>
        <p:spPr>
          <a:xfrm>
            <a:off x="3238500" y="3925253"/>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Agree on three changes to make your brand less wasteful.</a:t>
            </a:r>
            <a:endParaRPr lang="en-US" sz="2250" dirty="0"/>
          </a:p>
        </p:txBody>
      </p:sp>
      <p:sp>
        <p:nvSpPr>
          <p:cNvPr id="14" name="Shape 12"/>
          <p:cNvSpPr/>
          <p:nvPr/>
        </p:nvSpPr>
        <p:spPr>
          <a:xfrm>
            <a:off x="1047750" y="5409248"/>
            <a:ext cx="14859000" cy="9525"/>
          </a:xfrm>
          <a:prstGeom prst="rect">
            <a:avLst/>
          </a:prstGeom>
          <a:solidFill>
            <a:srgbClr val="D8D6D0"/>
          </a:solidFill>
          <a:ln/>
        </p:spPr>
        <p:txBody>
          <a:bodyPr/>
          <a:lstStyle/>
          <a:p>
            <a:endParaRPr lang="en-US"/>
          </a:p>
        </p:txBody>
      </p:sp>
      <p:sp>
        <p:nvSpPr>
          <p:cNvPr id="15" name="Shape 13"/>
          <p:cNvSpPr/>
          <p:nvPr/>
        </p:nvSpPr>
        <p:spPr>
          <a:xfrm>
            <a:off x="1047750" y="4558665"/>
            <a:ext cx="14859000" cy="9525"/>
          </a:xfrm>
          <a:prstGeom prst="rect">
            <a:avLst/>
          </a:prstGeom>
          <a:solidFill>
            <a:srgbClr val="D8D6D0"/>
          </a:solidFill>
          <a:ln/>
        </p:spPr>
        <p:txBody>
          <a:bodyPr/>
          <a:lstStyle/>
          <a:p>
            <a:endParaRPr lang="en-US"/>
          </a:p>
        </p:txBody>
      </p:sp>
      <p:sp>
        <p:nvSpPr>
          <p:cNvPr id="16" name="Text 14"/>
          <p:cNvSpPr/>
          <p:nvPr/>
        </p:nvSpPr>
        <p:spPr>
          <a:xfrm>
            <a:off x="1047750" y="4832985"/>
            <a:ext cx="2095500" cy="358140"/>
          </a:xfrm>
          <a:prstGeom prst="rect">
            <a:avLst/>
          </a:prstGeom>
          <a:noFill/>
          <a:ln/>
        </p:spPr>
        <p:txBody>
          <a:bodyPr wrap="square" lIns="25400" tIns="25400" rIns="25400" bIns="25400" rtlCol="0" anchor="t">
            <a:normAutofit/>
          </a:bodyPr>
          <a:lstStyle/>
          <a:p>
            <a:pPr marL="0" indent="0" algn="l">
              <a:buNone/>
            </a:pPr>
            <a:r>
              <a:rPr lang="en-US" sz="1800" b="1" kern="0" spc="225" dirty="0">
                <a:solidFill>
                  <a:srgbClr val="1A2A5E"/>
                </a:solidFill>
                <a:latin typeface="Helvetica" pitchFamily="34" charset="0"/>
                <a:ea typeface="Helvetica" pitchFamily="34" charset="-122"/>
                <a:cs typeface="Helvetica" pitchFamily="34" charset="-120"/>
              </a:rPr>
              <a:t>PRESENT</a:t>
            </a:r>
            <a:endParaRPr lang="en-US" sz="1800" dirty="0"/>
          </a:p>
        </p:txBody>
      </p:sp>
      <p:sp>
        <p:nvSpPr>
          <p:cNvPr id="17" name="Text 15"/>
          <p:cNvSpPr/>
          <p:nvPr/>
        </p:nvSpPr>
        <p:spPr>
          <a:xfrm>
            <a:off x="3238500" y="4794885"/>
            <a:ext cx="13935075" cy="423863"/>
          </a:xfrm>
          <a:prstGeom prst="rect">
            <a:avLst/>
          </a:prstGeom>
          <a:noFill/>
          <a:ln/>
        </p:spPr>
        <p:txBody>
          <a:bodyPr wrap="square" lIns="25400" tIns="25400" rIns="25400" bIns="25400" rtlCol="0" anchor="t">
            <a:normAutofit/>
          </a:bodyPr>
          <a:lstStyle/>
          <a:p>
            <a:pPr marL="0" indent="0" algn="l">
              <a:lnSpc>
                <a:spcPct val="135000"/>
              </a:lnSpc>
              <a:buNone/>
            </a:pPr>
            <a:r>
              <a:rPr lang="en-US" sz="2250" dirty="0">
                <a:solidFill>
                  <a:srgbClr val="222222"/>
                </a:solidFill>
                <a:latin typeface="Helvetica" pitchFamily="34" charset="0"/>
                <a:ea typeface="Helvetica" pitchFamily="34" charset="-122"/>
                <a:cs typeface="Helvetica" pitchFamily="34" charset="-120"/>
              </a:rPr>
              <a:t>Share your plan and explain how it helps people and the planet.</a:t>
            </a:r>
            <a:endParaRPr lang="en-US" sz="2250" dirty="0"/>
          </a:p>
        </p:txBody>
      </p:sp>
      <p:sp>
        <p:nvSpPr>
          <p:cNvPr id="18" name="Text 16"/>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a:t>
            </a:r>
            <a:endParaRPr lang="en-US" sz="127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047750" y="1101090"/>
            <a:ext cx="16192500" cy="22860"/>
          </a:xfrm>
          <a:prstGeom prst="rect">
            <a:avLst/>
          </a:prstGeom>
          <a:solidFill>
            <a:srgbClr val="1A2A5E"/>
          </a:solidFill>
          <a:ln/>
        </p:spPr>
        <p:txBody>
          <a:bodyPr/>
          <a:lstStyle/>
          <a:p>
            <a:endParaRPr lang="en-US"/>
          </a:p>
        </p:txBody>
      </p:sp>
      <p:sp>
        <p:nvSpPr>
          <p:cNvPr id="3" name="Text 1"/>
          <p:cNvSpPr/>
          <p:nvPr/>
        </p:nvSpPr>
        <p:spPr>
          <a:xfrm>
            <a:off x="1047750" y="666750"/>
            <a:ext cx="3771900" cy="320040"/>
          </a:xfrm>
          <a:prstGeom prst="rect">
            <a:avLst/>
          </a:prstGeom>
          <a:noFill/>
          <a:ln/>
        </p:spPr>
        <p:txBody>
          <a:bodyPr wrap="none" lIns="25400" tIns="25400" rIns="25400" bIns="25400" rtlCol="0" anchor="t">
            <a:normAutofit/>
          </a:bodyPr>
          <a:lstStyle/>
          <a:p>
            <a:pPr marL="0" indent="0" algn="l">
              <a:buNone/>
            </a:pPr>
            <a:r>
              <a:rPr lang="en-US" sz="1950" b="1" kern="0" spc="38" dirty="0">
                <a:solidFill>
                  <a:srgbClr val="1A2A5E"/>
                </a:solidFill>
                <a:latin typeface="Georgia" pitchFamily="34" charset="0"/>
                <a:ea typeface="Georgia" pitchFamily="34" charset="-122"/>
                <a:cs typeface="Georgia" pitchFamily="34" charset="-120"/>
              </a:rPr>
              <a:t>PERSPECTIVE</a:t>
            </a:r>
            <a:endParaRPr lang="en-US" sz="1950" dirty="0"/>
          </a:p>
        </p:txBody>
      </p:sp>
      <p:sp>
        <p:nvSpPr>
          <p:cNvPr id="4" name="Text 2"/>
          <p:cNvSpPr/>
          <p:nvPr/>
        </p:nvSpPr>
        <p:spPr>
          <a:xfrm>
            <a:off x="14525506" y="701040"/>
            <a:ext cx="2986219" cy="251460"/>
          </a:xfrm>
          <a:prstGeom prst="rect">
            <a:avLst/>
          </a:prstGeom>
          <a:noFill/>
          <a:ln/>
        </p:spPr>
        <p:txBody>
          <a:bodyPr wrap="square" lIns="25400" tIns="25400" rIns="25400" bIns="25400" rtlCol="0" anchor="t">
            <a:normAutofit/>
          </a:bodyPr>
          <a:lstStyle/>
          <a:p>
            <a:pPr marL="0" indent="0" algn="l">
              <a:buNone/>
            </a:pPr>
            <a:r>
              <a:rPr lang="en-US" sz="1200" b="1" kern="0" spc="150" dirty="0">
                <a:solidFill>
                  <a:srgbClr val="1A2A5E"/>
                </a:solidFill>
                <a:latin typeface="Helvetica" pitchFamily="34" charset="0"/>
                <a:ea typeface="Helvetica" pitchFamily="34" charset="-122"/>
                <a:cs typeface="Helvetica" pitchFamily="34" charset="-120"/>
              </a:rPr>
              <a:t>ISSUE 004 · FAST FASHION</a:t>
            </a:r>
            <a:endParaRPr lang="en-US" sz="1200" dirty="0"/>
          </a:p>
        </p:txBody>
      </p:sp>
      <p:sp>
        <p:nvSpPr>
          <p:cNvPr id="5" name="Text 3"/>
          <p:cNvSpPr/>
          <p:nvPr/>
        </p:nvSpPr>
        <p:spPr>
          <a:xfrm>
            <a:off x="1047750" y="1695450"/>
            <a:ext cx="17811750" cy="259080"/>
          </a:xfrm>
          <a:prstGeom prst="rect">
            <a:avLst/>
          </a:prstGeom>
          <a:noFill/>
          <a:ln/>
        </p:spPr>
        <p:txBody>
          <a:bodyPr wrap="square" lIns="25400" tIns="25400" rIns="25400" bIns="25400" rtlCol="0" anchor="t">
            <a:normAutofit/>
          </a:bodyPr>
          <a:lstStyle/>
          <a:p>
            <a:pPr marL="0" indent="0" algn="l">
              <a:buNone/>
            </a:pPr>
            <a:r>
              <a:rPr lang="en-US" sz="1500" b="1" kern="0" spc="300" dirty="0">
                <a:solidFill>
                  <a:srgbClr val="BF842C"/>
                </a:solidFill>
                <a:latin typeface="Helvetica" pitchFamily="34" charset="0"/>
                <a:ea typeface="Helvetica" pitchFamily="34" charset="-122"/>
                <a:cs typeface="Helvetica" pitchFamily="34" charset="-120"/>
              </a:rPr>
              <a:t>WRITING · YOUR OPINION</a:t>
            </a:r>
            <a:endParaRPr lang="en-US" sz="1500" dirty="0"/>
          </a:p>
        </p:txBody>
      </p:sp>
      <p:sp>
        <p:nvSpPr>
          <p:cNvPr id="6" name="Text 4"/>
          <p:cNvSpPr/>
          <p:nvPr/>
        </p:nvSpPr>
        <p:spPr>
          <a:xfrm>
            <a:off x="1047750" y="2145030"/>
            <a:ext cx="15206662" cy="1588770"/>
          </a:xfrm>
          <a:prstGeom prst="rect">
            <a:avLst/>
          </a:prstGeom>
          <a:noFill/>
          <a:ln/>
        </p:spPr>
        <p:txBody>
          <a:bodyPr wrap="square" lIns="25400" tIns="25400" rIns="25400" bIns="25400" rtlCol="0" anchor="t">
            <a:normAutofit/>
          </a:bodyPr>
          <a:lstStyle/>
          <a:p>
            <a:pPr marL="0" indent="0" algn="l">
              <a:lnSpc>
                <a:spcPct val="110000"/>
              </a:lnSpc>
              <a:buNone/>
            </a:pPr>
            <a:r>
              <a:rPr lang="en-US" sz="5550" b="1" dirty="0">
                <a:solidFill>
                  <a:srgbClr val="1A2A5E"/>
                </a:solidFill>
                <a:latin typeface="Georgia" pitchFamily="34" charset="0"/>
                <a:ea typeface="Georgia" pitchFamily="34" charset="-122"/>
                <a:cs typeface="Georgia" pitchFamily="34" charset="-120"/>
              </a:rPr>
              <a:t>Is it better to own a few good clothes or many cheap ones?</a:t>
            </a:r>
            <a:endParaRPr lang="en-US" sz="5550" dirty="0"/>
          </a:p>
        </p:txBody>
      </p:sp>
      <p:sp>
        <p:nvSpPr>
          <p:cNvPr id="7" name="Text 5"/>
          <p:cNvSpPr/>
          <p:nvPr/>
        </p:nvSpPr>
        <p:spPr>
          <a:xfrm>
            <a:off x="1047750" y="4076700"/>
            <a:ext cx="13620750" cy="464820"/>
          </a:xfrm>
          <a:prstGeom prst="rect">
            <a:avLst/>
          </a:prstGeom>
          <a:noFill/>
          <a:ln/>
        </p:spPr>
        <p:txBody>
          <a:bodyPr wrap="square" lIns="25400" tIns="25400" rIns="25400" bIns="25400" rtlCol="0" anchor="t">
            <a:normAutofit/>
          </a:bodyPr>
          <a:lstStyle/>
          <a:p>
            <a:pPr marL="0" indent="0" algn="l">
              <a:lnSpc>
                <a:spcPct val="140000"/>
              </a:lnSpc>
              <a:buNone/>
            </a:pPr>
            <a:r>
              <a:rPr lang="en-US" sz="2400" dirty="0">
                <a:solidFill>
                  <a:srgbClr val="444444"/>
                </a:solidFill>
                <a:latin typeface="Helvetica" pitchFamily="34" charset="0"/>
                <a:ea typeface="Helvetica" pitchFamily="34" charset="-122"/>
                <a:cs typeface="Helvetica" pitchFamily="34" charset="-120"/>
              </a:rPr>
              <a:t>Write </a:t>
            </a:r>
            <a:r>
              <a:rPr lang="en-US" sz="2400" b="1" dirty="0">
                <a:solidFill>
                  <a:srgbClr val="1A2A5E"/>
                </a:solidFill>
                <a:latin typeface="Helvetica" pitchFamily="34" charset="0"/>
                <a:ea typeface="Helvetica" pitchFamily="34" charset="-122"/>
                <a:cs typeface="Helvetica" pitchFamily="34" charset="-120"/>
              </a:rPr>
              <a:t>150–200 words</a:t>
            </a:r>
            <a:r>
              <a:rPr lang="en-US" sz="2400" dirty="0">
                <a:solidFill>
                  <a:srgbClr val="444444"/>
                </a:solidFill>
                <a:latin typeface="Helvetica" pitchFamily="34" charset="0"/>
                <a:ea typeface="Helvetica" pitchFamily="34" charset="-122"/>
                <a:cs typeface="Helvetica" pitchFamily="34" charset="-120"/>
              </a:rPr>
              <a:t>, using ideas and vocabulary from the article.</a:t>
            </a:r>
            <a:endParaRPr lang="en-US" sz="2400" dirty="0"/>
          </a:p>
        </p:txBody>
      </p:sp>
      <p:sp>
        <p:nvSpPr>
          <p:cNvPr id="8" name="Shape 6"/>
          <p:cNvSpPr/>
          <p:nvPr/>
        </p:nvSpPr>
        <p:spPr>
          <a:xfrm>
            <a:off x="1047750" y="4979670"/>
            <a:ext cx="2476500" cy="22860"/>
          </a:xfrm>
          <a:prstGeom prst="rect">
            <a:avLst/>
          </a:prstGeom>
          <a:solidFill>
            <a:srgbClr val="D9B877"/>
          </a:solidFill>
          <a:ln/>
        </p:spPr>
        <p:txBody>
          <a:bodyPr/>
          <a:lstStyle/>
          <a:p>
            <a:endParaRPr lang="en-US"/>
          </a:p>
        </p:txBody>
      </p:sp>
      <p:sp>
        <p:nvSpPr>
          <p:cNvPr id="9" name="Text 7"/>
          <p:cNvSpPr/>
          <p:nvPr/>
        </p:nvSpPr>
        <p:spPr>
          <a:xfrm>
            <a:off x="1047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Give your opinion clearly</a:t>
            </a:r>
            <a:endParaRPr lang="en-US" sz="1800" dirty="0"/>
          </a:p>
        </p:txBody>
      </p:sp>
      <p:sp>
        <p:nvSpPr>
          <p:cNvPr id="10" name="Shape 8"/>
          <p:cNvSpPr/>
          <p:nvPr/>
        </p:nvSpPr>
        <p:spPr>
          <a:xfrm>
            <a:off x="3905250" y="4979670"/>
            <a:ext cx="2476500" cy="22860"/>
          </a:xfrm>
          <a:prstGeom prst="rect">
            <a:avLst/>
          </a:prstGeom>
          <a:solidFill>
            <a:srgbClr val="D9B877"/>
          </a:solidFill>
          <a:ln/>
        </p:spPr>
        <p:txBody>
          <a:bodyPr/>
          <a:lstStyle/>
          <a:p>
            <a:endParaRPr lang="en-US"/>
          </a:p>
        </p:txBody>
      </p:sp>
      <p:sp>
        <p:nvSpPr>
          <p:cNvPr id="11" name="Text 9"/>
          <p:cNvSpPr/>
          <p:nvPr/>
        </p:nvSpPr>
        <p:spPr>
          <a:xfrm>
            <a:off x="39052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Support it with reasons</a:t>
            </a:r>
            <a:endParaRPr lang="en-US" sz="1800" dirty="0"/>
          </a:p>
        </p:txBody>
      </p:sp>
      <p:sp>
        <p:nvSpPr>
          <p:cNvPr id="12" name="Shape 10"/>
          <p:cNvSpPr/>
          <p:nvPr/>
        </p:nvSpPr>
        <p:spPr>
          <a:xfrm>
            <a:off x="6762750" y="4979670"/>
            <a:ext cx="2476500" cy="22860"/>
          </a:xfrm>
          <a:prstGeom prst="rect">
            <a:avLst/>
          </a:prstGeom>
          <a:solidFill>
            <a:srgbClr val="D9B877"/>
          </a:solidFill>
          <a:ln/>
        </p:spPr>
        <p:txBody>
          <a:bodyPr/>
          <a:lstStyle/>
          <a:p>
            <a:endParaRPr lang="en-US"/>
          </a:p>
        </p:txBody>
      </p:sp>
      <p:sp>
        <p:nvSpPr>
          <p:cNvPr id="13" name="Text 11"/>
          <p:cNvSpPr/>
          <p:nvPr/>
        </p:nvSpPr>
        <p:spPr>
          <a:xfrm>
            <a:off x="6762750" y="5135880"/>
            <a:ext cx="2552700" cy="556260"/>
          </a:xfrm>
          <a:prstGeom prst="rect">
            <a:avLst/>
          </a:prstGeom>
          <a:noFill/>
          <a:ln/>
        </p:spPr>
        <p:txBody>
          <a:bodyPr wrap="square" lIns="25400" tIns="25400" rIns="25400" bIns="25400" rtlCol="0" anchor="t">
            <a:normAutofit/>
          </a:bodyPr>
          <a:lstStyle/>
          <a:p>
            <a:pPr marL="0" indent="0" algn="l">
              <a:buNone/>
            </a:pPr>
            <a:r>
              <a:rPr lang="en-US" sz="1800" dirty="0">
                <a:solidFill>
                  <a:srgbClr val="777777"/>
                </a:solidFill>
                <a:latin typeface="Helvetica" pitchFamily="34" charset="0"/>
                <a:ea typeface="Helvetica" pitchFamily="34" charset="-122"/>
                <a:cs typeface="Helvetica" pitchFamily="34" charset="-120"/>
              </a:rPr>
              <a:t>Use the key vocabulary</a:t>
            </a:r>
            <a:endParaRPr lang="en-US" sz="1800" dirty="0"/>
          </a:p>
        </p:txBody>
      </p:sp>
      <p:sp>
        <p:nvSpPr>
          <p:cNvPr id="14" name="Text 12"/>
          <p:cNvSpPr/>
          <p:nvPr/>
        </p:nvSpPr>
        <p:spPr>
          <a:xfrm>
            <a:off x="1047750" y="9429750"/>
            <a:ext cx="17811750" cy="228600"/>
          </a:xfrm>
          <a:prstGeom prst="rect">
            <a:avLst/>
          </a:prstGeom>
          <a:noFill/>
          <a:ln/>
        </p:spPr>
        <p:txBody>
          <a:bodyPr wrap="square" lIns="25400" tIns="25400" rIns="25400" bIns="25400" rtlCol="0" anchor="t">
            <a:normAutofit/>
          </a:bodyPr>
          <a:lstStyle/>
          <a:p>
            <a:pPr marL="0" indent="0" algn="l">
              <a:buNone/>
            </a:pPr>
            <a:r>
              <a:rPr lang="en-US" sz="1275" kern="0" spc="38" dirty="0">
                <a:solidFill>
                  <a:srgbClr val="9A9890"/>
                </a:solidFill>
                <a:latin typeface="Helvetica" pitchFamily="34" charset="0"/>
                <a:ea typeface="Helvetica" pitchFamily="34" charset="-122"/>
                <a:cs typeface="Helvetica" pitchFamily="34" charset="-120"/>
              </a:rPr>
              <a:t>perspectiveenglish.com | Model answer in the Teacher Guide</a:t>
            </a:r>
            <a:endParaRPr lang="en-US" sz="127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1A2A5E"/>
        </a:solidFill>
        <a:effectLst/>
      </p:bgPr>
    </p:bg>
    <p:spTree>
      <p:nvGrpSpPr>
        <p:cNvPr id="1" name=""/>
        <p:cNvGrpSpPr/>
        <p:nvPr/>
      </p:nvGrpSpPr>
      <p:grpSpPr>
        <a:xfrm>
          <a:off x="0" y="0"/>
          <a:ext cx="0" cy="0"/>
          <a:chOff x="0" y="0"/>
          <a:chExt cx="0" cy="0"/>
        </a:xfrm>
      </p:grpSpPr>
      <p:sp>
        <p:nvSpPr>
          <p:cNvPr id="2" name="Text 0"/>
          <p:cNvSpPr/>
          <p:nvPr/>
        </p:nvSpPr>
        <p:spPr>
          <a:xfrm>
            <a:off x="1238250" y="1047750"/>
            <a:ext cx="5448300" cy="472440"/>
          </a:xfrm>
          <a:prstGeom prst="rect">
            <a:avLst/>
          </a:prstGeom>
          <a:noFill/>
          <a:ln/>
        </p:spPr>
        <p:txBody>
          <a:bodyPr wrap="none" lIns="25400" tIns="25400" rIns="25400" bIns="25400" rtlCol="0" anchor="t">
            <a:normAutofit/>
          </a:bodyPr>
          <a:lstStyle/>
          <a:p>
            <a:pPr marL="0" indent="0" algn="l">
              <a:buNone/>
            </a:pPr>
            <a:r>
              <a:rPr lang="en-US" sz="3000" b="1" kern="0" spc="75" dirty="0">
                <a:solidFill>
                  <a:srgbClr val="FFFFFF"/>
                </a:solidFill>
                <a:latin typeface="Georgia" pitchFamily="34" charset="0"/>
                <a:ea typeface="Georgia" pitchFamily="34" charset="-122"/>
                <a:cs typeface="Georgia" pitchFamily="34" charset="-120"/>
              </a:rPr>
              <a:t>PERSPECTIVE</a:t>
            </a:r>
            <a:endParaRPr lang="en-US" sz="3000" dirty="0"/>
          </a:p>
        </p:txBody>
      </p:sp>
      <p:sp>
        <p:nvSpPr>
          <p:cNvPr id="3" name="Text 1"/>
          <p:cNvSpPr/>
          <p:nvPr/>
        </p:nvSpPr>
        <p:spPr>
          <a:xfrm>
            <a:off x="1238250" y="3769995"/>
            <a:ext cx="17392650" cy="281940"/>
          </a:xfrm>
          <a:prstGeom prst="rect">
            <a:avLst/>
          </a:prstGeom>
          <a:noFill/>
          <a:ln/>
        </p:spPr>
        <p:txBody>
          <a:bodyPr wrap="square" lIns="25400" tIns="25400" rIns="25400" bIns="25400" rtlCol="0" anchor="t">
            <a:normAutofit/>
          </a:bodyPr>
          <a:lstStyle/>
          <a:p>
            <a:pPr marL="0" indent="0" algn="l">
              <a:buNone/>
            </a:pPr>
            <a:r>
              <a:rPr lang="en-US" sz="1650" b="1" kern="0" spc="450" dirty="0">
                <a:solidFill>
                  <a:srgbClr val="D9B877"/>
                </a:solidFill>
                <a:latin typeface="Helvetica" pitchFamily="34" charset="0"/>
                <a:ea typeface="Helvetica" pitchFamily="34" charset="-122"/>
                <a:cs typeface="Helvetica" pitchFamily="34" charset="-120"/>
              </a:rPr>
              <a:t>THAT’S A WRAP</a:t>
            </a:r>
            <a:endParaRPr lang="en-US" sz="1650" dirty="0"/>
          </a:p>
        </p:txBody>
      </p:sp>
      <p:sp>
        <p:nvSpPr>
          <p:cNvPr id="4" name="Text 2"/>
          <p:cNvSpPr/>
          <p:nvPr/>
        </p:nvSpPr>
        <p:spPr>
          <a:xfrm>
            <a:off x="1238250" y="4204335"/>
            <a:ext cx="16285845" cy="1958340"/>
          </a:xfrm>
          <a:prstGeom prst="rect">
            <a:avLst/>
          </a:prstGeom>
          <a:noFill/>
          <a:ln/>
        </p:spPr>
        <p:txBody>
          <a:bodyPr wrap="square" lIns="25400" tIns="25400" rIns="25400" bIns="25400" rtlCol="0" anchor="t">
            <a:normAutofit/>
          </a:bodyPr>
          <a:lstStyle/>
          <a:p>
            <a:pPr marL="0" indent="0" algn="l">
              <a:lnSpc>
                <a:spcPct val="105000"/>
              </a:lnSpc>
              <a:buNone/>
            </a:pPr>
            <a:r>
              <a:rPr lang="en-US" sz="7200" b="1" dirty="0">
                <a:solidFill>
                  <a:srgbClr val="FFFFFF"/>
                </a:solidFill>
                <a:latin typeface="Georgia" pitchFamily="34" charset="0"/>
                <a:ea typeface="Georgia" pitchFamily="34" charset="-122"/>
                <a:cs typeface="Georgia" pitchFamily="34" charset="-120"/>
              </a:rPr>
              <a:t>One fact. One perspective. Endless discussion.</a:t>
            </a:r>
            <a:endParaRPr lang="en-US" sz="7200" dirty="0"/>
          </a:p>
        </p:txBody>
      </p:sp>
      <p:sp>
        <p:nvSpPr>
          <p:cNvPr id="5" name="Text 3"/>
          <p:cNvSpPr/>
          <p:nvPr/>
        </p:nvSpPr>
        <p:spPr>
          <a:xfrm>
            <a:off x="1238250" y="6410325"/>
            <a:ext cx="17392650" cy="365760"/>
          </a:xfrm>
          <a:prstGeom prst="rect">
            <a:avLst/>
          </a:prstGeom>
          <a:noFill/>
          <a:ln/>
        </p:spPr>
        <p:txBody>
          <a:bodyPr wrap="square" lIns="25400" tIns="25400" rIns="25400" bIns="25400" rtlCol="0" anchor="t">
            <a:normAutofit/>
          </a:bodyPr>
          <a:lstStyle/>
          <a:p>
            <a:pPr marL="0" indent="0" algn="l">
              <a:buNone/>
            </a:pPr>
            <a:r>
              <a:rPr lang="en-US" sz="2250" dirty="0">
                <a:solidFill>
                  <a:srgbClr val="DFE4F0"/>
                </a:solidFill>
                <a:latin typeface="Helvetica" pitchFamily="34" charset="0"/>
                <a:ea typeface="Helvetica" pitchFamily="34" charset="-122"/>
                <a:cs typeface="Helvetica" pitchFamily="34" charset="-120"/>
              </a:rPr>
              <a:t>Thanks for a great lesson. See you in the next issue.</a:t>
            </a:r>
            <a:endParaRPr lang="en-US" sz="2250" dirty="0"/>
          </a:p>
        </p:txBody>
      </p:sp>
      <p:sp>
        <p:nvSpPr>
          <p:cNvPr id="6" name="Text 4"/>
          <p:cNvSpPr/>
          <p:nvPr/>
        </p:nvSpPr>
        <p:spPr>
          <a:xfrm>
            <a:off x="1238250" y="9025890"/>
            <a:ext cx="2310813"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perspectiveenglish.com</a:t>
            </a:r>
            <a:endParaRPr lang="en-US" sz="1425" dirty="0"/>
          </a:p>
        </p:txBody>
      </p:sp>
      <p:sp>
        <p:nvSpPr>
          <p:cNvPr id="7" name="Text 5"/>
          <p:cNvSpPr/>
          <p:nvPr/>
        </p:nvSpPr>
        <p:spPr>
          <a:xfrm>
            <a:off x="12777431" y="9025890"/>
            <a:ext cx="4699552" cy="251460"/>
          </a:xfrm>
          <a:prstGeom prst="rect">
            <a:avLst/>
          </a:prstGeom>
          <a:noFill/>
          <a:ln/>
        </p:spPr>
        <p:txBody>
          <a:bodyPr wrap="square" lIns="25400" tIns="25400" rIns="25400" bIns="25400" rtlCol="0" anchor="t">
            <a:normAutofit/>
          </a:bodyPr>
          <a:lstStyle/>
          <a:p>
            <a:pPr marL="0" indent="0" algn="l">
              <a:buNone/>
            </a:pPr>
            <a:r>
              <a:rPr lang="en-US" sz="1425" kern="0" spc="75" dirty="0">
                <a:solidFill>
                  <a:srgbClr val="9AA6C6"/>
                </a:solidFill>
                <a:latin typeface="Helvetica" pitchFamily="34" charset="0"/>
                <a:ea typeface="Helvetica" pitchFamily="34" charset="-122"/>
                <a:cs typeface="Helvetica" pitchFamily="34" charset="-120"/>
              </a:rPr>
              <a:t>© 2026 Perspective English. All rights reserved.</a:t>
            </a:r>
            <a:endParaRPr lang="en-US" sz="142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1836</Words>
  <Application>Microsoft Office PowerPoint</Application>
  <PresentationFormat>Custom</PresentationFormat>
  <Paragraphs>254</Paragraphs>
  <Slides>16</Slides>
  <Notes>16</Notes>
  <HiddenSlides>0</HiddenSlides>
  <MMClips>1</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Georgia</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Wil Williams</cp:lastModifiedBy>
  <cp:revision>2</cp:revision>
  <dcterms:created xsi:type="dcterms:W3CDTF">2026-07-05T04:26:04Z</dcterms:created>
  <dcterms:modified xsi:type="dcterms:W3CDTF">2026-07-05T04:31:21Z</dcterms:modified>
</cp:coreProperties>
</file>