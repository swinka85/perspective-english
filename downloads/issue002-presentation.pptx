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53" d="100"/>
          <a:sy n="53" d="100"/>
        </p:scale>
        <p:origin x="8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585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002 of Perspective — today's topic is AI in Education.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how is AI changing education, what are the benefits, and what are the risks? Point out the balanced view — AI is a tool, not simply good or bad. End on the pull-quote about what education is really for.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2 and 4 are False: AI is used by university students too (not only children), and not every school has banned it — some build their own tools.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&amp; Against. In small groups, students list the strongest arguments for and against schools embracing AI, then decide where they stand. Disagreement is welcome — the reasoning is the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The goal is that students can say each line aloud and use the words in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task. In small groups, students act as teachers writing their school's AI rules. Give ~8 minutes to agree on three rules, then each group presents and explains how the rules keep learning fair.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003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002</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1250" b="1" kern="0" spc="-150" dirty="0">
                <a:solidFill>
                  <a:srgbClr val="FFFFFF"/>
                </a:solidFill>
                <a:latin typeface="Playfair Display" pitchFamily="34" charset="0"/>
                <a:ea typeface="Playfair Display" pitchFamily="34" charset="-122"/>
                <a:cs typeface="Playfair Display" pitchFamily="34" charset="-120"/>
              </a:rPr>
              <a:t>AI in Education</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Can a machine help us learn?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What we’ll do today</a:t>
            </a:r>
            <a:endParaRPr lang="en-US" sz="4500" dirty="0"/>
          </a:p>
        </p:txBody>
      </p:sp>
      <p:sp>
        <p:nvSpPr>
          <p:cNvPr id="7" name="Text 5"/>
          <p:cNvSpPr/>
          <p:nvPr/>
        </p:nvSpPr>
        <p:spPr>
          <a:xfrm>
            <a:off x="1047750" y="3257550"/>
            <a:ext cx="515422"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01</a:t>
            </a:r>
            <a:endParaRPr lang="en-US" sz="3300" dirty="0"/>
          </a:p>
        </p:txBody>
      </p:sp>
      <p:sp>
        <p:nvSpPr>
          <p:cNvPr id="8" name="Text 6"/>
          <p:cNvSpPr/>
          <p:nvPr/>
        </p:nvSpPr>
        <p:spPr>
          <a:xfrm>
            <a:off x="1715572" y="3257550"/>
            <a:ext cx="3715583"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5572" y="3623310"/>
            <a:ext cx="371558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257550"/>
            <a:ext cx="578287"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02</a:t>
            </a:r>
            <a:endParaRPr lang="en-US" sz="3300" dirty="0"/>
          </a:p>
        </p:txBody>
      </p:sp>
      <p:sp>
        <p:nvSpPr>
          <p:cNvPr id="11" name="Text 9"/>
          <p:cNvSpPr/>
          <p:nvPr/>
        </p:nvSpPr>
        <p:spPr>
          <a:xfrm>
            <a:off x="10208062" y="3257550"/>
            <a:ext cx="317769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208062" y="3623310"/>
            <a:ext cx="317769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4152900"/>
            <a:ext cx="562451"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03</a:t>
            </a:r>
            <a:endParaRPr lang="en-US" sz="3300" dirty="0"/>
          </a:p>
        </p:txBody>
      </p:sp>
      <p:sp>
        <p:nvSpPr>
          <p:cNvPr id="14" name="Text 12"/>
          <p:cNvSpPr/>
          <p:nvPr/>
        </p:nvSpPr>
        <p:spPr>
          <a:xfrm>
            <a:off x="1762601" y="4152900"/>
            <a:ext cx="398511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2601" y="4518660"/>
            <a:ext cx="398511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4152900"/>
            <a:ext cx="574119"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04</a:t>
            </a:r>
            <a:endParaRPr lang="en-US" sz="3300" dirty="0"/>
          </a:p>
        </p:txBody>
      </p:sp>
      <p:sp>
        <p:nvSpPr>
          <p:cNvPr id="17" name="Text 15"/>
          <p:cNvSpPr/>
          <p:nvPr/>
        </p:nvSpPr>
        <p:spPr>
          <a:xfrm>
            <a:off x="10203895" y="4152900"/>
            <a:ext cx="362652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3895" y="4518660"/>
            <a:ext cx="362652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Talk with a partner</a:t>
            </a:r>
            <a:endParaRPr lang="en-US" sz="4500" dirty="0"/>
          </a:p>
        </p:txBody>
      </p:sp>
      <p:sp>
        <p:nvSpPr>
          <p:cNvPr id="7" name="Text 5"/>
          <p:cNvSpPr/>
          <p:nvPr/>
        </p:nvSpPr>
        <p:spPr>
          <a:xfrm>
            <a:off x="1047750" y="3390900"/>
            <a:ext cx="34230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1</a:t>
            </a:r>
            <a:endParaRPr lang="en-US" sz="5400" dirty="0"/>
          </a:p>
        </p:txBody>
      </p:sp>
      <p:sp>
        <p:nvSpPr>
          <p:cNvPr id="8" name="Text 6"/>
          <p:cNvSpPr/>
          <p:nvPr/>
        </p:nvSpPr>
        <p:spPr>
          <a:xfrm>
            <a:off x="1637705" y="3448050"/>
            <a:ext cx="12636859" cy="106680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Have you ever used an app or a website to help you learn something? Did it help?</a:t>
            </a:r>
            <a:endParaRPr lang="en-US" sz="3000" dirty="0"/>
          </a:p>
        </p:txBody>
      </p:sp>
      <p:sp>
        <p:nvSpPr>
          <p:cNvPr id="9" name="Text 7"/>
          <p:cNvSpPr/>
          <p:nvPr/>
        </p:nvSpPr>
        <p:spPr>
          <a:xfrm>
            <a:off x="1047750" y="4895850"/>
            <a:ext cx="44517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2</a:t>
            </a:r>
            <a:endParaRPr lang="en-US" sz="5400" dirty="0"/>
          </a:p>
        </p:txBody>
      </p:sp>
      <p:sp>
        <p:nvSpPr>
          <p:cNvPr id="10" name="Text 8"/>
          <p:cNvSpPr/>
          <p:nvPr/>
        </p:nvSpPr>
        <p:spPr>
          <a:xfrm>
            <a:off x="1740575" y="4953000"/>
            <a:ext cx="9482006"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In your opinion, what makes a really good teacher?</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4068604"/>
            <a:ext cx="8539163"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403884"/>
            <a:ext cx="8539163"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dirty="0">
                <a:solidFill>
                  <a:srgbClr val="1A2A5E"/>
                </a:solidFill>
                <a:latin typeface="Playfair Display" pitchFamily="34" charset="0"/>
                <a:ea typeface="Playfair Display" pitchFamily="34" charset="-122"/>
                <a:cs typeface="Playfair Display" pitchFamily="34" charset="-120"/>
              </a:rPr>
              <a:t>Look and predict</a:t>
            </a:r>
            <a:endParaRPr lang="en-US" sz="4200" dirty="0"/>
          </a:p>
        </p:txBody>
      </p:sp>
      <p:sp>
        <p:nvSpPr>
          <p:cNvPr id="7" name="Text 5"/>
          <p:cNvSpPr/>
          <p:nvPr/>
        </p:nvSpPr>
        <p:spPr>
          <a:xfrm>
            <a:off x="1047750" y="5287804"/>
            <a:ext cx="8539163"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“AI in Education.”</a:t>
            </a:r>
            <a:endParaRPr lang="en-US" sz="2250" dirty="0"/>
          </a:p>
        </p:txBody>
      </p:sp>
      <p:sp>
        <p:nvSpPr>
          <p:cNvPr id="8" name="Text 6"/>
          <p:cNvSpPr/>
          <p:nvPr/>
        </p:nvSpPr>
        <p:spPr>
          <a:xfrm>
            <a:off x="1047750" y="5892641"/>
            <a:ext cx="7995761"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7175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79370"/>
            <a:ext cx="7747635" cy="5318760"/>
          </a:xfrm>
          <a:prstGeom prst="rect">
            <a:avLst/>
          </a:prstGeom>
        </p:spPr>
      </p:pic>
      <p:sp>
        <p:nvSpPr>
          <p:cNvPr id="11" name="Text 8"/>
          <p:cNvSpPr/>
          <p:nvPr/>
        </p:nvSpPr>
        <p:spPr>
          <a:xfrm>
            <a:off x="9477375" y="8020050"/>
            <a:ext cx="8539163" cy="236220"/>
          </a:xfrm>
          <a:prstGeom prst="rect">
            <a:avLst/>
          </a:prstGeom>
          <a:noFill/>
          <a:ln/>
        </p:spPr>
        <p:txBody>
          <a:bodyPr wrap="square" lIns="25400" tIns="25400" rIns="25400" bIns="25400" rtlCol="0" anchor="t">
            <a:normAutofit lnSpcReduction="10000"/>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A student studies with the help of an AI assistant on a laptop.</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Match the words to their meanings</a:t>
            </a:r>
            <a:endParaRPr lang="en-US" sz="4050" dirty="0"/>
          </a:p>
        </p:txBody>
      </p:sp>
      <p:sp>
        <p:nvSpPr>
          <p:cNvPr id="7" name="Text 5"/>
          <p:cNvSpPr/>
          <p:nvPr/>
        </p:nvSpPr>
        <p:spPr>
          <a:xfrm>
            <a:off x="1047750" y="297180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1</a:t>
            </a:r>
            <a:endParaRPr lang="en-US" sz="2400" dirty="0"/>
          </a:p>
        </p:txBody>
      </p:sp>
      <p:sp>
        <p:nvSpPr>
          <p:cNvPr id="8" name="Text 6"/>
          <p:cNvSpPr/>
          <p:nvPr/>
        </p:nvSpPr>
        <p:spPr>
          <a:xfrm>
            <a:off x="1524000" y="3025140"/>
            <a:ext cx="889159"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adapt</a:t>
            </a:r>
            <a:endParaRPr lang="en-US" sz="2400" dirty="0"/>
          </a:p>
        </p:txBody>
      </p:sp>
      <p:sp>
        <p:nvSpPr>
          <p:cNvPr id="9" name="Text 7"/>
          <p:cNvSpPr/>
          <p:nvPr/>
        </p:nvSpPr>
        <p:spPr>
          <a:xfrm>
            <a:off x="1047750" y="356616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2</a:t>
            </a:r>
            <a:endParaRPr lang="en-US" sz="2400" dirty="0"/>
          </a:p>
        </p:txBody>
      </p:sp>
      <p:sp>
        <p:nvSpPr>
          <p:cNvPr id="10" name="Text 8"/>
          <p:cNvSpPr/>
          <p:nvPr/>
        </p:nvSpPr>
        <p:spPr>
          <a:xfrm>
            <a:off x="1524000" y="3619500"/>
            <a:ext cx="204953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personalized</a:t>
            </a:r>
            <a:endParaRPr lang="en-US" sz="2400" dirty="0"/>
          </a:p>
        </p:txBody>
      </p:sp>
      <p:sp>
        <p:nvSpPr>
          <p:cNvPr id="11" name="Text 9"/>
          <p:cNvSpPr/>
          <p:nvPr/>
        </p:nvSpPr>
        <p:spPr>
          <a:xfrm>
            <a:off x="1047750" y="416052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3</a:t>
            </a:r>
            <a:endParaRPr lang="en-US" sz="2400" dirty="0"/>
          </a:p>
        </p:txBody>
      </p:sp>
      <p:sp>
        <p:nvSpPr>
          <p:cNvPr id="12" name="Text 10"/>
          <p:cNvSpPr/>
          <p:nvPr/>
        </p:nvSpPr>
        <p:spPr>
          <a:xfrm>
            <a:off x="1524000" y="4213860"/>
            <a:ext cx="1696438"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accessible</a:t>
            </a:r>
            <a:endParaRPr lang="en-US" sz="2400" dirty="0"/>
          </a:p>
        </p:txBody>
      </p:sp>
      <p:sp>
        <p:nvSpPr>
          <p:cNvPr id="13" name="Text 11"/>
          <p:cNvSpPr/>
          <p:nvPr/>
        </p:nvSpPr>
        <p:spPr>
          <a:xfrm>
            <a:off x="1047750" y="475488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4</a:t>
            </a:r>
            <a:endParaRPr lang="en-US" sz="2400" dirty="0"/>
          </a:p>
        </p:txBody>
      </p:sp>
      <p:sp>
        <p:nvSpPr>
          <p:cNvPr id="14" name="Text 12"/>
          <p:cNvSpPr/>
          <p:nvPr/>
        </p:nvSpPr>
        <p:spPr>
          <a:xfrm>
            <a:off x="1524000" y="4808220"/>
            <a:ext cx="61853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rely</a:t>
            </a:r>
            <a:endParaRPr lang="en-US" sz="2400" dirty="0"/>
          </a:p>
        </p:txBody>
      </p:sp>
      <p:sp>
        <p:nvSpPr>
          <p:cNvPr id="15" name="Text 13"/>
          <p:cNvSpPr/>
          <p:nvPr/>
        </p:nvSpPr>
        <p:spPr>
          <a:xfrm>
            <a:off x="1047750" y="534924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5</a:t>
            </a:r>
            <a:endParaRPr lang="en-US" sz="2400" dirty="0"/>
          </a:p>
        </p:txBody>
      </p:sp>
      <p:sp>
        <p:nvSpPr>
          <p:cNvPr id="16" name="Text 14"/>
          <p:cNvSpPr/>
          <p:nvPr/>
        </p:nvSpPr>
        <p:spPr>
          <a:xfrm>
            <a:off x="1524000" y="5402580"/>
            <a:ext cx="1322653"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integrity</a:t>
            </a:r>
            <a:endParaRPr lang="en-US" sz="2400" dirty="0"/>
          </a:p>
        </p:txBody>
      </p:sp>
      <p:sp>
        <p:nvSpPr>
          <p:cNvPr id="17" name="Text 15"/>
          <p:cNvSpPr/>
          <p:nvPr/>
        </p:nvSpPr>
        <p:spPr>
          <a:xfrm>
            <a:off x="7924800" y="297180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987992"/>
            <a:ext cx="4717887"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designed to suit one particular person</a:t>
            </a:r>
            <a:endParaRPr lang="en-US" sz="2025" dirty="0"/>
          </a:p>
        </p:txBody>
      </p:sp>
      <p:sp>
        <p:nvSpPr>
          <p:cNvPr id="19" name="Text 17"/>
          <p:cNvSpPr/>
          <p:nvPr/>
        </p:nvSpPr>
        <p:spPr>
          <a:xfrm>
            <a:off x="7924800" y="351948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539150"/>
            <a:ext cx="4608135"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depend on someone or something</a:t>
            </a:r>
            <a:endParaRPr lang="en-US" sz="2025" dirty="0"/>
          </a:p>
        </p:txBody>
      </p:sp>
      <p:sp>
        <p:nvSpPr>
          <p:cNvPr id="21" name="Text 19"/>
          <p:cNvSpPr/>
          <p:nvPr/>
        </p:nvSpPr>
        <p:spPr>
          <a:xfrm>
            <a:off x="7924800" y="406717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4075271"/>
            <a:ext cx="3302901"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the quality of being honest</a:t>
            </a:r>
            <a:endParaRPr lang="en-US" sz="2025" dirty="0"/>
          </a:p>
        </p:txBody>
      </p:sp>
      <p:sp>
        <p:nvSpPr>
          <p:cNvPr id="23" name="Text 21"/>
          <p:cNvSpPr/>
          <p:nvPr/>
        </p:nvSpPr>
        <p:spPr>
          <a:xfrm>
            <a:off x="7924800" y="461486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622006"/>
            <a:ext cx="4245876"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change so it fits a new situation</a:t>
            </a:r>
            <a:endParaRPr lang="en-US" sz="2025" dirty="0"/>
          </a:p>
        </p:txBody>
      </p:sp>
      <p:sp>
        <p:nvSpPr>
          <p:cNvPr id="25" name="Text 23"/>
          <p:cNvSpPr/>
          <p:nvPr/>
        </p:nvSpPr>
        <p:spPr>
          <a:xfrm>
            <a:off x="7924800" y="516255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44054" y="5165022"/>
            <a:ext cx="319223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easy to reach, get, or use</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722120"/>
            <a:ext cx="1889879"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626870"/>
            <a:ext cx="1601272" cy="388620"/>
          </a:xfrm>
          <a:prstGeom prst="rect">
            <a:avLst/>
          </a:prstGeom>
          <a:solidFill>
            <a:srgbClr val="1A2A5E"/>
          </a:solidFill>
          <a:ln/>
        </p:spPr>
        <p:txBody>
          <a:bodyPr/>
          <a:lstStyle/>
          <a:p>
            <a:endParaRPr lang="en-US"/>
          </a:p>
        </p:txBody>
      </p:sp>
      <p:sp>
        <p:nvSpPr>
          <p:cNvPr id="7" name="Text 5"/>
          <p:cNvSpPr/>
          <p:nvPr/>
        </p:nvSpPr>
        <p:spPr>
          <a:xfrm>
            <a:off x="3146822" y="16840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48840"/>
            <a:ext cx="17811750" cy="7543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Playfair Display" pitchFamily="34" charset="0"/>
                <a:ea typeface="Playfair Display" pitchFamily="34" charset="-122"/>
                <a:cs typeface="Playfair Display" pitchFamily="34" charset="-120"/>
              </a:rPr>
              <a:t>How did you do?</a:t>
            </a:r>
            <a:endParaRPr lang="en-US" sz="4200" dirty="0"/>
          </a:p>
        </p:txBody>
      </p:sp>
      <p:sp>
        <p:nvSpPr>
          <p:cNvPr id="9" name="Shape 7"/>
          <p:cNvSpPr/>
          <p:nvPr/>
        </p:nvSpPr>
        <p:spPr>
          <a:xfrm>
            <a:off x="1047750" y="3436620"/>
            <a:ext cx="2857500" cy="960120"/>
          </a:xfrm>
          <a:prstGeom prst="rect">
            <a:avLst/>
          </a:prstGeom>
          <a:ln w="15240">
            <a:solidFill>
              <a:srgbClr val="1A2A5E"/>
            </a:solidFill>
            <a:prstDash val="solid"/>
          </a:ln>
        </p:spPr>
        <p:txBody>
          <a:bodyPr/>
          <a:lstStyle/>
          <a:p>
            <a:endParaRPr lang="en-US"/>
          </a:p>
        </p:txBody>
      </p:sp>
      <p:sp>
        <p:nvSpPr>
          <p:cNvPr id="10" name="Text 8"/>
          <p:cNvSpPr/>
          <p:nvPr/>
        </p:nvSpPr>
        <p:spPr>
          <a:xfrm>
            <a:off x="13868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1–D </a:t>
            </a:r>
            <a:r>
              <a:rPr lang="en-US" sz="2250" b="1" dirty="0">
                <a:solidFill>
                  <a:srgbClr val="1A2A5E"/>
                </a:solidFill>
                <a:latin typeface="Helvetica" pitchFamily="34" charset="0"/>
                <a:ea typeface="Helvetica" pitchFamily="34" charset="-122"/>
                <a:cs typeface="Helvetica" pitchFamily="34" charset="-120"/>
              </a:rPr>
              <a:t>adapt</a:t>
            </a:r>
            <a:endParaRPr lang="en-US" sz="1200" dirty="0"/>
          </a:p>
        </p:txBody>
      </p:sp>
      <p:sp>
        <p:nvSpPr>
          <p:cNvPr id="11" name="Shape 9"/>
          <p:cNvSpPr/>
          <p:nvPr/>
        </p:nvSpPr>
        <p:spPr>
          <a:xfrm>
            <a:off x="4152900" y="3436620"/>
            <a:ext cx="3285530" cy="960120"/>
          </a:xfrm>
          <a:prstGeom prst="rect">
            <a:avLst/>
          </a:prstGeom>
          <a:ln w="15240">
            <a:solidFill>
              <a:srgbClr val="1A2A5E"/>
            </a:solidFill>
            <a:prstDash val="solid"/>
          </a:ln>
        </p:spPr>
        <p:txBody>
          <a:bodyPr/>
          <a:lstStyle/>
          <a:p>
            <a:endParaRPr lang="en-US"/>
          </a:p>
        </p:txBody>
      </p:sp>
      <p:sp>
        <p:nvSpPr>
          <p:cNvPr id="12" name="Text 10"/>
          <p:cNvSpPr/>
          <p:nvPr/>
        </p:nvSpPr>
        <p:spPr>
          <a:xfrm>
            <a:off x="4491990" y="3661410"/>
            <a:ext cx="2705916"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2–A </a:t>
            </a:r>
            <a:r>
              <a:rPr lang="en-US" sz="2250" b="1" dirty="0">
                <a:solidFill>
                  <a:srgbClr val="1A2A5E"/>
                </a:solidFill>
                <a:latin typeface="Helvetica" pitchFamily="34" charset="0"/>
                <a:ea typeface="Helvetica" pitchFamily="34" charset="-122"/>
                <a:cs typeface="Helvetica" pitchFamily="34" charset="-120"/>
              </a:rPr>
              <a:t>personalized</a:t>
            </a:r>
            <a:endParaRPr lang="en-US" sz="1200" dirty="0"/>
          </a:p>
        </p:txBody>
      </p:sp>
      <p:sp>
        <p:nvSpPr>
          <p:cNvPr id="13" name="Shape 11"/>
          <p:cNvSpPr/>
          <p:nvPr/>
        </p:nvSpPr>
        <p:spPr>
          <a:xfrm>
            <a:off x="7686080" y="3436620"/>
            <a:ext cx="2960489" cy="960120"/>
          </a:xfrm>
          <a:prstGeom prst="rect">
            <a:avLst/>
          </a:prstGeom>
          <a:ln w="15240">
            <a:solidFill>
              <a:srgbClr val="1A2A5E"/>
            </a:solidFill>
            <a:prstDash val="solid"/>
          </a:ln>
        </p:spPr>
        <p:txBody>
          <a:bodyPr/>
          <a:lstStyle/>
          <a:p>
            <a:endParaRPr lang="en-US"/>
          </a:p>
        </p:txBody>
      </p:sp>
      <p:sp>
        <p:nvSpPr>
          <p:cNvPr id="14" name="Text 12"/>
          <p:cNvSpPr/>
          <p:nvPr/>
        </p:nvSpPr>
        <p:spPr>
          <a:xfrm>
            <a:off x="8025170" y="3661410"/>
            <a:ext cx="2371124"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3–E </a:t>
            </a:r>
            <a:r>
              <a:rPr lang="en-US" sz="2250" b="1" dirty="0">
                <a:solidFill>
                  <a:srgbClr val="1A2A5E"/>
                </a:solidFill>
                <a:latin typeface="Helvetica" pitchFamily="34" charset="0"/>
                <a:ea typeface="Helvetica" pitchFamily="34" charset="-122"/>
                <a:cs typeface="Helvetica" pitchFamily="34" charset="-120"/>
              </a:rPr>
              <a:t>accessible</a:t>
            </a:r>
            <a:endParaRPr lang="en-US" sz="1200" dirty="0"/>
          </a:p>
        </p:txBody>
      </p:sp>
      <p:sp>
        <p:nvSpPr>
          <p:cNvPr id="15" name="Shape 13"/>
          <p:cNvSpPr/>
          <p:nvPr/>
        </p:nvSpPr>
        <p:spPr>
          <a:xfrm>
            <a:off x="10894219" y="3436620"/>
            <a:ext cx="2857500" cy="960120"/>
          </a:xfrm>
          <a:prstGeom prst="rect">
            <a:avLst/>
          </a:prstGeom>
          <a:ln w="15240">
            <a:solidFill>
              <a:srgbClr val="1A2A5E"/>
            </a:solidFill>
            <a:prstDash val="solid"/>
          </a:ln>
        </p:spPr>
        <p:txBody>
          <a:bodyPr/>
          <a:lstStyle/>
          <a:p>
            <a:endParaRPr lang="en-US"/>
          </a:p>
        </p:txBody>
      </p:sp>
      <p:sp>
        <p:nvSpPr>
          <p:cNvPr id="16" name="Text 14"/>
          <p:cNvSpPr/>
          <p:nvPr/>
        </p:nvSpPr>
        <p:spPr>
          <a:xfrm>
            <a:off x="11233309"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4–B </a:t>
            </a:r>
            <a:r>
              <a:rPr lang="en-US" sz="2250" b="1" dirty="0">
                <a:solidFill>
                  <a:srgbClr val="1A2A5E"/>
                </a:solidFill>
                <a:latin typeface="Helvetica" pitchFamily="34" charset="0"/>
                <a:ea typeface="Helvetica" pitchFamily="34" charset="-122"/>
                <a:cs typeface="Helvetica" pitchFamily="34" charset="-120"/>
              </a:rPr>
              <a:t>rely</a:t>
            </a:r>
            <a:endParaRPr lang="en-US" sz="1200" dirty="0"/>
          </a:p>
        </p:txBody>
      </p:sp>
      <p:sp>
        <p:nvSpPr>
          <p:cNvPr id="17" name="Shape 15"/>
          <p:cNvSpPr/>
          <p:nvPr/>
        </p:nvSpPr>
        <p:spPr>
          <a:xfrm>
            <a:off x="13999369" y="3436620"/>
            <a:ext cx="2857500" cy="960120"/>
          </a:xfrm>
          <a:prstGeom prst="rect">
            <a:avLst/>
          </a:prstGeom>
          <a:ln w="15240">
            <a:solidFill>
              <a:srgbClr val="1A2A5E"/>
            </a:solidFill>
            <a:prstDash val="solid"/>
          </a:ln>
        </p:spPr>
        <p:txBody>
          <a:bodyPr/>
          <a:lstStyle/>
          <a:p>
            <a:endParaRPr lang="en-US"/>
          </a:p>
        </p:txBody>
      </p:sp>
      <p:sp>
        <p:nvSpPr>
          <p:cNvPr id="18" name="Text 16"/>
          <p:cNvSpPr/>
          <p:nvPr/>
        </p:nvSpPr>
        <p:spPr>
          <a:xfrm>
            <a:off x="14338459"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5–C </a:t>
            </a:r>
            <a:r>
              <a:rPr lang="en-US" sz="2250" b="1" dirty="0">
                <a:solidFill>
                  <a:srgbClr val="1A2A5E"/>
                </a:solidFill>
                <a:latin typeface="Helvetica" pitchFamily="34" charset="0"/>
                <a:ea typeface="Helvetica" pitchFamily="34" charset="-122"/>
                <a:cs typeface="Helvetica" pitchFamily="34" charset="-120"/>
              </a:rPr>
              <a:t>integrity</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03251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62865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264920"/>
            <a:ext cx="17811750" cy="236220"/>
          </a:xfrm>
          <a:prstGeom prst="rect">
            <a:avLst/>
          </a:prstGeom>
          <a:noFill/>
          <a:ln/>
        </p:spPr>
        <p:txBody>
          <a:bodyPr wrap="square" lIns="25400" tIns="25400" rIns="25400" bIns="25400" rtlCol="0" anchor="t">
            <a:normAutofit lnSpcReduction="10000"/>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52019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AI in Education</a:t>
            </a:r>
            <a:endParaRPr lang="en-US" sz="3750" dirty="0"/>
          </a:p>
        </p:txBody>
      </p:sp>
      <p:sp>
        <p:nvSpPr>
          <p:cNvPr id="7" name="Text 5"/>
          <p:cNvSpPr/>
          <p:nvPr/>
        </p:nvSpPr>
        <p:spPr>
          <a:xfrm>
            <a:off x="1047750" y="223647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Can a machine help us learn?</a:t>
            </a:r>
            <a:endParaRPr lang="en-US" sz="2025" dirty="0"/>
          </a:p>
        </p:txBody>
      </p:sp>
      <p:sp>
        <p:nvSpPr>
          <p:cNvPr id="8" name="Shape 6"/>
          <p:cNvSpPr/>
          <p:nvPr/>
        </p:nvSpPr>
        <p:spPr>
          <a:xfrm>
            <a:off x="1047750" y="2667000"/>
            <a:ext cx="609600" cy="38100"/>
          </a:xfrm>
          <a:prstGeom prst="rect">
            <a:avLst/>
          </a:prstGeom>
          <a:solidFill>
            <a:srgbClr val="D9B877"/>
          </a:solidFill>
          <a:ln/>
        </p:spPr>
        <p:txBody>
          <a:bodyPr/>
          <a:lstStyle/>
          <a:p>
            <a:endParaRPr lang="en-US"/>
          </a:p>
        </p:txBody>
      </p:sp>
      <p:sp>
        <p:nvSpPr>
          <p:cNvPr id="9" name="Text 7"/>
          <p:cNvSpPr/>
          <p:nvPr/>
        </p:nvSpPr>
        <p:spPr>
          <a:xfrm>
            <a:off x="1047750" y="2819400"/>
            <a:ext cx="17811750" cy="28194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Artificial intelligence promises a private tutor for everyone — but at what cost?</a:t>
            </a:r>
            <a:endParaRPr lang="en-US" sz="1650" dirty="0"/>
          </a:p>
        </p:txBody>
      </p:sp>
      <p:sp>
        <p:nvSpPr>
          <p:cNvPr id="10" name="Text 8"/>
          <p:cNvSpPr/>
          <p:nvPr/>
        </p:nvSpPr>
        <p:spPr>
          <a:xfrm>
            <a:off x="1047750" y="3272790"/>
            <a:ext cx="8074247" cy="1588294"/>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Imagine a classroom where every student has a private tutor, available at any hour, ready to explain a difficult idea in a dozen different ways. For a growing number of learners, this is no longer science fiction. Artificial intelligence has entered education, and it is changing how people study, write, and even think. Some teachers welcome it; others worry about what might be lost.</a:t>
            </a:r>
            <a:endParaRPr lang="en-US" sz="1650" dirty="0"/>
          </a:p>
        </p:txBody>
      </p:sp>
      <p:sp>
        <p:nvSpPr>
          <p:cNvPr id="11" name="Text 9"/>
          <p:cNvSpPr/>
          <p:nvPr/>
        </p:nvSpPr>
        <p:spPr>
          <a:xfrm>
            <a:off x="1047750" y="5422992"/>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Supporters point to one powerful idea: </a:t>
            </a:r>
            <a:r>
              <a:rPr lang="en-US" sz="1650" b="1" dirty="0">
                <a:solidFill>
                  <a:srgbClr val="1A2A5E"/>
                </a:solidFill>
                <a:latin typeface="Helvetica" pitchFamily="34" charset="0"/>
                <a:ea typeface="Helvetica" pitchFamily="34" charset="-122"/>
                <a:cs typeface="Helvetica" pitchFamily="34" charset="-120"/>
              </a:rPr>
              <a:t>personalized </a:t>
            </a:r>
            <a:r>
              <a:rPr lang="en-US" sz="1650" dirty="0">
                <a:solidFill>
                  <a:srgbClr val="222222"/>
                </a:solidFill>
                <a:latin typeface="Helvetica" pitchFamily="34" charset="0"/>
                <a:ea typeface="Helvetica" pitchFamily="34" charset="-122"/>
                <a:cs typeface="Helvetica" pitchFamily="34" charset="-120"/>
              </a:rPr>
              <a:t>learning. AI tools can </a:t>
            </a:r>
            <a:r>
              <a:rPr lang="en-US" sz="1650" b="1" dirty="0">
                <a:solidFill>
                  <a:srgbClr val="1A2A5E"/>
                </a:solidFill>
                <a:latin typeface="Helvetica" pitchFamily="34" charset="0"/>
                <a:ea typeface="Helvetica" pitchFamily="34" charset="-122"/>
                <a:cs typeface="Helvetica" pitchFamily="34" charset="-120"/>
              </a:rPr>
              <a:t>adapt </a:t>
            </a:r>
            <a:r>
              <a:rPr lang="en-US" sz="1650" dirty="0">
                <a:solidFill>
                  <a:srgbClr val="222222"/>
                </a:solidFill>
                <a:latin typeface="Helvetica" pitchFamily="34" charset="0"/>
                <a:ea typeface="Helvetica" pitchFamily="34" charset="-122"/>
                <a:cs typeface="Helvetica" pitchFamily="34" charset="-120"/>
              </a:rPr>
              <a:t>to each student, offering harder questions to those who race ahead and gentle review to those who struggle. They are also </a:t>
            </a:r>
            <a:r>
              <a:rPr lang="en-US" sz="1650" b="1" dirty="0">
                <a:solidFill>
                  <a:srgbClr val="1A2A5E"/>
                </a:solidFill>
                <a:latin typeface="Helvetica" pitchFamily="34" charset="0"/>
                <a:ea typeface="Helvetica" pitchFamily="34" charset="-122"/>
                <a:cs typeface="Helvetica" pitchFamily="34" charset="-120"/>
              </a:rPr>
              <a:t>accessible </a:t>
            </a:r>
            <a:r>
              <a:rPr lang="en-US" sz="1650" dirty="0">
                <a:solidFill>
                  <a:srgbClr val="222222"/>
                </a:solidFill>
                <a:latin typeface="Helvetica" pitchFamily="34" charset="0"/>
                <a:ea typeface="Helvetica" pitchFamily="34" charset="-122"/>
                <a:cs typeface="Helvetica" pitchFamily="34" charset="-120"/>
              </a:rPr>
              <a:t>— available day and night to anyone with a phone.</a:t>
            </a:r>
            <a:endParaRPr lang="en-US" sz="1650" dirty="0"/>
          </a:p>
        </p:txBody>
      </p:sp>
      <p:sp>
        <p:nvSpPr>
          <p:cNvPr id="12" name="Text 10"/>
          <p:cNvSpPr/>
          <p:nvPr/>
        </p:nvSpPr>
        <p:spPr>
          <a:xfrm>
            <a:off x="9401175" y="3272790"/>
            <a:ext cx="8074247" cy="968216"/>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shift is already underway. In many countries, most university students have used AI for their work. Some schools have built their own tutoring systems; others have banned it entirely. Many teachers now spend less time on routine marking.</a:t>
            </a:r>
            <a:endParaRPr lang="en-US" sz="1650" dirty="0"/>
          </a:p>
        </p:txBody>
      </p:sp>
      <p:sp>
        <p:nvSpPr>
          <p:cNvPr id="13" name="Text 11"/>
          <p:cNvSpPr/>
          <p:nvPr/>
        </p:nvSpPr>
        <p:spPr>
          <a:xfrm>
            <a:off x="9401715" y="4861084"/>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Yet there is a cost. When students </a:t>
            </a:r>
            <a:r>
              <a:rPr lang="en-US" sz="1650" b="1" dirty="0">
                <a:solidFill>
                  <a:srgbClr val="1A2A5E"/>
                </a:solidFill>
                <a:latin typeface="Helvetica" pitchFamily="34" charset="0"/>
                <a:ea typeface="Helvetica" pitchFamily="34" charset="-122"/>
                <a:cs typeface="Helvetica" pitchFamily="34" charset="-120"/>
              </a:rPr>
              <a:t>rely </a:t>
            </a:r>
            <a:r>
              <a:rPr lang="en-US" sz="1650" dirty="0">
                <a:solidFill>
                  <a:srgbClr val="222222"/>
                </a:solidFill>
                <a:latin typeface="Helvetica" pitchFamily="34" charset="0"/>
                <a:ea typeface="Helvetica" pitchFamily="34" charset="-122"/>
                <a:cs typeface="Helvetica" pitchFamily="34" charset="-120"/>
              </a:rPr>
              <a:t>too heavily on machines, they may stop building skills of their own. Educators also worry about </a:t>
            </a:r>
            <a:r>
              <a:rPr lang="en-US" sz="1650" b="1" dirty="0">
                <a:solidFill>
                  <a:srgbClr val="1A2A5E"/>
                </a:solidFill>
                <a:latin typeface="Helvetica" pitchFamily="34" charset="0"/>
                <a:ea typeface="Helvetica" pitchFamily="34" charset="-122"/>
                <a:cs typeface="Helvetica" pitchFamily="34" charset="-120"/>
              </a:rPr>
              <a:t>integrity </a:t>
            </a:r>
            <a:r>
              <a:rPr lang="en-US" sz="1650" dirty="0">
                <a:solidFill>
                  <a:srgbClr val="222222"/>
                </a:solidFill>
                <a:latin typeface="Helvetica" pitchFamily="34" charset="0"/>
                <a:ea typeface="Helvetica" pitchFamily="34" charset="-122"/>
                <a:cs typeface="Helvetica" pitchFamily="34" charset="-120"/>
              </a:rPr>
              <a:t>: if a machine writes the essay, what has the student learned? Others argue that AI is just a new tool that schools should teach students to use wisely.</a:t>
            </a:r>
            <a:endParaRPr lang="en-US" sz="1650" dirty="0"/>
          </a:p>
        </p:txBody>
      </p:sp>
      <p:sp>
        <p:nvSpPr>
          <p:cNvPr id="14" name="Shape 12"/>
          <p:cNvSpPr/>
          <p:nvPr/>
        </p:nvSpPr>
        <p:spPr>
          <a:xfrm>
            <a:off x="1047750" y="7610475"/>
            <a:ext cx="45720" cy="842010"/>
          </a:xfrm>
          <a:prstGeom prst="rect">
            <a:avLst/>
          </a:prstGeom>
          <a:solidFill>
            <a:srgbClr val="D9B877"/>
          </a:solidFill>
          <a:ln/>
        </p:spPr>
        <p:txBody>
          <a:bodyPr/>
          <a:lstStyle/>
          <a:p>
            <a:endParaRPr lang="en-US"/>
          </a:p>
        </p:txBody>
      </p:sp>
      <p:sp>
        <p:nvSpPr>
          <p:cNvPr id="15" name="Text 13"/>
          <p:cNvSpPr/>
          <p:nvPr/>
        </p:nvSpPr>
        <p:spPr>
          <a:xfrm>
            <a:off x="1360169" y="7610475"/>
            <a:ext cx="14112059" cy="880110"/>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550" b="1" i="1" dirty="0">
                <a:solidFill>
                  <a:srgbClr val="1A2A5E"/>
                </a:solidFill>
                <a:latin typeface="Playfair Display" pitchFamily="34" charset="0"/>
                <a:ea typeface="Playfair Display" pitchFamily="34" charset="-122"/>
                <a:cs typeface="Playfair Display" pitchFamily="34" charset="-120"/>
              </a:rPr>
              <a:t>Maybe the real question is not whether AI belongs in education, but what we want education to be for.</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2-audio">
            <a:hlinkClick r:id="" action="ppaction://media"/>
            <a:extLst>
              <a:ext uri="{FF2B5EF4-FFF2-40B4-BE49-F238E27FC236}">
                <a16:creationId xmlns:a16="http://schemas.microsoft.com/office/drawing/2014/main" id="{861A9A5C-6A3B-7166-86AB-86461905AE3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588250" y="1602422"/>
            <a:ext cx="487363"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True or False?</a:t>
            </a:r>
            <a:endParaRPr lang="en-US" sz="4050" dirty="0"/>
          </a:p>
        </p:txBody>
      </p:sp>
      <p:sp>
        <p:nvSpPr>
          <p:cNvPr id="7" name="Shape 5"/>
          <p:cNvSpPr/>
          <p:nvPr/>
        </p:nvSpPr>
        <p:spPr>
          <a:xfrm>
            <a:off x="1047750" y="3615690"/>
            <a:ext cx="14763750" cy="9525"/>
          </a:xfrm>
          <a:prstGeom prst="rect">
            <a:avLst/>
          </a:prstGeom>
          <a:solidFill>
            <a:srgbClr val="E3E1DB"/>
          </a:solidFill>
          <a:ln/>
        </p:spPr>
        <p:txBody>
          <a:bodyPr/>
          <a:lstStyle/>
          <a:p>
            <a:endParaRPr lang="en-US"/>
          </a:p>
        </p:txBody>
      </p:sp>
      <p:sp>
        <p:nvSpPr>
          <p:cNvPr id="8" name="Text 6"/>
          <p:cNvSpPr/>
          <p:nvPr/>
        </p:nvSpPr>
        <p:spPr>
          <a:xfrm>
            <a:off x="1047750" y="299085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676400" y="304800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AI tools can change the level of difficulty for different students.</a:t>
            </a:r>
            <a:endParaRPr lang="en-US" sz="2175" dirty="0"/>
          </a:p>
        </p:txBody>
      </p:sp>
      <p:sp>
        <p:nvSpPr>
          <p:cNvPr id="10" name="Text 8"/>
          <p:cNvSpPr/>
          <p:nvPr/>
        </p:nvSpPr>
        <p:spPr>
          <a:xfrm>
            <a:off x="14997469" y="303276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457700"/>
            <a:ext cx="14763750" cy="9525"/>
          </a:xfrm>
          <a:prstGeom prst="rect">
            <a:avLst/>
          </a:prstGeom>
          <a:solidFill>
            <a:srgbClr val="E3E1DB"/>
          </a:solidFill>
          <a:ln/>
        </p:spPr>
        <p:txBody>
          <a:bodyPr/>
          <a:lstStyle/>
          <a:p>
            <a:endParaRPr lang="en-US"/>
          </a:p>
        </p:txBody>
      </p:sp>
      <p:sp>
        <p:nvSpPr>
          <p:cNvPr id="12" name="Text 10"/>
          <p:cNvSpPr/>
          <p:nvPr/>
        </p:nvSpPr>
        <p:spPr>
          <a:xfrm>
            <a:off x="1047750" y="383286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3" name="Text 11"/>
          <p:cNvSpPr/>
          <p:nvPr/>
        </p:nvSpPr>
        <p:spPr>
          <a:xfrm>
            <a:off x="1676400" y="389001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 article says AI is used only by school-age children.</a:t>
            </a:r>
            <a:endParaRPr lang="en-US" sz="2175" dirty="0"/>
          </a:p>
        </p:txBody>
      </p:sp>
      <p:sp>
        <p:nvSpPr>
          <p:cNvPr id="14" name="Text 12"/>
          <p:cNvSpPr/>
          <p:nvPr/>
        </p:nvSpPr>
        <p:spPr>
          <a:xfrm>
            <a:off x="14997469" y="387477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5299710"/>
            <a:ext cx="14763750" cy="9525"/>
          </a:xfrm>
          <a:prstGeom prst="rect">
            <a:avLst/>
          </a:prstGeom>
          <a:solidFill>
            <a:srgbClr val="E3E1DB"/>
          </a:solidFill>
          <a:ln/>
        </p:spPr>
        <p:txBody>
          <a:bodyPr/>
          <a:lstStyle/>
          <a:p>
            <a:endParaRPr lang="en-US"/>
          </a:p>
        </p:txBody>
      </p:sp>
      <p:sp>
        <p:nvSpPr>
          <p:cNvPr id="16" name="Text 14"/>
          <p:cNvSpPr/>
          <p:nvPr/>
        </p:nvSpPr>
        <p:spPr>
          <a:xfrm>
            <a:off x="1047750" y="467487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7" name="Text 15"/>
          <p:cNvSpPr/>
          <p:nvPr/>
        </p:nvSpPr>
        <p:spPr>
          <a:xfrm>
            <a:off x="1676400" y="473202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In many countries, most university students have used AI for work.</a:t>
            </a:r>
            <a:endParaRPr lang="en-US" sz="2175" dirty="0"/>
          </a:p>
        </p:txBody>
      </p:sp>
      <p:sp>
        <p:nvSpPr>
          <p:cNvPr id="18" name="Text 16"/>
          <p:cNvSpPr/>
          <p:nvPr/>
        </p:nvSpPr>
        <p:spPr>
          <a:xfrm>
            <a:off x="14997469" y="47167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6141720"/>
            <a:ext cx="14763750" cy="9525"/>
          </a:xfrm>
          <a:prstGeom prst="rect">
            <a:avLst/>
          </a:prstGeom>
          <a:solidFill>
            <a:srgbClr val="E3E1DB"/>
          </a:solidFill>
          <a:ln/>
        </p:spPr>
        <p:txBody>
          <a:bodyPr/>
          <a:lstStyle/>
          <a:p>
            <a:endParaRPr lang="en-US"/>
          </a:p>
        </p:txBody>
      </p:sp>
      <p:sp>
        <p:nvSpPr>
          <p:cNvPr id="20" name="Text 18"/>
          <p:cNvSpPr/>
          <p:nvPr/>
        </p:nvSpPr>
        <p:spPr>
          <a:xfrm>
            <a:off x="1047750" y="551688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21" name="Text 19"/>
          <p:cNvSpPr/>
          <p:nvPr/>
        </p:nvSpPr>
        <p:spPr>
          <a:xfrm>
            <a:off x="1676400" y="557403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Every school has banned AI from the classroom.</a:t>
            </a:r>
            <a:endParaRPr lang="en-US" sz="2175" dirty="0"/>
          </a:p>
        </p:txBody>
      </p:sp>
      <p:sp>
        <p:nvSpPr>
          <p:cNvPr id="22" name="Text 20"/>
          <p:cNvSpPr/>
          <p:nvPr/>
        </p:nvSpPr>
        <p:spPr>
          <a:xfrm>
            <a:off x="14997469" y="55587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635889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4" name="Text 22"/>
          <p:cNvSpPr/>
          <p:nvPr/>
        </p:nvSpPr>
        <p:spPr>
          <a:xfrm>
            <a:off x="1676400" y="641604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teachers now spend less time on routine marking.</a:t>
            </a:r>
            <a:endParaRPr lang="en-US" sz="2175" dirty="0"/>
          </a:p>
        </p:txBody>
      </p:sp>
      <p:sp>
        <p:nvSpPr>
          <p:cNvPr id="25" name="Text 23"/>
          <p:cNvSpPr/>
          <p:nvPr/>
        </p:nvSpPr>
        <p:spPr>
          <a:xfrm>
            <a:off x="14997469" y="640080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84020"/>
            <a:ext cx="2419386"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88770"/>
            <a:ext cx="1601272" cy="388620"/>
          </a:xfrm>
          <a:prstGeom prst="rect">
            <a:avLst/>
          </a:prstGeom>
          <a:solidFill>
            <a:srgbClr val="1A2A5E"/>
          </a:solidFill>
          <a:ln/>
        </p:spPr>
        <p:txBody>
          <a:bodyPr/>
          <a:lstStyle/>
          <a:p>
            <a:endParaRPr lang="en-US"/>
          </a:p>
        </p:txBody>
      </p:sp>
      <p:sp>
        <p:nvSpPr>
          <p:cNvPr id="7" name="Text 5"/>
          <p:cNvSpPr/>
          <p:nvPr/>
        </p:nvSpPr>
        <p:spPr>
          <a:xfrm>
            <a:off x="3628192" y="16459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1074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True or False?</a:t>
            </a:r>
            <a:endParaRPr lang="en-US" sz="3900" dirty="0"/>
          </a:p>
        </p:txBody>
      </p:sp>
      <p:sp>
        <p:nvSpPr>
          <p:cNvPr id="9" name="Text 7"/>
          <p:cNvSpPr/>
          <p:nvPr/>
        </p:nvSpPr>
        <p:spPr>
          <a:xfrm>
            <a:off x="1047750" y="31470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0" name="Text 8"/>
          <p:cNvSpPr/>
          <p:nvPr/>
        </p:nvSpPr>
        <p:spPr>
          <a:xfrm>
            <a:off x="1676400" y="31623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1965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AI tools can change the level of difficulty for different students.</a:t>
            </a:r>
            <a:endParaRPr lang="en-US" sz="1950" dirty="0"/>
          </a:p>
        </p:txBody>
      </p:sp>
      <p:sp>
        <p:nvSpPr>
          <p:cNvPr id="12" name="Text 10"/>
          <p:cNvSpPr/>
          <p:nvPr/>
        </p:nvSpPr>
        <p:spPr>
          <a:xfrm>
            <a:off x="1047750" y="36995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3" name="Text 11"/>
          <p:cNvSpPr/>
          <p:nvPr/>
        </p:nvSpPr>
        <p:spPr>
          <a:xfrm>
            <a:off x="1676400" y="37147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7490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 article says AI is used only by school-age children. </a:t>
            </a:r>
            <a:r>
              <a:rPr lang="en-US" sz="1950" i="1" dirty="0">
                <a:solidFill>
                  <a:srgbClr val="888888"/>
                </a:solidFill>
                <a:latin typeface="Helvetica" pitchFamily="34" charset="0"/>
                <a:ea typeface="Helvetica" pitchFamily="34" charset="-122"/>
                <a:cs typeface="Helvetica" pitchFamily="34" charset="-120"/>
              </a:rPr>
              <a:t>— universities too.</a:t>
            </a:r>
            <a:endParaRPr lang="en-US" sz="1950" dirty="0"/>
          </a:p>
        </p:txBody>
      </p:sp>
      <p:sp>
        <p:nvSpPr>
          <p:cNvPr id="15" name="Text 13"/>
          <p:cNvSpPr/>
          <p:nvPr/>
        </p:nvSpPr>
        <p:spPr>
          <a:xfrm>
            <a:off x="1047750" y="42519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6" name="Text 14"/>
          <p:cNvSpPr/>
          <p:nvPr/>
        </p:nvSpPr>
        <p:spPr>
          <a:xfrm>
            <a:off x="1676400" y="42672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3014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In many countries, most university students have used AI for work.</a:t>
            </a:r>
            <a:endParaRPr lang="en-US" sz="1950" dirty="0"/>
          </a:p>
        </p:txBody>
      </p:sp>
      <p:sp>
        <p:nvSpPr>
          <p:cNvPr id="18" name="Text 16"/>
          <p:cNvSpPr/>
          <p:nvPr/>
        </p:nvSpPr>
        <p:spPr>
          <a:xfrm>
            <a:off x="1047750" y="48044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19" name="Text 17"/>
          <p:cNvSpPr/>
          <p:nvPr/>
        </p:nvSpPr>
        <p:spPr>
          <a:xfrm>
            <a:off x="1676400" y="48196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8539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Every school has banned AI. </a:t>
            </a:r>
            <a:r>
              <a:rPr lang="en-US" sz="1950" i="1" dirty="0">
                <a:solidFill>
                  <a:srgbClr val="888888"/>
                </a:solidFill>
                <a:latin typeface="Helvetica" pitchFamily="34" charset="0"/>
                <a:ea typeface="Helvetica" pitchFamily="34" charset="-122"/>
                <a:cs typeface="Helvetica" pitchFamily="34" charset="-120"/>
              </a:rPr>
              <a:t>— some build their own; some ban it.</a:t>
            </a:r>
            <a:endParaRPr lang="en-US" sz="1950" dirty="0"/>
          </a:p>
        </p:txBody>
      </p:sp>
      <p:sp>
        <p:nvSpPr>
          <p:cNvPr id="21" name="Text 19"/>
          <p:cNvSpPr/>
          <p:nvPr/>
        </p:nvSpPr>
        <p:spPr>
          <a:xfrm>
            <a:off x="1047750" y="53568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2" name="Text 20"/>
          <p:cNvSpPr/>
          <p:nvPr/>
        </p:nvSpPr>
        <p:spPr>
          <a:xfrm>
            <a:off x="1676400" y="53721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4063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teachers now spend less time on routine marking.</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125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80975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Playfair Display" pitchFamily="34" charset="0"/>
                <a:ea typeface="Playfair Display" pitchFamily="34" charset="-122"/>
                <a:cs typeface="Playfair Display" pitchFamily="34" charset="-120"/>
              </a:rPr>
              <a:t>Talk it through</a:t>
            </a:r>
            <a:endParaRPr lang="en-US" sz="3900" dirty="0"/>
          </a:p>
        </p:txBody>
      </p:sp>
      <p:sp>
        <p:nvSpPr>
          <p:cNvPr id="7" name="Shape 5"/>
          <p:cNvSpPr/>
          <p:nvPr/>
        </p:nvSpPr>
        <p:spPr>
          <a:xfrm>
            <a:off x="1047750" y="3394710"/>
            <a:ext cx="15049500" cy="9525"/>
          </a:xfrm>
          <a:prstGeom prst="rect">
            <a:avLst/>
          </a:prstGeom>
          <a:solidFill>
            <a:srgbClr val="34437A"/>
          </a:solidFill>
          <a:ln/>
        </p:spPr>
        <p:txBody>
          <a:bodyPr/>
          <a:lstStyle/>
          <a:p>
            <a:endParaRPr lang="en-US"/>
          </a:p>
        </p:txBody>
      </p:sp>
      <p:sp>
        <p:nvSpPr>
          <p:cNvPr id="8" name="Text 6"/>
          <p:cNvSpPr/>
          <p:nvPr/>
        </p:nvSpPr>
        <p:spPr>
          <a:xfrm>
            <a:off x="1047750" y="2807970"/>
            <a:ext cx="20193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402080" y="2891790"/>
            <a:ext cx="1616468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Have you ever used AI to help you study or write? How did it go?</a:t>
            </a:r>
            <a:endParaRPr lang="en-US" sz="2100" dirty="0"/>
          </a:p>
        </p:txBody>
      </p:sp>
      <p:sp>
        <p:nvSpPr>
          <p:cNvPr id="10" name="Shape 8"/>
          <p:cNvSpPr/>
          <p:nvPr/>
        </p:nvSpPr>
        <p:spPr>
          <a:xfrm>
            <a:off x="1047750" y="4160520"/>
            <a:ext cx="15049500" cy="9525"/>
          </a:xfrm>
          <a:prstGeom prst="rect">
            <a:avLst/>
          </a:prstGeom>
          <a:solidFill>
            <a:srgbClr val="34437A"/>
          </a:solidFill>
          <a:ln/>
        </p:spPr>
        <p:txBody>
          <a:bodyPr/>
          <a:lstStyle/>
          <a:p>
            <a:endParaRPr lang="en-US"/>
          </a:p>
        </p:txBody>
      </p:sp>
      <p:sp>
        <p:nvSpPr>
          <p:cNvPr id="11" name="Text 9"/>
          <p:cNvSpPr/>
          <p:nvPr/>
        </p:nvSpPr>
        <p:spPr>
          <a:xfrm>
            <a:off x="1047750" y="3573780"/>
            <a:ext cx="250508"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2" name="Text 10"/>
          <p:cNvSpPr/>
          <p:nvPr/>
        </p:nvSpPr>
        <p:spPr>
          <a:xfrm>
            <a:off x="1450658" y="3657600"/>
            <a:ext cx="16111253"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Would you like to have a personal AI tutor? Why or why not?</a:t>
            </a:r>
            <a:endParaRPr lang="en-US" sz="2100" dirty="0"/>
          </a:p>
        </p:txBody>
      </p:sp>
      <p:sp>
        <p:nvSpPr>
          <p:cNvPr id="13" name="Shape 11"/>
          <p:cNvSpPr/>
          <p:nvPr/>
        </p:nvSpPr>
        <p:spPr>
          <a:xfrm>
            <a:off x="1047750" y="4926330"/>
            <a:ext cx="15049500" cy="9525"/>
          </a:xfrm>
          <a:prstGeom prst="rect">
            <a:avLst/>
          </a:prstGeom>
          <a:solidFill>
            <a:srgbClr val="34437A"/>
          </a:solidFill>
          <a:ln/>
        </p:spPr>
        <p:txBody>
          <a:bodyPr/>
          <a:lstStyle/>
          <a:p>
            <a:endParaRPr lang="en-US"/>
          </a:p>
        </p:txBody>
      </p:sp>
      <p:sp>
        <p:nvSpPr>
          <p:cNvPr id="14" name="Text 12"/>
          <p:cNvSpPr/>
          <p:nvPr/>
        </p:nvSpPr>
        <p:spPr>
          <a:xfrm>
            <a:off x="1047750" y="4339590"/>
            <a:ext cx="23812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5" name="Text 13"/>
          <p:cNvSpPr/>
          <p:nvPr/>
        </p:nvSpPr>
        <p:spPr>
          <a:xfrm>
            <a:off x="1438275" y="4423410"/>
            <a:ext cx="16124872"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What can a human teacher do that a machine cannot?</a:t>
            </a:r>
            <a:endParaRPr lang="en-US" sz="2100" dirty="0"/>
          </a:p>
        </p:txBody>
      </p:sp>
      <p:sp>
        <p:nvSpPr>
          <p:cNvPr id="16" name="Shape 14"/>
          <p:cNvSpPr/>
          <p:nvPr/>
        </p:nvSpPr>
        <p:spPr>
          <a:xfrm>
            <a:off x="1047750" y="5692140"/>
            <a:ext cx="15049500" cy="9525"/>
          </a:xfrm>
          <a:prstGeom prst="rect">
            <a:avLst/>
          </a:prstGeom>
          <a:solidFill>
            <a:srgbClr val="34437A"/>
          </a:solidFill>
          <a:ln/>
        </p:spPr>
        <p:txBody>
          <a:bodyPr/>
          <a:lstStyle/>
          <a:p>
            <a:endParaRPr lang="en-US"/>
          </a:p>
        </p:txBody>
      </p:sp>
      <p:sp>
        <p:nvSpPr>
          <p:cNvPr id="17" name="Text 15"/>
          <p:cNvSpPr/>
          <p:nvPr/>
        </p:nvSpPr>
        <p:spPr>
          <a:xfrm>
            <a:off x="1047750" y="5105400"/>
            <a:ext cx="25086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18" name="Text 16"/>
          <p:cNvSpPr/>
          <p:nvPr/>
        </p:nvSpPr>
        <p:spPr>
          <a:xfrm>
            <a:off x="1451015" y="5189220"/>
            <a:ext cx="16110859"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Should students be allowed to use AI for homework? Where is the line?</a:t>
            </a:r>
            <a:endParaRPr lang="en-US" sz="2100" dirty="0"/>
          </a:p>
        </p:txBody>
      </p:sp>
      <p:sp>
        <p:nvSpPr>
          <p:cNvPr id="19" name="Text 17"/>
          <p:cNvSpPr/>
          <p:nvPr/>
        </p:nvSpPr>
        <p:spPr>
          <a:xfrm>
            <a:off x="1047750" y="5871210"/>
            <a:ext cx="229791"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0" name="Text 18"/>
          <p:cNvSpPr/>
          <p:nvPr/>
        </p:nvSpPr>
        <p:spPr>
          <a:xfrm>
            <a:off x="1429941" y="5955030"/>
            <a:ext cx="16134040"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What do you think education should really be for?</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275754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60195"/>
            <a:ext cx="1737122"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96390"/>
            <a:ext cx="1569482" cy="205740"/>
          </a:xfrm>
          <a:prstGeom prst="rect">
            <a:avLst/>
          </a:prstGeom>
          <a:noFill/>
          <a:ln/>
        </p:spPr>
        <p:txBody>
          <a:bodyPr wrap="none" lIns="25400" tIns="25400" rIns="25400" bIns="25400" rtlCol="0" anchor="t">
            <a:normAutofit lnSpcReduction="10000"/>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FOR &amp; AGAINST</a:t>
            </a:r>
            <a:endParaRPr lang="en-US" sz="1125" dirty="0"/>
          </a:p>
        </p:txBody>
      </p:sp>
      <p:sp>
        <p:nvSpPr>
          <p:cNvPr id="8" name="Text 6"/>
          <p:cNvSpPr/>
          <p:nvPr/>
        </p:nvSpPr>
        <p:spPr>
          <a:xfrm>
            <a:off x="1047750" y="1914525"/>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Should schools embrace AI?</a:t>
            </a:r>
            <a:endParaRPr lang="en-US" sz="3750" dirty="0"/>
          </a:p>
        </p:txBody>
      </p:sp>
      <p:sp>
        <p:nvSpPr>
          <p:cNvPr id="9" name="Text 7"/>
          <p:cNvSpPr/>
          <p:nvPr/>
        </p:nvSpPr>
        <p:spPr>
          <a:xfrm>
            <a:off x="1047750" y="2668905"/>
            <a:ext cx="17811750"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List the strongest points on each side, then decide where you stand.</a:t>
            </a:r>
            <a:endParaRPr lang="en-US" sz="1950" dirty="0"/>
          </a:p>
        </p:txBody>
      </p:sp>
      <p:sp>
        <p:nvSpPr>
          <p:cNvPr id="10" name="Shape 8"/>
          <p:cNvSpPr/>
          <p:nvPr/>
        </p:nvSpPr>
        <p:spPr>
          <a:xfrm>
            <a:off x="1047750" y="3758565"/>
            <a:ext cx="7143750" cy="15240"/>
          </a:xfrm>
          <a:prstGeom prst="rect">
            <a:avLst/>
          </a:prstGeom>
          <a:solidFill>
            <a:srgbClr val="1A7A4A"/>
          </a:solidFill>
          <a:ln/>
        </p:spPr>
        <p:txBody>
          <a:bodyPr/>
          <a:lstStyle/>
          <a:p>
            <a:endParaRPr lang="en-US"/>
          </a:p>
        </p:txBody>
      </p:sp>
      <p:sp>
        <p:nvSpPr>
          <p:cNvPr id="11" name="Text 9"/>
          <p:cNvSpPr/>
          <p:nvPr/>
        </p:nvSpPr>
        <p:spPr>
          <a:xfrm>
            <a:off x="1047750" y="3388995"/>
            <a:ext cx="7358063" cy="312420"/>
          </a:xfrm>
          <a:prstGeom prst="rect">
            <a:avLst/>
          </a:prstGeom>
          <a:noFill/>
          <a:ln/>
        </p:spPr>
        <p:txBody>
          <a:bodyPr wrap="square" lIns="25400" tIns="25400" rIns="25400" bIns="25400" rtlCol="0" anchor="t">
            <a:normAutofit/>
          </a:bodyPr>
          <a:lstStyle/>
          <a:p>
            <a:pPr marL="0" indent="0" algn="l">
              <a:buNone/>
            </a:pPr>
            <a:r>
              <a:rPr lang="en-US" sz="1500" b="1" kern="0" spc="150" dirty="0">
                <a:solidFill>
                  <a:srgbClr val="1A7A4A"/>
                </a:solidFill>
                <a:latin typeface="Helvetica" pitchFamily="34" charset="0"/>
                <a:ea typeface="Helvetica" pitchFamily="34" charset="-122"/>
                <a:cs typeface="Helvetica" pitchFamily="34" charset="-120"/>
              </a:rPr>
              <a:t>ARGUMENTS FOR</a:t>
            </a:r>
            <a:endParaRPr lang="en-US" sz="1500" dirty="0"/>
          </a:p>
        </p:txBody>
      </p:sp>
      <p:sp>
        <p:nvSpPr>
          <p:cNvPr id="12" name="Shape 10"/>
          <p:cNvSpPr/>
          <p:nvPr/>
        </p:nvSpPr>
        <p:spPr>
          <a:xfrm>
            <a:off x="1047750" y="4318635"/>
            <a:ext cx="7143750" cy="9525"/>
          </a:xfrm>
          <a:prstGeom prst="rect">
            <a:avLst/>
          </a:prstGeom>
          <a:solidFill>
            <a:srgbClr val="CBC9C2"/>
          </a:solidFill>
          <a:ln/>
        </p:spPr>
        <p:txBody>
          <a:bodyPr/>
          <a:lstStyle/>
          <a:p>
            <a:endParaRPr lang="en-US"/>
          </a:p>
        </p:txBody>
      </p:sp>
      <p:sp>
        <p:nvSpPr>
          <p:cNvPr id="13" name="Shape 11"/>
          <p:cNvSpPr/>
          <p:nvPr/>
        </p:nvSpPr>
        <p:spPr>
          <a:xfrm>
            <a:off x="1047750" y="4852035"/>
            <a:ext cx="7143750" cy="9525"/>
          </a:xfrm>
          <a:prstGeom prst="rect">
            <a:avLst/>
          </a:prstGeom>
          <a:solidFill>
            <a:srgbClr val="CBC9C2"/>
          </a:solidFill>
          <a:ln/>
        </p:spPr>
        <p:txBody>
          <a:bodyPr/>
          <a:lstStyle/>
          <a:p>
            <a:endParaRPr lang="en-US"/>
          </a:p>
        </p:txBody>
      </p:sp>
      <p:sp>
        <p:nvSpPr>
          <p:cNvPr id="14" name="Shape 12"/>
          <p:cNvSpPr/>
          <p:nvPr/>
        </p:nvSpPr>
        <p:spPr>
          <a:xfrm>
            <a:off x="1047750" y="5385435"/>
            <a:ext cx="7143750" cy="9525"/>
          </a:xfrm>
          <a:prstGeom prst="rect">
            <a:avLst/>
          </a:prstGeom>
          <a:solidFill>
            <a:srgbClr val="CBC9C2"/>
          </a:solidFill>
          <a:ln/>
        </p:spPr>
        <p:txBody>
          <a:bodyPr/>
          <a:lstStyle/>
          <a:p>
            <a:endParaRPr lang="en-US"/>
          </a:p>
        </p:txBody>
      </p:sp>
      <p:sp>
        <p:nvSpPr>
          <p:cNvPr id="15" name="Shape 13"/>
          <p:cNvSpPr/>
          <p:nvPr/>
        </p:nvSpPr>
        <p:spPr>
          <a:xfrm>
            <a:off x="8763000" y="3758565"/>
            <a:ext cx="7143750" cy="15240"/>
          </a:xfrm>
          <a:prstGeom prst="rect">
            <a:avLst/>
          </a:prstGeom>
          <a:solidFill>
            <a:srgbClr val="B0392F"/>
          </a:solidFill>
          <a:ln/>
        </p:spPr>
        <p:txBody>
          <a:bodyPr/>
          <a:lstStyle/>
          <a:p>
            <a:endParaRPr lang="en-US"/>
          </a:p>
        </p:txBody>
      </p:sp>
      <p:sp>
        <p:nvSpPr>
          <p:cNvPr id="16" name="Text 14"/>
          <p:cNvSpPr/>
          <p:nvPr/>
        </p:nvSpPr>
        <p:spPr>
          <a:xfrm>
            <a:off x="8763000" y="3388995"/>
            <a:ext cx="7358063" cy="312420"/>
          </a:xfrm>
          <a:prstGeom prst="rect">
            <a:avLst/>
          </a:prstGeom>
          <a:noFill/>
          <a:ln/>
        </p:spPr>
        <p:txBody>
          <a:bodyPr wrap="square" lIns="25400" tIns="25400" rIns="25400" bIns="25400" rtlCol="0" anchor="t">
            <a:normAutofit/>
          </a:bodyPr>
          <a:lstStyle/>
          <a:p>
            <a:pPr marL="0" indent="0" algn="l">
              <a:buNone/>
            </a:pPr>
            <a:r>
              <a:rPr lang="en-US" sz="1500" b="1" kern="0" spc="150" dirty="0">
                <a:solidFill>
                  <a:srgbClr val="B0392F"/>
                </a:solidFill>
                <a:latin typeface="Helvetica" pitchFamily="34" charset="0"/>
                <a:ea typeface="Helvetica" pitchFamily="34" charset="-122"/>
                <a:cs typeface="Helvetica" pitchFamily="34" charset="-120"/>
              </a:rPr>
              <a:t>ARGUMENTS AGAINST</a:t>
            </a:r>
            <a:endParaRPr lang="en-US" sz="1500" dirty="0"/>
          </a:p>
        </p:txBody>
      </p:sp>
      <p:sp>
        <p:nvSpPr>
          <p:cNvPr id="17" name="Shape 15"/>
          <p:cNvSpPr/>
          <p:nvPr/>
        </p:nvSpPr>
        <p:spPr>
          <a:xfrm>
            <a:off x="8763000" y="4318635"/>
            <a:ext cx="7143750" cy="9525"/>
          </a:xfrm>
          <a:prstGeom prst="rect">
            <a:avLst/>
          </a:prstGeom>
          <a:solidFill>
            <a:srgbClr val="CBC9C2"/>
          </a:solidFill>
          <a:ln/>
        </p:spPr>
        <p:txBody>
          <a:bodyPr/>
          <a:lstStyle/>
          <a:p>
            <a:endParaRPr lang="en-US"/>
          </a:p>
        </p:txBody>
      </p:sp>
      <p:sp>
        <p:nvSpPr>
          <p:cNvPr id="18" name="Shape 16"/>
          <p:cNvSpPr/>
          <p:nvPr/>
        </p:nvSpPr>
        <p:spPr>
          <a:xfrm>
            <a:off x="8763000" y="4852035"/>
            <a:ext cx="7143750" cy="9525"/>
          </a:xfrm>
          <a:prstGeom prst="rect">
            <a:avLst/>
          </a:prstGeom>
          <a:solidFill>
            <a:srgbClr val="CBC9C2"/>
          </a:solidFill>
          <a:ln/>
        </p:spPr>
        <p:txBody>
          <a:bodyPr/>
          <a:lstStyle/>
          <a:p>
            <a:endParaRPr lang="en-US"/>
          </a:p>
        </p:txBody>
      </p:sp>
      <p:sp>
        <p:nvSpPr>
          <p:cNvPr id="19" name="Shape 17"/>
          <p:cNvSpPr/>
          <p:nvPr/>
        </p:nvSpPr>
        <p:spPr>
          <a:xfrm>
            <a:off x="8763000" y="5385435"/>
            <a:ext cx="7143750" cy="9525"/>
          </a:xfrm>
          <a:prstGeom prst="rect">
            <a:avLst/>
          </a:prstGeom>
          <a:solidFill>
            <a:srgbClr val="CBC9C2"/>
          </a:solidFill>
          <a:ln/>
        </p:spPr>
        <p:txBody>
          <a:bodyPr/>
          <a:lstStyle/>
          <a:p>
            <a:endParaRPr lang="en-US"/>
          </a:p>
        </p:txBody>
      </p:sp>
      <p:sp>
        <p:nvSpPr>
          <p:cNvPr id="20" name="Text 18"/>
          <p:cNvSpPr/>
          <p:nvPr/>
        </p:nvSpPr>
        <p:spPr>
          <a:xfrm>
            <a:off x="1047750" y="5934075"/>
            <a:ext cx="1205508" cy="213360"/>
          </a:xfrm>
          <a:prstGeom prst="rect">
            <a:avLst/>
          </a:prstGeom>
          <a:noFill/>
          <a:ln/>
        </p:spPr>
        <p:txBody>
          <a:bodyPr wrap="none" lIns="25400" tIns="25400" rIns="25400" bIns="25400" rtlCol="0" anchor="t">
            <a:normAutofit fontScale="92500" lnSpcReduction="10000"/>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YOUR VIEW</a:t>
            </a:r>
            <a:endParaRPr lang="en-US" sz="1200" dirty="0"/>
          </a:p>
        </p:txBody>
      </p:sp>
      <p:sp>
        <p:nvSpPr>
          <p:cNvPr id="21" name="Text 19"/>
          <p:cNvSpPr/>
          <p:nvPr/>
        </p:nvSpPr>
        <p:spPr>
          <a:xfrm>
            <a:off x="2348508" y="5812155"/>
            <a:ext cx="837217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On balance, should schools embrace AI or hold it back?</a:t>
            </a:r>
            <a:endParaRPr lang="en-US" sz="2250" dirty="0"/>
          </a:p>
        </p:txBody>
      </p:sp>
      <p:sp>
        <p:nvSpPr>
          <p:cNvPr id="22" name="Text 20"/>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There is no right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6690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Complete &amp; say each line</a:t>
            </a:r>
            <a:endParaRPr lang="en-US" sz="3900" dirty="0"/>
          </a:p>
        </p:txBody>
      </p:sp>
      <p:sp>
        <p:nvSpPr>
          <p:cNvPr id="7" name="Text 5"/>
          <p:cNvSpPr/>
          <p:nvPr/>
        </p:nvSpPr>
        <p:spPr>
          <a:xfrm>
            <a:off x="1047750" y="2636520"/>
            <a:ext cx="17811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312420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310890"/>
            <a:ext cx="787598"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adapt</a:t>
            </a:r>
            <a:endParaRPr lang="en-US" sz="2100" dirty="0"/>
          </a:p>
        </p:txBody>
      </p:sp>
      <p:sp>
        <p:nvSpPr>
          <p:cNvPr id="10" name="Text 8"/>
          <p:cNvSpPr/>
          <p:nvPr/>
        </p:nvSpPr>
        <p:spPr>
          <a:xfrm>
            <a:off x="2479238" y="3310890"/>
            <a:ext cx="179335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personalized</a:t>
            </a:r>
            <a:endParaRPr lang="en-US" sz="2100" dirty="0"/>
          </a:p>
        </p:txBody>
      </p:sp>
      <p:sp>
        <p:nvSpPr>
          <p:cNvPr id="11" name="Text 9"/>
          <p:cNvSpPr/>
          <p:nvPr/>
        </p:nvSpPr>
        <p:spPr>
          <a:xfrm>
            <a:off x="4490561" y="3310890"/>
            <a:ext cx="148440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accessible</a:t>
            </a:r>
            <a:endParaRPr lang="en-US" sz="2100" dirty="0"/>
          </a:p>
        </p:txBody>
      </p:sp>
      <p:sp>
        <p:nvSpPr>
          <p:cNvPr id="12" name="Text 10"/>
          <p:cNvSpPr/>
          <p:nvPr/>
        </p:nvSpPr>
        <p:spPr>
          <a:xfrm>
            <a:off x="6221016" y="3310890"/>
            <a:ext cx="550783"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rely</a:t>
            </a:r>
            <a:endParaRPr lang="en-US" sz="2100" dirty="0"/>
          </a:p>
        </p:txBody>
      </p:sp>
      <p:sp>
        <p:nvSpPr>
          <p:cNvPr id="13" name="Text 11"/>
          <p:cNvSpPr/>
          <p:nvPr/>
        </p:nvSpPr>
        <p:spPr>
          <a:xfrm>
            <a:off x="7076599" y="3310890"/>
            <a:ext cx="112835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integrity</a:t>
            </a:r>
            <a:endParaRPr lang="en-US" sz="2100" dirty="0"/>
          </a:p>
        </p:txBody>
      </p:sp>
      <p:sp>
        <p:nvSpPr>
          <p:cNvPr id="14" name="Text 12"/>
          <p:cNvSpPr/>
          <p:nvPr/>
        </p:nvSpPr>
        <p:spPr>
          <a:xfrm>
            <a:off x="1047750" y="408813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5" name="Text 13"/>
          <p:cNvSpPr/>
          <p:nvPr/>
        </p:nvSpPr>
        <p:spPr>
          <a:xfrm>
            <a:off x="1581150" y="4110990"/>
            <a:ext cx="8313241"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good app can _______________ to the level of each learner.</a:t>
            </a:r>
            <a:endParaRPr lang="en-US" sz="2250" dirty="0"/>
          </a:p>
        </p:txBody>
      </p:sp>
      <p:sp>
        <p:nvSpPr>
          <p:cNvPr id="16" name="Text 14"/>
          <p:cNvSpPr/>
          <p:nvPr/>
        </p:nvSpPr>
        <p:spPr>
          <a:xfrm>
            <a:off x="1047750" y="4706303"/>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7" name="Text 15"/>
          <p:cNvSpPr/>
          <p:nvPr/>
        </p:nvSpPr>
        <p:spPr>
          <a:xfrm>
            <a:off x="1581150" y="4729163"/>
            <a:ext cx="8573869"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Many students now _______________ on AI to check their work.</a:t>
            </a:r>
            <a:endParaRPr lang="en-US" sz="2250" dirty="0"/>
          </a:p>
        </p:txBody>
      </p:sp>
      <p:sp>
        <p:nvSpPr>
          <p:cNvPr id="18" name="Text 16"/>
          <p:cNvSpPr/>
          <p:nvPr/>
        </p:nvSpPr>
        <p:spPr>
          <a:xfrm>
            <a:off x="1047750" y="5324475"/>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9" name="Text 17"/>
          <p:cNvSpPr/>
          <p:nvPr/>
        </p:nvSpPr>
        <p:spPr>
          <a:xfrm>
            <a:off x="1658326" y="5347335"/>
            <a:ext cx="8295299"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Online lessons are _______________ to anyone with a phone.</a:t>
            </a:r>
            <a:endParaRPr lang="en-US" sz="2250" dirty="0"/>
          </a:p>
        </p:txBody>
      </p:sp>
      <p:sp>
        <p:nvSpPr>
          <p:cNvPr id="20" name="Text 18"/>
          <p:cNvSpPr/>
          <p:nvPr/>
        </p:nvSpPr>
        <p:spPr>
          <a:xfrm>
            <a:off x="1047750" y="5942648"/>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21" name="Text 19"/>
          <p:cNvSpPr/>
          <p:nvPr/>
        </p:nvSpPr>
        <p:spPr>
          <a:xfrm>
            <a:off x="1581150" y="5965507"/>
            <a:ext cx="10879574"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Teachers worry about academic _______________ when machines write essays.</a:t>
            </a:r>
            <a:endParaRPr lang="en-US" sz="2250" dirty="0"/>
          </a:p>
        </p:txBody>
      </p:sp>
      <p:sp>
        <p:nvSpPr>
          <p:cNvPr id="22" name="Text 20"/>
          <p:cNvSpPr/>
          <p:nvPr/>
        </p:nvSpPr>
        <p:spPr>
          <a:xfrm>
            <a:off x="1047750" y="656082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3" name="Text 21"/>
          <p:cNvSpPr/>
          <p:nvPr/>
        </p:nvSpPr>
        <p:spPr>
          <a:xfrm>
            <a:off x="1581150" y="6583680"/>
            <a:ext cx="7054632"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AI can give each student a _______________ lesson.</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84020"/>
            <a:ext cx="332267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88770"/>
            <a:ext cx="3262670" cy="388620"/>
          </a:xfrm>
          <a:prstGeom prst="rect">
            <a:avLst/>
          </a:prstGeom>
          <a:solidFill>
            <a:srgbClr val="1A2A5E"/>
          </a:solidFill>
          <a:ln/>
        </p:spPr>
        <p:txBody>
          <a:bodyPr/>
          <a:lstStyle/>
          <a:p>
            <a:endParaRPr lang="en-US"/>
          </a:p>
        </p:txBody>
      </p:sp>
      <p:sp>
        <p:nvSpPr>
          <p:cNvPr id="7" name="Text 5"/>
          <p:cNvSpPr/>
          <p:nvPr/>
        </p:nvSpPr>
        <p:spPr>
          <a:xfrm>
            <a:off x="4449366" y="164592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11074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Complete &amp; say each line</a:t>
            </a:r>
            <a:endParaRPr lang="en-US" sz="3750" dirty="0"/>
          </a:p>
        </p:txBody>
      </p:sp>
      <p:sp>
        <p:nvSpPr>
          <p:cNvPr id="9" name="Text 7"/>
          <p:cNvSpPr/>
          <p:nvPr/>
        </p:nvSpPr>
        <p:spPr>
          <a:xfrm>
            <a:off x="1047750" y="313182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1</a:t>
            </a:r>
            <a:endParaRPr lang="en-US" sz="2100" dirty="0"/>
          </a:p>
        </p:txBody>
      </p:sp>
      <p:sp>
        <p:nvSpPr>
          <p:cNvPr id="10" name="Text 8"/>
          <p:cNvSpPr/>
          <p:nvPr/>
        </p:nvSpPr>
        <p:spPr>
          <a:xfrm>
            <a:off x="1581150" y="3147060"/>
            <a:ext cx="6507445"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good app can </a:t>
            </a:r>
            <a:r>
              <a:rPr lang="en-US" sz="2100" b="1" dirty="0">
                <a:solidFill>
                  <a:srgbClr val="1A2A5E"/>
                </a:solidFill>
                <a:latin typeface="Helvetica" pitchFamily="34" charset="0"/>
                <a:ea typeface="Helvetica" pitchFamily="34" charset="-122"/>
                <a:cs typeface="Helvetica" pitchFamily="34" charset="-120"/>
              </a:rPr>
              <a:t>adapt </a:t>
            </a:r>
            <a:r>
              <a:rPr lang="en-US" sz="2100" dirty="0">
                <a:solidFill>
                  <a:srgbClr val="444444"/>
                </a:solidFill>
                <a:latin typeface="Helvetica" pitchFamily="34" charset="0"/>
                <a:ea typeface="Helvetica" pitchFamily="34" charset="-122"/>
                <a:cs typeface="Helvetica" pitchFamily="34" charset="-120"/>
              </a:rPr>
              <a:t>to the level of each learner.</a:t>
            </a:r>
            <a:endParaRPr lang="en-US" sz="2100" dirty="0"/>
          </a:p>
        </p:txBody>
      </p:sp>
      <p:sp>
        <p:nvSpPr>
          <p:cNvPr id="11" name="Text 9"/>
          <p:cNvSpPr/>
          <p:nvPr/>
        </p:nvSpPr>
        <p:spPr>
          <a:xfrm>
            <a:off x="1047750" y="371665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2</a:t>
            </a:r>
            <a:endParaRPr lang="en-US" sz="2100" dirty="0"/>
          </a:p>
        </p:txBody>
      </p:sp>
      <p:sp>
        <p:nvSpPr>
          <p:cNvPr id="12" name="Text 10"/>
          <p:cNvSpPr/>
          <p:nvPr/>
        </p:nvSpPr>
        <p:spPr>
          <a:xfrm>
            <a:off x="1581150" y="3731895"/>
            <a:ext cx="6490288"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Many students now </a:t>
            </a:r>
            <a:r>
              <a:rPr lang="en-US" sz="2100" b="1" dirty="0">
                <a:solidFill>
                  <a:srgbClr val="1A2A5E"/>
                </a:solidFill>
                <a:latin typeface="Helvetica" pitchFamily="34" charset="0"/>
                <a:ea typeface="Helvetica" pitchFamily="34" charset="-122"/>
                <a:cs typeface="Helvetica" pitchFamily="34" charset="-120"/>
              </a:rPr>
              <a:t>rely </a:t>
            </a:r>
            <a:r>
              <a:rPr lang="en-US" sz="2100" dirty="0">
                <a:solidFill>
                  <a:srgbClr val="444444"/>
                </a:solidFill>
                <a:latin typeface="Helvetica" pitchFamily="34" charset="0"/>
                <a:ea typeface="Helvetica" pitchFamily="34" charset="-122"/>
                <a:cs typeface="Helvetica" pitchFamily="34" charset="-120"/>
              </a:rPr>
              <a:t>on AI to check their work.</a:t>
            </a:r>
            <a:endParaRPr lang="en-US" sz="2100" dirty="0"/>
          </a:p>
        </p:txBody>
      </p:sp>
      <p:sp>
        <p:nvSpPr>
          <p:cNvPr id="13" name="Text 11"/>
          <p:cNvSpPr/>
          <p:nvPr/>
        </p:nvSpPr>
        <p:spPr>
          <a:xfrm>
            <a:off x="1047750" y="430149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3</a:t>
            </a:r>
            <a:endParaRPr lang="en-US" sz="2100" dirty="0"/>
          </a:p>
        </p:txBody>
      </p:sp>
      <p:sp>
        <p:nvSpPr>
          <p:cNvPr id="14" name="Text 12"/>
          <p:cNvSpPr/>
          <p:nvPr/>
        </p:nvSpPr>
        <p:spPr>
          <a:xfrm>
            <a:off x="1581150" y="4316730"/>
            <a:ext cx="7192673"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Online lessons are </a:t>
            </a:r>
            <a:r>
              <a:rPr lang="en-US" sz="2100" b="1" dirty="0">
                <a:solidFill>
                  <a:srgbClr val="1A2A5E"/>
                </a:solidFill>
                <a:latin typeface="Helvetica" pitchFamily="34" charset="0"/>
                <a:ea typeface="Helvetica" pitchFamily="34" charset="-122"/>
                <a:cs typeface="Helvetica" pitchFamily="34" charset="-120"/>
              </a:rPr>
              <a:t>accessible </a:t>
            </a:r>
            <a:r>
              <a:rPr lang="en-US" sz="2100" dirty="0">
                <a:solidFill>
                  <a:srgbClr val="444444"/>
                </a:solidFill>
                <a:latin typeface="Helvetica" pitchFamily="34" charset="0"/>
                <a:ea typeface="Helvetica" pitchFamily="34" charset="-122"/>
                <a:cs typeface="Helvetica" pitchFamily="34" charset="-120"/>
              </a:rPr>
              <a:t>to anyone with a phone.</a:t>
            </a:r>
            <a:endParaRPr lang="en-US" sz="2100" dirty="0"/>
          </a:p>
        </p:txBody>
      </p:sp>
      <p:sp>
        <p:nvSpPr>
          <p:cNvPr id="15" name="Text 13"/>
          <p:cNvSpPr/>
          <p:nvPr/>
        </p:nvSpPr>
        <p:spPr>
          <a:xfrm>
            <a:off x="1047750" y="488632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4</a:t>
            </a:r>
            <a:endParaRPr lang="en-US" sz="2100" dirty="0"/>
          </a:p>
        </p:txBody>
      </p:sp>
      <p:sp>
        <p:nvSpPr>
          <p:cNvPr id="16" name="Text 14"/>
          <p:cNvSpPr/>
          <p:nvPr/>
        </p:nvSpPr>
        <p:spPr>
          <a:xfrm>
            <a:off x="1581150" y="4901565"/>
            <a:ext cx="9277565"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Teachers worry about academic </a:t>
            </a:r>
            <a:r>
              <a:rPr lang="en-US" sz="2100" b="1" dirty="0">
                <a:solidFill>
                  <a:srgbClr val="1A2A5E"/>
                </a:solidFill>
                <a:latin typeface="Helvetica" pitchFamily="34" charset="0"/>
                <a:ea typeface="Helvetica" pitchFamily="34" charset="-122"/>
                <a:cs typeface="Helvetica" pitchFamily="34" charset="-120"/>
              </a:rPr>
              <a:t>integrity </a:t>
            </a:r>
            <a:r>
              <a:rPr lang="en-US" sz="2100" dirty="0">
                <a:solidFill>
                  <a:srgbClr val="444444"/>
                </a:solidFill>
                <a:latin typeface="Helvetica" pitchFamily="34" charset="0"/>
                <a:ea typeface="Helvetica" pitchFamily="34" charset="-122"/>
                <a:cs typeface="Helvetica" pitchFamily="34" charset="-120"/>
              </a:rPr>
              <a:t>when machines write essays.</a:t>
            </a:r>
            <a:endParaRPr lang="en-US" sz="2100" dirty="0"/>
          </a:p>
        </p:txBody>
      </p:sp>
      <p:sp>
        <p:nvSpPr>
          <p:cNvPr id="17" name="Text 15"/>
          <p:cNvSpPr/>
          <p:nvPr/>
        </p:nvSpPr>
        <p:spPr>
          <a:xfrm>
            <a:off x="1047750" y="547116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5</a:t>
            </a:r>
            <a:endParaRPr lang="en-US" sz="2100" dirty="0"/>
          </a:p>
        </p:txBody>
      </p:sp>
      <p:sp>
        <p:nvSpPr>
          <p:cNvPr id="18" name="Text 16"/>
          <p:cNvSpPr/>
          <p:nvPr/>
        </p:nvSpPr>
        <p:spPr>
          <a:xfrm>
            <a:off x="1581150" y="5486400"/>
            <a:ext cx="6343603"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AI can give each student a </a:t>
            </a:r>
            <a:r>
              <a:rPr lang="en-US" sz="2100" b="1" dirty="0">
                <a:solidFill>
                  <a:srgbClr val="1A2A5E"/>
                </a:solidFill>
                <a:latin typeface="Helvetica" pitchFamily="34" charset="0"/>
                <a:ea typeface="Helvetica" pitchFamily="34" charset="-122"/>
                <a:cs typeface="Helvetica" pitchFamily="34" charset="-120"/>
              </a:rPr>
              <a:t>personalized </a:t>
            </a:r>
            <a:r>
              <a:rPr lang="en-US" sz="2100" dirty="0">
                <a:solidFill>
                  <a:srgbClr val="444444"/>
                </a:solidFill>
                <a:latin typeface="Helvetica" pitchFamily="34" charset="0"/>
                <a:ea typeface="Helvetica" pitchFamily="34" charset="-122"/>
                <a:cs typeface="Helvetica" pitchFamily="34" charset="-120"/>
              </a:rPr>
              <a:t>lesson.</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3211092"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96390"/>
            <a:ext cx="2534507" cy="20574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8595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You write the AI rules</a:t>
            </a:r>
            <a:endParaRPr lang="en-US" sz="3750" dirty="0"/>
          </a:p>
        </p:txBody>
      </p:sp>
      <p:sp>
        <p:nvSpPr>
          <p:cNvPr id="8" name="Shape 6"/>
          <p:cNvSpPr/>
          <p:nvPr/>
        </p:nvSpPr>
        <p:spPr>
          <a:xfrm>
            <a:off x="1047750" y="2964180"/>
            <a:ext cx="14859000" cy="9525"/>
          </a:xfrm>
          <a:prstGeom prst="rect">
            <a:avLst/>
          </a:prstGeom>
          <a:solidFill>
            <a:srgbClr val="D8D6D0"/>
          </a:solidFill>
          <a:ln/>
        </p:spPr>
        <p:txBody>
          <a:bodyPr/>
          <a:lstStyle/>
          <a:p>
            <a:endParaRPr lang="en-US"/>
          </a:p>
        </p:txBody>
      </p:sp>
      <p:sp>
        <p:nvSpPr>
          <p:cNvPr id="9" name="Text 7"/>
          <p:cNvSpPr/>
          <p:nvPr/>
        </p:nvSpPr>
        <p:spPr>
          <a:xfrm>
            <a:off x="1047750" y="323850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200400"/>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are a group of teachers writing the AI rules for your school.</a:t>
            </a:r>
            <a:endParaRPr lang="en-US" sz="2250" dirty="0"/>
          </a:p>
        </p:txBody>
      </p:sp>
      <p:sp>
        <p:nvSpPr>
          <p:cNvPr id="11" name="Shape 9"/>
          <p:cNvSpPr/>
          <p:nvPr/>
        </p:nvSpPr>
        <p:spPr>
          <a:xfrm>
            <a:off x="1047750" y="3833812"/>
            <a:ext cx="14859000" cy="9525"/>
          </a:xfrm>
          <a:prstGeom prst="rect">
            <a:avLst/>
          </a:prstGeom>
          <a:solidFill>
            <a:srgbClr val="D8D6D0"/>
          </a:solidFill>
          <a:ln/>
        </p:spPr>
        <p:txBody>
          <a:bodyPr/>
          <a:lstStyle/>
          <a:p>
            <a:endParaRPr lang="en-US"/>
          </a:p>
        </p:txBody>
      </p:sp>
      <p:sp>
        <p:nvSpPr>
          <p:cNvPr id="12" name="Text 10"/>
          <p:cNvSpPr/>
          <p:nvPr/>
        </p:nvSpPr>
        <p:spPr>
          <a:xfrm>
            <a:off x="1047750" y="410813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4070033"/>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rules for how students may — and may not — use AI.</a:t>
            </a:r>
            <a:endParaRPr lang="en-US" sz="2250" dirty="0"/>
          </a:p>
        </p:txBody>
      </p:sp>
      <p:sp>
        <p:nvSpPr>
          <p:cNvPr id="14" name="Shape 12"/>
          <p:cNvSpPr/>
          <p:nvPr/>
        </p:nvSpPr>
        <p:spPr>
          <a:xfrm>
            <a:off x="1047750" y="5554028"/>
            <a:ext cx="14859000" cy="9525"/>
          </a:xfrm>
          <a:prstGeom prst="rect">
            <a:avLst/>
          </a:prstGeom>
          <a:solidFill>
            <a:srgbClr val="D8D6D0"/>
          </a:solidFill>
          <a:ln/>
        </p:spPr>
        <p:txBody>
          <a:bodyPr/>
          <a:lstStyle/>
          <a:p>
            <a:endParaRPr lang="en-US"/>
          </a:p>
        </p:txBody>
      </p:sp>
      <p:sp>
        <p:nvSpPr>
          <p:cNvPr id="15" name="Shape 13"/>
          <p:cNvSpPr/>
          <p:nvPr/>
        </p:nvSpPr>
        <p:spPr>
          <a:xfrm>
            <a:off x="1047750" y="4703445"/>
            <a:ext cx="14859000" cy="9525"/>
          </a:xfrm>
          <a:prstGeom prst="rect">
            <a:avLst/>
          </a:prstGeom>
          <a:solidFill>
            <a:srgbClr val="D8D6D0"/>
          </a:solidFill>
          <a:ln/>
        </p:spPr>
        <p:txBody>
          <a:bodyPr/>
          <a:lstStyle/>
          <a:p>
            <a:endParaRPr lang="en-US"/>
          </a:p>
        </p:txBody>
      </p:sp>
      <p:sp>
        <p:nvSpPr>
          <p:cNvPr id="16" name="Text 14"/>
          <p:cNvSpPr/>
          <p:nvPr/>
        </p:nvSpPr>
        <p:spPr>
          <a:xfrm>
            <a:off x="1047750" y="497776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939665"/>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policy and explain how it keeps learning fair.</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7411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90750"/>
            <a:ext cx="15206662" cy="15887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5550" b="1" dirty="0">
                <a:solidFill>
                  <a:srgbClr val="1A2A5E"/>
                </a:solidFill>
                <a:latin typeface="Playfair Display" pitchFamily="34" charset="0"/>
                <a:ea typeface="Playfair Display" pitchFamily="34" charset="-122"/>
                <a:cs typeface="Playfair Display" pitchFamily="34" charset="-120"/>
              </a:rPr>
              <a:t>Should students be allowed to use AI to help with their schoolwork?</a:t>
            </a:r>
            <a:endParaRPr lang="en-US" sz="5550" dirty="0"/>
          </a:p>
        </p:txBody>
      </p:sp>
      <p:sp>
        <p:nvSpPr>
          <p:cNvPr id="7" name="Text 5"/>
          <p:cNvSpPr/>
          <p:nvPr/>
        </p:nvSpPr>
        <p:spPr>
          <a:xfrm>
            <a:off x="1047750" y="4122420"/>
            <a:ext cx="13620750"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5025390"/>
            <a:ext cx="2476500" cy="22860"/>
          </a:xfrm>
          <a:prstGeom prst="rect">
            <a:avLst/>
          </a:prstGeom>
          <a:solidFill>
            <a:srgbClr val="D9B877"/>
          </a:solidFill>
          <a:ln/>
        </p:spPr>
        <p:txBody>
          <a:bodyPr/>
          <a:lstStyle/>
          <a:p>
            <a:endParaRPr lang="en-US"/>
          </a:p>
        </p:txBody>
      </p:sp>
      <p:sp>
        <p:nvSpPr>
          <p:cNvPr id="9" name="Text 7"/>
          <p:cNvSpPr/>
          <p:nvPr/>
        </p:nvSpPr>
        <p:spPr>
          <a:xfrm>
            <a:off x="1047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5025390"/>
            <a:ext cx="2476500" cy="22860"/>
          </a:xfrm>
          <a:prstGeom prst="rect">
            <a:avLst/>
          </a:prstGeom>
          <a:solidFill>
            <a:srgbClr val="D9B877"/>
          </a:solidFill>
          <a:ln/>
        </p:spPr>
        <p:txBody>
          <a:bodyPr/>
          <a:lstStyle/>
          <a:p>
            <a:endParaRPr lang="en-US"/>
          </a:p>
        </p:txBody>
      </p:sp>
      <p:sp>
        <p:nvSpPr>
          <p:cNvPr id="11" name="Text 9"/>
          <p:cNvSpPr/>
          <p:nvPr/>
        </p:nvSpPr>
        <p:spPr>
          <a:xfrm>
            <a:off x="39052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5025390"/>
            <a:ext cx="2476500" cy="22860"/>
          </a:xfrm>
          <a:prstGeom prst="rect">
            <a:avLst/>
          </a:prstGeom>
          <a:solidFill>
            <a:srgbClr val="D9B877"/>
          </a:solidFill>
          <a:ln/>
        </p:spPr>
        <p:txBody>
          <a:bodyPr/>
          <a:lstStyle/>
          <a:p>
            <a:endParaRPr lang="en-US"/>
          </a:p>
        </p:txBody>
      </p:sp>
      <p:sp>
        <p:nvSpPr>
          <p:cNvPr id="13" name="Text 11"/>
          <p:cNvSpPr/>
          <p:nvPr/>
        </p:nvSpPr>
        <p:spPr>
          <a:xfrm>
            <a:off x="6762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238250" y="3808095"/>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42435"/>
            <a:ext cx="16285845" cy="19583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FFFFFF"/>
                </a:solidFill>
                <a:latin typeface="Playfair Display" pitchFamily="34" charset="0"/>
                <a:ea typeface="Playfair Display" pitchFamily="34" charset="-122"/>
                <a:cs typeface="Playfair Display" pitchFamily="34" charset="-120"/>
              </a:rPr>
              <a:t>One fact. One perspective. Endless discussion.</a:t>
            </a:r>
            <a:endParaRPr lang="en-US" sz="7200" dirty="0"/>
          </a:p>
        </p:txBody>
      </p:sp>
      <p:sp>
        <p:nvSpPr>
          <p:cNvPr id="5" name="Text 3"/>
          <p:cNvSpPr/>
          <p:nvPr/>
        </p:nvSpPr>
        <p:spPr>
          <a:xfrm>
            <a:off x="1238250" y="6448425"/>
            <a:ext cx="1739265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1855</Words>
  <Application>Microsoft Office PowerPoint</Application>
  <PresentationFormat>Custom</PresentationFormat>
  <Paragraphs>251</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Helvetica</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2</cp:revision>
  <dcterms:created xsi:type="dcterms:W3CDTF">2026-07-06T08:02:55Z</dcterms:created>
  <dcterms:modified xsi:type="dcterms:W3CDTF">2026-07-06T08:12:26Z</dcterms:modified>
</cp:coreProperties>
</file>