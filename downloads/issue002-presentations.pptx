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6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1559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001 of Perspective — today's topic is Overtourism.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what is overtourism, where is it happening, and what are the possible solutions? End on the pull-quote question — it sets up the discussion.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3 and 5 are False because the article is balanced and says there is no easy answer.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 &amp; Defend. Students rank the five effects from best (1) to worst (5) for residents — alone first, then compare in pairs. Disagreement is the point: they must defend their choices.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especially in 3 (residents / local people). The goal is that students can use the words in speech.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role-play. Small groups act as a town council. Give ~8 minutes to agree on two rules, then each group presents. Encourage persuasive, balanced language.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002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5567446" y="1047750"/>
            <a:ext cx="1482304"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002</a:t>
            </a:r>
            <a:endParaRPr lang="en-US" sz="1500" dirty="0"/>
          </a:p>
        </p:txBody>
      </p:sp>
      <p:sp>
        <p:nvSpPr>
          <p:cNvPr id="4" name="Text 2"/>
          <p:cNvSpPr/>
          <p:nvPr/>
        </p:nvSpPr>
        <p:spPr>
          <a:xfrm>
            <a:off x="1238250" y="6719888"/>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5" name="Text 3"/>
          <p:cNvSpPr/>
          <p:nvPr/>
        </p:nvSpPr>
        <p:spPr>
          <a:xfrm>
            <a:off x="1238250" y="7211378"/>
            <a:ext cx="17392650" cy="1395413"/>
          </a:xfrm>
          <a:prstGeom prst="rect">
            <a:avLst/>
          </a:prstGeom>
          <a:noFill/>
          <a:ln/>
        </p:spPr>
        <p:txBody>
          <a:bodyPr wrap="square" lIns="25400" tIns="25400" rIns="25400" bIns="25400" rtlCol="0" anchor="t">
            <a:normAutofit/>
          </a:bodyPr>
          <a:lstStyle/>
          <a:p>
            <a:pPr marL="0" indent="0" algn="l">
              <a:lnSpc>
                <a:spcPct val="95000"/>
              </a:lnSpc>
              <a:buNone/>
            </a:pPr>
            <a:r>
              <a:rPr lang="en-US" sz="11250" b="1" kern="0" spc="-150" dirty="0">
                <a:solidFill>
                  <a:srgbClr val="FFFFFF"/>
                </a:solidFill>
                <a:latin typeface="Georgia" pitchFamily="34" charset="0"/>
                <a:ea typeface="Georgia" pitchFamily="34" charset="-122"/>
                <a:cs typeface="Georgia" pitchFamily="34" charset="-120"/>
              </a:rPr>
              <a:t>AI in Education</a:t>
            </a:r>
            <a:endParaRPr lang="en-US" sz="11250" dirty="0"/>
          </a:p>
        </p:txBody>
      </p:sp>
      <p:sp>
        <p:nvSpPr>
          <p:cNvPr id="6" name="Text 4"/>
          <p:cNvSpPr/>
          <p:nvPr/>
        </p:nvSpPr>
        <p:spPr>
          <a:xfrm>
            <a:off x="1238250" y="8797290"/>
            <a:ext cx="17392650" cy="480060"/>
          </a:xfrm>
          <a:prstGeom prst="rect">
            <a:avLst/>
          </a:prstGeom>
          <a:noFill/>
          <a:ln/>
        </p:spPr>
        <p:txBody>
          <a:bodyPr wrap="square" lIns="25400" tIns="25400" rIns="25400" bIns="25400" rtlCol="0" anchor="t">
            <a:normAutofit/>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Can a machine help us learn?</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Georgia" pitchFamily="34" charset="0"/>
                <a:ea typeface="Georgia" pitchFamily="34" charset="-122"/>
                <a:cs typeface="Georgia" pitchFamily="34" charset="-120"/>
              </a:rPr>
              <a:t>What we’ll do today</a:t>
            </a:r>
            <a:endParaRPr lang="en-US" sz="4500" dirty="0"/>
          </a:p>
        </p:txBody>
      </p:sp>
      <p:sp>
        <p:nvSpPr>
          <p:cNvPr id="7" name="Text 5"/>
          <p:cNvSpPr/>
          <p:nvPr/>
        </p:nvSpPr>
        <p:spPr>
          <a:xfrm>
            <a:off x="1047750" y="3097530"/>
            <a:ext cx="513517"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01</a:t>
            </a:r>
            <a:endParaRPr lang="en-US" sz="3300" dirty="0"/>
          </a:p>
        </p:txBody>
      </p:sp>
      <p:sp>
        <p:nvSpPr>
          <p:cNvPr id="8" name="Text 6"/>
          <p:cNvSpPr/>
          <p:nvPr/>
        </p:nvSpPr>
        <p:spPr>
          <a:xfrm>
            <a:off x="1713667" y="3097530"/>
            <a:ext cx="3715583"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3667" y="3463290"/>
            <a:ext cx="3715583"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097530"/>
            <a:ext cx="567571"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02</a:t>
            </a:r>
            <a:endParaRPr lang="en-US" sz="3300" dirty="0"/>
          </a:p>
        </p:txBody>
      </p:sp>
      <p:sp>
        <p:nvSpPr>
          <p:cNvPr id="11" name="Text 9"/>
          <p:cNvSpPr/>
          <p:nvPr/>
        </p:nvSpPr>
        <p:spPr>
          <a:xfrm>
            <a:off x="10197346" y="3097530"/>
            <a:ext cx="317769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197346" y="3463290"/>
            <a:ext cx="317769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3992880"/>
            <a:ext cx="564713"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03</a:t>
            </a:r>
            <a:endParaRPr lang="en-US" sz="3300" dirty="0"/>
          </a:p>
        </p:txBody>
      </p:sp>
      <p:sp>
        <p:nvSpPr>
          <p:cNvPr id="14" name="Text 12"/>
          <p:cNvSpPr/>
          <p:nvPr/>
        </p:nvSpPr>
        <p:spPr>
          <a:xfrm>
            <a:off x="1764863" y="3992880"/>
            <a:ext cx="3985117"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4863" y="4358640"/>
            <a:ext cx="3985117"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3992880"/>
            <a:ext cx="570309"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04</a:t>
            </a:r>
            <a:endParaRPr lang="en-US" sz="3300" dirty="0"/>
          </a:p>
        </p:txBody>
      </p:sp>
      <p:sp>
        <p:nvSpPr>
          <p:cNvPr id="17" name="Text 15"/>
          <p:cNvSpPr/>
          <p:nvPr/>
        </p:nvSpPr>
        <p:spPr>
          <a:xfrm>
            <a:off x="10200084" y="3992880"/>
            <a:ext cx="362652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0084" y="4358640"/>
            <a:ext cx="362652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Georgia" pitchFamily="34" charset="0"/>
                <a:ea typeface="Georgia" pitchFamily="34" charset="-122"/>
                <a:cs typeface="Georgia" pitchFamily="34" charset="-120"/>
              </a:rPr>
              <a:t>Talk with a partner</a:t>
            </a:r>
            <a:endParaRPr lang="en-US" sz="4500" dirty="0"/>
          </a:p>
        </p:txBody>
      </p:sp>
      <p:sp>
        <p:nvSpPr>
          <p:cNvPr id="7" name="Text 5"/>
          <p:cNvSpPr/>
          <p:nvPr/>
        </p:nvSpPr>
        <p:spPr>
          <a:xfrm>
            <a:off x="1047750" y="3230880"/>
            <a:ext cx="370880"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1</a:t>
            </a:r>
            <a:endParaRPr lang="en-US" sz="5400" dirty="0"/>
          </a:p>
        </p:txBody>
      </p:sp>
      <p:sp>
        <p:nvSpPr>
          <p:cNvPr id="8" name="Text 6"/>
          <p:cNvSpPr/>
          <p:nvPr/>
        </p:nvSpPr>
        <p:spPr>
          <a:xfrm>
            <a:off x="1666280" y="3288030"/>
            <a:ext cx="12607427" cy="106680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Have you ever used an app or a website to help you learn something? Did it help?</a:t>
            </a:r>
            <a:endParaRPr lang="en-US" sz="3000" dirty="0"/>
          </a:p>
        </p:txBody>
      </p:sp>
      <p:sp>
        <p:nvSpPr>
          <p:cNvPr id="9" name="Text 7"/>
          <p:cNvSpPr/>
          <p:nvPr/>
        </p:nvSpPr>
        <p:spPr>
          <a:xfrm>
            <a:off x="1047750" y="4735830"/>
            <a:ext cx="459343"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2</a:t>
            </a:r>
            <a:endParaRPr lang="en-US" sz="5400" dirty="0"/>
          </a:p>
        </p:txBody>
      </p:sp>
      <p:sp>
        <p:nvSpPr>
          <p:cNvPr id="10" name="Text 8"/>
          <p:cNvSpPr/>
          <p:nvPr/>
        </p:nvSpPr>
        <p:spPr>
          <a:xfrm>
            <a:off x="1754743" y="4792980"/>
            <a:ext cx="9482006" cy="55245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In your opinion, what makes a really good teacher?</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4045744"/>
            <a:ext cx="8539163"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381024"/>
            <a:ext cx="8539163" cy="598170"/>
          </a:xfrm>
          <a:prstGeom prst="rect">
            <a:avLst/>
          </a:prstGeom>
          <a:noFill/>
          <a:ln/>
        </p:spPr>
        <p:txBody>
          <a:bodyPr wrap="square" lIns="25400" tIns="25400" rIns="25400" bIns="25400" rtlCol="0" anchor="t">
            <a:normAutofit/>
          </a:bodyPr>
          <a:lstStyle/>
          <a:p>
            <a:pPr marL="0" indent="0" algn="l">
              <a:lnSpc>
                <a:spcPct val="105000"/>
              </a:lnSpc>
              <a:buNone/>
            </a:pPr>
            <a:r>
              <a:rPr lang="en-US" sz="4200" b="1" dirty="0">
                <a:solidFill>
                  <a:srgbClr val="1A2A5E"/>
                </a:solidFill>
                <a:latin typeface="Georgia" pitchFamily="34" charset="0"/>
                <a:ea typeface="Georgia" pitchFamily="34" charset="-122"/>
                <a:cs typeface="Georgia" pitchFamily="34" charset="-120"/>
              </a:rPr>
              <a:t>Look and predict</a:t>
            </a:r>
            <a:endParaRPr lang="en-US" sz="4200" dirty="0"/>
          </a:p>
        </p:txBody>
      </p:sp>
      <p:sp>
        <p:nvSpPr>
          <p:cNvPr id="7" name="Text 5"/>
          <p:cNvSpPr/>
          <p:nvPr/>
        </p:nvSpPr>
        <p:spPr>
          <a:xfrm>
            <a:off x="1047750" y="5264944"/>
            <a:ext cx="8539163" cy="452438"/>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“AI in Education.”</a:t>
            </a:r>
            <a:endParaRPr lang="en-US" sz="2250" dirty="0"/>
          </a:p>
        </p:txBody>
      </p:sp>
      <p:sp>
        <p:nvSpPr>
          <p:cNvPr id="8" name="Text 6"/>
          <p:cNvSpPr/>
          <p:nvPr/>
        </p:nvSpPr>
        <p:spPr>
          <a:xfrm>
            <a:off x="1047750" y="5869781"/>
            <a:ext cx="7995761"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4889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56510"/>
            <a:ext cx="7747635" cy="5318760"/>
          </a:xfrm>
          <a:prstGeom prst="rect">
            <a:avLst/>
          </a:prstGeom>
        </p:spPr>
      </p:pic>
      <p:sp>
        <p:nvSpPr>
          <p:cNvPr id="11" name="Text 8"/>
          <p:cNvSpPr/>
          <p:nvPr/>
        </p:nvSpPr>
        <p:spPr>
          <a:xfrm>
            <a:off x="9477375" y="7997190"/>
            <a:ext cx="8539163" cy="236220"/>
          </a:xfrm>
          <a:prstGeom prst="rect">
            <a:avLst/>
          </a:prstGeom>
          <a:noFill/>
          <a:ln/>
        </p:spPr>
        <p:txBody>
          <a:bodyPr wrap="square" lIns="25400" tIns="25400" rIns="25400" bIns="25400" rtlCol="0" anchor="t">
            <a:normAutofit/>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A student studies with the help of an AI assistant on a laptop.</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Georgia" pitchFamily="34" charset="0"/>
                <a:ea typeface="Georgia" pitchFamily="34" charset="-122"/>
                <a:cs typeface="Georgia" pitchFamily="34" charset="-120"/>
              </a:rPr>
              <a:t>Match the words to their meanings</a:t>
            </a:r>
            <a:endParaRPr lang="en-US" sz="4050" dirty="0"/>
          </a:p>
        </p:txBody>
      </p:sp>
      <p:sp>
        <p:nvSpPr>
          <p:cNvPr id="7" name="Text 5"/>
          <p:cNvSpPr/>
          <p:nvPr/>
        </p:nvSpPr>
        <p:spPr>
          <a:xfrm>
            <a:off x="1047750" y="282702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1</a:t>
            </a:r>
            <a:endParaRPr lang="en-US" sz="2400" dirty="0"/>
          </a:p>
        </p:txBody>
      </p:sp>
      <p:sp>
        <p:nvSpPr>
          <p:cNvPr id="8" name="Text 6"/>
          <p:cNvSpPr/>
          <p:nvPr/>
        </p:nvSpPr>
        <p:spPr>
          <a:xfrm>
            <a:off x="1524000" y="2834640"/>
            <a:ext cx="889159"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adapt</a:t>
            </a:r>
            <a:endParaRPr lang="en-US" sz="2400" dirty="0"/>
          </a:p>
        </p:txBody>
      </p:sp>
      <p:sp>
        <p:nvSpPr>
          <p:cNvPr id="9" name="Text 7"/>
          <p:cNvSpPr/>
          <p:nvPr/>
        </p:nvSpPr>
        <p:spPr>
          <a:xfrm>
            <a:off x="1047750" y="336804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2</a:t>
            </a:r>
            <a:endParaRPr lang="en-US" sz="2400" dirty="0"/>
          </a:p>
        </p:txBody>
      </p:sp>
      <p:sp>
        <p:nvSpPr>
          <p:cNvPr id="10" name="Text 8"/>
          <p:cNvSpPr/>
          <p:nvPr/>
        </p:nvSpPr>
        <p:spPr>
          <a:xfrm>
            <a:off x="1524000" y="3375660"/>
            <a:ext cx="204953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personalized</a:t>
            </a:r>
            <a:endParaRPr lang="en-US" sz="2400" dirty="0"/>
          </a:p>
        </p:txBody>
      </p:sp>
      <p:sp>
        <p:nvSpPr>
          <p:cNvPr id="11" name="Text 9"/>
          <p:cNvSpPr/>
          <p:nvPr/>
        </p:nvSpPr>
        <p:spPr>
          <a:xfrm>
            <a:off x="1047750" y="390906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3</a:t>
            </a:r>
            <a:endParaRPr lang="en-US" sz="2400" dirty="0"/>
          </a:p>
        </p:txBody>
      </p:sp>
      <p:sp>
        <p:nvSpPr>
          <p:cNvPr id="12" name="Text 10"/>
          <p:cNvSpPr/>
          <p:nvPr/>
        </p:nvSpPr>
        <p:spPr>
          <a:xfrm>
            <a:off x="1524000" y="3916680"/>
            <a:ext cx="1696438"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accessible</a:t>
            </a:r>
            <a:endParaRPr lang="en-US" sz="2400" dirty="0"/>
          </a:p>
        </p:txBody>
      </p:sp>
      <p:sp>
        <p:nvSpPr>
          <p:cNvPr id="13" name="Text 11"/>
          <p:cNvSpPr/>
          <p:nvPr/>
        </p:nvSpPr>
        <p:spPr>
          <a:xfrm>
            <a:off x="1047750" y="445008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4</a:t>
            </a:r>
            <a:endParaRPr lang="en-US" sz="2400" dirty="0"/>
          </a:p>
        </p:txBody>
      </p:sp>
      <p:sp>
        <p:nvSpPr>
          <p:cNvPr id="14" name="Text 12"/>
          <p:cNvSpPr/>
          <p:nvPr/>
        </p:nvSpPr>
        <p:spPr>
          <a:xfrm>
            <a:off x="1524000" y="4457700"/>
            <a:ext cx="61853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rely</a:t>
            </a:r>
            <a:endParaRPr lang="en-US" sz="2400" dirty="0"/>
          </a:p>
        </p:txBody>
      </p:sp>
      <p:sp>
        <p:nvSpPr>
          <p:cNvPr id="15" name="Text 13"/>
          <p:cNvSpPr/>
          <p:nvPr/>
        </p:nvSpPr>
        <p:spPr>
          <a:xfrm>
            <a:off x="1047750" y="499110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5</a:t>
            </a:r>
            <a:endParaRPr lang="en-US" sz="2400" dirty="0"/>
          </a:p>
        </p:txBody>
      </p:sp>
      <p:sp>
        <p:nvSpPr>
          <p:cNvPr id="16" name="Text 14"/>
          <p:cNvSpPr/>
          <p:nvPr/>
        </p:nvSpPr>
        <p:spPr>
          <a:xfrm>
            <a:off x="1524000" y="4998720"/>
            <a:ext cx="1322653"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integrity</a:t>
            </a:r>
            <a:endParaRPr lang="en-US" sz="2400" dirty="0"/>
          </a:p>
        </p:txBody>
      </p:sp>
      <p:sp>
        <p:nvSpPr>
          <p:cNvPr id="17" name="Text 15"/>
          <p:cNvSpPr/>
          <p:nvPr/>
        </p:nvSpPr>
        <p:spPr>
          <a:xfrm>
            <a:off x="7924800" y="282702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849880"/>
            <a:ext cx="4717887"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designed to suit one particular person</a:t>
            </a:r>
            <a:endParaRPr lang="en-US" sz="2025" dirty="0"/>
          </a:p>
        </p:txBody>
      </p:sp>
      <p:sp>
        <p:nvSpPr>
          <p:cNvPr id="19" name="Text 17"/>
          <p:cNvSpPr/>
          <p:nvPr/>
        </p:nvSpPr>
        <p:spPr>
          <a:xfrm>
            <a:off x="7924800" y="337470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397568"/>
            <a:ext cx="4608135"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depend on someone or something</a:t>
            </a:r>
            <a:endParaRPr lang="en-US" sz="2025" dirty="0"/>
          </a:p>
        </p:txBody>
      </p:sp>
      <p:sp>
        <p:nvSpPr>
          <p:cNvPr id="21" name="Text 19"/>
          <p:cNvSpPr/>
          <p:nvPr/>
        </p:nvSpPr>
        <p:spPr>
          <a:xfrm>
            <a:off x="7924800" y="392239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3945255"/>
            <a:ext cx="3302901"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the quality of being honest</a:t>
            </a:r>
            <a:endParaRPr lang="en-US" sz="2025" dirty="0"/>
          </a:p>
        </p:txBody>
      </p:sp>
      <p:sp>
        <p:nvSpPr>
          <p:cNvPr id="23" name="Text 21"/>
          <p:cNvSpPr/>
          <p:nvPr/>
        </p:nvSpPr>
        <p:spPr>
          <a:xfrm>
            <a:off x="7924800" y="447008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492943"/>
            <a:ext cx="4245876"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change so it fits a new situation</a:t>
            </a:r>
            <a:endParaRPr lang="en-US" sz="2025" dirty="0"/>
          </a:p>
        </p:txBody>
      </p:sp>
      <p:sp>
        <p:nvSpPr>
          <p:cNvPr id="25" name="Text 23"/>
          <p:cNvSpPr/>
          <p:nvPr/>
        </p:nvSpPr>
        <p:spPr>
          <a:xfrm>
            <a:off x="7924800" y="501777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5040630"/>
            <a:ext cx="3192233" cy="372428"/>
          </a:xfrm>
          <a:prstGeom prst="rect">
            <a:avLst/>
          </a:prstGeom>
          <a:noFill/>
          <a:ln/>
        </p:spPr>
        <p:txBody>
          <a:bodyPr wrap="square" lIns="25400" tIns="25400" rIns="25400" bIns="25400" rtlCol="0" anchor="t">
            <a:normAutofit/>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easy to reach, get, or use</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76400"/>
            <a:ext cx="1889879"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581150"/>
            <a:ext cx="1601272" cy="388620"/>
          </a:xfrm>
          <a:prstGeom prst="rect">
            <a:avLst/>
          </a:prstGeom>
          <a:solidFill>
            <a:srgbClr val="1A2A5E"/>
          </a:solidFill>
          <a:ln/>
        </p:spPr>
        <p:txBody>
          <a:bodyPr/>
          <a:lstStyle/>
          <a:p>
            <a:endParaRPr lang="en-US"/>
          </a:p>
        </p:txBody>
      </p:sp>
      <p:sp>
        <p:nvSpPr>
          <p:cNvPr id="7" name="Text 5"/>
          <p:cNvSpPr/>
          <p:nvPr/>
        </p:nvSpPr>
        <p:spPr>
          <a:xfrm>
            <a:off x="3146822" y="16383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03120"/>
            <a:ext cx="17811750" cy="6400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Georgia" pitchFamily="34" charset="0"/>
                <a:ea typeface="Georgia" pitchFamily="34" charset="-122"/>
                <a:cs typeface="Georgia" pitchFamily="34" charset="-120"/>
              </a:rPr>
              <a:t>How did you do?</a:t>
            </a:r>
            <a:endParaRPr lang="en-US" sz="4200" dirty="0"/>
          </a:p>
        </p:txBody>
      </p:sp>
      <p:sp>
        <p:nvSpPr>
          <p:cNvPr id="9" name="Shape 7"/>
          <p:cNvSpPr/>
          <p:nvPr/>
        </p:nvSpPr>
        <p:spPr>
          <a:xfrm>
            <a:off x="1047750" y="3276600"/>
            <a:ext cx="2857500" cy="883920"/>
          </a:xfrm>
          <a:prstGeom prst="rect">
            <a:avLst/>
          </a:prstGeom>
          <a:ln w="15240">
            <a:solidFill>
              <a:srgbClr val="1A2A5E"/>
            </a:solidFill>
            <a:prstDash val="solid"/>
          </a:ln>
        </p:spPr>
        <p:txBody>
          <a:bodyPr/>
          <a:lstStyle/>
          <a:p>
            <a:endParaRPr lang="en-US"/>
          </a:p>
        </p:txBody>
      </p:sp>
      <p:sp>
        <p:nvSpPr>
          <p:cNvPr id="10" name="Text 8"/>
          <p:cNvSpPr/>
          <p:nvPr/>
        </p:nvSpPr>
        <p:spPr>
          <a:xfrm>
            <a:off x="1386840"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1–D </a:t>
            </a:r>
            <a:r>
              <a:rPr lang="en-US" sz="2250" b="1" dirty="0">
                <a:solidFill>
                  <a:srgbClr val="1A2A5E"/>
                </a:solidFill>
                <a:latin typeface="Helvetica" pitchFamily="34" charset="0"/>
                <a:ea typeface="Helvetica" pitchFamily="34" charset="-122"/>
                <a:cs typeface="Helvetica" pitchFamily="34" charset="-120"/>
              </a:rPr>
              <a:t>adapt</a:t>
            </a:r>
            <a:endParaRPr lang="en-US" sz="1200" dirty="0"/>
          </a:p>
        </p:txBody>
      </p:sp>
      <p:sp>
        <p:nvSpPr>
          <p:cNvPr id="11" name="Shape 9"/>
          <p:cNvSpPr/>
          <p:nvPr/>
        </p:nvSpPr>
        <p:spPr>
          <a:xfrm>
            <a:off x="4152900" y="3276600"/>
            <a:ext cx="3309938" cy="883920"/>
          </a:xfrm>
          <a:prstGeom prst="rect">
            <a:avLst/>
          </a:prstGeom>
          <a:ln w="15240">
            <a:solidFill>
              <a:srgbClr val="1A2A5E"/>
            </a:solidFill>
            <a:prstDash val="solid"/>
          </a:ln>
        </p:spPr>
        <p:txBody>
          <a:bodyPr/>
          <a:lstStyle/>
          <a:p>
            <a:endParaRPr lang="en-US"/>
          </a:p>
        </p:txBody>
      </p:sp>
      <p:sp>
        <p:nvSpPr>
          <p:cNvPr id="12" name="Text 10"/>
          <p:cNvSpPr/>
          <p:nvPr/>
        </p:nvSpPr>
        <p:spPr>
          <a:xfrm>
            <a:off x="4491990" y="3501390"/>
            <a:ext cx="2731056"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2–A </a:t>
            </a:r>
            <a:r>
              <a:rPr lang="en-US" sz="2250" b="1" dirty="0">
                <a:solidFill>
                  <a:srgbClr val="1A2A5E"/>
                </a:solidFill>
                <a:latin typeface="Helvetica" pitchFamily="34" charset="0"/>
                <a:ea typeface="Helvetica" pitchFamily="34" charset="-122"/>
                <a:cs typeface="Helvetica" pitchFamily="34" charset="-120"/>
              </a:rPr>
              <a:t>personalized</a:t>
            </a:r>
            <a:endParaRPr lang="en-US" sz="1200" dirty="0"/>
          </a:p>
        </p:txBody>
      </p:sp>
      <p:sp>
        <p:nvSpPr>
          <p:cNvPr id="13" name="Shape 11"/>
          <p:cNvSpPr/>
          <p:nvPr/>
        </p:nvSpPr>
        <p:spPr>
          <a:xfrm>
            <a:off x="7710487" y="3276600"/>
            <a:ext cx="2999661" cy="883920"/>
          </a:xfrm>
          <a:prstGeom prst="rect">
            <a:avLst/>
          </a:prstGeom>
          <a:ln w="15240">
            <a:solidFill>
              <a:srgbClr val="1A2A5E"/>
            </a:solidFill>
            <a:prstDash val="solid"/>
          </a:ln>
        </p:spPr>
        <p:txBody>
          <a:bodyPr/>
          <a:lstStyle/>
          <a:p>
            <a:endParaRPr lang="en-US"/>
          </a:p>
        </p:txBody>
      </p:sp>
      <p:sp>
        <p:nvSpPr>
          <p:cNvPr id="14" name="Text 12"/>
          <p:cNvSpPr/>
          <p:nvPr/>
        </p:nvSpPr>
        <p:spPr>
          <a:xfrm>
            <a:off x="8049578" y="3501390"/>
            <a:ext cx="2411471"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3–E </a:t>
            </a:r>
            <a:r>
              <a:rPr lang="en-US" sz="2250" b="1" dirty="0">
                <a:solidFill>
                  <a:srgbClr val="1A2A5E"/>
                </a:solidFill>
                <a:latin typeface="Helvetica" pitchFamily="34" charset="0"/>
                <a:ea typeface="Helvetica" pitchFamily="34" charset="-122"/>
                <a:cs typeface="Helvetica" pitchFamily="34" charset="-120"/>
              </a:rPr>
              <a:t>accessible</a:t>
            </a:r>
            <a:endParaRPr lang="en-US" sz="1200" dirty="0"/>
          </a:p>
        </p:txBody>
      </p:sp>
      <p:sp>
        <p:nvSpPr>
          <p:cNvPr id="15" name="Shape 13"/>
          <p:cNvSpPr/>
          <p:nvPr/>
        </p:nvSpPr>
        <p:spPr>
          <a:xfrm>
            <a:off x="10957799" y="3276600"/>
            <a:ext cx="2857500" cy="883920"/>
          </a:xfrm>
          <a:prstGeom prst="rect">
            <a:avLst/>
          </a:prstGeom>
          <a:ln w="15240">
            <a:solidFill>
              <a:srgbClr val="1A2A5E"/>
            </a:solidFill>
            <a:prstDash val="solid"/>
          </a:ln>
        </p:spPr>
        <p:txBody>
          <a:bodyPr/>
          <a:lstStyle/>
          <a:p>
            <a:endParaRPr lang="en-US"/>
          </a:p>
        </p:txBody>
      </p:sp>
      <p:sp>
        <p:nvSpPr>
          <p:cNvPr id="16" name="Text 14"/>
          <p:cNvSpPr/>
          <p:nvPr/>
        </p:nvSpPr>
        <p:spPr>
          <a:xfrm>
            <a:off x="11296889"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4–B </a:t>
            </a:r>
            <a:r>
              <a:rPr lang="en-US" sz="2250" b="1" dirty="0">
                <a:solidFill>
                  <a:srgbClr val="1A2A5E"/>
                </a:solidFill>
                <a:latin typeface="Helvetica" pitchFamily="34" charset="0"/>
                <a:ea typeface="Helvetica" pitchFamily="34" charset="-122"/>
                <a:cs typeface="Helvetica" pitchFamily="34" charset="-120"/>
              </a:rPr>
              <a:t>rely</a:t>
            </a:r>
            <a:endParaRPr lang="en-US" sz="1200" dirty="0"/>
          </a:p>
        </p:txBody>
      </p:sp>
      <p:sp>
        <p:nvSpPr>
          <p:cNvPr id="17" name="Shape 15"/>
          <p:cNvSpPr/>
          <p:nvPr/>
        </p:nvSpPr>
        <p:spPr>
          <a:xfrm>
            <a:off x="14062949" y="3276600"/>
            <a:ext cx="2857500" cy="883920"/>
          </a:xfrm>
          <a:prstGeom prst="rect">
            <a:avLst/>
          </a:prstGeom>
          <a:ln w="15240">
            <a:solidFill>
              <a:srgbClr val="1A2A5E"/>
            </a:solidFill>
            <a:prstDash val="solid"/>
          </a:ln>
        </p:spPr>
        <p:txBody>
          <a:bodyPr/>
          <a:lstStyle/>
          <a:p>
            <a:endParaRPr lang="en-US"/>
          </a:p>
        </p:txBody>
      </p:sp>
      <p:sp>
        <p:nvSpPr>
          <p:cNvPr id="18" name="Text 16"/>
          <p:cNvSpPr/>
          <p:nvPr/>
        </p:nvSpPr>
        <p:spPr>
          <a:xfrm>
            <a:off x="14402039"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5–C </a:t>
            </a:r>
            <a:r>
              <a:rPr lang="en-US" sz="2250" b="1" dirty="0">
                <a:solidFill>
                  <a:srgbClr val="1A2A5E"/>
                </a:solidFill>
                <a:latin typeface="Helvetica" pitchFamily="34" charset="0"/>
                <a:ea typeface="Helvetica" pitchFamily="34" charset="-122"/>
                <a:cs typeface="Helvetica" pitchFamily="34" charset="-120"/>
              </a:rPr>
              <a:t>integrity</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8679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60579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219200"/>
            <a:ext cx="17811750" cy="236220"/>
          </a:xfrm>
          <a:prstGeom prst="rect">
            <a:avLst/>
          </a:prstGeom>
          <a:noFill/>
          <a:ln/>
        </p:spPr>
        <p:txBody>
          <a:bodyPr wrap="square" lIns="25400" tIns="25400" rIns="25400" bIns="25400" rtlCol="0" anchor="t">
            <a:normAutofit/>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47447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AI in Education</a:t>
            </a:r>
            <a:endParaRPr lang="en-US" sz="3750" dirty="0"/>
          </a:p>
        </p:txBody>
      </p:sp>
      <p:sp>
        <p:nvSpPr>
          <p:cNvPr id="7" name="Text 5"/>
          <p:cNvSpPr/>
          <p:nvPr/>
        </p:nvSpPr>
        <p:spPr>
          <a:xfrm>
            <a:off x="1047750" y="2091690"/>
            <a:ext cx="17811750" cy="335280"/>
          </a:xfrm>
          <a:prstGeom prst="rect">
            <a:avLst/>
          </a:prstGeom>
          <a:noFill/>
          <a:ln/>
        </p:spPr>
        <p:txBody>
          <a:bodyPr wrap="square" lIns="25400" tIns="25400" rIns="25400" bIns="25400" rtlCol="0" anchor="t">
            <a:normAutofit/>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Can a machine help us learn?</a:t>
            </a:r>
            <a:endParaRPr lang="en-US" sz="2025" dirty="0"/>
          </a:p>
        </p:txBody>
      </p:sp>
      <p:sp>
        <p:nvSpPr>
          <p:cNvPr id="8" name="Shape 6"/>
          <p:cNvSpPr/>
          <p:nvPr/>
        </p:nvSpPr>
        <p:spPr>
          <a:xfrm>
            <a:off x="1047750" y="2522220"/>
            <a:ext cx="609600" cy="38100"/>
          </a:xfrm>
          <a:prstGeom prst="rect">
            <a:avLst/>
          </a:prstGeom>
          <a:solidFill>
            <a:srgbClr val="D9B877"/>
          </a:solidFill>
          <a:ln/>
        </p:spPr>
        <p:txBody>
          <a:bodyPr/>
          <a:lstStyle/>
          <a:p>
            <a:endParaRPr lang="en-US"/>
          </a:p>
        </p:txBody>
      </p:sp>
      <p:sp>
        <p:nvSpPr>
          <p:cNvPr id="9" name="Text 7"/>
          <p:cNvSpPr/>
          <p:nvPr/>
        </p:nvSpPr>
        <p:spPr>
          <a:xfrm>
            <a:off x="1047750" y="2674620"/>
            <a:ext cx="17811750" cy="281940"/>
          </a:xfrm>
          <a:prstGeom prst="rect">
            <a:avLst/>
          </a:prstGeom>
          <a:noFill/>
          <a:ln/>
        </p:spPr>
        <p:txBody>
          <a:bodyPr wrap="square" lIns="25400" tIns="25400" rIns="25400" bIns="25400" rtlCol="0" anchor="t">
            <a:normAutofit/>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Artificial intelligence promises a private tutor for everyone — but at what cost?</a:t>
            </a:r>
            <a:endParaRPr lang="en-US" sz="1650" dirty="0"/>
          </a:p>
        </p:txBody>
      </p:sp>
      <p:sp>
        <p:nvSpPr>
          <p:cNvPr id="10" name="Text 8"/>
          <p:cNvSpPr/>
          <p:nvPr/>
        </p:nvSpPr>
        <p:spPr>
          <a:xfrm>
            <a:off x="1047750" y="3128010"/>
            <a:ext cx="8074247" cy="1588294"/>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Imagine a classroom where every student has a private tutor, available at any hour, ready to explain a difficult idea in a dozen different ways. For a growing number of learners, this is no longer science fiction. Artificial intelligence has entered education, and it is changing how people study, write, and even think. Some teachers welcome it; others worry about what might be lost.</a:t>
            </a:r>
            <a:endParaRPr lang="en-US" sz="1650" dirty="0"/>
          </a:p>
        </p:txBody>
      </p:sp>
      <p:sp>
        <p:nvSpPr>
          <p:cNvPr id="11" name="Text 9"/>
          <p:cNvSpPr/>
          <p:nvPr/>
        </p:nvSpPr>
        <p:spPr>
          <a:xfrm>
            <a:off x="1047750" y="5188985"/>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Supporters point to one powerful idea: </a:t>
            </a:r>
            <a:r>
              <a:rPr lang="en-US" sz="1650" b="1" dirty="0">
                <a:solidFill>
                  <a:srgbClr val="1A2A5E"/>
                </a:solidFill>
                <a:latin typeface="Helvetica" pitchFamily="34" charset="0"/>
                <a:ea typeface="Helvetica" pitchFamily="34" charset="-122"/>
                <a:cs typeface="Helvetica" pitchFamily="34" charset="-120"/>
              </a:rPr>
              <a:t>personalized </a:t>
            </a:r>
            <a:r>
              <a:rPr lang="en-US" sz="1650" dirty="0">
                <a:solidFill>
                  <a:srgbClr val="222222"/>
                </a:solidFill>
                <a:latin typeface="Helvetica" pitchFamily="34" charset="0"/>
                <a:ea typeface="Helvetica" pitchFamily="34" charset="-122"/>
                <a:cs typeface="Helvetica" pitchFamily="34" charset="-120"/>
              </a:rPr>
              <a:t>learning. AI tools can </a:t>
            </a:r>
            <a:r>
              <a:rPr lang="en-US" sz="1650" b="1" dirty="0">
                <a:solidFill>
                  <a:srgbClr val="1A2A5E"/>
                </a:solidFill>
                <a:latin typeface="Helvetica" pitchFamily="34" charset="0"/>
                <a:ea typeface="Helvetica" pitchFamily="34" charset="-122"/>
                <a:cs typeface="Helvetica" pitchFamily="34" charset="-120"/>
              </a:rPr>
              <a:t>adapt </a:t>
            </a:r>
            <a:r>
              <a:rPr lang="en-US" sz="1650" dirty="0">
                <a:solidFill>
                  <a:srgbClr val="222222"/>
                </a:solidFill>
                <a:latin typeface="Helvetica" pitchFamily="34" charset="0"/>
                <a:ea typeface="Helvetica" pitchFamily="34" charset="-122"/>
                <a:cs typeface="Helvetica" pitchFamily="34" charset="-120"/>
              </a:rPr>
              <a:t>to each student, offering harder questions to those who race ahead and gentle review to those who struggle. They are also </a:t>
            </a:r>
            <a:r>
              <a:rPr lang="en-US" sz="1650" b="1" dirty="0">
                <a:solidFill>
                  <a:srgbClr val="1A2A5E"/>
                </a:solidFill>
                <a:latin typeface="Helvetica" pitchFamily="34" charset="0"/>
                <a:ea typeface="Helvetica" pitchFamily="34" charset="-122"/>
                <a:cs typeface="Helvetica" pitchFamily="34" charset="-120"/>
              </a:rPr>
              <a:t>accessible </a:t>
            </a:r>
            <a:r>
              <a:rPr lang="en-US" sz="1650" dirty="0">
                <a:solidFill>
                  <a:srgbClr val="222222"/>
                </a:solidFill>
                <a:latin typeface="Helvetica" pitchFamily="34" charset="0"/>
                <a:ea typeface="Helvetica" pitchFamily="34" charset="-122"/>
                <a:cs typeface="Helvetica" pitchFamily="34" charset="-120"/>
              </a:rPr>
              <a:t>— available day and night to anyone with a phone.</a:t>
            </a:r>
            <a:endParaRPr lang="en-US" sz="1650" dirty="0"/>
          </a:p>
        </p:txBody>
      </p:sp>
      <p:sp>
        <p:nvSpPr>
          <p:cNvPr id="12" name="Text 10"/>
          <p:cNvSpPr/>
          <p:nvPr/>
        </p:nvSpPr>
        <p:spPr>
          <a:xfrm>
            <a:off x="9401175" y="3128010"/>
            <a:ext cx="8074247" cy="968216"/>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shift is already underway. In many countries, most university students have used AI for their work. Some schools have built their own tutoring systems; others have banned it entirely. Many teachers now spend less time on routine marking.</a:t>
            </a:r>
            <a:endParaRPr lang="en-US" sz="1650" dirty="0"/>
          </a:p>
        </p:txBody>
      </p:sp>
      <p:sp>
        <p:nvSpPr>
          <p:cNvPr id="13" name="Text 11"/>
          <p:cNvSpPr/>
          <p:nvPr/>
        </p:nvSpPr>
        <p:spPr>
          <a:xfrm>
            <a:off x="9401174" y="438086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Yet there is a cost. When students </a:t>
            </a:r>
            <a:r>
              <a:rPr lang="en-US" sz="1650" b="1" dirty="0">
                <a:solidFill>
                  <a:srgbClr val="1A2A5E"/>
                </a:solidFill>
                <a:latin typeface="Helvetica" pitchFamily="34" charset="0"/>
                <a:ea typeface="Helvetica" pitchFamily="34" charset="-122"/>
                <a:cs typeface="Helvetica" pitchFamily="34" charset="-120"/>
              </a:rPr>
              <a:t>rely </a:t>
            </a:r>
            <a:r>
              <a:rPr lang="en-US" sz="1650" dirty="0">
                <a:solidFill>
                  <a:srgbClr val="222222"/>
                </a:solidFill>
                <a:latin typeface="Helvetica" pitchFamily="34" charset="0"/>
                <a:ea typeface="Helvetica" pitchFamily="34" charset="-122"/>
                <a:cs typeface="Helvetica" pitchFamily="34" charset="-120"/>
              </a:rPr>
              <a:t>too heavily on machines, they may stop building skills of their own. Educators also worry about </a:t>
            </a:r>
            <a:r>
              <a:rPr lang="en-US" sz="1650" b="1" dirty="0">
                <a:solidFill>
                  <a:srgbClr val="1A2A5E"/>
                </a:solidFill>
                <a:latin typeface="Helvetica" pitchFamily="34" charset="0"/>
                <a:ea typeface="Helvetica" pitchFamily="34" charset="-122"/>
                <a:cs typeface="Helvetica" pitchFamily="34" charset="-120"/>
              </a:rPr>
              <a:t>integrity </a:t>
            </a:r>
            <a:r>
              <a:rPr lang="en-US" sz="1650" dirty="0">
                <a:solidFill>
                  <a:srgbClr val="222222"/>
                </a:solidFill>
                <a:latin typeface="Helvetica" pitchFamily="34" charset="0"/>
                <a:ea typeface="Helvetica" pitchFamily="34" charset="-122"/>
                <a:cs typeface="Helvetica" pitchFamily="34" charset="-120"/>
              </a:rPr>
              <a:t>: if a machine writes the essay, what has the student learned? Others argue that AI is just a new tool that schools should teach students to use wisely.</a:t>
            </a:r>
            <a:endParaRPr lang="en-US" sz="1650" dirty="0"/>
          </a:p>
        </p:txBody>
      </p:sp>
      <p:sp>
        <p:nvSpPr>
          <p:cNvPr id="14" name="Shape 12"/>
          <p:cNvSpPr/>
          <p:nvPr/>
        </p:nvSpPr>
        <p:spPr>
          <a:xfrm>
            <a:off x="1047750" y="7258690"/>
            <a:ext cx="45720" cy="842010"/>
          </a:xfrm>
          <a:prstGeom prst="rect">
            <a:avLst/>
          </a:prstGeom>
          <a:solidFill>
            <a:srgbClr val="D9B877"/>
          </a:solidFill>
          <a:ln/>
        </p:spPr>
        <p:txBody>
          <a:bodyPr/>
          <a:lstStyle/>
          <a:p>
            <a:endParaRPr lang="en-US"/>
          </a:p>
        </p:txBody>
      </p:sp>
      <p:sp>
        <p:nvSpPr>
          <p:cNvPr id="15" name="Text 13"/>
          <p:cNvSpPr/>
          <p:nvPr/>
        </p:nvSpPr>
        <p:spPr>
          <a:xfrm>
            <a:off x="1360170" y="7258690"/>
            <a:ext cx="13422630" cy="8801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550" b="1" i="1" dirty="0">
                <a:solidFill>
                  <a:srgbClr val="1A2A5E"/>
                </a:solidFill>
                <a:latin typeface="Georgia" pitchFamily="34" charset="0"/>
                <a:ea typeface="Georgia" pitchFamily="34" charset="-122"/>
                <a:cs typeface="Georgia" pitchFamily="34" charset="-120"/>
              </a:rPr>
              <a:t>Maybe the real question is not whether AI belongs in education, but what we want education to be for.</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2-audio">
            <a:hlinkClick r:id="" action="ppaction://media"/>
            <a:extLst>
              <a:ext uri="{FF2B5EF4-FFF2-40B4-BE49-F238E27FC236}">
                <a16:creationId xmlns:a16="http://schemas.microsoft.com/office/drawing/2014/main" id="{4B80C1A6-0EAF-A84C-2FAC-52F3F3C0396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185683" y="1518603"/>
            <a:ext cx="487362" cy="487362"/>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Georgia" pitchFamily="34" charset="0"/>
                <a:ea typeface="Georgia" pitchFamily="34" charset="-122"/>
                <a:cs typeface="Georgia" pitchFamily="34" charset="-120"/>
              </a:rPr>
              <a:t>True or False?</a:t>
            </a:r>
            <a:endParaRPr lang="en-US" sz="4050" dirty="0"/>
          </a:p>
        </p:txBody>
      </p:sp>
      <p:sp>
        <p:nvSpPr>
          <p:cNvPr id="7" name="Shape 5"/>
          <p:cNvSpPr/>
          <p:nvPr/>
        </p:nvSpPr>
        <p:spPr>
          <a:xfrm>
            <a:off x="1047750" y="3402330"/>
            <a:ext cx="14763750" cy="9525"/>
          </a:xfrm>
          <a:prstGeom prst="rect">
            <a:avLst/>
          </a:prstGeom>
          <a:solidFill>
            <a:srgbClr val="E3E1DB"/>
          </a:solidFill>
          <a:ln/>
        </p:spPr>
        <p:txBody>
          <a:bodyPr/>
          <a:lstStyle/>
          <a:p>
            <a:endParaRPr lang="en-US"/>
          </a:p>
        </p:txBody>
      </p:sp>
      <p:sp>
        <p:nvSpPr>
          <p:cNvPr id="8" name="Text 6"/>
          <p:cNvSpPr/>
          <p:nvPr/>
        </p:nvSpPr>
        <p:spPr>
          <a:xfrm>
            <a:off x="1047750" y="284607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676400" y="286893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AI tools can change the level of difficulty for different students.</a:t>
            </a:r>
            <a:endParaRPr lang="en-US" sz="2175" dirty="0"/>
          </a:p>
        </p:txBody>
      </p:sp>
      <p:sp>
        <p:nvSpPr>
          <p:cNvPr id="10" name="Text 8"/>
          <p:cNvSpPr/>
          <p:nvPr/>
        </p:nvSpPr>
        <p:spPr>
          <a:xfrm>
            <a:off x="14997469" y="28536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175760"/>
            <a:ext cx="14763750" cy="9525"/>
          </a:xfrm>
          <a:prstGeom prst="rect">
            <a:avLst/>
          </a:prstGeom>
          <a:solidFill>
            <a:srgbClr val="E3E1DB"/>
          </a:solidFill>
          <a:ln/>
        </p:spPr>
        <p:txBody>
          <a:bodyPr/>
          <a:lstStyle/>
          <a:p>
            <a:endParaRPr lang="en-US"/>
          </a:p>
        </p:txBody>
      </p:sp>
      <p:sp>
        <p:nvSpPr>
          <p:cNvPr id="12" name="Text 10"/>
          <p:cNvSpPr/>
          <p:nvPr/>
        </p:nvSpPr>
        <p:spPr>
          <a:xfrm>
            <a:off x="1047750" y="361950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3" name="Text 11"/>
          <p:cNvSpPr/>
          <p:nvPr/>
        </p:nvSpPr>
        <p:spPr>
          <a:xfrm>
            <a:off x="1676400" y="364236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The article says AI is used only by school-age children.</a:t>
            </a:r>
            <a:endParaRPr lang="en-US" sz="2175" dirty="0"/>
          </a:p>
        </p:txBody>
      </p:sp>
      <p:sp>
        <p:nvSpPr>
          <p:cNvPr id="14" name="Text 12"/>
          <p:cNvSpPr/>
          <p:nvPr/>
        </p:nvSpPr>
        <p:spPr>
          <a:xfrm>
            <a:off x="14997469" y="362712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4949190"/>
            <a:ext cx="14763750" cy="9525"/>
          </a:xfrm>
          <a:prstGeom prst="rect">
            <a:avLst/>
          </a:prstGeom>
          <a:solidFill>
            <a:srgbClr val="E3E1DB"/>
          </a:solidFill>
          <a:ln/>
        </p:spPr>
        <p:txBody>
          <a:bodyPr/>
          <a:lstStyle/>
          <a:p>
            <a:endParaRPr lang="en-US"/>
          </a:p>
        </p:txBody>
      </p:sp>
      <p:sp>
        <p:nvSpPr>
          <p:cNvPr id="16" name="Text 14"/>
          <p:cNvSpPr/>
          <p:nvPr/>
        </p:nvSpPr>
        <p:spPr>
          <a:xfrm>
            <a:off x="1047750" y="439293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7" name="Text 15"/>
          <p:cNvSpPr/>
          <p:nvPr/>
        </p:nvSpPr>
        <p:spPr>
          <a:xfrm>
            <a:off x="1676400" y="441579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In many countries, most university students have used AI for work.</a:t>
            </a:r>
            <a:endParaRPr lang="en-US" sz="2175" dirty="0"/>
          </a:p>
        </p:txBody>
      </p:sp>
      <p:sp>
        <p:nvSpPr>
          <p:cNvPr id="18" name="Text 16"/>
          <p:cNvSpPr/>
          <p:nvPr/>
        </p:nvSpPr>
        <p:spPr>
          <a:xfrm>
            <a:off x="14997469" y="440055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5722620"/>
            <a:ext cx="14763750" cy="9525"/>
          </a:xfrm>
          <a:prstGeom prst="rect">
            <a:avLst/>
          </a:prstGeom>
          <a:solidFill>
            <a:srgbClr val="E3E1DB"/>
          </a:solidFill>
          <a:ln/>
        </p:spPr>
        <p:txBody>
          <a:bodyPr/>
          <a:lstStyle/>
          <a:p>
            <a:endParaRPr lang="en-US"/>
          </a:p>
        </p:txBody>
      </p:sp>
      <p:sp>
        <p:nvSpPr>
          <p:cNvPr id="20" name="Text 18"/>
          <p:cNvSpPr/>
          <p:nvPr/>
        </p:nvSpPr>
        <p:spPr>
          <a:xfrm>
            <a:off x="1047750" y="516636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21" name="Text 19"/>
          <p:cNvSpPr/>
          <p:nvPr/>
        </p:nvSpPr>
        <p:spPr>
          <a:xfrm>
            <a:off x="1676400" y="518922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Every school has banned AI from the classroom.</a:t>
            </a:r>
            <a:endParaRPr lang="en-US" sz="2175" dirty="0"/>
          </a:p>
        </p:txBody>
      </p:sp>
      <p:sp>
        <p:nvSpPr>
          <p:cNvPr id="22" name="Text 20"/>
          <p:cNvSpPr/>
          <p:nvPr/>
        </p:nvSpPr>
        <p:spPr>
          <a:xfrm>
            <a:off x="14997469" y="51739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593979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4" name="Text 22"/>
          <p:cNvSpPr/>
          <p:nvPr/>
        </p:nvSpPr>
        <p:spPr>
          <a:xfrm>
            <a:off x="1676400" y="596265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Some teachers now spend less time on routine marking.</a:t>
            </a:r>
            <a:endParaRPr lang="en-US" sz="2175" dirty="0"/>
          </a:p>
        </p:txBody>
      </p:sp>
      <p:sp>
        <p:nvSpPr>
          <p:cNvPr id="25" name="Text 23"/>
          <p:cNvSpPr/>
          <p:nvPr/>
        </p:nvSpPr>
        <p:spPr>
          <a:xfrm>
            <a:off x="14997469" y="594741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38300"/>
            <a:ext cx="2419386"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43050"/>
            <a:ext cx="1601272" cy="388620"/>
          </a:xfrm>
          <a:prstGeom prst="rect">
            <a:avLst/>
          </a:prstGeom>
          <a:solidFill>
            <a:srgbClr val="1A2A5E"/>
          </a:solidFill>
          <a:ln/>
        </p:spPr>
        <p:txBody>
          <a:bodyPr/>
          <a:lstStyle/>
          <a:p>
            <a:endParaRPr lang="en-US"/>
          </a:p>
        </p:txBody>
      </p:sp>
      <p:sp>
        <p:nvSpPr>
          <p:cNvPr id="7" name="Text 5"/>
          <p:cNvSpPr/>
          <p:nvPr/>
        </p:nvSpPr>
        <p:spPr>
          <a:xfrm>
            <a:off x="3628192" y="16002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06502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Georgia" pitchFamily="34" charset="0"/>
                <a:ea typeface="Georgia" pitchFamily="34" charset="-122"/>
                <a:cs typeface="Georgia" pitchFamily="34" charset="-120"/>
              </a:rPr>
              <a:t>True or False?</a:t>
            </a:r>
            <a:endParaRPr lang="en-US" sz="3900" dirty="0"/>
          </a:p>
        </p:txBody>
      </p:sp>
      <p:sp>
        <p:nvSpPr>
          <p:cNvPr id="9" name="Text 7"/>
          <p:cNvSpPr/>
          <p:nvPr/>
        </p:nvSpPr>
        <p:spPr>
          <a:xfrm>
            <a:off x="1047750" y="302514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0" name="Text 8"/>
          <p:cNvSpPr/>
          <p:nvPr/>
        </p:nvSpPr>
        <p:spPr>
          <a:xfrm>
            <a:off x="1676400" y="30099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04419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AI tools can change the level of difficulty for different students.</a:t>
            </a:r>
            <a:endParaRPr lang="en-US" sz="1950" dirty="0"/>
          </a:p>
        </p:txBody>
      </p:sp>
      <p:sp>
        <p:nvSpPr>
          <p:cNvPr id="12" name="Text 10"/>
          <p:cNvSpPr/>
          <p:nvPr/>
        </p:nvSpPr>
        <p:spPr>
          <a:xfrm>
            <a:off x="1047750" y="354711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3" name="Text 11"/>
          <p:cNvSpPr/>
          <p:nvPr/>
        </p:nvSpPr>
        <p:spPr>
          <a:xfrm>
            <a:off x="1676400" y="353187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4" name="Text 12"/>
          <p:cNvSpPr/>
          <p:nvPr/>
        </p:nvSpPr>
        <p:spPr>
          <a:xfrm>
            <a:off x="2952750" y="356616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The article says AI is used only by school-age children. </a:t>
            </a:r>
            <a:r>
              <a:rPr lang="en-US" sz="1950" i="1" dirty="0">
                <a:solidFill>
                  <a:srgbClr val="888888"/>
                </a:solidFill>
                <a:latin typeface="Helvetica" pitchFamily="34" charset="0"/>
                <a:ea typeface="Helvetica" pitchFamily="34" charset="-122"/>
                <a:cs typeface="Helvetica" pitchFamily="34" charset="-120"/>
              </a:rPr>
              <a:t>— universities too.</a:t>
            </a:r>
            <a:endParaRPr lang="en-US" sz="1950" dirty="0"/>
          </a:p>
        </p:txBody>
      </p:sp>
      <p:sp>
        <p:nvSpPr>
          <p:cNvPr id="15" name="Text 13"/>
          <p:cNvSpPr/>
          <p:nvPr/>
        </p:nvSpPr>
        <p:spPr>
          <a:xfrm>
            <a:off x="1047750" y="406908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6" name="Text 14"/>
          <p:cNvSpPr/>
          <p:nvPr/>
        </p:nvSpPr>
        <p:spPr>
          <a:xfrm>
            <a:off x="1676400" y="405384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08813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In many countries, most university students have used AI for work.</a:t>
            </a:r>
            <a:endParaRPr lang="en-US" sz="1950" dirty="0"/>
          </a:p>
        </p:txBody>
      </p:sp>
      <p:sp>
        <p:nvSpPr>
          <p:cNvPr id="18" name="Text 16"/>
          <p:cNvSpPr/>
          <p:nvPr/>
        </p:nvSpPr>
        <p:spPr>
          <a:xfrm>
            <a:off x="1047750" y="459105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19" name="Text 17"/>
          <p:cNvSpPr/>
          <p:nvPr/>
        </p:nvSpPr>
        <p:spPr>
          <a:xfrm>
            <a:off x="1676400" y="457581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0" name="Text 18"/>
          <p:cNvSpPr/>
          <p:nvPr/>
        </p:nvSpPr>
        <p:spPr>
          <a:xfrm>
            <a:off x="2952750" y="461010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Every school has banned AI. </a:t>
            </a:r>
            <a:r>
              <a:rPr lang="en-US" sz="1950" i="1" dirty="0">
                <a:solidFill>
                  <a:srgbClr val="888888"/>
                </a:solidFill>
                <a:latin typeface="Helvetica" pitchFamily="34" charset="0"/>
                <a:ea typeface="Helvetica" pitchFamily="34" charset="-122"/>
                <a:cs typeface="Helvetica" pitchFamily="34" charset="-120"/>
              </a:rPr>
              <a:t>— some build their own; some ban it.</a:t>
            </a:r>
            <a:endParaRPr lang="en-US" sz="1950" dirty="0"/>
          </a:p>
        </p:txBody>
      </p:sp>
      <p:sp>
        <p:nvSpPr>
          <p:cNvPr id="21" name="Text 19"/>
          <p:cNvSpPr/>
          <p:nvPr/>
        </p:nvSpPr>
        <p:spPr>
          <a:xfrm>
            <a:off x="1047750" y="511302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2" name="Text 20"/>
          <p:cNvSpPr/>
          <p:nvPr/>
        </p:nvSpPr>
        <p:spPr>
          <a:xfrm>
            <a:off x="1676400" y="509778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13207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Some teachers now spend less time on routine marking.</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4668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76403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Georgia" pitchFamily="34" charset="0"/>
                <a:ea typeface="Georgia" pitchFamily="34" charset="-122"/>
                <a:cs typeface="Georgia" pitchFamily="34" charset="-120"/>
              </a:rPr>
              <a:t>Talk it through</a:t>
            </a:r>
            <a:endParaRPr lang="en-US" sz="3900" dirty="0"/>
          </a:p>
        </p:txBody>
      </p:sp>
      <p:sp>
        <p:nvSpPr>
          <p:cNvPr id="7" name="Shape 5"/>
          <p:cNvSpPr/>
          <p:nvPr/>
        </p:nvSpPr>
        <p:spPr>
          <a:xfrm>
            <a:off x="1047750" y="3200400"/>
            <a:ext cx="15049500" cy="9525"/>
          </a:xfrm>
          <a:prstGeom prst="rect">
            <a:avLst/>
          </a:prstGeom>
          <a:solidFill>
            <a:srgbClr val="34437A"/>
          </a:solidFill>
          <a:ln/>
        </p:spPr>
        <p:txBody>
          <a:bodyPr/>
          <a:lstStyle/>
          <a:p>
            <a:endParaRPr lang="en-US"/>
          </a:p>
        </p:txBody>
      </p:sp>
      <p:sp>
        <p:nvSpPr>
          <p:cNvPr id="8" name="Text 6"/>
          <p:cNvSpPr/>
          <p:nvPr/>
        </p:nvSpPr>
        <p:spPr>
          <a:xfrm>
            <a:off x="1047750" y="2670810"/>
            <a:ext cx="215384"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415534" y="2701290"/>
            <a:ext cx="16149888"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Have you ever used AI to help you study or write? How did it go?</a:t>
            </a:r>
            <a:endParaRPr lang="en-US" sz="2100" dirty="0"/>
          </a:p>
        </p:txBody>
      </p:sp>
      <p:sp>
        <p:nvSpPr>
          <p:cNvPr id="10" name="Shape 8"/>
          <p:cNvSpPr/>
          <p:nvPr/>
        </p:nvSpPr>
        <p:spPr>
          <a:xfrm>
            <a:off x="1047750" y="3909060"/>
            <a:ext cx="15049500" cy="9525"/>
          </a:xfrm>
          <a:prstGeom prst="rect">
            <a:avLst/>
          </a:prstGeom>
          <a:solidFill>
            <a:srgbClr val="34437A"/>
          </a:solidFill>
          <a:ln/>
        </p:spPr>
        <p:txBody>
          <a:bodyPr/>
          <a:lstStyle/>
          <a:p>
            <a:endParaRPr lang="en-US"/>
          </a:p>
        </p:txBody>
      </p:sp>
      <p:sp>
        <p:nvSpPr>
          <p:cNvPr id="11" name="Text 9"/>
          <p:cNvSpPr/>
          <p:nvPr/>
        </p:nvSpPr>
        <p:spPr>
          <a:xfrm>
            <a:off x="1047750" y="3379470"/>
            <a:ext cx="257175"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2" name="Text 10"/>
          <p:cNvSpPr/>
          <p:nvPr/>
        </p:nvSpPr>
        <p:spPr>
          <a:xfrm>
            <a:off x="1457325" y="3409950"/>
            <a:ext cx="16103918"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Would you like to have a personal AI tutor? Why or why not?</a:t>
            </a:r>
            <a:endParaRPr lang="en-US" sz="2100" dirty="0"/>
          </a:p>
        </p:txBody>
      </p:sp>
      <p:sp>
        <p:nvSpPr>
          <p:cNvPr id="13" name="Shape 11"/>
          <p:cNvSpPr/>
          <p:nvPr/>
        </p:nvSpPr>
        <p:spPr>
          <a:xfrm>
            <a:off x="1047750" y="4617720"/>
            <a:ext cx="15049500" cy="9525"/>
          </a:xfrm>
          <a:prstGeom prst="rect">
            <a:avLst/>
          </a:prstGeom>
          <a:solidFill>
            <a:srgbClr val="34437A"/>
          </a:solidFill>
          <a:ln/>
        </p:spPr>
        <p:txBody>
          <a:bodyPr/>
          <a:lstStyle/>
          <a:p>
            <a:endParaRPr lang="en-US"/>
          </a:p>
        </p:txBody>
      </p:sp>
      <p:sp>
        <p:nvSpPr>
          <p:cNvPr id="14" name="Text 12"/>
          <p:cNvSpPr/>
          <p:nvPr/>
        </p:nvSpPr>
        <p:spPr>
          <a:xfrm>
            <a:off x="1047750" y="4088130"/>
            <a:ext cx="254913"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5" name="Text 13"/>
          <p:cNvSpPr/>
          <p:nvPr/>
        </p:nvSpPr>
        <p:spPr>
          <a:xfrm>
            <a:off x="1455063" y="4118610"/>
            <a:ext cx="16106406"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What can a human teacher do that a machine cannot?</a:t>
            </a:r>
            <a:endParaRPr lang="en-US" sz="2100" dirty="0"/>
          </a:p>
        </p:txBody>
      </p:sp>
      <p:sp>
        <p:nvSpPr>
          <p:cNvPr id="16" name="Shape 14"/>
          <p:cNvSpPr/>
          <p:nvPr/>
        </p:nvSpPr>
        <p:spPr>
          <a:xfrm>
            <a:off x="1047750" y="5326380"/>
            <a:ext cx="15049500" cy="9525"/>
          </a:xfrm>
          <a:prstGeom prst="rect">
            <a:avLst/>
          </a:prstGeom>
          <a:solidFill>
            <a:srgbClr val="34437A"/>
          </a:solidFill>
          <a:ln/>
        </p:spPr>
        <p:txBody>
          <a:bodyPr/>
          <a:lstStyle/>
          <a:p>
            <a:endParaRPr lang="en-US"/>
          </a:p>
        </p:txBody>
      </p:sp>
      <p:sp>
        <p:nvSpPr>
          <p:cNvPr id="17" name="Text 15"/>
          <p:cNvSpPr/>
          <p:nvPr/>
        </p:nvSpPr>
        <p:spPr>
          <a:xfrm>
            <a:off x="1047750" y="4796790"/>
            <a:ext cx="259199"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18" name="Text 16"/>
          <p:cNvSpPr/>
          <p:nvPr/>
        </p:nvSpPr>
        <p:spPr>
          <a:xfrm>
            <a:off x="1459349" y="4827270"/>
            <a:ext cx="16101691"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Should students be allowed to use AI for homework? Where is the line?</a:t>
            </a:r>
            <a:endParaRPr lang="en-US" sz="2100" dirty="0"/>
          </a:p>
        </p:txBody>
      </p:sp>
      <p:sp>
        <p:nvSpPr>
          <p:cNvPr id="19" name="Text 17"/>
          <p:cNvSpPr/>
          <p:nvPr/>
        </p:nvSpPr>
        <p:spPr>
          <a:xfrm>
            <a:off x="1047750" y="5505450"/>
            <a:ext cx="247412"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0" name="Text 18"/>
          <p:cNvSpPr/>
          <p:nvPr/>
        </p:nvSpPr>
        <p:spPr>
          <a:xfrm>
            <a:off x="1447562" y="5535930"/>
            <a:ext cx="16114657"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What do you think education should really be for?</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04950"/>
            <a:ext cx="275754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14475"/>
            <a:ext cx="1737122"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50670"/>
            <a:ext cx="1569482" cy="205740"/>
          </a:xfrm>
          <a:prstGeom prst="rect">
            <a:avLst/>
          </a:prstGeom>
          <a:noFill/>
          <a:ln/>
        </p:spPr>
        <p:txBody>
          <a:bodyPr wrap="none" lIns="25400" tIns="25400" rIns="25400" bIns="25400" rtlCol="0" anchor="t">
            <a:normAutofit/>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FOR &amp; AGAINST</a:t>
            </a:r>
            <a:endParaRPr lang="en-US" sz="1125" dirty="0"/>
          </a:p>
        </p:txBody>
      </p:sp>
      <p:sp>
        <p:nvSpPr>
          <p:cNvPr id="8" name="Text 6"/>
          <p:cNvSpPr/>
          <p:nvPr/>
        </p:nvSpPr>
        <p:spPr>
          <a:xfrm>
            <a:off x="1047750" y="1868805"/>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Should schools embrace AI?</a:t>
            </a:r>
            <a:endParaRPr lang="en-US" sz="3750" dirty="0"/>
          </a:p>
        </p:txBody>
      </p:sp>
      <p:sp>
        <p:nvSpPr>
          <p:cNvPr id="9" name="Text 7"/>
          <p:cNvSpPr/>
          <p:nvPr/>
        </p:nvSpPr>
        <p:spPr>
          <a:xfrm>
            <a:off x="1047750" y="2524125"/>
            <a:ext cx="17811750" cy="320040"/>
          </a:xfrm>
          <a:prstGeom prst="rect">
            <a:avLst/>
          </a:prstGeom>
          <a:noFill/>
          <a:ln/>
        </p:spPr>
        <p:txBody>
          <a:bodyPr wrap="square" lIns="25400" tIns="25400" rIns="25400" bIns="25400" rtlCol="0" anchor="t">
            <a:normAutofit/>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List the strongest points on each side, then decide where you stand.</a:t>
            </a:r>
            <a:endParaRPr lang="en-US" sz="1950" dirty="0"/>
          </a:p>
        </p:txBody>
      </p:sp>
      <p:sp>
        <p:nvSpPr>
          <p:cNvPr id="10" name="Shape 8"/>
          <p:cNvSpPr/>
          <p:nvPr/>
        </p:nvSpPr>
        <p:spPr>
          <a:xfrm>
            <a:off x="1047750" y="3613785"/>
            <a:ext cx="7143750" cy="15240"/>
          </a:xfrm>
          <a:prstGeom prst="rect">
            <a:avLst/>
          </a:prstGeom>
          <a:solidFill>
            <a:srgbClr val="1A7A4A"/>
          </a:solidFill>
          <a:ln/>
        </p:spPr>
        <p:txBody>
          <a:bodyPr/>
          <a:lstStyle/>
          <a:p>
            <a:endParaRPr lang="en-US"/>
          </a:p>
        </p:txBody>
      </p:sp>
      <p:sp>
        <p:nvSpPr>
          <p:cNvPr id="11" name="Text 9"/>
          <p:cNvSpPr/>
          <p:nvPr/>
        </p:nvSpPr>
        <p:spPr>
          <a:xfrm>
            <a:off x="1047750" y="3244215"/>
            <a:ext cx="7358063" cy="312420"/>
          </a:xfrm>
          <a:prstGeom prst="rect">
            <a:avLst/>
          </a:prstGeom>
          <a:noFill/>
          <a:ln/>
        </p:spPr>
        <p:txBody>
          <a:bodyPr wrap="square" lIns="25400" tIns="25400" rIns="25400" bIns="25400" rtlCol="0" anchor="t">
            <a:normAutofit/>
          </a:bodyPr>
          <a:lstStyle/>
          <a:p>
            <a:pPr marL="0" indent="0" algn="l">
              <a:buNone/>
            </a:pPr>
            <a:r>
              <a:rPr lang="en-US" sz="1500" b="1" kern="0" spc="150" dirty="0">
                <a:solidFill>
                  <a:srgbClr val="1A7A4A"/>
                </a:solidFill>
                <a:latin typeface="Helvetica" pitchFamily="34" charset="0"/>
                <a:ea typeface="Helvetica" pitchFamily="34" charset="-122"/>
                <a:cs typeface="Helvetica" pitchFamily="34" charset="-120"/>
              </a:rPr>
              <a:t>ARGUMENTS FOR</a:t>
            </a:r>
            <a:endParaRPr lang="en-US" sz="1500" dirty="0"/>
          </a:p>
        </p:txBody>
      </p:sp>
      <p:sp>
        <p:nvSpPr>
          <p:cNvPr id="12" name="Shape 10"/>
          <p:cNvSpPr/>
          <p:nvPr/>
        </p:nvSpPr>
        <p:spPr>
          <a:xfrm>
            <a:off x="1047750" y="4173855"/>
            <a:ext cx="7143750" cy="9525"/>
          </a:xfrm>
          <a:prstGeom prst="rect">
            <a:avLst/>
          </a:prstGeom>
          <a:solidFill>
            <a:srgbClr val="CBC9C2"/>
          </a:solidFill>
          <a:ln/>
        </p:spPr>
        <p:txBody>
          <a:bodyPr/>
          <a:lstStyle/>
          <a:p>
            <a:endParaRPr lang="en-US"/>
          </a:p>
        </p:txBody>
      </p:sp>
      <p:sp>
        <p:nvSpPr>
          <p:cNvPr id="13" name="Shape 11"/>
          <p:cNvSpPr/>
          <p:nvPr/>
        </p:nvSpPr>
        <p:spPr>
          <a:xfrm>
            <a:off x="1047750" y="4707255"/>
            <a:ext cx="7143750" cy="9525"/>
          </a:xfrm>
          <a:prstGeom prst="rect">
            <a:avLst/>
          </a:prstGeom>
          <a:solidFill>
            <a:srgbClr val="CBC9C2"/>
          </a:solidFill>
          <a:ln/>
        </p:spPr>
        <p:txBody>
          <a:bodyPr/>
          <a:lstStyle/>
          <a:p>
            <a:endParaRPr lang="en-US"/>
          </a:p>
        </p:txBody>
      </p:sp>
      <p:sp>
        <p:nvSpPr>
          <p:cNvPr id="14" name="Shape 12"/>
          <p:cNvSpPr/>
          <p:nvPr/>
        </p:nvSpPr>
        <p:spPr>
          <a:xfrm>
            <a:off x="1047750" y="5240655"/>
            <a:ext cx="7143750" cy="9525"/>
          </a:xfrm>
          <a:prstGeom prst="rect">
            <a:avLst/>
          </a:prstGeom>
          <a:solidFill>
            <a:srgbClr val="CBC9C2"/>
          </a:solidFill>
          <a:ln/>
        </p:spPr>
        <p:txBody>
          <a:bodyPr/>
          <a:lstStyle/>
          <a:p>
            <a:endParaRPr lang="en-US"/>
          </a:p>
        </p:txBody>
      </p:sp>
      <p:sp>
        <p:nvSpPr>
          <p:cNvPr id="15" name="Shape 13"/>
          <p:cNvSpPr/>
          <p:nvPr/>
        </p:nvSpPr>
        <p:spPr>
          <a:xfrm>
            <a:off x="8763000" y="3613785"/>
            <a:ext cx="7143750" cy="15240"/>
          </a:xfrm>
          <a:prstGeom prst="rect">
            <a:avLst/>
          </a:prstGeom>
          <a:solidFill>
            <a:srgbClr val="B0392F"/>
          </a:solidFill>
          <a:ln/>
        </p:spPr>
        <p:txBody>
          <a:bodyPr/>
          <a:lstStyle/>
          <a:p>
            <a:endParaRPr lang="en-US"/>
          </a:p>
        </p:txBody>
      </p:sp>
      <p:sp>
        <p:nvSpPr>
          <p:cNvPr id="16" name="Text 14"/>
          <p:cNvSpPr/>
          <p:nvPr/>
        </p:nvSpPr>
        <p:spPr>
          <a:xfrm>
            <a:off x="8763000" y="3244215"/>
            <a:ext cx="7358063" cy="312420"/>
          </a:xfrm>
          <a:prstGeom prst="rect">
            <a:avLst/>
          </a:prstGeom>
          <a:noFill/>
          <a:ln/>
        </p:spPr>
        <p:txBody>
          <a:bodyPr wrap="square" lIns="25400" tIns="25400" rIns="25400" bIns="25400" rtlCol="0" anchor="t">
            <a:normAutofit/>
          </a:bodyPr>
          <a:lstStyle/>
          <a:p>
            <a:pPr marL="0" indent="0" algn="l">
              <a:buNone/>
            </a:pPr>
            <a:r>
              <a:rPr lang="en-US" sz="1500" b="1" kern="0" spc="150" dirty="0">
                <a:solidFill>
                  <a:srgbClr val="B0392F"/>
                </a:solidFill>
                <a:latin typeface="Helvetica" pitchFamily="34" charset="0"/>
                <a:ea typeface="Helvetica" pitchFamily="34" charset="-122"/>
                <a:cs typeface="Helvetica" pitchFamily="34" charset="-120"/>
              </a:rPr>
              <a:t>ARGUMENTS AGAINST</a:t>
            </a:r>
            <a:endParaRPr lang="en-US" sz="1500" dirty="0"/>
          </a:p>
        </p:txBody>
      </p:sp>
      <p:sp>
        <p:nvSpPr>
          <p:cNvPr id="17" name="Shape 15"/>
          <p:cNvSpPr/>
          <p:nvPr/>
        </p:nvSpPr>
        <p:spPr>
          <a:xfrm>
            <a:off x="8763000" y="4173855"/>
            <a:ext cx="7143750" cy="9525"/>
          </a:xfrm>
          <a:prstGeom prst="rect">
            <a:avLst/>
          </a:prstGeom>
          <a:solidFill>
            <a:srgbClr val="CBC9C2"/>
          </a:solidFill>
          <a:ln/>
        </p:spPr>
        <p:txBody>
          <a:bodyPr/>
          <a:lstStyle/>
          <a:p>
            <a:endParaRPr lang="en-US"/>
          </a:p>
        </p:txBody>
      </p:sp>
      <p:sp>
        <p:nvSpPr>
          <p:cNvPr id="18" name="Shape 16"/>
          <p:cNvSpPr/>
          <p:nvPr/>
        </p:nvSpPr>
        <p:spPr>
          <a:xfrm>
            <a:off x="8763000" y="4707255"/>
            <a:ext cx="7143750" cy="9525"/>
          </a:xfrm>
          <a:prstGeom prst="rect">
            <a:avLst/>
          </a:prstGeom>
          <a:solidFill>
            <a:srgbClr val="CBC9C2"/>
          </a:solidFill>
          <a:ln/>
        </p:spPr>
        <p:txBody>
          <a:bodyPr/>
          <a:lstStyle/>
          <a:p>
            <a:endParaRPr lang="en-US"/>
          </a:p>
        </p:txBody>
      </p:sp>
      <p:sp>
        <p:nvSpPr>
          <p:cNvPr id="19" name="Shape 17"/>
          <p:cNvSpPr/>
          <p:nvPr/>
        </p:nvSpPr>
        <p:spPr>
          <a:xfrm>
            <a:off x="8763000" y="5240655"/>
            <a:ext cx="7143750" cy="9525"/>
          </a:xfrm>
          <a:prstGeom prst="rect">
            <a:avLst/>
          </a:prstGeom>
          <a:solidFill>
            <a:srgbClr val="CBC9C2"/>
          </a:solidFill>
          <a:ln/>
        </p:spPr>
        <p:txBody>
          <a:bodyPr/>
          <a:lstStyle/>
          <a:p>
            <a:endParaRPr lang="en-US"/>
          </a:p>
        </p:txBody>
      </p:sp>
      <p:sp>
        <p:nvSpPr>
          <p:cNvPr id="20" name="Text 18"/>
          <p:cNvSpPr/>
          <p:nvPr/>
        </p:nvSpPr>
        <p:spPr>
          <a:xfrm>
            <a:off x="1047750" y="5789295"/>
            <a:ext cx="1205508" cy="213360"/>
          </a:xfrm>
          <a:prstGeom prst="rect">
            <a:avLst/>
          </a:prstGeom>
          <a:noFill/>
          <a:ln/>
        </p:spPr>
        <p:txBody>
          <a:bodyPr wrap="none" lIns="25400" tIns="25400" rIns="25400" bIns="25400" rtlCol="0" anchor="t">
            <a:normAutofit/>
          </a:bodyPr>
          <a:lstStyle/>
          <a:p>
            <a:pPr marL="0" indent="0" algn="l">
              <a:buNone/>
            </a:pPr>
            <a:r>
              <a:rPr lang="en-US" sz="1200" b="1" kern="0" spc="225" dirty="0">
                <a:solidFill>
                  <a:srgbClr val="BF842C"/>
                </a:solidFill>
                <a:latin typeface="Helvetica" pitchFamily="34" charset="0"/>
                <a:ea typeface="Helvetica" pitchFamily="34" charset="-122"/>
                <a:cs typeface="Helvetica" pitchFamily="34" charset="-120"/>
              </a:rPr>
              <a:t>YOUR VIEW</a:t>
            </a:r>
            <a:endParaRPr lang="en-US" sz="1200" dirty="0"/>
          </a:p>
        </p:txBody>
      </p:sp>
      <p:sp>
        <p:nvSpPr>
          <p:cNvPr id="21" name="Text 19"/>
          <p:cNvSpPr/>
          <p:nvPr/>
        </p:nvSpPr>
        <p:spPr>
          <a:xfrm>
            <a:off x="2348508" y="5667375"/>
            <a:ext cx="8372177"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On balance, should schools embrace AI or hold it back?</a:t>
            </a:r>
            <a:endParaRPr lang="en-US" sz="2250" dirty="0"/>
          </a:p>
        </p:txBody>
      </p:sp>
      <p:sp>
        <p:nvSpPr>
          <p:cNvPr id="22" name="Text 20"/>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There is no right answer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2118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Georgia" pitchFamily="34" charset="0"/>
                <a:ea typeface="Georgia" pitchFamily="34" charset="-122"/>
                <a:cs typeface="Georgia" pitchFamily="34" charset="-120"/>
              </a:rPr>
              <a:t>Complete &amp; say each line</a:t>
            </a:r>
            <a:endParaRPr lang="en-US" sz="3900" dirty="0"/>
          </a:p>
        </p:txBody>
      </p:sp>
      <p:sp>
        <p:nvSpPr>
          <p:cNvPr id="7" name="Text 5"/>
          <p:cNvSpPr/>
          <p:nvPr/>
        </p:nvSpPr>
        <p:spPr>
          <a:xfrm>
            <a:off x="1047750" y="2499360"/>
            <a:ext cx="17811750" cy="297180"/>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298704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173730"/>
            <a:ext cx="787598"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adapt</a:t>
            </a:r>
            <a:endParaRPr lang="en-US" sz="2100" dirty="0"/>
          </a:p>
        </p:txBody>
      </p:sp>
      <p:sp>
        <p:nvSpPr>
          <p:cNvPr id="10" name="Text 8"/>
          <p:cNvSpPr/>
          <p:nvPr/>
        </p:nvSpPr>
        <p:spPr>
          <a:xfrm>
            <a:off x="2479238" y="3173730"/>
            <a:ext cx="179335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personalized</a:t>
            </a:r>
            <a:endParaRPr lang="en-US" sz="2100" dirty="0"/>
          </a:p>
        </p:txBody>
      </p:sp>
      <p:sp>
        <p:nvSpPr>
          <p:cNvPr id="11" name="Text 9"/>
          <p:cNvSpPr/>
          <p:nvPr/>
        </p:nvSpPr>
        <p:spPr>
          <a:xfrm>
            <a:off x="4490561" y="3173730"/>
            <a:ext cx="148440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accessible</a:t>
            </a:r>
            <a:endParaRPr lang="en-US" sz="2100" dirty="0"/>
          </a:p>
        </p:txBody>
      </p:sp>
      <p:sp>
        <p:nvSpPr>
          <p:cNvPr id="12" name="Text 10"/>
          <p:cNvSpPr/>
          <p:nvPr/>
        </p:nvSpPr>
        <p:spPr>
          <a:xfrm>
            <a:off x="6221016" y="3173730"/>
            <a:ext cx="550783"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rely</a:t>
            </a:r>
            <a:endParaRPr lang="en-US" sz="2100" dirty="0"/>
          </a:p>
        </p:txBody>
      </p:sp>
      <p:sp>
        <p:nvSpPr>
          <p:cNvPr id="13" name="Text 11"/>
          <p:cNvSpPr/>
          <p:nvPr/>
        </p:nvSpPr>
        <p:spPr>
          <a:xfrm>
            <a:off x="7076599" y="3173730"/>
            <a:ext cx="112835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integrity</a:t>
            </a:r>
            <a:endParaRPr lang="en-US" sz="2100" dirty="0"/>
          </a:p>
        </p:txBody>
      </p:sp>
      <p:sp>
        <p:nvSpPr>
          <p:cNvPr id="14" name="Text 12"/>
          <p:cNvSpPr/>
          <p:nvPr/>
        </p:nvSpPr>
        <p:spPr>
          <a:xfrm>
            <a:off x="1047750" y="3981450"/>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5" name="Text 13"/>
          <p:cNvSpPr/>
          <p:nvPr/>
        </p:nvSpPr>
        <p:spPr>
          <a:xfrm>
            <a:off x="1581150" y="3950970"/>
            <a:ext cx="8313241"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 good app can ______________ to the level of each learner.</a:t>
            </a:r>
            <a:endParaRPr lang="en-US" sz="2250" dirty="0"/>
          </a:p>
        </p:txBody>
      </p:sp>
      <p:sp>
        <p:nvSpPr>
          <p:cNvPr id="16" name="Text 14"/>
          <p:cNvSpPr/>
          <p:nvPr/>
        </p:nvSpPr>
        <p:spPr>
          <a:xfrm>
            <a:off x="1047750" y="4576763"/>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7" name="Text 15"/>
          <p:cNvSpPr/>
          <p:nvPr/>
        </p:nvSpPr>
        <p:spPr>
          <a:xfrm>
            <a:off x="1581150" y="4546283"/>
            <a:ext cx="857386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Many students now _______________ on AI to check their work.</a:t>
            </a:r>
            <a:endParaRPr lang="en-US" sz="2250" dirty="0"/>
          </a:p>
        </p:txBody>
      </p:sp>
      <p:sp>
        <p:nvSpPr>
          <p:cNvPr id="18" name="Text 16"/>
          <p:cNvSpPr/>
          <p:nvPr/>
        </p:nvSpPr>
        <p:spPr>
          <a:xfrm>
            <a:off x="1047750" y="5172075"/>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9" name="Text 17"/>
          <p:cNvSpPr/>
          <p:nvPr/>
        </p:nvSpPr>
        <p:spPr>
          <a:xfrm>
            <a:off x="1581150" y="5141595"/>
            <a:ext cx="829529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Online lessons are _______________ to anyone with a phone.</a:t>
            </a:r>
            <a:endParaRPr lang="en-US" sz="2250" dirty="0"/>
          </a:p>
        </p:txBody>
      </p:sp>
      <p:sp>
        <p:nvSpPr>
          <p:cNvPr id="20" name="Text 18"/>
          <p:cNvSpPr/>
          <p:nvPr/>
        </p:nvSpPr>
        <p:spPr>
          <a:xfrm>
            <a:off x="1047750" y="5767388"/>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21" name="Text 19"/>
          <p:cNvSpPr/>
          <p:nvPr/>
        </p:nvSpPr>
        <p:spPr>
          <a:xfrm>
            <a:off x="1581150" y="5736907"/>
            <a:ext cx="10879574"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Teachers worry about academic _________________ when machines write essays.</a:t>
            </a:r>
            <a:endParaRPr lang="en-US" sz="2250" dirty="0"/>
          </a:p>
        </p:txBody>
      </p:sp>
      <p:sp>
        <p:nvSpPr>
          <p:cNvPr id="22" name="Text 20"/>
          <p:cNvSpPr/>
          <p:nvPr/>
        </p:nvSpPr>
        <p:spPr>
          <a:xfrm>
            <a:off x="1047750" y="6362700"/>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3" name="Text 21"/>
          <p:cNvSpPr/>
          <p:nvPr/>
        </p:nvSpPr>
        <p:spPr>
          <a:xfrm>
            <a:off x="1581150" y="6332220"/>
            <a:ext cx="7054632"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AI can give each student a _________________ lesson.</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38300"/>
            <a:ext cx="332267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43050"/>
            <a:ext cx="3262670" cy="388620"/>
          </a:xfrm>
          <a:prstGeom prst="rect">
            <a:avLst/>
          </a:prstGeom>
          <a:solidFill>
            <a:srgbClr val="1A2A5E"/>
          </a:solidFill>
          <a:ln/>
        </p:spPr>
        <p:txBody>
          <a:bodyPr/>
          <a:lstStyle/>
          <a:p>
            <a:endParaRPr lang="en-US"/>
          </a:p>
        </p:txBody>
      </p:sp>
      <p:sp>
        <p:nvSpPr>
          <p:cNvPr id="7" name="Text 5"/>
          <p:cNvSpPr/>
          <p:nvPr/>
        </p:nvSpPr>
        <p:spPr>
          <a:xfrm>
            <a:off x="4449366" y="160020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06502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Complete &amp; say each line</a:t>
            </a:r>
            <a:endParaRPr lang="en-US" sz="3750" dirty="0"/>
          </a:p>
        </p:txBody>
      </p:sp>
      <p:sp>
        <p:nvSpPr>
          <p:cNvPr id="9" name="Text 7"/>
          <p:cNvSpPr/>
          <p:nvPr/>
        </p:nvSpPr>
        <p:spPr>
          <a:xfrm>
            <a:off x="1047750" y="301752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1</a:t>
            </a:r>
            <a:endParaRPr lang="en-US" sz="2100" dirty="0"/>
          </a:p>
        </p:txBody>
      </p:sp>
      <p:sp>
        <p:nvSpPr>
          <p:cNvPr id="10" name="Text 8"/>
          <p:cNvSpPr/>
          <p:nvPr/>
        </p:nvSpPr>
        <p:spPr>
          <a:xfrm>
            <a:off x="1581150" y="2987040"/>
            <a:ext cx="6507445"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good app can </a:t>
            </a:r>
            <a:r>
              <a:rPr lang="en-US" sz="2100" b="1" dirty="0">
                <a:solidFill>
                  <a:srgbClr val="1A2A5E"/>
                </a:solidFill>
                <a:latin typeface="Helvetica" pitchFamily="34" charset="0"/>
                <a:ea typeface="Helvetica" pitchFamily="34" charset="-122"/>
                <a:cs typeface="Helvetica" pitchFamily="34" charset="-120"/>
              </a:rPr>
              <a:t>adapt </a:t>
            </a:r>
            <a:r>
              <a:rPr lang="en-US" sz="2100" dirty="0">
                <a:solidFill>
                  <a:srgbClr val="444444"/>
                </a:solidFill>
                <a:latin typeface="Helvetica" pitchFamily="34" charset="0"/>
                <a:ea typeface="Helvetica" pitchFamily="34" charset="-122"/>
                <a:cs typeface="Helvetica" pitchFamily="34" charset="-120"/>
              </a:rPr>
              <a:t>to the level of each learner.</a:t>
            </a:r>
            <a:endParaRPr lang="en-US" sz="2100" dirty="0"/>
          </a:p>
        </p:txBody>
      </p:sp>
      <p:sp>
        <p:nvSpPr>
          <p:cNvPr id="11" name="Text 9"/>
          <p:cNvSpPr/>
          <p:nvPr/>
        </p:nvSpPr>
        <p:spPr>
          <a:xfrm>
            <a:off x="1047750" y="3587115"/>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2</a:t>
            </a:r>
            <a:endParaRPr lang="en-US" sz="2100" dirty="0"/>
          </a:p>
        </p:txBody>
      </p:sp>
      <p:sp>
        <p:nvSpPr>
          <p:cNvPr id="12" name="Text 10"/>
          <p:cNvSpPr/>
          <p:nvPr/>
        </p:nvSpPr>
        <p:spPr>
          <a:xfrm>
            <a:off x="1581150" y="3556635"/>
            <a:ext cx="6490288"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Many students now </a:t>
            </a:r>
            <a:r>
              <a:rPr lang="en-US" sz="2100" b="1" dirty="0">
                <a:solidFill>
                  <a:srgbClr val="1A2A5E"/>
                </a:solidFill>
                <a:latin typeface="Helvetica" pitchFamily="34" charset="0"/>
                <a:ea typeface="Helvetica" pitchFamily="34" charset="-122"/>
                <a:cs typeface="Helvetica" pitchFamily="34" charset="-120"/>
              </a:rPr>
              <a:t>rely </a:t>
            </a:r>
            <a:r>
              <a:rPr lang="en-US" sz="2100" dirty="0">
                <a:solidFill>
                  <a:srgbClr val="444444"/>
                </a:solidFill>
                <a:latin typeface="Helvetica" pitchFamily="34" charset="0"/>
                <a:ea typeface="Helvetica" pitchFamily="34" charset="-122"/>
                <a:cs typeface="Helvetica" pitchFamily="34" charset="-120"/>
              </a:rPr>
              <a:t>on AI to check their work.</a:t>
            </a:r>
            <a:endParaRPr lang="en-US" sz="2100" dirty="0"/>
          </a:p>
        </p:txBody>
      </p:sp>
      <p:sp>
        <p:nvSpPr>
          <p:cNvPr id="13" name="Text 11"/>
          <p:cNvSpPr/>
          <p:nvPr/>
        </p:nvSpPr>
        <p:spPr>
          <a:xfrm>
            <a:off x="1047750" y="415671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3</a:t>
            </a:r>
            <a:endParaRPr lang="en-US" sz="2100" dirty="0"/>
          </a:p>
        </p:txBody>
      </p:sp>
      <p:sp>
        <p:nvSpPr>
          <p:cNvPr id="14" name="Text 12"/>
          <p:cNvSpPr/>
          <p:nvPr/>
        </p:nvSpPr>
        <p:spPr>
          <a:xfrm>
            <a:off x="1581150" y="4126230"/>
            <a:ext cx="7192673"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Online lessons are </a:t>
            </a:r>
            <a:r>
              <a:rPr lang="en-US" sz="2100" b="1" dirty="0">
                <a:solidFill>
                  <a:srgbClr val="1A2A5E"/>
                </a:solidFill>
                <a:latin typeface="Helvetica" pitchFamily="34" charset="0"/>
                <a:ea typeface="Helvetica" pitchFamily="34" charset="-122"/>
                <a:cs typeface="Helvetica" pitchFamily="34" charset="-120"/>
              </a:rPr>
              <a:t>accessible </a:t>
            </a:r>
            <a:r>
              <a:rPr lang="en-US" sz="2100" dirty="0">
                <a:solidFill>
                  <a:srgbClr val="444444"/>
                </a:solidFill>
                <a:latin typeface="Helvetica" pitchFamily="34" charset="0"/>
                <a:ea typeface="Helvetica" pitchFamily="34" charset="-122"/>
                <a:cs typeface="Helvetica" pitchFamily="34" charset="-120"/>
              </a:rPr>
              <a:t>to anyone with a phone.</a:t>
            </a:r>
            <a:endParaRPr lang="en-US" sz="2100" dirty="0"/>
          </a:p>
        </p:txBody>
      </p:sp>
      <p:sp>
        <p:nvSpPr>
          <p:cNvPr id="15" name="Text 13"/>
          <p:cNvSpPr/>
          <p:nvPr/>
        </p:nvSpPr>
        <p:spPr>
          <a:xfrm>
            <a:off x="1047750" y="4726305"/>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4</a:t>
            </a:r>
            <a:endParaRPr lang="en-US" sz="2100" dirty="0"/>
          </a:p>
        </p:txBody>
      </p:sp>
      <p:sp>
        <p:nvSpPr>
          <p:cNvPr id="16" name="Text 14"/>
          <p:cNvSpPr/>
          <p:nvPr/>
        </p:nvSpPr>
        <p:spPr>
          <a:xfrm>
            <a:off x="1581150" y="4695825"/>
            <a:ext cx="9277565"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Teachers worry about academic </a:t>
            </a:r>
            <a:r>
              <a:rPr lang="en-US" sz="2100" b="1" dirty="0">
                <a:solidFill>
                  <a:srgbClr val="1A2A5E"/>
                </a:solidFill>
                <a:latin typeface="Helvetica" pitchFamily="34" charset="0"/>
                <a:ea typeface="Helvetica" pitchFamily="34" charset="-122"/>
                <a:cs typeface="Helvetica" pitchFamily="34" charset="-120"/>
              </a:rPr>
              <a:t>integrity </a:t>
            </a:r>
            <a:r>
              <a:rPr lang="en-US" sz="2100" dirty="0">
                <a:solidFill>
                  <a:srgbClr val="444444"/>
                </a:solidFill>
                <a:latin typeface="Helvetica" pitchFamily="34" charset="0"/>
                <a:ea typeface="Helvetica" pitchFamily="34" charset="-122"/>
                <a:cs typeface="Helvetica" pitchFamily="34" charset="-120"/>
              </a:rPr>
              <a:t>when machines write essays.</a:t>
            </a:r>
            <a:endParaRPr lang="en-US" sz="2100" dirty="0"/>
          </a:p>
        </p:txBody>
      </p:sp>
      <p:sp>
        <p:nvSpPr>
          <p:cNvPr id="17" name="Text 15"/>
          <p:cNvSpPr/>
          <p:nvPr/>
        </p:nvSpPr>
        <p:spPr>
          <a:xfrm>
            <a:off x="1047750" y="529590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5</a:t>
            </a:r>
            <a:endParaRPr lang="en-US" sz="2100" dirty="0"/>
          </a:p>
        </p:txBody>
      </p:sp>
      <p:sp>
        <p:nvSpPr>
          <p:cNvPr id="18" name="Text 16"/>
          <p:cNvSpPr/>
          <p:nvPr/>
        </p:nvSpPr>
        <p:spPr>
          <a:xfrm>
            <a:off x="1581150" y="5265420"/>
            <a:ext cx="6343603"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AI can give each student a </a:t>
            </a:r>
            <a:r>
              <a:rPr lang="en-US" sz="2100" b="1" dirty="0">
                <a:solidFill>
                  <a:srgbClr val="1A2A5E"/>
                </a:solidFill>
                <a:latin typeface="Helvetica" pitchFamily="34" charset="0"/>
                <a:ea typeface="Helvetica" pitchFamily="34" charset="-122"/>
                <a:cs typeface="Helvetica" pitchFamily="34" charset="-120"/>
              </a:rPr>
              <a:t>personalized </a:t>
            </a:r>
            <a:r>
              <a:rPr lang="en-US" sz="2100" dirty="0">
                <a:solidFill>
                  <a:srgbClr val="444444"/>
                </a:solidFill>
                <a:latin typeface="Helvetica" pitchFamily="34" charset="0"/>
                <a:ea typeface="Helvetica" pitchFamily="34" charset="-122"/>
                <a:cs typeface="Helvetica" pitchFamily="34" charset="-120"/>
              </a:rPr>
              <a:t>lesson.</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04950"/>
            <a:ext cx="3211092"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50670"/>
            <a:ext cx="2534507" cy="205740"/>
          </a:xfrm>
          <a:prstGeom prst="rect">
            <a:avLst/>
          </a:prstGeom>
          <a:noFill/>
          <a:ln/>
        </p:spPr>
        <p:txBody>
          <a:bodyPr wrap="square" lIns="25400" tIns="25400" rIns="25400" bIns="25400" rtlCol="0" anchor="t">
            <a:normAutofit/>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4023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You write the AI rules</a:t>
            </a:r>
            <a:endParaRPr lang="en-US" sz="3750" dirty="0"/>
          </a:p>
        </p:txBody>
      </p:sp>
      <p:sp>
        <p:nvSpPr>
          <p:cNvPr id="8" name="Shape 6"/>
          <p:cNvSpPr/>
          <p:nvPr/>
        </p:nvSpPr>
        <p:spPr>
          <a:xfrm>
            <a:off x="1047750" y="2819400"/>
            <a:ext cx="14859000" cy="9525"/>
          </a:xfrm>
          <a:prstGeom prst="rect">
            <a:avLst/>
          </a:prstGeom>
          <a:solidFill>
            <a:srgbClr val="D8D6D0"/>
          </a:solidFill>
          <a:ln/>
        </p:spPr>
        <p:txBody>
          <a:bodyPr/>
          <a:lstStyle/>
          <a:p>
            <a:endParaRPr lang="en-US"/>
          </a:p>
        </p:txBody>
      </p:sp>
      <p:sp>
        <p:nvSpPr>
          <p:cNvPr id="9" name="Text 7"/>
          <p:cNvSpPr/>
          <p:nvPr/>
        </p:nvSpPr>
        <p:spPr>
          <a:xfrm>
            <a:off x="1047750" y="309372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055620"/>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are a group of teachers writing the AI rules for your school.</a:t>
            </a:r>
            <a:endParaRPr lang="en-US" sz="2250" dirty="0"/>
          </a:p>
        </p:txBody>
      </p:sp>
      <p:sp>
        <p:nvSpPr>
          <p:cNvPr id="11" name="Shape 9"/>
          <p:cNvSpPr/>
          <p:nvPr/>
        </p:nvSpPr>
        <p:spPr>
          <a:xfrm>
            <a:off x="1047750" y="3689033"/>
            <a:ext cx="14859000" cy="9525"/>
          </a:xfrm>
          <a:prstGeom prst="rect">
            <a:avLst/>
          </a:prstGeom>
          <a:solidFill>
            <a:srgbClr val="D8D6D0"/>
          </a:solidFill>
          <a:ln/>
        </p:spPr>
        <p:txBody>
          <a:bodyPr/>
          <a:lstStyle/>
          <a:p>
            <a:endParaRPr lang="en-US"/>
          </a:p>
        </p:txBody>
      </p:sp>
      <p:sp>
        <p:nvSpPr>
          <p:cNvPr id="12" name="Text 10"/>
          <p:cNvSpPr/>
          <p:nvPr/>
        </p:nvSpPr>
        <p:spPr>
          <a:xfrm>
            <a:off x="1047750" y="396335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3925253"/>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rules for how students may — and may not — use AI.</a:t>
            </a:r>
            <a:endParaRPr lang="en-US" sz="2250" dirty="0"/>
          </a:p>
        </p:txBody>
      </p:sp>
      <p:sp>
        <p:nvSpPr>
          <p:cNvPr id="14" name="Shape 12"/>
          <p:cNvSpPr/>
          <p:nvPr/>
        </p:nvSpPr>
        <p:spPr>
          <a:xfrm>
            <a:off x="1047750" y="5409248"/>
            <a:ext cx="14859000" cy="9525"/>
          </a:xfrm>
          <a:prstGeom prst="rect">
            <a:avLst/>
          </a:prstGeom>
          <a:solidFill>
            <a:srgbClr val="D8D6D0"/>
          </a:solidFill>
          <a:ln/>
        </p:spPr>
        <p:txBody>
          <a:bodyPr/>
          <a:lstStyle/>
          <a:p>
            <a:endParaRPr lang="en-US"/>
          </a:p>
        </p:txBody>
      </p:sp>
      <p:sp>
        <p:nvSpPr>
          <p:cNvPr id="15" name="Shape 13"/>
          <p:cNvSpPr/>
          <p:nvPr/>
        </p:nvSpPr>
        <p:spPr>
          <a:xfrm>
            <a:off x="1047750" y="4558665"/>
            <a:ext cx="14859000" cy="9525"/>
          </a:xfrm>
          <a:prstGeom prst="rect">
            <a:avLst/>
          </a:prstGeom>
          <a:solidFill>
            <a:srgbClr val="D8D6D0"/>
          </a:solidFill>
          <a:ln/>
        </p:spPr>
        <p:txBody>
          <a:bodyPr/>
          <a:lstStyle/>
          <a:p>
            <a:endParaRPr lang="en-US"/>
          </a:p>
        </p:txBody>
      </p:sp>
      <p:sp>
        <p:nvSpPr>
          <p:cNvPr id="16" name="Text 14"/>
          <p:cNvSpPr/>
          <p:nvPr/>
        </p:nvSpPr>
        <p:spPr>
          <a:xfrm>
            <a:off x="1047750" y="483298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794885"/>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Share your policy and explain how it keeps learning fair.</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954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45030"/>
            <a:ext cx="15206662" cy="1588770"/>
          </a:xfrm>
          <a:prstGeom prst="rect">
            <a:avLst/>
          </a:prstGeom>
          <a:noFill/>
          <a:ln/>
        </p:spPr>
        <p:txBody>
          <a:bodyPr wrap="square" lIns="25400" tIns="25400" rIns="25400" bIns="25400" rtlCol="0" anchor="t">
            <a:normAutofit/>
          </a:bodyPr>
          <a:lstStyle/>
          <a:p>
            <a:pPr marL="0" indent="0" algn="l">
              <a:lnSpc>
                <a:spcPct val="110000"/>
              </a:lnSpc>
              <a:buNone/>
            </a:pPr>
            <a:r>
              <a:rPr lang="en-US" sz="5550" b="1" dirty="0">
                <a:solidFill>
                  <a:srgbClr val="1A2A5E"/>
                </a:solidFill>
                <a:latin typeface="Georgia" pitchFamily="34" charset="0"/>
                <a:ea typeface="Georgia" pitchFamily="34" charset="-122"/>
                <a:cs typeface="Georgia" pitchFamily="34" charset="-120"/>
              </a:rPr>
              <a:t>Should students be allowed to use AI to help with their schoolwork?</a:t>
            </a:r>
            <a:endParaRPr lang="en-US" sz="5550" dirty="0"/>
          </a:p>
        </p:txBody>
      </p:sp>
      <p:sp>
        <p:nvSpPr>
          <p:cNvPr id="7" name="Text 5"/>
          <p:cNvSpPr/>
          <p:nvPr/>
        </p:nvSpPr>
        <p:spPr>
          <a:xfrm>
            <a:off x="1047750" y="4076700"/>
            <a:ext cx="13620750" cy="46482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4979670"/>
            <a:ext cx="2476500" cy="22860"/>
          </a:xfrm>
          <a:prstGeom prst="rect">
            <a:avLst/>
          </a:prstGeom>
          <a:solidFill>
            <a:srgbClr val="D9B877"/>
          </a:solidFill>
          <a:ln/>
        </p:spPr>
        <p:txBody>
          <a:bodyPr/>
          <a:lstStyle/>
          <a:p>
            <a:endParaRPr lang="en-US"/>
          </a:p>
        </p:txBody>
      </p:sp>
      <p:sp>
        <p:nvSpPr>
          <p:cNvPr id="9" name="Text 7"/>
          <p:cNvSpPr/>
          <p:nvPr/>
        </p:nvSpPr>
        <p:spPr>
          <a:xfrm>
            <a:off x="1047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4979670"/>
            <a:ext cx="2476500" cy="22860"/>
          </a:xfrm>
          <a:prstGeom prst="rect">
            <a:avLst/>
          </a:prstGeom>
          <a:solidFill>
            <a:srgbClr val="D9B877"/>
          </a:solidFill>
          <a:ln/>
        </p:spPr>
        <p:txBody>
          <a:bodyPr/>
          <a:lstStyle/>
          <a:p>
            <a:endParaRPr lang="en-US"/>
          </a:p>
        </p:txBody>
      </p:sp>
      <p:sp>
        <p:nvSpPr>
          <p:cNvPr id="11" name="Text 9"/>
          <p:cNvSpPr/>
          <p:nvPr/>
        </p:nvSpPr>
        <p:spPr>
          <a:xfrm>
            <a:off x="39052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4979670"/>
            <a:ext cx="2476500" cy="22860"/>
          </a:xfrm>
          <a:prstGeom prst="rect">
            <a:avLst/>
          </a:prstGeom>
          <a:solidFill>
            <a:srgbClr val="D9B877"/>
          </a:solidFill>
          <a:ln/>
        </p:spPr>
        <p:txBody>
          <a:bodyPr/>
          <a:lstStyle/>
          <a:p>
            <a:endParaRPr lang="en-US"/>
          </a:p>
        </p:txBody>
      </p:sp>
      <p:sp>
        <p:nvSpPr>
          <p:cNvPr id="13" name="Text 11"/>
          <p:cNvSpPr/>
          <p:nvPr/>
        </p:nvSpPr>
        <p:spPr>
          <a:xfrm>
            <a:off x="6762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238250" y="3769995"/>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04335"/>
            <a:ext cx="16285845" cy="1958340"/>
          </a:xfrm>
          <a:prstGeom prst="rect">
            <a:avLst/>
          </a:prstGeom>
          <a:noFill/>
          <a:ln/>
        </p:spPr>
        <p:txBody>
          <a:bodyPr wrap="square" lIns="25400" tIns="25400" rIns="25400" bIns="25400" rtlCol="0" anchor="t">
            <a:normAutofit/>
          </a:bodyPr>
          <a:lstStyle/>
          <a:p>
            <a:pPr marL="0" indent="0" algn="l">
              <a:lnSpc>
                <a:spcPct val="105000"/>
              </a:lnSpc>
              <a:buNone/>
            </a:pPr>
            <a:r>
              <a:rPr lang="en-US" sz="7200" b="1" dirty="0">
                <a:solidFill>
                  <a:srgbClr val="FFFFFF"/>
                </a:solidFill>
                <a:latin typeface="Georgia" pitchFamily="34" charset="0"/>
                <a:ea typeface="Georgia" pitchFamily="34" charset="-122"/>
                <a:cs typeface="Georgia" pitchFamily="34" charset="-120"/>
              </a:rPr>
              <a:t>One fact. One perspective. Endless discussion.</a:t>
            </a:r>
            <a:endParaRPr lang="en-US" sz="7200" dirty="0"/>
          </a:p>
        </p:txBody>
      </p:sp>
      <p:sp>
        <p:nvSpPr>
          <p:cNvPr id="5" name="Text 3"/>
          <p:cNvSpPr/>
          <p:nvPr/>
        </p:nvSpPr>
        <p:spPr>
          <a:xfrm>
            <a:off x="1238250" y="6410325"/>
            <a:ext cx="17392650" cy="365760"/>
          </a:xfrm>
          <a:prstGeom prst="rect">
            <a:avLst/>
          </a:prstGeom>
          <a:noFill/>
          <a:ln/>
        </p:spPr>
        <p:txBody>
          <a:bodyPr wrap="square" lIns="25400" tIns="25400" rIns="25400" bIns="25400" rtlCol="0" anchor="t">
            <a:normAutofit/>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1816</Words>
  <Application>Microsoft Office PowerPoint</Application>
  <PresentationFormat>Custom</PresentationFormat>
  <Paragraphs>251</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Georgia</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2</cp:revision>
  <dcterms:created xsi:type="dcterms:W3CDTF">2026-07-03T11:14:00Z</dcterms:created>
  <dcterms:modified xsi:type="dcterms:W3CDTF">2026-07-03T11:21:29Z</dcterms:modified>
</cp:coreProperties>
</file>