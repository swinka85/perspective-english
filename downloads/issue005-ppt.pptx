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73" r:id="rId8"/>
    <p:sldId id="264" r:id="rId9"/>
    <p:sldId id="265" r:id="rId10"/>
    <p:sldId id="269" r:id="rId11"/>
    <p:sldId id="274" r:id="rId12"/>
    <p:sldId id="267" r:id="rId13"/>
    <p:sldId id="268" r:id="rId14"/>
    <p:sldId id="270" r:id="rId15"/>
    <p:sldId id="271" r:id="rId16"/>
    <p:sldId id="272" r:id="rId17"/>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56" d="100"/>
          <a:sy n="56" d="100"/>
        </p:scale>
        <p:origin x="610"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457611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class. This is Issue 005 of Perspective — today's topic is The World Cup. Aim: read a short article, learn key words, and discuss opinions.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45–60 minutes. We move top to bottom: warm-up, vocabulary, article + audio, comprehension, then lots of discussion and a short writing task.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Books closed. Pairs discuss both questions for 3–4 minutes, then share with the class. No right answers — the goal is to activate the topic and get them speaking.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photo and the headline. Before reading, students predict: what problem does this article describe? Elicit a few guesses. Pre-teach nothing — the vocabulary comes next.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match each word (1–5) to its meaning (A–E), alone or in pairs. These five words all appear in the article, so they can check as they read. Answers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Tip: in PowerPoint you can animate each answer chip to appear on click. Check pronunciation and drill the five words briefly.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read the full article, or follow the audio. Set a purpose: why do billions watch, what does hosting cost, and does the World Cup still unite the world? Point out the balanced view. End on the pull-quote about why it still matters. Give 4–5 minutes.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Comprehension check. Students decide True or False for each statement, referring back to the article. Answers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Ask students to find the line in the article that proves each answer — good re-reading practice. 4 and 2 are False: the World Cup is much more than football (not merely a match), and some new stadiums sit empty afterwards rather than being reused for many years.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 of the lesson. Put students in pairs or small groups. Move through as many questions as time allows — don't rush. Encourage: ‘On the one hand… on the other…’, ‘It depends on…’, ‘I’d argue that…’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host's bill. Groups of three or four. Read all six rows aloud, then make them agree on every line. Give about ten minutes and run the YOUR VERDICT line plus both DISCUSS questions — the debt row and the memory row are the ones that split a room.</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Speaking-focused language. Students complete each sentence so they can say it aloud — first person, useful for the discussion. Change the form if needed. Answers next slide (some are flexible).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answers — accept sensible variations. The goal is that students can say each line aloud and use the words in the discussion.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role-play. Small groups act as a town council. Give ~8 minutes to agree on two rules, then each group presents. Encourage persuasive, balanced language.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reflection. Set as in-class writing or homework. 150–200 words. Remind students to use the vocabulary and ideas from the article. A model answer is in the Teacher Guide (Page 3).</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 up. Thank the class. Preview that Issue 002 continues the series. Reminder: the worksheet, audio and teacher guide all live at perspectiveenglish.com.</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A5E"/>
        </a:solidFill>
        <a:effectLst/>
      </p:bgPr>
    </p:bg>
    <p:spTree>
      <p:nvGrpSpPr>
        <p:cNvPr id="1" name=""/>
        <p:cNvGrpSpPr/>
        <p:nvPr/>
      </p:nvGrpSpPr>
      <p:grpSpPr>
        <a:xfrm>
          <a:off x="0" y="0"/>
          <a:ext cx="0" cy="0"/>
          <a:chOff x="0" y="0"/>
          <a:chExt cx="0" cy="0"/>
        </a:xfrm>
      </p:grpSpPr>
      <p:sp>
        <p:nvSpPr>
          <p:cNvPr id="2" name="Text 0"/>
          <p:cNvSpPr/>
          <p:nvPr/>
        </p:nvSpPr>
        <p:spPr>
          <a:xfrm>
            <a:off x="1238250" y="1047750"/>
            <a:ext cx="5448300" cy="472440"/>
          </a:xfrm>
          <a:prstGeom prst="rect">
            <a:avLst/>
          </a:prstGeom>
          <a:noFill/>
          <a:ln/>
        </p:spPr>
        <p:txBody>
          <a:bodyPr wrap="none" lIns="25400" tIns="25400" rIns="25400" bIns="25400" rtlCol="0" anchor="t">
            <a:normAutofit lnSpcReduction="10000"/>
          </a:bodyPr>
          <a:lstStyle/>
          <a:p>
            <a:pPr marL="0" indent="0" algn="l">
              <a:buNone/>
            </a:pPr>
            <a:r>
              <a:rPr lang="en-US" sz="3000" b="1" kern="0" spc="75" dirty="0">
                <a:solidFill>
                  <a:srgbClr val="FFFFFF"/>
                </a:solidFill>
                <a:latin typeface="Georgia" pitchFamily="34" charset="0"/>
                <a:ea typeface="Georgia" pitchFamily="34" charset="-122"/>
                <a:cs typeface="Georgia" pitchFamily="34" charset="-120"/>
              </a:rPr>
              <a:t>PERSPECTIVE</a:t>
            </a:r>
            <a:endParaRPr lang="en-US" sz="3000" dirty="0"/>
          </a:p>
        </p:txBody>
      </p:sp>
      <p:sp>
        <p:nvSpPr>
          <p:cNvPr id="3" name="Text 1"/>
          <p:cNvSpPr/>
          <p:nvPr/>
        </p:nvSpPr>
        <p:spPr>
          <a:xfrm>
            <a:off x="14986730" y="1047750"/>
            <a:ext cx="2063020" cy="220980"/>
          </a:xfrm>
          <a:prstGeom prst="rect">
            <a:avLst/>
          </a:prstGeom>
          <a:noFill/>
          <a:ln/>
        </p:spPr>
        <p:txBody>
          <a:bodyPr wrap="square" lIns="25400" tIns="25400" rIns="25400" bIns="25400" rtlCol="0" anchor="t">
            <a:normAutofit/>
          </a:bodyPr>
          <a:lstStyle/>
          <a:p>
            <a:pPr marL="0" indent="0" algn="r">
              <a:buNone/>
            </a:pPr>
            <a:r>
              <a:rPr lang="en-US" sz="1050" b="1" kern="0" spc="300" dirty="0">
                <a:solidFill>
                  <a:srgbClr val="D9B877"/>
                </a:solidFill>
                <a:latin typeface="Helvetica" pitchFamily="34" charset="0"/>
                <a:ea typeface="Helvetica" pitchFamily="34" charset="-122"/>
                <a:cs typeface="Helvetica" pitchFamily="34" charset="-120"/>
              </a:rPr>
              <a:t>SPECIAL EDITION</a:t>
            </a:r>
            <a:endParaRPr lang="en-US" sz="1050" dirty="0"/>
          </a:p>
        </p:txBody>
      </p:sp>
      <p:sp>
        <p:nvSpPr>
          <p:cNvPr id="4" name="Text 2"/>
          <p:cNvSpPr/>
          <p:nvPr/>
        </p:nvSpPr>
        <p:spPr>
          <a:xfrm>
            <a:off x="14986730" y="1287780"/>
            <a:ext cx="2063020" cy="312420"/>
          </a:xfrm>
          <a:prstGeom prst="rect">
            <a:avLst/>
          </a:prstGeom>
          <a:noFill/>
          <a:ln/>
        </p:spPr>
        <p:txBody>
          <a:bodyPr wrap="square" lIns="25400" tIns="25400" rIns="25400" bIns="25400" rtlCol="0" anchor="t">
            <a:normAutofit/>
          </a:bodyPr>
          <a:lstStyle/>
          <a:p>
            <a:pPr marL="0" indent="0" algn="r">
              <a:buNone/>
            </a:pPr>
            <a:r>
              <a:rPr lang="en-US" sz="1500" b="1" kern="0" spc="225" dirty="0">
                <a:solidFill>
                  <a:srgbClr val="D9B877"/>
                </a:solidFill>
                <a:latin typeface="Helvetica" pitchFamily="34" charset="0"/>
                <a:ea typeface="Helvetica" pitchFamily="34" charset="-122"/>
                <a:cs typeface="Helvetica" pitchFamily="34" charset="-120"/>
              </a:rPr>
              <a:t>ISSUE 005</a:t>
            </a:r>
            <a:endParaRPr lang="en-US" sz="1500" dirty="0"/>
          </a:p>
        </p:txBody>
      </p:sp>
      <p:sp>
        <p:nvSpPr>
          <p:cNvPr id="5" name="Text 3"/>
          <p:cNvSpPr/>
          <p:nvPr/>
        </p:nvSpPr>
        <p:spPr>
          <a:xfrm>
            <a:off x="1238250" y="6719888"/>
            <a:ext cx="17392650" cy="281940"/>
          </a:xfrm>
          <a:prstGeom prst="rect">
            <a:avLst/>
          </a:prstGeom>
          <a:noFill/>
          <a:ln/>
        </p:spPr>
        <p:txBody>
          <a:bodyPr wrap="square" lIns="25400" tIns="25400" rIns="25400" bIns="25400" rtlCol="0" anchor="t">
            <a:normAutofit lnSpcReduction="10000"/>
          </a:bodyPr>
          <a:lstStyle/>
          <a:p>
            <a:pPr marL="0" indent="0" algn="l">
              <a:buNone/>
            </a:pPr>
            <a:r>
              <a:rPr lang="en-US" sz="1650" b="1" kern="0" spc="450" dirty="0">
                <a:solidFill>
                  <a:srgbClr val="D9B877"/>
                </a:solidFill>
                <a:latin typeface="Helvetica" pitchFamily="34" charset="0"/>
                <a:ea typeface="Helvetica" pitchFamily="34" charset="-122"/>
                <a:cs typeface="Helvetica" pitchFamily="34" charset="-120"/>
              </a:rPr>
              <a:t>LESSONS WORTH TALKING ABOUT</a:t>
            </a:r>
            <a:endParaRPr lang="en-US" sz="1650" dirty="0"/>
          </a:p>
        </p:txBody>
      </p:sp>
      <p:sp>
        <p:nvSpPr>
          <p:cNvPr id="6" name="Text 4"/>
          <p:cNvSpPr/>
          <p:nvPr/>
        </p:nvSpPr>
        <p:spPr>
          <a:xfrm>
            <a:off x="1238250" y="7211378"/>
            <a:ext cx="17392650" cy="1395413"/>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11250" b="1" kern="0" spc="-150" dirty="0">
                <a:solidFill>
                  <a:srgbClr val="FFFFFF"/>
                </a:solidFill>
                <a:latin typeface="Georgia" pitchFamily="34" charset="0"/>
                <a:ea typeface="Georgia" pitchFamily="34" charset="-122"/>
                <a:cs typeface="Georgia" pitchFamily="34" charset="-120"/>
              </a:rPr>
              <a:t>The World Cup</a:t>
            </a:r>
            <a:endParaRPr lang="en-US" sz="11250" dirty="0"/>
          </a:p>
        </p:txBody>
      </p:sp>
      <p:sp>
        <p:nvSpPr>
          <p:cNvPr id="7" name="Text 5"/>
          <p:cNvSpPr/>
          <p:nvPr/>
        </p:nvSpPr>
        <p:spPr>
          <a:xfrm>
            <a:off x="1238250" y="8797290"/>
            <a:ext cx="17392650" cy="480060"/>
          </a:xfrm>
          <a:prstGeom prst="rect">
            <a:avLst/>
          </a:prstGeom>
          <a:noFill/>
          <a:ln/>
        </p:spPr>
        <p:txBody>
          <a:bodyPr wrap="square" lIns="25400" tIns="25400" rIns="25400" bIns="25400" rtlCol="0" anchor="t">
            <a:normAutofit lnSpcReduction="10000"/>
          </a:bodyPr>
          <a:lstStyle/>
          <a:p>
            <a:pPr marL="0" indent="0" algn="l">
              <a:buNone/>
            </a:pPr>
            <a:r>
              <a:rPr lang="en-US" sz="3000" dirty="0">
                <a:solidFill>
                  <a:srgbClr val="DFE4F0"/>
                </a:solidFill>
                <a:latin typeface="Helvetica" pitchFamily="34" charset="0"/>
                <a:ea typeface="Helvetica" pitchFamily="34" charset="-122"/>
                <a:cs typeface="Helvetica" pitchFamily="34" charset="-120"/>
              </a:rPr>
              <a:t>More than just football?</a:t>
            </a: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58115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LESSON OVERVIEW</a:t>
            </a:r>
            <a:endParaRPr lang="en-US" sz="1500" dirty="0"/>
          </a:p>
        </p:txBody>
      </p:sp>
      <p:sp>
        <p:nvSpPr>
          <p:cNvPr id="6" name="Text 4"/>
          <p:cNvSpPr/>
          <p:nvPr/>
        </p:nvSpPr>
        <p:spPr>
          <a:xfrm>
            <a:off x="1047750" y="1916430"/>
            <a:ext cx="17811750" cy="685800"/>
          </a:xfrm>
          <a:prstGeom prst="rect">
            <a:avLst/>
          </a:prstGeom>
          <a:noFill/>
          <a:ln/>
        </p:spPr>
        <p:txBody>
          <a:bodyPr wrap="square" lIns="25400" tIns="25400" rIns="25400" bIns="25400" rtlCol="0" anchor="t">
            <a:normAutofit lnSpcReduction="10000"/>
          </a:bodyPr>
          <a:lstStyle/>
          <a:p>
            <a:pPr marL="0" indent="0" algn="l">
              <a:buNone/>
            </a:pPr>
            <a:r>
              <a:rPr lang="en-US" sz="4500" b="1" dirty="0">
                <a:solidFill>
                  <a:srgbClr val="1A2A5E"/>
                </a:solidFill>
                <a:latin typeface="Georgia" pitchFamily="34" charset="0"/>
                <a:ea typeface="Georgia" pitchFamily="34" charset="-122"/>
                <a:cs typeface="Georgia" pitchFamily="34" charset="-120"/>
              </a:rPr>
              <a:t>What we’ll do today</a:t>
            </a:r>
            <a:endParaRPr lang="en-US" sz="4500" dirty="0"/>
          </a:p>
        </p:txBody>
      </p:sp>
      <p:sp>
        <p:nvSpPr>
          <p:cNvPr id="7" name="Text 5"/>
          <p:cNvSpPr/>
          <p:nvPr/>
        </p:nvSpPr>
        <p:spPr>
          <a:xfrm>
            <a:off x="1047750" y="3097530"/>
            <a:ext cx="513517" cy="457200"/>
          </a:xfrm>
          <a:prstGeom prst="rect">
            <a:avLst/>
          </a:prstGeom>
          <a:noFill/>
          <a:ln/>
        </p:spPr>
        <p:txBody>
          <a:bodyPr wrap="none" lIns="25400" tIns="25400" rIns="25400" bIns="25400" rtlCol="0" anchor="t">
            <a:normAutofit fontScale="92500" lnSpcReduction="20000"/>
          </a:bodyPr>
          <a:lstStyle/>
          <a:p>
            <a:pPr marL="0" indent="0" algn="l">
              <a:lnSpc>
                <a:spcPct val="100000"/>
              </a:lnSpc>
              <a:buNone/>
            </a:pPr>
            <a:r>
              <a:rPr lang="en-US" sz="3300" b="1" dirty="0">
                <a:solidFill>
                  <a:srgbClr val="D9B877"/>
                </a:solidFill>
                <a:latin typeface="Georgia" pitchFamily="34" charset="0"/>
                <a:ea typeface="Georgia" pitchFamily="34" charset="-122"/>
                <a:cs typeface="Georgia" pitchFamily="34" charset="-120"/>
              </a:rPr>
              <a:t>01</a:t>
            </a:r>
            <a:endParaRPr lang="en-US" sz="3300" dirty="0"/>
          </a:p>
        </p:txBody>
      </p:sp>
      <p:sp>
        <p:nvSpPr>
          <p:cNvPr id="8" name="Text 6"/>
          <p:cNvSpPr/>
          <p:nvPr/>
        </p:nvSpPr>
        <p:spPr>
          <a:xfrm>
            <a:off x="1713667" y="3097530"/>
            <a:ext cx="3715583"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Warm-up &amp; vocabulary</a:t>
            </a:r>
            <a:endParaRPr lang="en-US" sz="2250" dirty="0"/>
          </a:p>
        </p:txBody>
      </p:sp>
      <p:sp>
        <p:nvSpPr>
          <p:cNvPr id="9" name="Text 7"/>
          <p:cNvSpPr/>
          <p:nvPr/>
        </p:nvSpPr>
        <p:spPr>
          <a:xfrm>
            <a:off x="1713667" y="3463290"/>
            <a:ext cx="3715583"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Get talking and learn five key words.</a:t>
            </a:r>
            <a:endParaRPr lang="en-US" sz="1650" dirty="0"/>
          </a:p>
        </p:txBody>
      </p:sp>
      <p:sp>
        <p:nvSpPr>
          <p:cNvPr id="10" name="Text 8"/>
          <p:cNvSpPr/>
          <p:nvPr/>
        </p:nvSpPr>
        <p:spPr>
          <a:xfrm>
            <a:off x="9477375" y="3097530"/>
            <a:ext cx="567571" cy="457200"/>
          </a:xfrm>
          <a:prstGeom prst="rect">
            <a:avLst/>
          </a:prstGeom>
          <a:noFill/>
          <a:ln/>
        </p:spPr>
        <p:txBody>
          <a:bodyPr wrap="none" lIns="25400" tIns="25400" rIns="25400" bIns="25400" rtlCol="0" anchor="t">
            <a:normAutofit fontScale="92500" lnSpcReduction="20000"/>
          </a:bodyPr>
          <a:lstStyle/>
          <a:p>
            <a:pPr marL="0" indent="0" algn="l">
              <a:lnSpc>
                <a:spcPct val="100000"/>
              </a:lnSpc>
              <a:buNone/>
            </a:pPr>
            <a:r>
              <a:rPr lang="en-US" sz="3300" b="1" dirty="0">
                <a:solidFill>
                  <a:srgbClr val="D9B877"/>
                </a:solidFill>
                <a:latin typeface="Georgia" pitchFamily="34" charset="0"/>
                <a:ea typeface="Georgia" pitchFamily="34" charset="-122"/>
                <a:cs typeface="Georgia" pitchFamily="34" charset="-120"/>
              </a:rPr>
              <a:t>02</a:t>
            </a:r>
            <a:endParaRPr lang="en-US" sz="3300" dirty="0"/>
          </a:p>
        </p:txBody>
      </p:sp>
      <p:sp>
        <p:nvSpPr>
          <p:cNvPr id="11" name="Text 9"/>
          <p:cNvSpPr/>
          <p:nvPr/>
        </p:nvSpPr>
        <p:spPr>
          <a:xfrm>
            <a:off x="10197346" y="3097530"/>
            <a:ext cx="3177695"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Read &amp; listen</a:t>
            </a:r>
            <a:endParaRPr lang="en-US" sz="2250" dirty="0"/>
          </a:p>
        </p:txBody>
      </p:sp>
      <p:sp>
        <p:nvSpPr>
          <p:cNvPr id="12" name="Text 10"/>
          <p:cNvSpPr/>
          <p:nvPr/>
        </p:nvSpPr>
        <p:spPr>
          <a:xfrm>
            <a:off x="10197346" y="3463290"/>
            <a:ext cx="3177695"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The article, with optional audio.</a:t>
            </a:r>
            <a:endParaRPr lang="en-US" sz="1650" dirty="0"/>
          </a:p>
        </p:txBody>
      </p:sp>
      <p:sp>
        <p:nvSpPr>
          <p:cNvPr id="13" name="Text 11"/>
          <p:cNvSpPr/>
          <p:nvPr/>
        </p:nvSpPr>
        <p:spPr>
          <a:xfrm>
            <a:off x="1047750" y="3992880"/>
            <a:ext cx="564713" cy="457200"/>
          </a:xfrm>
          <a:prstGeom prst="rect">
            <a:avLst/>
          </a:prstGeom>
          <a:noFill/>
          <a:ln/>
        </p:spPr>
        <p:txBody>
          <a:bodyPr wrap="none" lIns="25400" tIns="25400" rIns="25400" bIns="25400" rtlCol="0" anchor="t">
            <a:normAutofit fontScale="92500" lnSpcReduction="20000"/>
          </a:bodyPr>
          <a:lstStyle/>
          <a:p>
            <a:pPr marL="0" indent="0" algn="l">
              <a:lnSpc>
                <a:spcPct val="100000"/>
              </a:lnSpc>
              <a:buNone/>
            </a:pPr>
            <a:r>
              <a:rPr lang="en-US" sz="3300" b="1" dirty="0">
                <a:solidFill>
                  <a:srgbClr val="D9B877"/>
                </a:solidFill>
                <a:latin typeface="Georgia" pitchFamily="34" charset="0"/>
                <a:ea typeface="Georgia" pitchFamily="34" charset="-122"/>
                <a:cs typeface="Georgia" pitchFamily="34" charset="-120"/>
              </a:rPr>
              <a:t>03</a:t>
            </a:r>
            <a:endParaRPr lang="en-US" sz="3300" dirty="0"/>
          </a:p>
        </p:txBody>
      </p:sp>
      <p:sp>
        <p:nvSpPr>
          <p:cNvPr id="14" name="Text 12"/>
          <p:cNvSpPr/>
          <p:nvPr/>
        </p:nvSpPr>
        <p:spPr>
          <a:xfrm>
            <a:off x="1764863" y="3992880"/>
            <a:ext cx="3985117"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Check &amp; discuss</a:t>
            </a:r>
            <a:endParaRPr lang="en-US" sz="2250" dirty="0"/>
          </a:p>
        </p:txBody>
      </p:sp>
      <p:sp>
        <p:nvSpPr>
          <p:cNvPr id="15" name="Text 13"/>
          <p:cNvSpPr/>
          <p:nvPr/>
        </p:nvSpPr>
        <p:spPr>
          <a:xfrm>
            <a:off x="1764863" y="4358640"/>
            <a:ext cx="3985117"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Comprehension, then open discussion.</a:t>
            </a:r>
            <a:endParaRPr lang="en-US" sz="1650" dirty="0"/>
          </a:p>
        </p:txBody>
      </p:sp>
      <p:sp>
        <p:nvSpPr>
          <p:cNvPr id="16" name="Text 14"/>
          <p:cNvSpPr/>
          <p:nvPr/>
        </p:nvSpPr>
        <p:spPr>
          <a:xfrm>
            <a:off x="9477375" y="3992880"/>
            <a:ext cx="570309" cy="457200"/>
          </a:xfrm>
          <a:prstGeom prst="rect">
            <a:avLst/>
          </a:prstGeom>
          <a:noFill/>
          <a:ln/>
        </p:spPr>
        <p:txBody>
          <a:bodyPr wrap="none" lIns="25400" tIns="25400" rIns="25400" bIns="25400" rtlCol="0" anchor="t">
            <a:normAutofit fontScale="92500" lnSpcReduction="20000"/>
          </a:bodyPr>
          <a:lstStyle/>
          <a:p>
            <a:pPr marL="0" indent="0" algn="l">
              <a:lnSpc>
                <a:spcPct val="100000"/>
              </a:lnSpc>
              <a:buNone/>
            </a:pPr>
            <a:r>
              <a:rPr lang="en-US" sz="3300" b="1" dirty="0">
                <a:solidFill>
                  <a:srgbClr val="D9B877"/>
                </a:solidFill>
                <a:latin typeface="Georgia" pitchFamily="34" charset="0"/>
                <a:ea typeface="Georgia" pitchFamily="34" charset="-122"/>
                <a:cs typeface="Georgia" pitchFamily="34" charset="-120"/>
              </a:rPr>
              <a:t>04</a:t>
            </a:r>
            <a:endParaRPr lang="en-US" sz="3300" dirty="0"/>
          </a:p>
        </p:txBody>
      </p:sp>
      <p:sp>
        <p:nvSpPr>
          <p:cNvPr id="17" name="Text 15"/>
          <p:cNvSpPr/>
          <p:nvPr/>
        </p:nvSpPr>
        <p:spPr>
          <a:xfrm>
            <a:off x="10200084" y="3992880"/>
            <a:ext cx="3626525" cy="365760"/>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1A2A5E"/>
                </a:solidFill>
                <a:latin typeface="Helvetica" pitchFamily="34" charset="0"/>
                <a:ea typeface="Helvetica" pitchFamily="34" charset="-122"/>
                <a:cs typeface="Helvetica" pitchFamily="34" charset="-120"/>
              </a:rPr>
              <a:t>Think &amp; write</a:t>
            </a:r>
            <a:endParaRPr lang="en-US" sz="2250" dirty="0"/>
          </a:p>
        </p:txBody>
      </p:sp>
      <p:sp>
        <p:nvSpPr>
          <p:cNvPr id="18" name="Text 16"/>
          <p:cNvSpPr/>
          <p:nvPr/>
        </p:nvSpPr>
        <p:spPr>
          <a:xfrm>
            <a:off x="10200084" y="4358640"/>
            <a:ext cx="3626525" cy="281940"/>
          </a:xfrm>
          <a:prstGeom prst="rect">
            <a:avLst/>
          </a:prstGeom>
          <a:noFill/>
          <a:ln/>
        </p:spPr>
        <p:txBody>
          <a:bodyPr wrap="square" lIns="25400" tIns="25400" rIns="25400" bIns="25400" rtlCol="0" anchor="t">
            <a:normAutofit lnSpcReduction="10000"/>
          </a:bodyPr>
          <a:lstStyle/>
          <a:p>
            <a:pPr marL="0" indent="0" algn="l">
              <a:buNone/>
            </a:pPr>
            <a:r>
              <a:rPr lang="en-US" sz="1650" dirty="0">
                <a:solidFill>
                  <a:srgbClr val="555555"/>
                </a:solidFill>
                <a:latin typeface="Helvetica" pitchFamily="34" charset="0"/>
                <a:ea typeface="Helvetica" pitchFamily="34" charset="-122"/>
                <a:cs typeface="Helvetica" pitchFamily="34" charset="-120"/>
              </a:rPr>
              <a:t>Rank ideas and share your opinion.</a:t>
            </a:r>
            <a:endParaRPr lang="en-US" sz="1650" dirty="0"/>
          </a:p>
        </p:txBody>
      </p:sp>
      <p:sp>
        <p:nvSpPr>
          <p:cNvPr id="19" name="Text 17"/>
          <p:cNvSpPr/>
          <p:nvPr/>
        </p:nvSpPr>
        <p:spPr>
          <a:xfrm>
            <a:off x="1047750" y="9429750"/>
            <a:ext cx="197658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
        <p:nvSpPr>
          <p:cNvPr id="20" name="Text 18"/>
          <p:cNvSpPr/>
          <p:nvPr/>
        </p:nvSpPr>
        <p:spPr>
          <a:xfrm>
            <a:off x="16116062" y="9429750"/>
            <a:ext cx="1200388"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45–60 minutes</a:t>
            </a:r>
            <a:endParaRPr lang="en-US" sz="1275"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6"/>
        </a:solidFill>
        <a:effectLst/>
      </p:bgPr>
    </p:bg>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58115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WARM-UP</a:t>
            </a:r>
            <a:endParaRPr lang="en-US" sz="1500" dirty="0"/>
          </a:p>
        </p:txBody>
      </p:sp>
      <p:sp>
        <p:nvSpPr>
          <p:cNvPr id="6" name="Text 4"/>
          <p:cNvSpPr/>
          <p:nvPr/>
        </p:nvSpPr>
        <p:spPr>
          <a:xfrm>
            <a:off x="1047750" y="1916430"/>
            <a:ext cx="17811750" cy="685800"/>
          </a:xfrm>
          <a:prstGeom prst="rect">
            <a:avLst/>
          </a:prstGeom>
          <a:noFill/>
          <a:ln/>
        </p:spPr>
        <p:txBody>
          <a:bodyPr wrap="square" lIns="25400" tIns="25400" rIns="25400" bIns="25400" rtlCol="0" anchor="t">
            <a:normAutofit lnSpcReduction="10000"/>
          </a:bodyPr>
          <a:lstStyle/>
          <a:p>
            <a:pPr marL="0" indent="0" algn="l">
              <a:buNone/>
            </a:pPr>
            <a:r>
              <a:rPr lang="en-US" sz="4500" b="1" dirty="0">
                <a:solidFill>
                  <a:srgbClr val="1A2A5E"/>
                </a:solidFill>
                <a:latin typeface="Georgia" pitchFamily="34" charset="0"/>
                <a:ea typeface="Georgia" pitchFamily="34" charset="-122"/>
                <a:cs typeface="Georgia" pitchFamily="34" charset="-120"/>
              </a:rPr>
              <a:t>Talk with a partner</a:t>
            </a:r>
            <a:endParaRPr lang="en-US" sz="4500" dirty="0"/>
          </a:p>
        </p:txBody>
      </p:sp>
      <p:sp>
        <p:nvSpPr>
          <p:cNvPr id="7" name="Text 5"/>
          <p:cNvSpPr/>
          <p:nvPr/>
        </p:nvSpPr>
        <p:spPr>
          <a:xfrm>
            <a:off x="1047750" y="3230880"/>
            <a:ext cx="370880" cy="65532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5400" b="1" dirty="0">
                <a:solidFill>
                  <a:srgbClr val="D9B877"/>
                </a:solidFill>
                <a:latin typeface="Georgia" pitchFamily="34" charset="0"/>
                <a:ea typeface="Georgia" pitchFamily="34" charset="-122"/>
                <a:cs typeface="Georgia" pitchFamily="34" charset="-120"/>
              </a:rPr>
              <a:t>1</a:t>
            </a:r>
            <a:endParaRPr lang="en-US" sz="5400" dirty="0"/>
          </a:p>
        </p:txBody>
      </p:sp>
      <p:sp>
        <p:nvSpPr>
          <p:cNvPr id="8" name="Text 6"/>
          <p:cNvSpPr/>
          <p:nvPr/>
        </p:nvSpPr>
        <p:spPr>
          <a:xfrm>
            <a:off x="1666280" y="3185387"/>
            <a:ext cx="13291666" cy="1066800"/>
          </a:xfrm>
          <a:prstGeom prst="rect">
            <a:avLst/>
          </a:prstGeom>
          <a:noFill/>
          <a:ln/>
        </p:spPr>
        <p:txBody>
          <a:bodyPr wrap="square" lIns="25400" tIns="25400" rIns="25400" bIns="25400" rtlCol="0" anchor="t">
            <a:normAutofit fontScale="92500"/>
          </a:bodyPr>
          <a:lstStyle/>
          <a:p>
            <a:pPr marL="0" indent="0" algn="l">
              <a:lnSpc>
                <a:spcPct val="135000"/>
              </a:lnSpc>
              <a:buNone/>
            </a:pPr>
            <a:r>
              <a:rPr lang="en-US" sz="3000" dirty="0">
                <a:solidFill>
                  <a:srgbClr val="1A1A1A"/>
                </a:solidFill>
                <a:latin typeface="Helvetica" pitchFamily="34" charset="0"/>
                <a:ea typeface="Helvetica" pitchFamily="34" charset="-122"/>
                <a:cs typeface="Helvetica" pitchFamily="34" charset="-120"/>
              </a:rPr>
              <a:t>Do you watch the World Cup or other big sporting events? Who do you support?</a:t>
            </a:r>
            <a:endParaRPr lang="en-US" sz="3000" dirty="0"/>
          </a:p>
        </p:txBody>
      </p:sp>
      <p:sp>
        <p:nvSpPr>
          <p:cNvPr id="9" name="Text 7"/>
          <p:cNvSpPr/>
          <p:nvPr/>
        </p:nvSpPr>
        <p:spPr>
          <a:xfrm>
            <a:off x="1047750" y="4735830"/>
            <a:ext cx="459343" cy="65532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5400" b="1" dirty="0">
                <a:solidFill>
                  <a:srgbClr val="D9B877"/>
                </a:solidFill>
                <a:latin typeface="Georgia" pitchFamily="34" charset="0"/>
                <a:ea typeface="Georgia" pitchFamily="34" charset="-122"/>
                <a:cs typeface="Georgia" pitchFamily="34" charset="-120"/>
              </a:rPr>
              <a:t>2</a:t>
            </a:r>
            <a:endParaRPr lang="en-US" sz="5400" dirty="0"/>
          </a:p>
        </p:txBody>
      </p:sp>
      <p:sp>
        <p:nvSpPr>
          <p:cNvPr id="10" name="Text 8"/>
          <p:cNvSpPr/>
          <p:nvPr/>
        </p:nvSpPr>
        <p:spPr>
          <a:xfrm>
            <a:off x="1754743" y="4792980"/>
            <a:ext cx="9365706" cy="552450"/>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3000" dirty="0">
                <a:solidFill>
                  <a:srgbClr val="1A1A1A"/>
                </a:solidFill>
                <a:latin typeface="Helvetica" pitchFamily="34" charset="0"/>
                <a:ea typeface="Helvetica" pitchFamily="34" charset="-122"/>
                <a:cs typeface="Helvetica" pitchFamily="34" charset="-120"/>
              </a:rPr>
              <a:t>Why do you think sport can bring people together?</a:t>
            </a:r>
            <a:endParaRPr lang="en-US" sz="3000" dirty="0"/>
          </a:p>
        </p:txBody>
      </p:sp>
      <p:sp>
        <p:nvSpPr>
          <p:cNvPr id="11" name="Text 9"/>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4045744"/>
            <a:ext cx="8539163"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BEFORE YOU READ</a:t>
            </a:r>
            <a:endParaRPr lang="en-US" sz="1500" dirty="0"/>
          </a:p>
        </p:txBody>
      </p:sp>
      <p:sp>
        <p:nvSpPr>
          <p:cNvPr id="6" name="Text 4"/>
          <p:cNvSpPr/>
          <p:nvPr/>
        </p:nvSpPr>
        <p:spPr>
          <a:xfrm>
            <a:off x="1047750" y="4381024"/>
            <a:ext cx="8539163" cy="59817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200" b="1" dirty="0">
                <a:solidFill>
                  <a:srgbClr val="1A2A5E"/>
                </a:solidFill>
                <a:latin typeface="Georgia" pitchFamily="34" charset="0"/>
                <a:ea typeface="Georgia" pitchFamily="34" charset="-122"/>
                <a:cs typeface="Georgia" pitchFamily="34" charset="-120"/>
              </a:rPr>
              <a:t>Look and predict</a:t>
            </a:r>
            <a:endParaRPr lang="en-US" sz="4200" dirty="0"/>
          </a:p>
        </p:txBody>
      </p:sp>
      <p:sp>
        <p:nvSpPr>
          <p:cNvPr id="7" name="Text 5"/>
          <p:cNvSpPr/>
          <p:nvPr/>
        </p:nvSpPr>
        <p:spPr>
          <a:xfrm>
            <a:off x="1047750" y="5264944"/>
            <a:ext cx="8539163" cy="452438"/>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250" dirty="0">
                <a:solidFill>
                  <a:srgbClr val="333333"/>
                </a:solidFill>
                <a:latin typeface="Helvetica" pitchFamily="34" charset="0"/>
                <a:ea typeface="Helvetica" pitchFamily="34" charset="-122"/>
                <a:cs typeface="Helvetica" pitchFamily="34" charset="-120"/>
              </a:rPr>
              <a:t>The article is called </a:t>
            </a:r>
            <a:r>
              <a:rPr lang="en-US" sz="2250" b="1" dirty="0">
                <a:solidFill>
                  <a:srgbClr val="1A2A5E"/>
                </a:solidFill>
                <a:latin typeface="Helvetica" pitchFamily="34" charset="0"/>
                <a:ea typeface="Helvetica" pitchFamily="34" charset="-122"/>
                <a:cs typeface="Helvetica" pitchFamily="34" charset="-120"/>
              </a:rPr>
              <a:t>“The World Cup.”</a:t>
            </a:r>
            <a:endParaRPr lang="en-US" sz="2250" dirty="0"/>
          </a:p>
        </p:txBody>
      </p:sp>
      <p:sp>
        <p:nvSpPr>
          <p:cNvPr id="8" name="Text 6"/>
          <p:cNvSpPr/>
          <p:nvPr/>
        </p:nvSpPr>
        <p:spPr>
          <a:xfrm>
            <a:off x="1047750" y="5869781"/>
            <a:ext cx="7995761" cy="866775"/>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250" dirty="0">
                <a:solidFill>
                  <a:srgbClr val="333333"/>
                </a:solidFill>
                <a:latin typeface="Helvetica" pitchFamily="34" charset="0"/>
                <a:ea typeface="Helvetica" pitchFamily="34" charset="-122"/>
                <a:cs typeface="Helvetica" pitchFamily="34" charset="-120"/>
              </a:rPr>
              <a:t>Looking at the photo and title, what problem do you think it describes? What might be the causes?</a:t>
            </a:r>
            <a:endParaRPr lang="en-US" sz="2250" dirty="0"/>
          </a:p>
        </p:txBody>
      </p:sp>
      <p:sp>
        <p:nvSpPr>
          <p:cNvPr id="9" name="Shape 7"/>
          <p:cNvSpPr/>
          <p:nvPr/>
        </p:nvSpPr>
        <p:spPr>
          <a:xfrm>
            <a:off x="9477375" y="2548890"/>
            <a:ext cx="7762875" cy="5334000"/>
          </a:xfrm>
          <a:prstGeom prst="rect">
            <a:avLst/>
          </a:prstGeom>
          <a:ln w="7620">
            <a:solidFill>
              <a:srgbClr val="D8D6D0"/>
            </a:solidFill>
            <a:prstDash val="solid"/>
          </a:ln>
        </p:spPr>
        <p:txBody>
          <a:bodyPr/>
          <a:lstStyle/>
          <a:p>
            <a:endParaRPr lang="en-US"/>
          </a:p>
        </p:txBody>
      </p:sp>
      <p:pic>
        <p:nvPicPr>
          <p:cNvPr id="10" name="Image 0" descr="preencoded.png"/>
          <p:cNvPicPr>
            <a:picLocks noChangeAspect="1"/>
          </p:cNvPicPr>
          <p:nvPr/>
        </p:nvPicPr>
        <p:blipFill>
          <a:blip r:embed="rId3"/>
          <a:srcRect l="1445" r="1445"/>
          <a:stretch/>
        </p:blipFill>
        <p:spPr>
          <a:xfrm>
            <a:off x="9484995" y="2556510"/>
            <a:ext cx="7747635" cy="5318760"/>
          </a:xfrm>
          <a:prstGeom prst="rect">
            <a:avLst/>
          </a:prstGeom>
        </p:spPr>
      </p:pic>
      <p:sp>
        <p:nvSpPr>
          <p:cNvPr id="11" name="Text 8"/>
          <p:cNvSpPr/>
          <p:nvPr/>
        </p:nvSpPr>
        <p:spPr>
          <a:xfrm>
            <a:off x="9477375" y="7997190"/>
            <a:ext cx="8539163" cy="236220"/>
          </a:xfrm>
          <a:prstGeom prst="rect">
            <a:avLst/>
          </a:prstGeom>
          <a:noFill/>
          <a:ln/>
        </p:spPr>
        <p:txBody>
          <a:bodyPr wrap="square" lIns="25400" tIns="25400" rIns="25400" bIns="25400" rtlCol="0" anchor="t">
            <a:normAutofit lnSpcReduction="10000"/>
          </a:bodyPr>
          <a:lstStyle/>
          <a:p>
            <a:pPr marL="0" indent="0" algn="l">
              <a:buNone/>
            </a:pPr>
            <a:r>
              <a:rPr lang="en-US" sz="1350" i="1" dirty="0">
                <a:solidFill>
                  <a:srgbClr val="666666"/>
                </a:solidFill>
                <a:latin typeface="Helvetica" pitchFamily="34" charset="0"/>
                <a:ea typeface="Helvetica" pitchFamily="34" charset="-122"/>
                <a:cs typeface="Helvetica" pitchFamily="34" charset="-120"/>
              </a:rPr>
              <a:t>Fans celebrate as the World Cup trophy is lifted in front of a packed stadium.</a:t>
            </a:r>
            <a:endParaRPr lang="en-US" sz="1350" dirty="0"/>
          </a:p>
        </p:txBody>
      </p:sp>
      <p:sp>
        <p:nvSpPr>
          <p:cNvPr id="12" name="Text 9"/>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50495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VOCABULARY</a:t>
            </a:r>
            <a:endParaRPr lang="en-US" sz="1500" dirty="0"/>
          </a:p>
        </p:txBody>
      </p:sp>
      <p:sp>
        <p:nvSpPr>
          <p:cNvPr id="6" name="Text 4"/>
          <p:cNvSpPr/>
          <p:nvPr/>
        </p:nvSpPr>
        <p:spPr>
          <a:xfrm>
            <a:off x="1047750" y="1821180"/>
            <a:ext cx="17811750" cy="624840"/>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1A2A5E"/>
                </a:solidFill>
                <a:latin typeface="Georgia" pitchFamily="34" charset="0"/>
                <a:ea typeface="Georgia" pitchFamily="34" charset="-122"/>
                <a:cs typeface="Georgia" pitchFamily="34" charset="-120"/>
              </a:rPr>
              <a:t>Match the words to their meanings</a:t>
            </a:r>
            <a:endParaRPr lang="en-US" sz="4050" dirty="0"/>
          </a:p>
        </p:txBody>
      </p:sp>
      <p:sp>
        <p:nvSpPr>
          <p:cNvPr id="7" name="Text 5"/>
          <p:cNvSpPr/>
          <p:nvPr/>
        </p:nvSpPr>
        <p:spPr>
          <a:xfrm>
            <a:off x="1047750" y="2827020"/>
            <a:ext cx="400050" cy="38862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D9B877"/>
                </a:solidFill>
                <a:latin typeface="Georgia" pitchFamily="34" charset="0"/>
                <a:ea typeface="Georgia" pitchFamily="34" charset="-122"/>
                <a:cs typeface="Georgia" pitchFamily="34" charset="-120"/>
              </a:rPr>
              <a:t>1</a:t>
            </a:r>
            <a:endParaRPr lang="en-US" sz="2400" dirty="0"/>
          </a:p>
        </p:txBody>
      </p:sp>
      <p:sp>
        <p:nvSpPr>
          <p:cNvPr id="8" name="Text 6"/>
          <p:cNvSpPr/>
          <p:nvPr/>
        </p:nvSpPr>
        <p:spPr>
          <a:xfrm>
            <a:off x="1524000" y="2834640"/>
            <a:ext cx="1528405"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spectacle</a:t>
            </a:r>
            <a:endParaRPr lang="en-US" sz="2400" dirty="0"/>
          </a:p>
        </p:txBody>
      </p:sp>
      <p:sp>
        <p:nvSpPr>
          <p:cNvPr id="9" name="Text 7"/>
          <p:cNvSpPr/>
          <p:nvPr/>
        </p:nvSpPr>
        <p:spPr>
          <a:xfrm>
            <a:off x="1047750" y="3368040"/>
            <a:ext cx="400050" cy="38862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D9B877"/>
                </a:solidFill>
                <a:latin typeface="Georgia" pitchFamily="34" charset="0"/>
                <a:ea typeface="Georgia" pitchFamily="34" charset="-122"/>
                <a:cs typeface="Georgia" pitchFamily="34" charset="-120"/>
              </a:rPr>
              <a:t>2</a:t>
            </a:r>
            <a:endParaRPr lang="en-US" sz="2400" dirty="0"/>
          </a:p>
        </p:txBody>
      </p:sp>
      <p:sp>
        <p:nvSpPr>
          <p:cNvPr id="10" name="Text 8"/>
          <p:cNvSpPr/>
          <p:nvPr/>
        </p:nvSpPr>
        <p:spPr>
          <a:xfrm>
            <a:off x="1524000" y="3375660"/>
            <a:ext cx="1844040"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tournament</a:t>
            </a:r>
            <a:endParaRPr lang="en-US" sz="2400" dirty="0"/>
          </a:p>
        </p:txBody>
      </p:sp>
      <p:sp>
        <p:nvSpPr>
          <p:cNvPr id="11" name="Text 9"/>
          <p:cNvSpPr/>
          <p:nvPr/>
        </p:nvSpPr>
        <p:spPr>
          <a:xfrm>
            <a:off x="1047750" y="3909060"/>
            <a:ext cx="400050" cy="38862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D9B877"/>
                </a:solidFill>
                <a:latin typeface="Georgia" pitchFamily="34" charset="0"/>
                <a:ea typeface="Georgia" pitchFamily="34" charset="-122"/>
                <a:cs typeface="Georgia" pitchFamily="34" charset="-120"/>
              </a:rPr>
              <a:t>3</a:t>
            </a:r>
            <a:endParaRPr lang="en-US" sz="2400" dirty="0"/>
          </a:p>
        </p:txBody>
      </p:sp>
      <p:sp>
        <p:nvSpPr>
          <p:cNvPr id="12" name="Text 10"/>
          <p:cNvSpPr/>
          <p:nvPr/>
        </p:nvSpPr>
        <p:spPr>
          <a:xfrm>
            <a:off x="1524000" y="3916680"/>
            <a:ext cx="991433"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rivalry</a:t>
            </a:r>
            <a:endParaRPr lang="en-US" sz="2400" dirty="0"/>
          </a:p>
        </p:txBody>
      </p:sp>
      <p:sp>
        <p:nvSpPr>
          <p:cNvPr id="13" name="Text 11"/>
          <p:cNvSpPr/>
          <p:nvPr/>
        </p:nvSpPr>
        <p:spPr>
          <a:xfrm>
            <a:off x="1047750" y="4450080"/>
            <a:ext cx="400050" cy="38862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D9B877"/>
                </a:solidFill>
                <a:latin typeface="Georgia" pitchFamily="34" charset="0"/>
                <a:ea typeface="Georgia" pitchFamily="34" charset="-122"/>
                <a:cs typeface="Georgia" pitchFamily="34" charset="-120"/>
              </a:rPr>
              <a:t>4</a:t>
            </a:r>
            <a:endParaRPr lang="en-US" sz="2400" dirty="0"/>
          </a:p>
        </p:txBody>
      </p:sp>
      <p:sp>
        <p:nvSpPr>
          <p:cNvPr id="14" name="Text 12"/>
          <p:cNvSpPr/>
          <p:nvPr/>
        </p:nvSpPr>
        <p:spPr>
          <a:xfrm>
            <a:off x="1524000" y="4457700"/>
            <a:ext cx="719614"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host</a:t>
            </a:r>
            <a:endParaRPr lang="en-US" sz="2400" dirty="0"/>
          </a:p>
        </p:txBody>
      </p:sp>
      <p:sp>
        <p:nvSpPr>
          <p:cNvPr id="15" name="Text 13"/>
          <p:cNvSpPr/>
          <p:nvPr/>
        </p:nvSpPr>
        <p:spPr>
          <a:xfrm>
            <a:off x="1047750" y="4991100"/>
            <a:ext cx="400050" cy="38862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D9B877"/>
                </a:solidFill>
                <a:latin typeface="Georgia" pitchFamily="34" charset="0"/>
                <a:ea typeface="Georgia" pitchFamily="34" charset="-122"/>
                <a:cs typeface="Georgia" pitchFamily="34" charset="-120"/>
              </a:rPr>
              <a:t>5</a:t>
            </a:r>
            <a:endParaRPr lang="en-US" sz="2400" dirty="0"/>
          </a:p>
        </p:txBody>
      </p:sp>
      <p:sp>
        <p:nvSpPr>
          <p:cNvPr id="16" name="Text 14"/>
          <p:cNvSpPr/>
          <p:nvPr/>
        </p:nvSpPr>
        <p:spPr>
          <a:xfrm>
            <a:off x="1524000" y="4998720"/>
            <a:ext cx="1025128" cy="381000"/>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1A2A5E"/>
                </a:solidFill>
                <a:latin typeface="Helvetica" pitchFamily="34" charset="0"/>
                <a:ea typeface="Helvetica" pitchFamily="34" charset="-122"/>
                <a:cs typeface="Helvetica" pitchFamily="34" charset="-120"/>
              </a:rPr>
              <a:t>legacy</a:t>
            </a:r>
            <a:endParaRPr lang="en-US" sz="2400" dirty="0"/>
          </a:p>
        </p:txBody>
      </p:sp>
      <p:sp>
        <p:nvSpPr>
          <p:cNvPr id="17" name="Text 15"/>
          <p:cNvSpPr/>
          <p:nvPr/>
        </p:nvSpPr>
        <p:spPr>
          <a:xfrm>
            <a:off x="7924800" y="2827020"/>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A</a:t>
            </a:r>
            <a:endParaRPr lang="en-US" sz="1950" dirty="0"/>
          </a:p>
        </p:txBody>
      </p:sp>
      <p:sp>
        <p:nvSpPr>
          <p:cNvPr id="18" name="Text 16"/>
          <p:cNvSpPr/>
          <p:nvPr/>
        </p:nvSpPr>
        <p:spPr>
          <a:xfrm>
            <a:off x="8401050" y="2849880"/>
            <a:ext cx="4717494" cy="372428"/>
          </a:xfrm>
          <a:prstGeom prst="rect">
            <a:avLst/>
          </a:prstGeom>
          <a:noFill/>
          <a:ln/>
        </p:spPr>
        <p:txBody>
          <a:bodyPr wrap="square" lIns="25400" tIns="25400" rIns="25400" bIns="25400" rtlCol="0" anchor="t">
            <a:normAutofit lnSpcReduction="10000"/>
          </a:bodyPr>
          <a:lstStyle/>
          <a:p>
            <a:pPr marL="0" indent="0" algn="l">
              <a:lnSpc>
                <a:spcPct val="112500"/>
              </a:lnSpc>
              <a:buNone/>
            </a:pPr>
            <a:r>
              <a:rPr lang="en-US" sz="2025" dirty="0">
                <a:solidFill>
                  <a:srgbClr val="222222"/>
                </a:solidFill>
                <a:latin typeface="Helvetica" pitchFamily="34" charset="0"/>
                <a:ea typeface="Helvetica" pitchFamily="34" charset="-122"/>
                <a:cs typeface="Helvetica" pitchFamily="34" charset="-120"/>
              </a:rPr>
              <a:t>strong competition between two sides</a:t>
            </a:r>
            <a:endParaRPr lang="en-US" sz="2025" dirty="0"/>
          </a:p>
        </p:txBody>
      </p:sp>
      <p:sp>
        <p:nvSpPr>
          <p:cNvPr id="19" name="Text 17"/>
          <p:cNvSpPr/>
          <p:nvPr/>
        </p:nvSpPr>
        <p:spPr>
          <a:xfrm>
            <a:off x="7924800" y="3374708"/>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B</a:t>
            </a:r>
            <a:endParaRPr lang="en-US" sz="1950" dirty="0"/>
          </a:p>
        </p:txBody>
      </p:sp>
      <p:sp>
        <p:nvSpPr>
          <p:cNvPr id="20" name="Text 18"/>
          <p:cNvSpPr/>
          <p:nvPr/>
        </p:nvSpPr>
        <p:spPr>
          <a:xfrm>
            <a:off x="8401050" y="3397568"/>
            <a:ext cx="3900119" cy="372428"/>
          </a:xfrm>
          <a:prstGeom prst="rect">
            <a:avLst/>
          </a:prstGeom>
          <a:noFill/>
          <a:ln/>
        </p:spPr>
        <p:txBody>
          <a:bodyPr wrap="square" lIns="25400" tIns="25400" rIns="25400" bIns="25400" rtlCol="0" anchor="t">
            <a:normAutofit lnSpcReduction="10000"/>
          </a:bodyPr>
          <a:lstStyle/>
          <a:p>
            <a:pPr marL="0" indent="0" algn="l">
              <a:lnSpc>
                <a:spcPct val="112500"/>
              </a:lnSpc>
              <a:buNone/>
            </a:pPr>
            <a:r>
              <a:rPr lang="en-US" sz="2025" dirty="0">
                <a:solidFill>
                  <a:srgbClr val="222222"/>
                </a:solidFill>
                <a:latin typeface="Helvetica" pitchFamily="34" charset="0"/>
                <a:ea typeface="Helvetica" pitchFamily="34" charset="-122"/>
                <a:cs typeface="Helvetica" pitchFamily="34" charset="-120"/>
              </a:rPr>
              <a:t>something left behind that lasts</a:t>
            </a:r>
            <a:endParaRPr lang="en-US" sz="2025" dirty="0"/>
          </a:p>
        </p:txBody>
      </p:sp>
      <p:sp>
        <p:nvSpPr>
          <p:cNvPr id="21" name="Text 19"/>
          <p:cNvSpPr/>
          <p:nvPr/>
        </p:nvSpPr>
        <p:spPr>
          <a:xfrm>
            <a:off x="7924800" y="3922395"/>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C</a:t>
            </a:r>
            <a:endParaRPr lang="en-US" sz="1950" dirty="0"/>
          </a:p>
        </p:txBody>
      </p:sp>
      <p:sp>
        <p:nvSpPr>
          <p:cNvPr id="22" name="Text 20"/>
          <p:cNvSpPr/>
          <p:nvPr/>
        </p:nvSpPr>
        <p:spPr>
          <a:xfrm>
            <a:off x="8401050" y="3945255"/>
            <a:ext cx="5141440" cy="372428"/>
          </a:xfrm>
          <a:prstGeom prst="rect">
            <a:avLst/>
          </a:prstGeom>
          <a:noFill/>
          <a:ln/>
        </p:spPr>
        <p:txBody>
          <a:bodyPr wrap="square" lIns="25400" tIns="25400" rIns="25400" bIns="25400" rtlCol="0" anchor="t">
            <a:normAutofit lnSpcReduction="10000"/>
          </a:bodyPr>
          <a:lstStyle/>
          <a:p>
            <a:pPr marL="0" indent="0" algn="l">
              <a:lnSpc>
                <a:spcPct val="112500"/>
              </a:lnSpc>
              <a:buNone/>
            </a:pPr>
            <a:r>
              <a:rPr lang="en-US" sz="2025" dirty="0">
                <a:solidFill>
                  <a:srgbClr val="222222"/>
                </a:solidFill>
                <a:latin typeface="Helvetica" pitchFamily="34" charset="0"/>
                <a:ea typeface="Helvetica" pitchFamily="34" charset="-122"/>
                <a:cs typeface="Helvetica" pitchFamily="34" charset="-120"/>
              </a:rPr>
              <a:t>a competition with many teams or games</a:t>
            </a:r>
            <a:endParaRPr lang="en-US" sz="2025" dirty="0"/>
          </a:p>
        </p:txBody>
      </p:sp>
      <p:sp>
        <p:nvSpPr>
          <p:cNvPr id="23" name="Text 21"/>
          <p:cNvSpPr/>
          <p:nvPr/>
        </p:nvSpPr>
        <p:spPr>
          <a:xfrm>
            <a:off x="7924800" y="4470083"/>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D</a:t>
            </a:r>
            <a:endParaRPr lang="en-US" sz="1950" dirty="0"/>
          </a:p>
        </p:txBody>
      </p:sp>
      <p:sp>
        <p:nvSpPr>
          <p:cNvPr id="24" name="Text 22"/>
          <p:cNvSpPr/>
          <p:nvPr/>
        </p:nvSpPr>
        <p:spPr>
          <a:xfrm>
            <a:off x="8401050" y="4492943"/>
            <a:ext cx="3727632" cy="372428"/>
          </a:xfrm>
          <a:prstGeom prst="rect">
            <a:avLst/>
          </a:prstGeom>
          <a:noFill/>
          <a:ln/>
        </p:spPr>
        <p:txBody>
          <a:bodyPr wrap="square" lIns="25400" tIns="25400" rIns="25400" bIns="25400" rtlCol="0" anchor="t">
            <a:normAutofit lnSpcReduction="10000"/>
          </a:bodyPr>
          <a:lstStyle/>
          <a:p>
            <a:pPr marL="0" indent="0" algn="l">
              <a:lnSpc>
                <a:spcPct val="112500"/>
              </a:lnSpc>
              <a:buNone/>
            </a:pPr>
            <a:r>
              <a:rPr lang="en-US" sz="2025" dirty="0">
                <a:solidFill>
                  <a:srgbClr val="222222"/>
                </a:solidFill>
                <a:latin typeface="Helvetica" pitchFamily="34" charset="0"/>
                <a:ea typeface="Helvetica" pitchFamily="34" charset="-122"/>
                <a:cs typeface="Helvetica" pitchFamily="34" charset="-120"/>
              </a:rPr>
              <a:t>to hold and organize an event</a:t>
            </a:r>
            <a:endParaRPr lang="en-US" sz="2025" dirty="0"/>
          </a:p>
        </p:txBody>
      </p:sp>
      <p:sp>
        <p:nvSpPr>
          <p:cNvPr id="25" name="Text 23"/>
          <p:cNvSpPr/>
          <p:nvPr/>
        </p:nvSpPr>
        <p:spPr>
          <a:xfrm>
            <a:off x="7924800" y="5017770"/>
            <a:ext cx="400050" cy="388620"/>
          </a:xfrm>
          <a:prstGeom prst="rect">
            <a:avLst/>
          </a:prstGeom>
          <a:noFill/>
          <a:ln/>
        </p:spPr>
        <p:txBody>
          <a:bodyPr wrap="square" lIns="25400" tIns="25400" rIns="25400" bIns="25400" rtlCol="0" anchor="t">
            <a:normAutofit/>
          </a:bodyPr>
          <a:lstStyle/>
          <a:p>
            <a:pPr marL="0" indent="0" algn="l">
              <a:buNone/>
            </a:pPr>
            <a:r>
              <a:rPr lang="en-US" sz="1950" b="1" dirty="0">
                <a:solidFill>
                  <a:srgbClr val="BF842C"/>
                </a:solidFill>
                <a:latin typeface="Helvetica" pitchFamily="34" charset="0"/>
                <a:ea typeface="Helvetica" pitchFamily="34" charset="-122"/>
                <a:cs typeface="Helvetica" pitchFamily="34" charset="-120"/>
              </a:rPr>
              <a:t>E</a:t>
            </a:r>
            <a:endParaRPr lang="en-US" sz="1950" dirty="0"/>
          </a:p>
        </p:txBody>
      </p:sp>
      <p:sp>
        <p:nvSpPr>
          <p:cNvPr id="26" name="Text 24"/>
          <p:cNvSpPr/>
          <p:nvPr/>
        </p:nvSpPr>
        <p:spPr>
          <a:xfrm>
            <a:off x="8401050" y="5040630"/>
            <a:ext cx="4308217" cy="372428"/>
          </a:xfrm>
          <a:prstGeom prst="rect">
            <a:avLst/>
          </a:prstGeom>
          <a:noFill/>
          <a:ln/>
        </p:spPr>
        <p:txBody>
          <a:bodyPr wrap="square" lIns="25400" tIns="25400" rIns="25400" bIns="25400" rtlCol="0" anchor="t">
            <a:normAutofit lnSpcReduction="10000"/>
          </a:bodyPr>
          <a:lstStyle/>
          <a:p>
            <a:pPr marL="0" indent="0" algn="l">
              <a:lnSpc>
                <a:spcPct val="112500"/>
              </a:lnSpc>
              <a:buNone/>
            </a:pPr>
            <a:r>
              <a:rPr lang="en-US" sz="2025" dirty="0">
                <a:solidFill>
                  <a:srgbClr val="222222"/>
                </a:solidFill>
                <a:latin typeface="Helvetica" pitchFamily="34" charset="0"/>
                <a:ea typeface="Helvetica" pitchFamily="34" charset="-122"/>
                <a:cs typeface="Helvetica" pitchFamily="34" charset="-120"/>
              </a:rPr>
              <a:t>an impressive public show or sight</a:t>
            </a:r>
            <a:endParaRPr lang="en-US" sz="2025" dirty="0"/>
          </a:p>
        </p:txBody>
      </p:sp>
      <p:sp>
        <p:nvSpPr>
          <p:cNvPr id="27" name="Text 25"/>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676400"/>
            <a:ext cx="1889879"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VOCABULARY</a:t>
            </a:r>
            <a:endParaRPr lang="en-US" sz="1500" dirty="0"/>
          </a:p>
        </p:txBody>
      </p:sp>
      <p:sp>
        <p:nvSpPr>
          <p:cNvPr id="6" name="Shape 4"/>
          <p:cNvSpPr/>
          <p:nvPr/>
        </p:nvSpPr>
        <p:spPr>
          <a:xfrm>
            <a:off x="2975372" y="1581150"/>
            <a:ext cx="1601272" cy="388620"/>
          </a:xfrm>
          <a:prstGeom prst="rect">
            <a:avLst/>
          </a:prstGeom>
          <a:solidFill>
            <a:srgbClr val="1A2A5E"/>
          </a:solidFill>
          <a:ln/>
        </p:spPr>
        <p:txBody>
          <a:bodyPr/>
          <a:lstStyle/>
          <a:p>
            <a:endParaRPr lang="en-US"/>
          </a:p>
        </p:txBody>
      </p:sp>
      <p:sp>
        <p:nvSpPr>
          <p:cNvPr id="7" name="Text 5"/>
          <p:cNvSpPr/>
          <p:nvPr/>
        </p:nvSpPr>
        <p:spPr>
          <a:xfrm>
            <a:off x="3146822" y="1638300"/>
            <a:ext cx="1334572" cy="312420"/>
          </a:xfrm>
          <a:prstGeom prst="rect">
            <a:avLst/>
          </a:prstGeom>
          <a:noFill/>
          <a:ln/>
        </p:spPr>
        <p:txBody>
          <a:bodyPr wrap="square" lIns="25400" tIns="25400" rIns="25400" bIns="25400" rtlCol="0" anchor="t">
            <a:normAutofit/>
          </a:bodyPr>
          <a:lstStyle/>
          <a:p>
            <a:pPr marL="0" indent="0" algn="l">
              <a:buNone/>
            </a:pPr>
            <a:r>
              <a:rPr lang="en-US" sz="1500" b="1" kern="0" spc="225" dirty="0">
                <a:solidFill>
                  <a:srgbClr val="FFFFFF"/>
                </a:solidFill>
                <a:latin typeface="Helvetica" pitchFamily="34" charset="0"/>
                <a:ea typeface="Helvetica" pitchFamily="34" charset="-122"/>
                <a:cs typeface="Helvetica" pitchFamily="34" charset="-120"/>
              </a:rPr>
              <a:t>ANSWERS</a:t>
            </a:r>
            <a:endParaRPr lang="en-US" sz="1500" dirty="0"/>
          </a:p>
        </p:txBody>
      </p:sp>
      <p:sp>
        <p:nvSpPr>
          <p:cNvPr id="8" name="Text 6"/>
          <p:cNvSpPr/>
          <p:nvPr/>
        </p:nvSpPr>
        <p:spPr>
          <a:xfrm>
            <a:off x="1047750" y="2103120"/>
            <a:ext cx="17811750" cy="640080"/>
          </a:xfrm>
          <a:prstGeom prst="rect">
            <a:avLst/>
          </a:prstGeom>
          <a:noFill/>
          <a:ln/>
        </p:spPr>
        <p:txBody>
          <a:bodyPr wrap="square" lIns="25400" tIns="25400" rIns="25400" bIns="25400" rtlCol="0" anchor="t">
            <a:normAutofit lnSpcReduction="10000"/>
          </a:bodyPr>
          <a:lstStyle/>
          <a:p>
            <a:pPr marL="0" indent="0" algn="l">
              <a:buNone/>
            </a:pPr>
            <a:r>
              <a:rPr lang="en-US" sz="4200" b="1" dirty="0">
                <a:solidFill>
                  <a:srgbClr val="1A2A5E"/>
                </a:solidFill>
                <a:latin typeface="Georgia" pitchFamily="34" charset="0"/>
                <a:ea typeface="Georgia" pitchFamily="34" charset="-122"/>
                <a:cs typeface="Georgia" pitchFamily="34" charset="-120"/>
              </a:rPr>
              <a:t>How did you do?</a:t>
            </a:r>
            <a:endParaRPr lang="en-US" sz="4200" dirty="0"/>
          </a:p>
        </p:txBody>
      </p:sp>
      <p:sp>
        <p:nvSpPr>
          <p:cNvPr id="9" name="Shape 7"/>
          <p:cNvSpPr/>
          <p:nvPr/>
        </p:nvSpPr>
        <p:spPr>
          <a:xfrm>
            <a:off x="1047750" y="3276600"/>
            <a:ext cx="2857500" cy="883920"/>
          </a:xfrm>
          <a:prstGeom prst="rect">
            <a:avLst/>
          </a:prstGeom>
          <a:ln w="15240">
            <a:solidFill>
              <a:srgbClr val="1A2A5E"/>
            </a:solidFill>
            <a:prstDash val="solid"/>
          </a:ln>
        </p:spPr>
        <p:txBody>
          <a:bodyPr/>
          <a:lstStyle/>
          <a:p>
            <a:endParaRPr lang="en-US"/>
          </a:p>
        </p:txBody>
      </p:sp>
      <p:sp>
        <p:nvSpPr>
          <p:cNvPr id="10" name="Text 8"/>
          <p:cNvSpPr/>
          <p:nvPr/>
        </p:nvSpPr>
        <p:spPr>
          <a:xfrm>
            <a:off x="1386840" y="3501390"/>
            <a:ext cx="2265045" cy="472440"/>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D9B877"/>
                </a:solidFill>
                <a:latin typeface="Georgia" pitchFamily="34" charset="0"/>
                <a:ea typeface="Georgia" pitchFamily="34" charset="-122"/>
                <a:cs typeface="Georgia" pitchFamily="34" charset="-120"/>
              </a:rPr>
              <a:t>1–E </a:t>
            </a:r>
            <a:r>
              <a:rPr lang="en-US" sz="2250" b="1" dirty="0">
                <a:solidFill>
                  <a:srgbClr val="1A2A5E"/>
                </a:solidFill>
                <a:latin typeface="Helvetica" pitchFamily="34" charset="0"/>
                <a:ea typeface="Helvetica" pitchFamily="34" charset="-122"/>
                <a:cs typeface="Helvetica" pitchFamily="34" charset="-120"/>
              </a:rPr>
              <a:t>spectacle</a:t>
            </a:r>
            <a:endParaRPr lang="en-US" sz="1200" dirty="0"/>
          </a:p>
        </p:txBody>
      </p:sp>
      <p:sp>
        <p:nvSpPr>
          <p:cNvPr id="11" name="Shape 9"/>
          <p:cNvSpPr/>
          <p:nvPr/>
        </p:nvSpPr>
        <p:spPr>
          <a:xfrm>
            <a:off x="4152900" y="3276600"/>
            <a:ext cx="3123724" cy="883920"/>
          </a:xfrm>
          <a:prstGeom prst="rect">
            <a:avLst/>
          </a:prstGeom>
          <a:ln w="15240">
            <a:solidFill>
              <a:srgbClr val="1A2A5E"/>
            </a:solidFill>
            <a:prstDash val="solid"/>
          </a:ln>
        </p:spPr>
        <p:txBody>
          <a:bodyPr/>
          <a:lstStyle/>
          <a:p>
            <a:endParaRPr lang="en-US"/>
          </a:p>
        </p:txBody>
      </p:sp>
      <p:sp>
        <p:nvSpPr>
          <p:cNvPr id="12" name="Text 10"/>
          <p:cNvSpPr/>
          <p:nvPr/>
        </p:nvSpPr>
        <p:spPr>
          <a:xfrm>
            <a:off x="4491990" y="3501390"/>
            <a:ext cx="2539256" cy="472440"/>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D9B877"/>
                </a:solidFill>
                <a:latin typeface="Georgia" pitchFamily="34" charset="0"/>
                <a:ea typeface="Georgia" pitchFamily="34" charset="-122"/>
                <a:cs typeface="Georgia" pitchFamily="34" charset="-120"/>
              </a:rPr>
              <a:t>2–C </a:t>
            </a:r>
            <a:r>
              <a:rPr lang="en-US" sz="2250" b="1" dirty="0">
                <a:solidFill>
                  <a:srgbClr val="1A2A5E"/>
                </a:solidFill>
                <a:latin typeface="Helvetica" pitchFamily="34" charset="0"/>
                <a:ea typeface="Helvetica" pitchFamily="34" charset="-122"/>
                <a:cs typeface="Helvetica" pitchFamily="34" charset="-120"/>
              </a:rPr>
              <a:t>tournament</a:t>
            </a:r>
            <a:endParaRPr lang="en-US" sz="1200" dirty="0"/>
          </a:p>
        </p:txBody>
      </p:sp>
      <p:sp>
        <p:nvSpPr>
          <p:cNvPr id="13" name="Shape 11"/>
          <p:cNvSpPr/>
          <p:nvPr/>
        </p:nvSpPr>
        <p:spPr>
          <a:xfrm>
            <a:off x="7524274" y="3276600"/>
            <a:ext cx="2857500" cy="883920"/>
          </a:xfrm>
          <a:prstGeom prst="rect">
            <a:avLst/>
          </a:prstGeom>
          <a:ln w="15240">
            <a:solidFill>
              <a:srgbClr val="1A2A5E"/>
            </a:solidFill>
            <a:prstDash val="solid"/>
          </a:ln>
        </p:spPr>
        <p:txBody>
          <a:bodyPr/>
          <a:lstStyle/>
          <a:p>
            <a:endParaRPr lang="en-US"/>
          </a:p>
        </p:txBody>
      </p:sp>
      <p:sp>
        <p:nvSpPr>
          <p:cNvPr id="14" name="Text 12"/>
          <p:cNvSpPr/>
          <p:nvPr/>
        </p:nvSpPr>
        <p:spPr>
          <a:xfrm>
            <a:off x="7863364" y="3501390"/>
            <a:ext cx="2265045" cy="472440"/>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D9B877"/>
                </a:solidFill>
                <a:latin typeface="Georgia" pitchFamily="34" charset="0"/>
                <a:ea typeface="Georgia" pitchFamily="34" charset="-122"/>
                <a:cs typeface="Georgia" pitchFamily="34" charset="-120"/>
              </a:rPr>
              <a:t>3–A </a:t>
            </a:r>
            <a:r>
              <a:rPr lang="en-US" sz="2250" b="1" dirty="0">
                <a:solidFill>
                  <a:srgbClr val="1A2A5E"/>
                </a:solidFill>
                <a:latin typeface="Helvetica" pitchFamily="34" charset="0"/>
                <a:ea typeface="Helvetica" pitchFamily="34" charset="-122"/>
                <a:cs typeface="Helvetica" pitchFamily="34" charset="-120"/>
              </a:rPr>
              <a:t>rivalry</a:t>
            </a:r>
            <a:endParaRPr lang="en-US" sz="1200" dirty="0"/>
          </a:p>
        </p:txBody>
      </p:sp>
      <p:sp>
        <p:nvSpPr>
          <p:cNvPr id="15" name="Shape 13"/>
          <p:cNvSpPr/>
          <p:nvPr/>
        </p:nvSpPr>
        <p:spPr>
          <a:xfrm>
            <a:off x="10629424" y="3276600"/>
            <a:ext cx="2857500" cy="883920"/>
          </a:xfrm>
          <a:prstGeom prst="rect">
            <a:avLst/>
          </a:prstGeom>
          <a:ln w="15240">
            <a:solidFill>
              <a:srgbClr val="1A2A5E"/>
            </a:solidFill>
            <a:prstDash val="solid"/>
          </a:ln>
        </p:spPr>
        <p:txBody>
          <a:bodyPr/>
          <a:lstStyle/>
          <a:p>
            <a:endParaRPr lang="en-US"/>
          </a:p>
        </p:txBody>
      </p:sp>
      <p:sp>
        <p:nvSpPr>
          <p:cNvPr id="16" name="Text 14"/>
          <p:cNvSpPr/>
          <p:nvPr/>
        </p:nvSpPr>
        <p:spPr>
          <a:xfrm>
            <a:off x="10968514" y="3501390"/>
            <a:ext cx="2265045" cy="472440"/>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D9B877"/>
                </a:solidFill>
                <a:latin typeface="Georgia" pitchFamily="34" charset="0"/>
                <a:ea typeface="Georgia" pitchFamily="34" charset="-122"/>
                <a:cs typeface="Georgia" pitchFamily="34" charset="-120"/>
              </a:rPr>
              <a:t>4–D </a:t>
            </a:r>
            <a:r>
              <a:rPr lang="en-US" sz="2250" b="1" dirty="0">
                <a:solidFill>
                  <a:srgbClr val="1A2A5E"/>
                </a:solidFill>
                <a:latin typeface="Helvetica" pitchFamily="34" charset="0"/>
                <a:ea typeface="Helvetica" pitchFamily="34" charset="-122"/>
                <a:cs typeface="Helvetica" pitchFamily="34" charset="-120"/>
              </a:rPr>
              <a:t>host</a:t>
            </a:r>
            <a:endParaRPr lang="en-US" sz="1200" dirty="0"/>
          </a:p>
        </p:txBody>
      </p:sp>
      <p:sp>
        <p:nvSpPr>
          <p:cNvPr id="17" name="Shape 15"/>
          <p:cNvSpPr/>
          <p:nvPr/>
        </p:nvSpPr>
        <p:spPr>
          <a:xfrm>
            <a:off x="13734574" y="3276600"/>
            <a:ext cx="2857500" cy="883920"/>
          </a:xfrm>
          <a:prstGeom prst="rect">
            <a:avLst/>
          </a:prstGeom>
          <a:ln w="15240">
            <a:solidFill>
              <a:srgbClr val="1A2A5E"/>
            </a:solidFill>
            <a:prstDash val="solid"/>
          </a:ln>
        </p:spPr>
        <p:txBody>
          <a:bodyPr/>
          <a:lstStyle/>
          <a:p>
            <a:endParaRPr lang="en-US"/>
          </a:p>
        </p:txBody>
      </p:sp>
      <p:sp>
        <p:nvSpPr>
          <p:cNvPr id="18" name="Text 16"/>
          <p:cNvSpPr/>
          <p:nvPr/>
        </p:nvSpPr>
        <p:spPr>
          <a:xfrm>
            <a:off x="14073664" y="3501390"/>
            <a:ext cx="2265045" cy="472440"/>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D9B877"/>
                </a:solidFill>
                <a:latin typeface="Georgia" pitchFamily="34" charset="0"/>
                <a:ea typeface="Georgia" pitchFamily="34" charset="-122"/>
                <a:cs typeface="Georgia" pitchFamily="34" charset="-120"/>
              </a:rPr>
              <a:t>5–B </a:t>
            </a:r>
            <a:r>
              <a:rPr lang="en-US" sz="2250" b="1" dirty="0">
                <a:solidFill>
                  <a:srgbClr val="1A2A5E"/>
                </a:solidFill>
                <a:latin typeface="Helvetica" pitchFamily="34" charset="0"/>
                <a:ea typeface="Helvetica" pitchFamily="34" charset="-122"/>
                <a:cs typeface="Helvetica" pitchFamily="34" charset="-120"/>
              </a:rPr>
              <a:t>legacy</a:t>
            </a:r>
            <a:endParaRPr lang="en-US" sz="1200" dirty="0"/>
          </a:p>
        </p:txBody>
      </p:sp>
      <p:sp>
        <p:nvSpPr>
          <p:cNvPr id="19" name="Text 17"/>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986790"/>
            <a:ext cx="16192500" cy="22860"/>
          </a:xfrm>
          <a:prstGeom prst="rect">
            <a:avLst/>
          </a:prstGeom>
          <a:solidFill>
            <a:srgbClr val="1A2A5E"/>
          </a:solidFill>
          <a:ln/>
        </p:spPr>
        <p:txBody>
          <a:bodyPr/>
          <a:lstStyle/>
          <a:p>
            <a:endParaRPr lang="en-US"/>
          </a:p>
        </p:txBody>
      </p:sp>
      <p:sp>
        <p:nvSpPr>
          <p:cNvPr id="3" name="Text 1"/>
          <p:cNvSpPr/>
          <p:nvPr/>
        </p:nvSpPr>
        <p:spPr>
          <a:xfrm>
            <a:off x="1047750" y="57150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60579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219200"/>
            <a:ext cx="17811750" cy="236220"/>
          </a:xfrm>
          <a:prstGeom prst="rect">
            <a:avLst/>
          </a:prstGeom>
          <a:noFill/>
          <a:ln/>
        </p:spPr>
        <p:txBody>
          <a:bodyPr wrap="square" lIns="25400" tIns="25400" rIns="25400" bIns="25400" rtlCol="0" anchor="t">
            <a:normAutofit lnSpcReduction="10000"/>
          </a:bodyPr>
          <a:lstStyle/>
          <a:p>
            <a:pPr marL="0" indent="0" algn="l">
              <a:buNone/>
            </a:pPr>
            <a:r>
              <a:rPr lang="en-US" sz="1350" b="1" kern="0" spc="300" dirty="0">
                <a:solidFill>
                  <a:srgbClr val="BF842C"/>
                </a:solidFill>
                <a:latin typeface="Helvetica" pitchFamily="34" charset="0"/>
                <a:ea typeface="Helvetica" pitchFamily="34" charset="-122"/>
                <a:cs typeface="Helvetica" pitchFamily="34" charset="-120"/>
              </a:rPr>
              <a:t>THE ARTICLE</a:t>
            </a:r>
            <a:endParaRPr lang="en-US" sz="1350" dirty="0"/>
          </a:p>
        </p:txBody>
      </p:sp>
      <p:sp>
        <p:nvSpPr>
          <p:cNvPr id="6" name="Text 4"/>
          <p:cNvSpPr/>
          <p:nvPr/>
        </p:nvSpPr>
        <p:spPr>
          <a:xfrm>
            <a:off x="1047750" y="1474470"/>
            <a:ext cx="17811750" cy="579120"/>
          </a:xfrm>
          <a:prstGeom prst="rect">
            <a:avLst/>
          </a:prstGeom>
          <a:noFill/>
          <a:ln/>
        </p:spPr>
        <p:txBody>
          <a:bodyPr wrap="square" lIns="25400" tIns="25400" rIns="25400" bIns="25400" rtlCol="0" anchor="t">
            <a:normAutofit lnSpcReduction="10000"/>
          </a:bodyPr>
          <a:lstStyle/>
          <a:p>
            <a:pPr marL="0" indent="0" algn="l">
              <a:buNone/>
            </a:pPr>
            <a:r>
              <a:rPr lang="en-US" sz="3750" b="1" dirty="0">
                <a:solidFill>
                  <a:srgbClr val="1A2A5E"/>
                </a:solidFill>
                <a:latin typeface="Georgia" pitchFamily="34" charset="0"/>
                <a:ea typeface="Georgia" pitchFamily="34" charset="-122"/>
                <a:cs typeface="Georgia" pitchFamily="34" charset="-120"/>
              </a:rPr>
              <a:t>The World Cup</a:t>
            </a:r>
            <a:endParaRPr lang="en-US" sz="3750" dirty="0"/>
          </a:p>
        </p:txBody>
      </p:sp>
      <p:sp>
        <p:nvSpPr>
          <p:cNvPr id="7" name="Text 5"/>
          <p:cNvSpPr/>
          <p:nvPr/>
        </p:nvSpPr>
        <p:spPr>
          <a:xfrm>
            <a:off x="1047750" y="2091690"/>
            <a:ext cx="17811750" cy="335280"/>
          </a:xfrm>
          <a:prstGeom prst="rect">
            <a:avLst/>
          </a:prstGeom>
          <a:noFill/>
          <a:ln/>
        </p:spPr>
        <p:txBody>
          <a:bodyPr wrap="square" lIns="25400" tIns="25400" rIns="25400" bIns="25400" rtlCol="0" anchor="t">
            <a:normAutofit lnSpcReduction="10000"/>
          </a:bodyPr>
          <a:lstStyle/>
          <a:p>
            <a:pPr marL="0" indent="0" algn="l">
              <a:buNone/>
            </a:pPr>
            <a:r>
              <a:rPr lang="en-US" sz="2025" b="1" dirty="0">
                <a:solidFill>
                  <a:srgbClr val="1A2A5E"/>
                </a:solidFill>
                <a:latin typeface="Helvetica" pitchFamily="34" charset="0"/>
                <a:ea typeface="Helvetica" pitchFamily="34" charset="-122"/>
                <a:cs typeface="Helvetica" pitchFamily="34" charset="-120"/>
              </a:rPr>
              <a:t>More than just football?</a:t>
            </a:r>
            <a:endParaRPr lang="en-US" sz="2025" dirty="0"/>
          </a:p>
        </p:txBody>
      </p:sp>
      <p:sp>
        <p:nvSpPr>
          <p:cNvPr id="8" name="Shape 6"/>
          <p:cNvSpPr/>
          <p:nvPr/>
        </p:nvSpPr>
        <p:spPr>
          <a:xfrm>
            <a:off x="1047750" y="2522220"/>
            <a:ext cx="609600" cy="38100"/>
          </a:xfrm>
          <a:prstGeom prst="rect">
            <a:avLst/>
          </a:prstGeom>
          <a:solidFill>
            <a:srgbClr val="D9B877"/>
          </a:solidFill>
          <a:ln/>
        </p:spPr>
        <p:txBody>
          <a:bodyPr/>
          <a:lstStyle/>
          <a:p>
            <a:endParaRPr lang="en-US"/>
          </a:p>
        </p:txBody>
      </p:sp>
      <p:sp>
        <p:nvSpPr>
          <p:cNvPr id="9" name="Text 7"/>
          <p:cNvSpPr/>
          <p:nvPr/>
        </p:nvSpPr>
        <p:spPr>
          <a:xfrm>
            <a:off x="1047750" y="2674620"/>
            <a:ext cx="17811750" cy="281940"/>
          </a:xfrm>
          <a:prstGeom prst="rect">
            <a:avLst/>
          </a:prstGeom>
          <a:noFill/>
          <a:ln/>
        </p:spPr>
        <p:txBody>
          <a:bodyPr wrap="square" lIns="25400" tIns="25400" rIns="25400" bIns="25400" rtlCol="0" anchor="t">
            <a:normAutofit lnSpcReduction="10000"/>
          </a:bodyPr>
          <a:lstStyle/>
          <a:p>
            <a:pPr marL="0" indent="0" algn="l">
              <a:buNone/>
            </a:pPr>
            <a:r>
              <a:rPr lang="en-US" sz="1650" i="1" dirty="0">
                <a:solidFill>
                  <a:srgbClr val="555555"/>
                </a:solidFill>
                <a:latin typeface="Helvetica" pitchFamily="34" charset="0"/>
                <a:ea typeface="Helvetica" pitchFamily="34" charset="-122"/>
                <a:cs typeface="Helvetica" pitchFamily="34" charset="-120"/>
              </a:rPr>
              <a:t>Every four years, one tournament stops the world — and it means far more than the score.</a:t>
            </a:r>
            <a:endParaRPr lang="en-US" sz="1650" dirty="0"/>
          </a:p>
        </p:txBody>
      </p:sp>
      <p:sp>
        <p:nvSpPr>
          <p:cNvPr id="10" name="Text 8"/>
          <p:cNvSpPr/>
          <p:nvPr/>
        </p:nvSpPr>
        <p:spPr>
          <a:xfrm>
            <a:off x="1047750" y="3128010"/>
            <a:ext cx="8074247" cy="1278255"/>
          </a:xfrm>
          <a:prstGeom prst="rect">
            <a:avLst/>
          </a:prstGeom>
          <a:noFill/>
          <a:ln/>
        </p:spPr>
        <p:txBody>
          <a:bodyPr wrap="square" lIns="25400" tIns="25400" rIns="25400" bIns="25400" rtlCol="0" anchor="t">
            <a:normAutofit lnSpcReduction="10000"/>
          </a:bodyPr>
          <a:lstStyle/>
          <a:p>
            <a:pPr marL="0" indent="0" algn="l">
              <a:lnSpc>
                <a:spcPct val="127187"/>
              </a:lnSpc>
              <a:buNone/>
            </a:pPr>
            <a:r>
              <a:rPr lang="en-US" sz="1650" dirty="0">
                <a:solidFill>
                  <a:srgbClr val="222222"/>
                </a:solidFill>
                <a:latin typeface="Helvetica" pitchFamily="34" charset="0"/>
                <a:ea typeface="Helvetica" pitchFamily="34" charset="-122"/>
                <a:cs typeface="Helvetica" pitchFamily="34" charset="-120"/>
              </a:rPr>
              <a:t>Every four years, something remarkable happens. For one month, people who have never kicked a ball gather around screens in homes, cafés, and public squares, united by a single </a:t>
            </a:r>
            <a:r>
              <a:rPr lang="en-US" sz="1650" b="1" dirty="0">
                <a:solidFill>
                  <a:srgbClr val="1A2A5E"/>
                </a:solidFill>
                <a:latin typeface="Helvetica" pitchFamily="34" charset="0"/>
                <a:ea typeface="Helvetica" pitchFamily="34" charset="-122"/>
                <a:cs typeface="Helvetica" pitchFamily="34" charset="-120"/>
              </a:rPr>
              <a:t>tournament </a:t>
            </a:r>
            <a:r>
              <a:rPr lang="en-US" sz="1650" dirty="0">
                <a:solidFill>
                  <a:srgbClr val="222222"/>
                </a:solidFill>
                <a:latin typeface="Helvetica" pitchFamily="34" charset="0"/>
                <a:ea typeface="Helvetica" pitchFamily="34" charset="-122"/>
                <a:cs typeface="Helvetica" pitchFamily="34" charset="-120"/>
              </a:rPr>
              <a:t>. Strangers hug after a goal; entire nations hold their breath together. The World Cup is football, but it is also something much larger.</a:t>
            </a:r>
            <a:endParaRPr lang="en-US" sz="1650" dirty="0"/>
          </a:p>
        </p:txBody>
      </p:sp>
      <p:sp>
        <p:nvSpPr>
          <p:cNvPr id="11" name="Text 9"/>
          <p:cNvSpPr/>
          <p:nvPr/>
        </p:nvSpPr>
        <p:spPr>
          <a:xfrm>
            <a:off x="1047750" y="4577715"/>
            <a:ext cx="8074247" cy="1588294"/>
          </a:xfrm>
          <a:prstGeom prst="rect">
            <a:avLst/>
          </a:prstGeom>
          <a:noFill/>
          <a:ln/>
        </p:spPr>
        <p:txBody>
          <a:bodyPr wrap="square" lIns="25400" tIns="25400" rIns="25400" bIns="25400" rtlCol="0" anchor="t">
            <a:normAutofit lnSpcReduction="10000"/>
          </a:bodyPr>
          <a:lstStyle/>
          <a:p>
            <a:pPr marL="0" indent="0" algn="l">
              <a:lnSpc>
                <a:spcPct val="127187"/>
              </a:lnSpc>
              <a:buNone/>
            </a:pPr>
            <a:r>
              <a:rPr lang="en-US" sz="1650" dirty="0">
                <a:solidFill>
                  <a:srgbClr val="222222"/>
                </a:solidFill>
                <a:latin typeface="Helvetica" pitchFamily="34" charset="0"/>
                <a:ea typeface="Helvetica" pitchFamily="34" charset="-122"/>
                <a:cs typeface="Helvetica" pitchFamily="34" charset="-120"/>
              </a:rPr>
              <a:t>No other event draws an audience like it. Around half the planet watches some part of the competition, and more than a billion people may see a single final. Part of the appeal is the sheer </a:t>
            </a:r>
            <a:r>
              <a:rPr lang="en-US" sz="1650" b="1" dirty="0">
                <a:solidFill>
                  <a:srgbClr val="1A2A5E"/>
                </a:solidFill>
                <a:latin typeface="Helvetica" pitchFamily="34" charset="0"/>
                <a:ea typeface="Helvetica" pitchFamily="34" charset="-122"/>
                <a:cs typeface="Helvetica" pitchFamily="34" charset="-120"/>
              </a:rPr>
              <a:t>spectacle </a:t>
            </a:r>
            <a:r>
              <a:rPr lang="en-US" sz="1650" dirty="0">
                <a:solidFill>
                  <a:srgbClr val="222222"/>
                </a:solidFill>
                <a:latin typeface="Helvetica" pitchFamily="34" charset="0"/>
                <a:ea typeface="Helvetica" pitchFamily="34" charset="-122"/>
                <a:cs typeface="Helvetica" pitchFamily="34" charset="-120"/>
              </a:rPr>
              <a:t>— the color, the noise, the drama of a penalty shoot-out. But it is also the </a:t>
            </a:r>
            <a:r>
              <a:rPr lang="en-US" sz="1650" b="1" dirty="0">
                <a:solidFill>
                  <a:srgbClr val="1A2A5E"/>
                </a:solidFill>
                <a:latin typeface="Helvetica" pitchFamily="34" charset="0"/>
                <a:ea typeface="Helvetica" pitchFamily="34" charset="-122"/>
                <a:cs typeface="Helvetica" pitchFamily="34" charset="-120"/>
              </a:rPr>
              <a:t>rivalry </a:t>
            </a:r>
            <a:r>
              <a:rPr lang="en-US" sz="1650" dirty="0">
                <a:solidFill>
                  <a:srgbClr val="222222"/>
                </a:solidFill>
                <a:latin typeface="Helvetica" pitchFamily="34" charset="0"/>
                <a:ea typeface="Helvetica" pitchFamily="34" charset="-122"/>
                <a:cs typeface="Helvetica" pitchFamily="34" charset="-120"/>
              </a:rPr>
              <a:t>between nations that, for ninety minutes, matters more than almost anything else.</a:t>
            </a:r>
            <a:endParaRPr lang="en-US" sz="1650" dirty="0"/>
          </a:p>
        </p:txBody>
      </p:sp>
      <p:sp>
        <p:nvSpPr>
          <p:cNvPr id="12" name="Text 10"/>
          <p:cNvSpPr/>
          <p:nvPr/>
        </p:nvSpPr>
        <p:spPr>
          <a:xfrm>
            <a:off x="9401175" y="3128010"/>
            <a:ext cx="8074247" cy="1588294"/>
          </a:xfrm>
          <a:prstGeom prst="rect">
            <a:avLst/>
          </a:prstGeom>
          <a:noFill/>
          <a:ln/>
        </p:spPr>
        <p:txBody>
          <a:bodyPr wrap="square" lIns="25400" tIns="25400" rIns="25400" bIns="25400" rtlCol="0" anchor="t">
            <a:normAutofit lnSpcReduction="10000"/>
          </a:bodyPr>
          <a:lstStyle/>
          <a:p>
            <a:pPr marL="0" indent="0" algn="l">
              <a:lnSpc>
                <a:spcPct val="127187"/>
              </a:lnSpc>
              <a:buNone/>
            </a:pPr>
            <a:r>
              <a:rPr lang="en-US" sz="1650" dirty="0">
                <a:solidFill>
                  <a:srgbClr val="222222"/>
                </a:solidFill>
                <a:latin typeface="Helvetica" pitchFamily="34" charset="0"/>
                <a:ea typeface="Helvetica" pitchFamily="34" charset="-122"/>
                <a:cs typeface="Helvetica" pitchFamily="34" charset="-120"/>
              </a:rPr>
              <a:t>Hosting the World Cup is a huge undertaking. Countries spend billions of dollars building stadiums, hotels, and transport, hoping the world’s attention will boost tourism and pride. Yet the results are mixed. Some new stadiums are used for years; others sit empty once the crowds go home. The </a:t>
            </a:r>
            <a:r>
              <a:rPr lang="en-US" sz="1650" b="1" dirty="0">
                <a:solidFill>
                  <a:srgbClr val="1A2A5E"/>
                </a:solidFill>
                <a:latin typeface="Helvetica" pitchFamily="34" charset="0"/>
                <a:ea typeface="Helvetica" pitchFamily="34" charset="-122"/>
                <a:cs typeface="Helvetica" pitchFamily="34" charset="-120"/>
              </a:rPr>
              <a:t>legacy </a:t>
            </a:r>
            <a:r>
              <a:rPr lang="en-US" sz="1650" dirty="0">
                <a:solidFill>
                  <a:srgbClr val="222222"/>
                </a:solidFill>
                <a:latin typeface="Helvetica" pitchFamily="34" charset="0"/>
                <a:ea typeface="Helvetica" pitchFamily="34" charset="-122"/>
                <a:cs typeface="Helvetica" pitchFamily="34" charset="-120"/>
              </a:rPr>
              <a:t>of hosting can be a gift or a costly burden.</a:t>
            </a:r>
            <a:endParaRPr lang="en-US" sz="1650" dirty="0"/>
          </a:p>
        </p:txBody>
      </p:sp>
      <p:sp>
        <p:nvSpPr>
          <p:cNvPr id="13" name="Text 11"/>
          <p:cNvSpPr/>
          <p:nvPr/>
        </p:nvSpPr>
        <p:spPr>
          <a:xfrm>
            <a:off x="9401175" y="4887754"/>
            <a:ext cx="8074247" cy="968216"/>
          </a:xfrm>
          <a:prstGeom prst="rect">
            <a:avLst/>
          </a:prstGeom>
          <a:noFill/>
          <a:ln/>
        </p:spPr>
        <p:txBody>
          <a:bodyPr wrap="square" lIns="25400" tIns="25400" rIns="25400" bIns="25400" rtlCol="0" anchor="t">
            <a:normAutofit lnSpcReduction="10000"/>
          </a:bodyPr>
          <a:lstStyle/>
          <a:p>
            <a:pPr marL="0" indent="0" algn="l">
              <a:lnSpc>
                <a:spcPct val="127187"/>
              </a:lnSpc>
              <a:buNone/>
            </a:pPr>
            <a:r>
              <a:rPr lang="en-US" sz="1650" dirty="0">
                <a:solidFill>
                  <a:srgbClr val="222222"/>
                </a:solidFill>
                <a:latin typeface="Helvetica" pitchFamily="34" charset="0"/>
                <a:ea typeface="Helvetica" pitchFamily="34" charset="-122"/>
                <a:cs typeface="Helvetica" pitchFamily="34" charset="-120"/>
              </a:rPr>
              <a:t>Critics argue the tournament has become too commercial, and that the cost of </a:t>
            </a:r>
            <a:r>
              <a:rPr lang="en-US" sz="1650" b="1" dirty="0">
                <a:solidFill>
                  <a:srgbClr val="1A2A5E"/>
                </a:solidFill>
                <a:latin typeface="Helvetica" pitchFamily="34" charset="0"/>
                <a:ea typeface="Helvetica" pitchFamily="34" charset="-122"/>
                <a:cs typeface="Helvetica" pitchFamily="34" charset="-120"/>
              </a:rPr>
              <a:t>hosting </a:t>
            </a:r>
            <a:r>
              <a:rPr lang="en-US" sz="1650" dirty="0">
                <a:solidFill>
                  <a:srgbClr val="222222"/>
                </a:solidFill>
                <a:latin typeface="Helvetica" pitchFamily="34" charset="0"/>
                <a:ea typeface="Helvetica" pitchFamily="34" charset="-122"/>
                <a:cs typeface="Helvetica" pitchFamily="34" charset="-120"/>
              </a:rPr>
              <a:t>often falls on ordinary people. Supporters reply that few things unite the world so powerfully — that for a few weeks, borders seem to matter a little less.</a:t>
            </a:r>
            <a:endParaRPr lang="en-US" sz="1650" dirty="0"/>
          </a:p>
        </p:txBody>
      </p:sp>
      <p:sp>
        <p:nvSpPr>
          <p:cNvPr id="14" name="Shape 12"/>
          <p:cNvSpPr/>
          <p:nvPr/>
        </p:nvSpPr>
        <p:spPr>
          <a:xfrm>
            <a:off x="1047750" y="6413659"/>
            <a:ext cx="45720" cy="842010"/>
          </a:xfrm>
          <a:prstGeom prst="rect">
            <a:avLst/>
          </a:prstGeom>
          <a:solidFill>
            <a:srgbClr val="D9B877"/>
          </a:solidFill>
          <a:ln/>
        </p:spPr>
        <p:txBody>
          <a:bodyPr/>
          <a:lstStyle/>
          <a:p>
            <a:endParaRPr lang="en-US"/>
          </a:p>
        </p:txBody>
      </p:sp>
      <p:sp>
        <p:nvSpPr>
          <p:cNvPr id="15" name="Text 13"/>
          <p:cNvSpPr/>
          <p:nvPr/>
        </p:nvSpPr>
        <p:spPr>
          <a:xfrm>
            <a:off x="1360170" y="6413659"/>
            <a:ext cx="13422630" cy="880110"/>
          </a:xfrm>
          <a:prstGeom prst="rect">
            <a:avLst/>
          </a:prstGeom>
          <a:noFill/>
          <a:ln/>
        </p:spPr>
        <p:txBody>
          <a:bodyPr wrap="square" lIns="25400" tIns="25400" rIns="25400" bIns="25400" rtlCol="0" anchor="t">
            <a:normAutofit lnSpcReduction="10000"/>
          </a:bodyPr>
          <a:lstStyle/>
          <a:p>
            <a:pPr marL="0" indent="0" algn="l">
              <a:lnSpc>
                <a:spcPct val="115104"/>
              </a:lnSpc>
              <a:buNone/>
            </a:pPr>
            <a:r>
              <a:rPr lang="en-US" sz="2550" b="1" i="1" dirty="0">
                <a:solidFill>
                  <a:srgbClr val="1A2A5E"/>
                </a:solidFill>
                <a:latin typeface="Georgia" pitchFamily="34" charset="0"/>
                <a:ea typeface="Georgia" pitchFamily="34" charset="-122"/>
                <a:cs typeface="Georgia" pitchFamily="34" charset="-120"/>
              </a:rPr>
              <a:t>For one month every four years, the whole world seems to watch the same thing. Why does that still matter?</a:t>
            </a:r>
            <a:endParaRPr lang="en-US" sz="2550" dirty="0"/>
          </a:p>
        </p:txBody>
      </p:sp>
      <p:sp>
        <p:nvSpPr>
          <p:cNvPr id="16" name="Text 14"/>
          <p:cNvSpPr/>
          <p:nvPr/>
        </p:nvSpPr>
        <p:spPr>
          <a:xfrm>
            <a:off x="1047750" y="952500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pic>
        <p:nvPicPr>
          <p:cNvPr id="17" name="issue005-audio">
            <a:hlinkClick r:id="" action="ppaction://media"/>
            <a:extLst>
              <a:ext uri="{FF2B5EF4-FFF2-40B4-BE49-F238E27FC236}">
                <a16:creationId xmlns:a16="http://schemas.microsoft.com/office/drawing/2014/main" id="{D8EC5561-9078-E15D-E59F-75FEA0584B86}"/>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8382332" y="1408271"/>
            <a:ext cx="487363" cy="487363"/>
          </a:xfrm>
          <a:prstGeom prst="rect">
            <a:avLst/>
          </a:prstGeom>
        </p:spPr>
      </p:pic>
    </p:spTree>
  </p:cSld>
  <p:clrMapOvr>
    <a:masterClrMapping/>
  </p:clrMapOvr>
  <p:timing>
    <p:tnLst>
      <p:par>
        <p:cTn id="1" dur="indefinite" restart="never" nodeType="tmRoot">
          <p:childTnLst>
            <p:audio>
              <p:cMediaNode vol="80000">
                <p:cTn id="2" fill="hold" display="0">
                  <p:stCondLst>
                    <p:cond delay="indefinite"/>
                  </p:stCondLst>
                  <p:endCondLst>
                    <p:cond evt="onStopAudio" delay="0">
                      <p:tgtEl>
                        <p:sldTgt/>
                      </p:tgtEl>
                    </p:cond>
                  </p:endCondLst>
                </p:cTn>
                <p:tgtEl>
                  <p:spTgt spid="17"/>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50495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COMPREHENSION</a:t>
            </a:r>
            <a:endParaRPr lang="en-US" sz="1500" dirty="0"/>
          </a:p>
        </p:txBody>
      </p:sp>
      <p:sp>
        <p:nvSpPr>
          <p:cNvPr id="6" name="Text 4"/>
          <p:cNvSpPr/>
          <p:nvPr/>
        </p:nvSpPr>
        <p:spPr>
          <a:xfrm>
            <a:off x="1047750" y="1821180"/>
            <a:ext cx="17811750" cy="624840"/>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1A2A5E"/>
                </a:solidFill>
                <a:latin typeface="Georgia" pitchFamily="34" charset="0"/>
                <a:ea typeface="Georgia" pitchFamily="34" charset="-122"/>
                <a:cs typeface="Georgia" pitchFamily="34" charset="-120"/>
              </a:rPr>
              <a:t>True or False?</a:t>
            </a:r>
            <a:endParaRPr lang="en-US" sz="4050" dirty="0"/>
          </a:p>
        </p:txBody>
      </p:sp>
      <p:sp>
        <p:nvSpPr>
          <p:cNvPr id="7" name="Shape 5"/>
          <p:cNvSpPr/>
          <p:nvPr/>
        </p:nvSpPr>
        <p:spPr>
          <a:xfrm>
            <a:off x="1047750" y="3402330"/>
            <a:ext cx="14763750" cy="9525"/>
          </a:xfrm>
          <a:prstGeom prst="rect">
            <a:avLst/>
          </a:prstGeom>
          <a:solidFill>
            <a:srgbClr val="E3E1DB"/>
          </a:solidFill>
          <a:ln/>
        </p:spPr>
        <p:txBody>
          <a:bodyPr/>
          <a:lstStyle/>
          <a:p>
            <a:endParaRPr lang="en-US"/>
          </a:p>
        </p:txBody>
      </p:sp>
      <p:sp>
        <p:nvSpPr>
          <p:cNvPr id="8" name="Text 6"/>
          <p:cNvSpPr/>
          <p:nvPr/>
        </p:nvSpPr>
        <p:spPr>
          <a:xfrm>
            <a:off x="1047750" y="284607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1</a:t>
            </a:r>
            <a:endParaRPr lang="en-US" sz="2550" dirty="0"/>
          </a:p>
        </p:txBody>
      </p:sp>
      <p:sp>
        <p:nvSpPr>
          <p:cNvPr id="9" name="Text 7"/>
          <p:cNvSpPr/>
          <p:nvPr/>
        </p:nvSpPr>
        <p:spPr>
          <a:xfrm>
            <a:off x="1676400" y="286893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About half the planet watches some part of the World Cup.</a:t>
            </a:r>
            <a:endParaRPr lang="en-US" sz="2175" dirty="0"/>
          </a:p>
        </p:txBody>
      </p:sp>
      <p:sp>
        <p:nvSpPr>
          <p:cNvPr id="10" name="Text 8"/>
          <p:cNvSpPr/>
          <p:nvPr/>
        </p:nvSpPr>
        <p:spPr>
          <a:xfrm>
            <a:off x="14997469" y="285369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11" name="Shape 9"/>
          <p:cNvSpPr/>
          <p:nvPr/>
        </p:nvSpPr>
        <p:spPr>
          <a:xfrm>
            <a:off x="1047750" y="4175760"/>
            <a:ext cx="14763750" cy="9525"/>
          </a:xfrm>
          <a:prstGeom prst="rect">
            <a:avLst/>
          </a:prstGeom>
          <a:solidFill>
            <a:srgbClr val="E3E1DB"/>
          </a:solidFill>
          <a:ln/>
        </p:spPr>
        <p:txBody>
          <a:bodyPr/>
          <a:lstStyle/>
          <a:p>
            <a:endParaRPr lang="en-US"/>
          </a:p>
        </p:txBody>
      </p:sp>
      <p:sp>
        <p:nvSpPr>
          <p:cNvPr id="12" name="Text 10"/>
          <p:cNvSpPr/>
          <p:nvPr/>
        </p:nvSpPr>
        <p:spPr>
          <a:xfrm>
            <a:off x="1047750" y="361950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2</a:t>
            </a:r>
            <a:endParaRPr lang="en-US" sz="2550" dirty="0"/>
          </a:p>
        </p:txBody>
      </p:sp>
      <p:sp>
        <p:nvSpPr>
          <p:cNvPr id="13" name="Text 11"/>
          <p:cNvSpPr/>
          <p:nvPr/>
        </p:nvSpPr>
        <p:spPr>
          <a:xfrm>
            <a:off x="1676400" y="364236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Every new World Cup stadium is used for many years afterwards.</a:t>
            </a:r>
            <a:endParaRPr lang="en-US" sz="2175" dirty="0"/>
          </a:p>
        </p:txBody>
      </p:sp>
      <p:sp>
        <p:nvSpPr>
          <p:cNvPr id="14" name="Text 12"/>
          <p:cNvSpPr/>
          <p:nvPr/>
        </p:nvSpPr>
        <p:spPr>
          <a:xfrm>
            <a:off x="14997469" y="362712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15" name="Shape 13"/>
          <p:cNvSpPr/>
          <p:nvPr/>
        </p:nvSpPr>
        <p:spPr>
          <a:xfrm>
            <a:off x="1047750" y="4949190"/>
            <a:ext cx="14763750" cy="9525"/>
          </a:xfrm>
          <a:prstGeom prst="rect">
            <a:avLst/>
          </a:prstGeom>
          <a:solidFill>
            <a:srgbClr val="E3E1DB"/>
          </a:solidFill>
          <a:ln/>
        </p:spPr>
        <p:txBody>
          <a:bodyPr/>
          <a:lstStyle/>
          <a:p>
            <a:endParaRPr lang="en-US"/>
          </a:p>
        </p:txBody>
      </p:sp>
      <p:sp>
        <p:nvSpPr>
          <p:cNvPr id="16" name="Text 14"/>
          <p:cNvSpPr/>
          <p:nvPr/>
        </p:nvSpPr>
        <p:spPr>
          <a:xfrm>
            <a:off x="1047750" y="439293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3</a:t>
            </a:r>
            <a:endParaRPr lang="en-US" sz="2550" dirty="0"/>
          </a:p>
        </p:txBody>
      </p:sp>
      <p:sp>
        <p:nvSpPr>
          <p:cNvPr id="17" name="Text 15"/>
          <p:cNvSpPr/>
          <p:nvPr/>
        </p:nvSpPr>
        <p:spPr>
          <a:xfrm>
            <a:off x="1676400" y="441579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Hosting the World Cup costs billions of dollars.</a:t>
            </a:r>
            <a:endParaRPr lang="en-US" sz="2175" dirty="0"/>
          </a:p>
        </p:txBody>
      </p:sp>
      <p:sp>
        <p:nvSpPr>
          <p:cNvPr id="18" name="Text 16"/>
          <p:cNvSpPr/>
          <p:nvPr/>
        </p:nvSpPr>
        <p:spPr>
          <a:xfrm>
            <a:off x="14997469" y="440055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19" name="Shape 17"/>
          <p:cNvSpPr/>
          <p:nvPr/>
        </p:nvSpPr>
        <p:spPr>
          <a:xfrm>
            <a:off x="1047750" y="5722620"/>
            <a:ext cx="14763750" cy="9525"/>
          </a:xfrm>
          <a:prstGeom prst="rect">
            <a:avLst/>
          </a:prstGeom>
          <a:solidFill>
            <a:srgbClr val="E3E1DB"/>
          </a:solidFill>
          <a:ln/>
        </p:spPr>
        <p:txBody>
          <a:bodyPr/>
          <a:lstStyle/>
          <a:p>
            <a:endParaRPr lang="en-US"/>
          </a:p>
        </p:txBody>
      </p:sp>
      <p:sp>
        <p:nvSpPr>
          <p:cNvPr id="20" name="Text 18"/>
          <p:cNvSpPr/>
          <p:nvPr/>
        </p:nvSpPr>
        <p:spPr>
          <a:xfrm>
            <a:off x="1047750" y="516636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4</a:t>
            </a:r>
            <a:endParaRPr lang="en-US" sz="2550" dirty="0"/>
          </a:p>
        </p:txBody>
      </p:sp>
      <p:sp>
        <p:nvSpPr>
          <p:cNvPr id="21" name="Text 19"/>
          <p:cNvSpPr/>
          <p:nvPr/>
        </p:nvSpPr>
        <p:spPr>
          <a:xfrm>
            <a:off x="1676400" y="518922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Some critics say the tournament has become too commercial.</a:t>
            </a:r>
            <a:endParaRPr lang="en-US" sz="2175" dirty="0"/>
          </a:p>
        </p:txBody>
      </p:sp>
      <p:sp>
        <p:nvSpPr>
          <p:cNvPr id="22" name="Text 20"/>
          <p:cNvSpPr/>
          <p:nvPr/>
        </p:nvSpPr>
        <p:spPr>
          <a:xfrm>
            <a:off x="14997469" y="517398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23" name="Text 21"/>
          <p:cNvSpPr/>
          <p:nvPr/>
        </p:nvSpPr>
        <p:spPr>
          <a:xfrm>
            <a:off x="1047750" y="5939790"/>
            <a:ext cx="457200"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5</a:t>
            </a:r>
            <a:endParaRPr lang="en-US" sz="2550" dirty="0"/>
          </a:p>
        </p:txBody>
      </p:sp>
      <p:sp>
        <p:nvSpPr>
          <p:cNvPr id="24" name="Text 22"/>
          <p:cNvSpPr/>
          <p:nvPr/>
        </p:nvSpPr>
        <p:spPr>
          <a:xfrm>
            <a:off x="1676400" y="5962650"/>
            <a:ext cx="14380761" cy="358140"/>
          </a:xfrm>
          <a:prstGeom prst="rect">
            <a:avLst/>
          </a:prstGeom>
          <a:noFill/>
          <a:ln/>
        </p:spPr>
        <p:txBody>
          <a:bodyPr wrap="square" lIns="25400" tIns="25400" rIns="25400" bIns="25400" rtlCol="0" anchor="t">
            <a:normAutofit lnSpcReduction="10000"/>
          </a:bodyPr>
          <a:lstStyle/>
          <a:p>
            <a:pPr marL="0" indent="0" algn="l">
              <a:buNone/>
            </a:pPr>
            <a:r>
              <a:rPr lang="en-US" sz="2175" dirty="0">
                <a:solidFill>
                  <a:srgbClr val="1A1A1A"/>
                </a:solidFill>
                <a:latin typeface="Helvetica" pitchFamily="34" charset="0"/>
                <a:ea typeface="Helvetica" pitchFamily="34" charset="-122"/>
                <a:cs typeface="Helvetica" pitchFamily="34" charset="-120"/>
              </a:rPr>
              <a:t>The article says the World Cup is only about football.</a:t>
            </a:r>
            <a:endParaRPr lang="en-US" sz="2175" dirty="0"/>
          </a:p>
        </p:txBody>
      </p:sp>
      <p:sp>
        <p:nvSpPr>
          <p:cNvPr id="25" name="Text 23"/>
          <p:cNvSpPr/>
          <p:nvPr/>
        </p:nvSpPr>
        <p:spPr>
          <a:xfrm>
            <a:off x="14997469" y="5947410"/>
            <a:ext cx="890230" cy="388620"/>
          </a:xfrm>
          <a:prstGeom prst="rect">
            <a:avLst/>
          </a:prstGeom>
          <a:noFill/>
          <a:ln/>
        </p:spPr>
        <p:txBody>
          <a:bodyPr wrap="square" lIns="25400" tIns="25400" rIns="25400" bIns="25400" rtlCol="0" anchor="t">
            <a:normAutofit/>
          </a:bodyPr>
          <a:lstStyle/>
          <a:p>
            <a:pPr marL="0" indent="0" algn="l">
              <a:buNone/>
            </a:pPr>
            <a:r>
              <a:rPr lang="en-US" sz="1950" b="1" kern="0" spc="600" dirty="0">
                <a:solidFill>
                  <a:srgbClr val="1A2A5E"/>
                </a:solidFill>
                <a:latin typeface="Helvetica" pitchFamily="34" charset="0"/>
                <a:ea typeface="Helvetica" pitchFamily="34" charset="-122"/>
                <a:cs typeface="Helvetica" pitchFamily="34" charset="-120"/>
              </a:rPr>
              <a:t>T F</a:t>
            </a:r>
            <a:endParaRPr lang="en-US" sz="1950" dirty="0"/>
          </a:p>
        </p:txBody>
      </p:sp>
      <p:sp>
        <p:nvSpPr>
          <p:cNvPr id="26" name="Text 24"/>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638300"/>
            <a:ext cx="2419386"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COMPREHENSION</a:t>
            </a:r>
            <a:endParaRPr lang="en-US" sz="1500" dirty="0"/>
          </a:p>
        </p:txBody>
      </p:sp>
      <p:sp>
        <p:nvSpPr>
          <p:cNvPr id="6" name="Shape 4"/>
          <p:cNvSpPr/>
          <p:nvPr/>
        </p:nvSpPr>
        <p:spPr>
          <a:xfrm>
            <a:off x="3456742" y="1543050"/>
            <a:ext cx="1601272" cy="388620"/>
          </a:xfrm>
          <a:prstGeom prst="rect">
            <a:avLst/>
          </a:prstGeom>
          <a:solidFill>
            <a:srgbClr val="1A2A5E"/>
          </a:solidFill>
          <a:ln/>
        </p:spPr>
        <p:txBody>
          <a:bodyPr/>
          <a:lstStyle/>
          <a:p>
            <a:endParaRPr lang="en-US"/>
          </a:p>
        </p:txBody>
      </p:sp>
      <p:sp>
        <p:nvSpPr>
          <p:cNvPr id="7" name="Text 5"/>
          <p:cNvSpPr/>
          <p:nvPr/>
        </p:nvSpPr>
        <p:spPr>
          <a:xfrm>
            <a:off x="3628192" y="1600200"/>
            <a:ext cx="1334572" cy="312420"/>
          </a:xfrm>
          <a:prstGeom prst="rect">
            <a:avLst/>
          </a:prstGeom>
          <a:noFill/>
          <a:ln/>
        </p:spPr>
        <p:txBody>
          <a:bodyPr wrap="square" lIns="25400" tIns="25400" rIns="25400" bIns="25400" rtlCol="0" anchor="t">
            <a:normAutofit/>
          </a:bodyPr>
          <a:lstStyle/>
          <a:p>
            <a:pPr marL="0" indent="0" algn="l">
              <a:buNone/>
            </a:pPr>
            <a:r>
              <a:rPr lang="en-US" sz="1500" b="1" kern="0" spc="225" dirty="0">
                <a:solidFill>
                  <a:srgbClr val="FFFFFF"/>
                </a:solidFill>
                <a:latin typeface="Helvetica" pitchFamily="34" charset="0"/>
                <a:ea typeface="Helvetica" pitchFamily="34" charset="-122"/>
                <a:cs typeface="Helvetica" pitchFamily="34" charset="-120"/>
              </a:rPr>
              <a:t>ANSWERS</a:t>
            </a:r>
            <a:endParaRPr lang="en-US" sz="1500" dirty="0"/>
          </a:p>
        </p:txBody>
      </p:sp>
      <p:sp>
        <p:nvSpPr>
          <p:cNvPr id="8" name="Text 6"/>
          <p:cNvSpPr/>
          <p:nvPr/>
        </p:nvSpPr>
        <p:spPr>
          <a:xfrm>
            <a:off x="1047750" y="2065020"/>
            <a:ext cx="17811750" cy="601980"/>
          </a:xfrm>
          <a:prstGeom prst="rect">
            <a:avLst/>
          </a:prstGeom>
          <a:noFill/>
          <a:ln/>
        </p:spPr>
        <p:txBody>
          <a:bodyPr wrap="square" lIns="25400" tIns="25400" rIns="25400" bIns="25400" rtlCol="0" anchor="t">
            <a:normAutofit lnSpcReduction="10000"/>
          </a:bodyPr>
          <a:lstStyle/>
          <a:p>
            <a:pPr marL="0" indent="0" algn="l">
              <a:buNone/>
            </a:pPr>
            <a:r>
              <a:rPr lang="en-US" sz="3900" b="1" dirty="0">
                <a:solidFill>
                  <a:srgbClr val="1A2A5E"/>
                </a:solidFill>
                <a:latin typeface="Georgia" pitchFamily="34" charset="0"/>
                <a:ea typeface="Georgia" pitchFamily="34" charset="-122"/>
                <a:cs typeface="Georgia" pitchFamily="34" charset="-120"/>
              </a:rPr>
              <a:t>True or False?</a:t>
            </a:r>
            <a:endParaRPr lang="en-US" sz="3900" dirty="0"/>
          </a:p>
        </p:txBody>
      </p:sp>
      <p:sp>
        <p:nvSpPr>
          <p:cNvPr id="9" name="Text 7"/>
          <p:cNvSpPr/>
          <p:nvPr/>
        </p:nvSpPr>
        <p:spPr>
          <a:xfrm>
            <a:off x="1047750" y="302514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1</a:t>
            </a:r>
            <a:endParaRPr lang="en-US" sz="2250" dirty="0"/>
          </a:p>
        </p:txBody>
      </p:sp>
      <p:sp>
        <p:nvSpPr>
          <p:cNvPr id="10" name="Text 8"/>
          <p:cNvSpPr/>
          <p:nvPr/>
        </p:nvSpPr>
        <p:spPr>
          <a:xfrm>
            <a:off x="1676400" y="300990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1A7A4A"/>
                </a:solidFill>
                <a:latin typeface="Helvetica" pitchFamily="34" charset="0"/>
                <a:ea typeface="Helvetica" pitchFamily="34" charset="-122"/>
                <a:cs typeface="Helvetica" pitchFamily="34" charset="-120"/>
              </a:rPr>
              <a:t>TRUE</a:t>
            </a:r>
            <a:endParaRPr lang="en-US" sz="1950" dirty="0"/>
          </a:p>
        </p:txBody>
      </p:sp>
      <p:sp>
        <p:nvSpPr>
          <p:cNvPr id="11" name="Text 9"/>
          <p:cNvSpPr/>
          <p:nvPr/>
        </p:nvSpPr>
        <p:spPr>
          <a:xfrm>
            <a:off x="2952750" y="304419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About half the planet watches some part of the World Cup.</a:t>
            </a:r>
            <a:endParaRPr lang="en-US" sz="1950" dirty="0"/>
          </a:p>
        </p:txBody>
      </p:sp>
      <p:sp>
        <p:nvSpPr>
          <p:cNvPr id="12" name="Text 10"/>
          <p:cNvSpPr/>
          <p:nvPr/>
        </p:nvSpPr>
        <p:spPr>
          <a:xfrm>
            <a:off x="1047750" y="354711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2</a:t>
            </a:r>
            <a:endParaRPr lang="en-US" sz="2250" dirty="0"/>
          </a:p>
        </p:txBody>
      </p:sp>
      <p:sp>
        <p:nvSpPr>
          <p:cNvPr id="13" name="Text 11"/>
          <p:cNvSpPr/>
          <p:nvPr/>
        </p:nvSpPr>
        <p:spPr>
          <a:xfrm>
            <a:off x="1676400" y="353187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B0392F"/>
                </a:solidFill>
                <a:latin typeface="Helvetica" pitchFamily="34" charset="0"/>
                <a:ea typeface="Helvetica" pitchFamily="34" charset="-122"/>
                <a:cs typeface="Helvetica" pitchFamily="34" charset="-120"/>
              </a:rPr>
              <a:t>FALSE</a:t>
            </a:r>
            <a:endParaRPr lang="en-US" sz="1950" dirty="0"/>
          </a:p>
        </p:txBody>
      </p:sp>
      <p:sp>
        <p:nvSpPr>
          <p:cNvPr id="14" name="Text 12"/>
          <p:cNvSpPr/>
          <p:nvPr/>
        </p:nvSpPr>
        <p:spPr>
          <a:xfrm>
            <a:off x="2952750" y="356616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Every new World Cup stadium is used for many years afterwards. </a:t>
            </a:r>
            <a:r>
              <a:rPr lang="en-US" sz="1950" i="1" dirty="0">
                <a:solidFill>
                  <a:srgbClr val="888888"/>
                </a:solidFill>
                <a:latin typeface="Helvetica" pitchFamily="34" charset="0"/>
                <a:ea typeface="Helvetica" pitchFamily="34" charset="-122"/>
                <a:cs typeface="Helvetica" pitchFamily="34" charset="-120"/>
              </a:rPr>
              <a:t>— some sit empty.</a:t>
            </a:r>
            <a:endParaRPr lang="en-US" sz="1950" dirty="0"/>
          </a:p>
        </p:txBody>
      </p:sp>
      <p:sp>
        <p:nvSpPr>
          <p:cNvPr id="15" name="Text 13"/>
          <p:cNvSpPr/>
          <p:nvPr/>
        </p:nvSpPr>
        <p:spPr>
          <a:xfrm>
            <a:off x="1047750" y="406908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3</a:t>
            </a:r>
            <a:endParaRPr lang="en-US" sz="2250" dirty="0"/>
          </a:p>
        </p:txBody>
      </p:sp>
      <p:sp>
        <p:nvSpPr>
          <p:cNvPr id="16" name="Text 14"/>
          <p:cNvSpPr/>
          <p:nvPr/>
        </p:nvSpPr>
        <p:spPr>
          <a:xfrm>
            <a:off x="1676400" y="405384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1A7A4A"/>
                </a:solidFill>
                <a:latin typeface="Helvetica" pitchFamily="34" charset="0"/>
                <a:ea typeface="Helvetica" pitchFamily="34" charset="-122"/>
                <a:cs typeface="Helvetica" pitchFamily="34" charset="-120"/>
              </a:rPr>
              <a:t>TRUE</a:t>
            </a:r>
            <a:endParaRPr lang="en-US" sz="1950" dirty="0"/>
          </a:p>
        </p:txBody>
      </p:sp>
      <p:sp>
        <p:nvSpPr>
          <p:cNvPr id="17" name="Text 15"/>
          <p:cNvSpPr/>
          <p:nvPr/>
        </p:nvSpPr>
        <p:spPr>
          <a:xfrm>
            <a:off x="2952750" y="408813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Hosting the World Cup costs billions of dollars.</a:t>
            </a:r>
            <a:endParaRPr lang="en-US" sz="1950" dirty="0"/>
          </a:p>
        </p:txBody>
      </p:sp>
      <p:sp>
        <p:nvSpPr>
          <p:cNvPr id="18" name="Text 16"/>
          <p:cNvSpPr/>
          <p:nvPr/>
        </p:nvSpPr>
        <p:spPr>
          <a:xfrm>
            <a:off x="1047750" y="459105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4</a:t>
            </a:r>
            <a:endParaRPr lang="en-US" sz="2250" dirty="0"/>
          </a:p>
        </p:txBody>
      </p:sp>
      <p:sp>
        <p:nvSpPr>
          <p:cNvPr id="19" name="Text 17"/>
          <p:cNvSpPr/>
          <p:nvPr/>
        </p:nvSpPr>
        <p:spPr>
          <a:xfrm>
            <a:off x="1676400" y="457581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1A7A4A"/>
                </a:solidFill>
                <a:latin typeface="Helvetica" pitchFamily="34" charset="0"/>
                <a:ea typeface="Helvetica" pitchFamily="34" charset="-122"/>
                <a:cs typeface="Helvetica" pitchFamily="34" charset="-120"/>
              </a:rPr>
              <a:t>TRUE</a:t>
            </a:r>
            <a:endParaRPr lang="en-US" sz="1950" dirty="0"/>
          </a:p>
        </p:txBody>
      </p:sp>
      <p:sp>
        <p:nvSpPr>
          <p:cNvPr id="20" name="Text 18"/>
          <p:cNvSpPr/>
          <p:nvPr/>
        </p:nvSpPr>
        <p:spPr>
          <a:xfrm>
            <a:off x="2952750" y="461010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Some critics say the tournament has become too commercial.</a:t>
            </a:r>
            <a:endParaRPr lang="en-US" sz="1950" dirty="0"/>
          </a:p>
        </p:txBody>
      </p:sp>
      <p:sp>
        <p:nvSpPr>
          <p:cNvPr id="21" name="Text 19"/>
          <p:cNvSpPr/>
          <p:nvPr/>
        </p:nvSpPr>
        <p:spPr>
          <a:xfrm>
            <a:off x="1047750" y="5113020"/>
            <a:ext cx="45720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5</a:t>
            </a:r>
            <a:endParaRPr lang="en-US" sz="2250" dirty="0"/>
          </a:p>
        </p:txBody>
      </p:sp>
      <p:sp>
        <p:nvSpPr>
          <p:cNvPr id="22" name="Text 20"/>
          <p:cNvSpPr/>
          <p:nvPr/>
        </p:nvSpPr>
        <p:spPr>
          <a:xfrm>
            <a:off x="1676400" y="5097780"/>
            <a:ext cx="1104900" cy="388620"/>
          </a:xfrm>
          <a:prstGeom prst="rect">
            <a:avLst/>
          </a:prstGeom>
          <a:noFill/>
          <a:ln/>
        </p:spPr>
        <p:txBody>
          <a:bodyPr wrap="none" lIns="25400" tIns="25400" rIns="25400" bIns="25400" rtlCol="0" anchor="t">
            <a:normAutofit/>
          </a:bodyPr>
          <a:lstStyle/>
          <a:p>
            <a:pPr marL="0" indent="0" algn="l">
              <a:buNone/>
            </a:pPr>
            <a:r>
              <a:rPr lang="en-US" sz="1950" b="1" dirty="0">
                <a:solidFill>
                  <a:srgbClr val="B0392F"/>
                </a:solidFill>
                <a:latin typeface="Helvetica" pitchFamily="34" charset="0"/>
                <a:ea typeface="Helvetica" pitchFamily="34" charset="-122"/>
                <a:cs typeface="Helvetica" pitchFamily="34" charset="-120"/>
              </a:rPr>
              <a:t>FALSE</a:t>
            </a:r>
            <a:endParaRPr lang="en-US" sz="1950" dirty="0"/>
          </a:p>
        </p:txBody>
      </p:sp>
      <p:sp>
        <p:nvSpPr>
          <p:cNvPr id="23" name="Text 21"/>
          <p:cNvSpPr/>
          <p:nvPr/>
        </p:nvSpPr>
        <p:spPr>
          <a:xfrm>
            <a:off x="2952750" y="5132070"/>
            <a:ext cx="14144625" cy="32004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44444"/>
                </a:solidFill>
                <a:latin typeface="Helvetica" pitchFamily="34" charset="0"/>
                <a:ea typeface="Helvetica" pitchFamily="34" charset="-122"/>
                <a:cs typeface="Helvetica" pitchFamily="34" charset="-120"/>
              </a:rPr>
              <a:t>The article says the World Cup is only about football. </a:t>
            </a:r>
            <a:r>
              <a:rPr lang="en-US" sz="1950" i="1" dirty="0">
                <a:solidFill>
                  <a:srgbClr val="888888"/>
                </a:solidFill>
                <a:latin typeface="Helvetica" pitchFamily="34" charset="0"/>
                <a:ea typeface="Helvetica" pitchFamily="34" charset="-122"/>
                <a:cs typeface="Helvetica" pitchFamily="34" charset="-120"/>
              </a:rPr>
              <a:t>— it is much larger.</a:t>
            </a:r>
            <a:endParaRPr lang="en-US" sz="1950" dirty="0"/>
          </a:p>
        </p:txBody>
      </p:sp>
      <p:sp>
        <p:nvSpPr>
          <p:cNvPr id="24" name="Text 22"/>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4">
    <p:bg>
      <p:bgPr>
        <a:solidFill>
          <a:srgbClr val="1A2A5E"/>
        </a:solidFill>
        <a:effectLst/>
      </p:bgPr>
    </p:bg>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D9B877"/>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FFFFFF"/>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D9B877"/>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46685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D9B877"/>
                </a:solidFill>
                <a:latin typeface="Helvetica" pitchFamily="34" charset="0"/>
                <a:ea typeface="Helvetica" pitchFamily="34" charset="-122"/>
                <a:cs typeface="Helvetica" pitchFamily="34" charset="-120"/>
              </a:rPr>
              <a:t>DISCUSSION</a:t>
            </a:r>
            <a:endParaRPr lang="en-US" sz="1500" dirty="0"/>
          </a:p>
        </p:txBody>
      </p:sp>
      <p:sp>
        <p:nvSpPr>
          <p:cNvPr id="6" name="Text 4"/>
          <p:cNvSpPr/>
          <p:nvPr/>
        </p:nvSpPr>
        <p:spPr>
          <a:xfrm>
            <a:off x="1047750" y="1764030"/>
            <a:ext cx="17811750" cy="601980"/>
          </a:xfrm>
          <a:prstGeom prst="rect">
            <a:avLst/>
          </a:prstGeom>
          <a:noFill/>
          <a:ln/>
        </p:spPr>
        <p:txBody>
          <a:bodyPr wrap="square" lIns="25400" tIns="25400" rIns="25400" bIns="25400" rtlCol="0" anchor="t">
            <a:normAutofit lnSpcReduction="10000"/>
          </a:bodyPr>
          <a:lstStyle/>
          <a:p>
            <a:pPr marL="0" indent="0" algn="l">
              <a:buNone/>
            </a:pPr>
            <a:r>
              <a:rPr lang="en-US" sz="3900" b="1" dirty="0">
                <a:solidFill>
                  <a:srgbClr val="FFFFFF"/>
                </a:solidFill>
                <a:latin typeface="Georgia" pitchFamily="34" charset="0"/>
                <a:ea typeface="Georgia" pitchFamily="34" charset="-122"/>
                <a:cs typeface="Georgia" pitchFamily="34" charset="-120"/>
              </a:rPr>
              <a:t>Talk it through</a:t>
            </a:r>
            <a:endParaRPr lang="en-US" sz="3900" dirty="0"/>
          </a:p>
        </p:txBody>
      </p:sp>
      <p:sp>
        <p:nvSpPr>
          <p:cNvPr id="7" name="Shape 5"/>
          <p:cNvSpPr/>
          <p:nvPr/>
        </p:nvSpPr>
        <p:spPr>
          <a:xfrm>
            <a:off x="1047750" y="3200400"/>
            <a:ext cx="15049500" cy="9525"/>
          </a:xfrm>
          <a:prstGeom prst="rect">
            <a:avLst/>
          </a:prstGeom>
          <a:solidFill>
            <a:srgbClr val="34437A"/>
          </a:solidFill>
          <a:ln/>
        </p:spPr>
        <p:txBody>
          <a:bodyPr/>
          <a:lstStyle/>
          <a:p>
            <a:endParaRPr lang="en-US"/>
          </a:p>
        </p:txBody>
      </p:sp>
      <p:sp>
        <p:nvSpPr>
          <p:cNvPr id="8" name="Text 6"/>
          <p:cNvSpPr/>
          <p:nvPr/>
        </p:nvSpPr>
        <p:spPr>
          <a:xfrm>
            <a:off x="1047750" y="2670810"/>
            <a:ext cx="215384"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1</a:t>
            </a:r>
            <a:endParaRPr lang="en-US" sz="2550" dirty="0"/>
          </a:p>
        </p:txBody>
      </p:sp>
      <p:sp>
        <p:nvSpPr>
          <p:cNvPr id="9" name="Text 7"/>
          <p:cNvSpPr/>
          <p:nvPr/>
        </p:nvSpPr>
        <p:spPr>
          <a:xfrm>
            <a:off x="1415534" y="2701290"/>
            <a:ext cx="16149888"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Do you enjoy watching the World Cup or big sporting events? Why or why not?</a:t>
            </a:r>
            <a:endParaRPr lang="en-US" sz="2100" dirty="0"/>
          </a:p>
        </p:txBody>
      </p:sp>
      <p:sp>
        <p:nvSpPr>
          <p:cNvPr id="10" name="Shape 8"/>
          <p:cNvSpPr/>
          <p:nvPr/>
        </p:nvSpPr>
        <p:spPr>
          <a:xfrm>
            <a:off x="1047750" y="3909060"/>
            <a:ext cx="15049500" cy="9525"/>
          </a:xfrm>
          <a:prstGeom prst="rect">
            <a:avLst/>
          </a:prstGeom>
          <a:solidFill>
            <a:srgbClr val="34437A"/>
          </a:solidFill>
          <a:ln/>
        </p:spPr>
        <p:txBody>
          <a:bodyPr/>
          <a:lstStyle/>
          <a:p>
            <a:endParaRPr lang="en-US"/>
          </a:p>
        </p:txBody>
      </p:sp>
      <p:sp>
        <p:nvSpPr>
          <p:cNvPr id="11" name="Text 9"/>
          <p:cNvSpPr/>
          <p:nvPr/>
        </p:nvSpPr>
        <p:spPr>
          <a:xfrm>
            <a:off x="1047750" y="3379470"/>
            <a:ext cx="257175"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2</a:t>
            </a:r>
            <a:endParaRPr lang="en-US" sz="2550" dirty="0"/>
          </a:p>
        </p:txBody>
      </p:sp>
      <p:sp>
        <p:nvSpPr>
          <p:cNvPr id="12" name="Text 10"/>
          <p:cNvSpPr/>
          <p:nvPr/>
        </p:nvSpPr>
        <p:spPr>
          <a:xfrm>
            <a:off x="1457325" y="3409950"/>
            <a:ext cx="16103918"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Has a sporting event ever brought your country or family together?</a:t>
            </a:r>
            <a:endParaRPr lang="en-US" sz="2100" dirty="0"/>
          </a:p>
        </p:txBody>
      </p:sp>
      <p:sp>
        <p:nvSpPr>
          <p:cNvPr id="13" name="Shape 11"/>
          <p:cNvSpPr/>
          <p:nvPr/>
        </p:nvSpPr>
        <p:spPr>
          <a:xfrm>
            <a:off x="1047750" y="4617720"/>
            <a:ext cx="15049500" cy="9525"/>
          </a:xfrm>
          <a:prstGeom prst="rect">
            <a:avLst/>
          </a:prstGeom>
          <a:solidFill>
            <a:srgbClr val="34437A"/>
          </a:solidFill>
          <a:ln/>
        </p:spPr>
        <p:txBody>
          <a:bodyPr/>
          <a:lstStyle/>
          <a:p>
            <a:endParaRPr lang="en-US"/>
          </a:p>
        </p:txBody>
      </p:sp>
      <p:sp>
        <p:nvSpPr>
          <p:cNvPr id="14" name="Text 12"/>
          <p:cNvSpPr/>
          <p:nvPr/>
        </p:nvSpPr>
        <p:spPr>
          <a:xfrm>
            <a:off x="1047750" y="4088130"/>
            <a:ext cx="254913"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3</a:t>
            </a:r>
            <a:endParaRPr lang="en-US" sz="2550" dirty="0"/>
          </a:p>
        </p:txBody>
      </p:sp>
      <p:sp>
        <p:nvSpPr>
          <p:cNvPr id="15" name="Text 13"/>
          <p:cNvSpPr/>
          <p:nvPr/>
        </p:nvSpPr>
        <p:spPr>
          <a:xfrm>
            <a:off x="1455063" y="4118610"/>
            <a:ext cx="16106406"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Why do people feel such strong emotions about their national team?</a:t>
            </a:r>
            <a:endParaRPr lang="en-US" sz="2100" dirty="0"/>
          </a:p>
        </p:txBody>
      </p:sp>
      <p:sp>
        <p:nvSpPr>
          <p:cNvPr id="16" name="Shape 14"/>
          <p:cNvSpPr/>
          <p:nvPr/>
        </p:nvSpPr>
        <p:spPr>
          <a:xfrm>
            <a:off x="1047750" y="5326380"/>
            <a:ext cx="15049500" cy="9525"/>
          </a:xfrm>
          <a:prstGeom prst="rect">
            <a:avLst/>
          </a:prstGeom>
          <a:solidFill>
            <a:srgbClr val="34437A"/>
          </a:solidFill>
          <a:ln/>
        </p:spPr>
        <p:txBody>
          <a:bodyPr/>
          <a:lstStyle/>
          <a:p>
            <a:endParaRPr lang="en-US"/>
          </a:p>
        </p:txBody>
      </p:sp>
      <p:sp>
        <p:nvSpPr>
          <p:cNvPr id="17" name="Text 15"/>
          <p:cNvSpPr/>
          <p:nvPr/>
        </p:nvSpPr>
        <p:spPr>
          <a:xfrm>
            <a:off x="1047750" y="4796790"/>
            <a:ext cx="259199"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4</a:t>
            </a:r>
            <a:endParaRPr lang="en-US" sz="2550" dirty="0"/>
          </a:p>
        </p:txBody>
      </p:sp>
      <p:sp>
        <p:nvSpPr>
          <p:cNvPr id="18" name="Text 16"/>
          <p:cNvSpPr/>
          <p:nvPr/>
        </p:nvSpPr>
        <p:spPr>
          <a:xfrm>
            <a:off x="1459349" y="4827270"/>
            <a:ext cx="16101691"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Is spending billions to host the World Cup worth it? Why or why not?</a:t>
            </a:r>
            <a:endParaRPr lang="en-US" sz="2100" dirty="0"/>
          </a:p>
        </p:txBody>
      </p:sp>
      <p:sp>
        <p:nvSpPr>
          <p:cNvPr id="19" name="Text 17"/>
          <p:cNvSpPr/>
          <p:nvPr/>
        </p:nvSpPr>
        <p:spPr>
          <a:xfrm>
            <a:off x="1047750" y="5505450"/>
            <a:ext cx="247412" cy="40386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D9B877"/>
                </a:solidFill>
                <a:latin typeface="Georgia" pitchFamily="34" charset="0"/>
                <a:ea typeface="Georgia" pitchFamily="34" charset="-122"/>
                <a:cs typeface="Georgia" pitchFamily="34" charset="-120"/>
              </a:rPr>
              <a:t>5</a:t>
            </a:r>
            <a:endParaRPr lang="en-US" sz="2550" dirty="0"/>
          </a:p>
        </p:txBody>
      </p:sp>
      <p:sp>
        <p:nvSpPr>
          <p:cNvPr id="20" name="Text 18"/>
          <p:cNvSpPr/>
          <p:nvPr/>
        </p:nvSpPr>
        <p:spPr>
          <a:xfrm>
            <a:off x="1447562" y="5535930"/>
            <a:ext cx="16114657" cy="38481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2100" dirty="0">
                <a:solidFill>
                  <a:srgbClr val="EEF1F8"/>
                </a:solidFill>
                <a:latin typeface="Helvetica" pitchFamily="34" charset="0"/>
                <a:ea typeface="Helvetica" pitchFamily="34" charset="-122"/>
                <a:cs typeface="Helvetica" pitchFamily="34" charset="-120"/>
              </a:rPr>
              <a:t>Does the World Cup still bring the world together, or divide it?</a:t>
            </a:r>
            <a:endParaRPr lang="en-US" sz="2100" dirty="0"/>
          </a:p>
        </p:txBody>
      </p:sp>
      <p:sp>
        <p:nvSpPr>
          <p:cNvPr id="21" name="Text 19"/>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A6C6"/>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986790"/>
            <a:ext cx="16192500" cy="22860"/>
          </a:xfrm>
          <a:prstGeom prst="rect">
            <a:avLst/>
          </a:prstGeom>
          <a:solidFill>
            <a:srgbClr val="1A2A5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 1"/>
          <p:cNvSpPr/>
          <p:nvPr/>
        </p:nvSpPr>
        <p:spPr>
          <a:xfrm>
            <a:off x="1047750" y="571500"/>
            <a:ext cx="3771900" cy="320040"/>
          </a:xfrm>
          <a:prstGeom prst="rect">
            <a:avLst/>
          </a:prstGeom>
          <a:noFill/>
          <a:ln/>
        </p:spPr>
        <p:txBody>
          <a:bodyPr wrap="none" lIns="25400" tIns="25400" rIns="25400" bIns="25400" rtlCol="0" anchor="t">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50" b="1" i="0" u="none" strike="noStrike" kern="0" cap="none" spc="38" normalizeH="0" baseline="0" noProof="0" dirty="0">
                <a:ln>
                  <a:noFill/>
                </a:ln>
                <a:solidFill>
                  <a:srgbClr val="1A2A5E"/>
                </a:solidFill>
                <a:effectLst/>
                <a:uLnTx/>
                <a:uFillTx/>
                <a:latin typeface="Georgia" pitchFamily="34" charset="0"/>
                <a:ea typeface="Georgia" pitchFamily="34" charset="-122"/>
                <a:cs typeface="Georgia" pitchFamily="34" charset="-120"/>
              </a:rPr>
              <a:t>PERSPECTIVE</a:t>
            </a:r>
            <a:endParaRPr kumimoji="0" lang="en-US" sz="1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14319528" y="605790"/>
            <a:ext cx="3212795" cy="251460"/>
          </a:xfrm>
          <a:prstGeom prst="rect">
            <a:avLst/>
          </a:prstGeom>
          <a:noFill/>
          <a:ln/>
        </p:spPr>
        <p:txBody>
          <a:bodyPr wrap="square" lIns="25400" tIns="25400" rIns="25400" bIns="2540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150" normalizeH="0" baseline="0" noProof="0" dirty="0">
                <a:ln>
                  <a:noFill/>
                </a:ln>
                <a:solidFill>
                  <a:srgbClr val="1A2A5E"/>
                </a:solidFill>
                <a:effectLst/>
                <a:uLnTx/>
                <a:uFillTx/>
                <a:latin typeface="Helvetica" pitchFamily="34" charset="0"/>
                <a:ea typeface="Helvetica" pitchFamily="34" charset="-122"/>
                <a:cs typeface="Helvetica" pitchFamily="34" charset="-120"/>
              </a:rPr>
              <a:t>ISSUE 005 · THE WORLD CUP</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1047750" y="1238250"/>
            <a:ext cx="2757547" cy="259080"/>
          </a:xfrm>
          <a:prstGeom prst="rect">
            <a:avLst/>
          </a:prstGeom>
          <a:noFill/>
          <a:ln/>
        </p:spPr>
        <p:txBody>
          <a:bodyPr wrap="square" lIns="25400" tIns="25400" rIns="25400" bIns="25400" rtlCol="0" anchor="t">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0" cap="none" spc="300" normalizeH="0" baseline="0" noProof="0" dirty="0">
                <a:ln>
                  <a:noFill/>
                </a:ln>
                <a:solidFill>
                  <a:srgbClr val="BF842C"/>
                </a:solidFill>
                <a:effectLst/>
                <a:uLnTx/>
                <a:uFillTx/>
                <a:latin typeface="Helvetica" pitchFamily="34" charset="0"/>
                <a:ea typeface="Helvetica" pitchFamily="34" charset="-122"/>
                <a:cs typeface="Helvetica" pitchFamily="34" charset="-120"/>
              </a:rPr>
              <a:t>CRITICAL THINKING</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4"/>
          <p:cNvSpPr/>
          <p:nvPr/>
        </p:nvSpPr>
        <p:spPr>
          <a:xfrm>
            <a:off x="3764161" y="1247775"/>
            <a:ext cx="2026444" cy="240030"/>
          </a:xfrm>
          <a:prstGeom prst="rect">
            <a:avLst/>
          </a:prstGeom>
          <a:ln w="7620">
            <a:solidFill>
              <a:srgbClr val="D9B87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Text 5"/>
          <p:cNvSpPr/>
          <p:nvPr/>
        </p:nvSpPr>
        <p:spPr>
          <a:xfrm>
            <a:off x="3886081" y="1283970"/>
            <a:ext cx="1858804" cy="205740"/>
          </a:xfrm>
          <a:prstGeom prst="rect">
            <a:avLst/>
          </a:prstGeom>
          <a:noFill/>
          <a:ln/>
        </p:spPr>
        <p:txBody>
          <a:bodyPr wrap="none" lIns="25400" tIns="25400" rIns="25400" bIns="25400" rtlCol="0" anchor="t">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5" b="1" i="0" u="none" strike="noStrike" kern="0" cap="none" spc="225" normalizeH="0" baseline="0" noProof="0" dirty="0">
                <a:ln>
                  <a:noFill/>
                </a:ln>
                <a:solidFill>
                  <a:srgbClr val="BF842C"/>
                </a:solidFill>
                <a:effectLst/>
                <a:uLnTx/>
                <a:uFillTx/>
                <a:latin typeface="Helvetica" pitchFamily="34" charset="0"/>
                <a:ea typeface="Helvetica" pitchFamily="34" charset="-122"/>
                <a:cs typeface="Helvetica" pitchFamily="34" charset="-120"/>
              </a:rPr>
              <a:t>WAS IT WORTH IT?</a:t>
            </a:r>
            <a:endParaRPr kumimoji="0" lang="en-US" sz="112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6"/>
          <p:cNvSpPr/>
          <p:nvPr/>
        </p:nvSpPr>
        <p:spPr>
          <a:xfrm>
            <a:off x="1047750" y="1564005"/>
            <a:ext cx="17811750" cy="510540"/>
          </a:xfrm>
          <a:prstGeom prst="rect">
            <a:avLst/>
          </a:prstGeom>
          <a:noFill/>
          <a:ln/>
        </p:spPr>
        <p:txBody>
          <a:bodyPr wrap="square" lIns="25400" tIns="25400" rIns="25400" bIns="25400" rtlCol="0" anchor="t">
            <a:normAutofit fontScale="92500"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300" b="1" i="0" u="none" strike="noStrike" kern="1200" cap="none" spc="0" normalizeH="0" baseline="0" noProof="0" dirty="0">
                <a:ln>
                  <a:noFill/>
                </a:ln>
                <a:solidFill>
                  <a:srgbClr val="1A2A5E"/>
                </a:solidFill>
                <a:effectLst/>
                <a:uLnTx/>
                <a:uFillTx/>
                <a:latin typeface="Georgia" pitchFamily="34" charset="0"/>
                <a:ea typeface="Georgia" pitchFamily="34" charset="-122"/>
                <a:cs typeface="Georgia" pitchFamily="34" charset="-120"/>
              </a:rPr>
              <a:t>Six things a country buys when it hosts a World Cup. Which were worth the money?</a:t>
            </a:r>
            <a:endParaRPr kumimoji="0" lang="en-US" sz="3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7"/>
          <p:cNvSpPr/>
          <p:nvPr/>
        </p:nvSpPr>
        <p:spPr>
          <a:xfrm>
            <a:off x="1047750" y="2112645"/>
            <a:ext cx="17811750" cy="281940"/>
          </a:xfrm>
          <a:prstGeom prst="rect">
            <a:avLst/>
          </a:prstGeom>
          <a:noFill/>
          <a:ln/>
        </p:spPr>
        <p:txBody>
          <a:bodyPr wrap="square" lIns="25400" tIns="25400" rIns="25400" bIns="25400" rtlCol="0" anchor="t">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50" b="0" i="0" u="none" strike="noStrike" kern="1200" cap="none" spc="0" normalizeH="0" baseline="0" noProof="0" dirty="0">
                <a:ln>
                  <a:noFill/>
                </a:ln>
                <a:solidFill>
                  <a:srgbClr val="555555"/>
                </a:solidFill>
                <a:effectLst/>
                <a:uLnTx/>
                <a:uFillTx/>
                <a:latin typeface="Helvetica" pitchFamily="34" charset="0"/>
                <a:ea typeface="Helvetica" pitchFamily="34" charset="-122"/>
                <a:cs typeface="Helvetica" pitchFamily="34" charset="-120"/>
              </a:rPr>
              <a:t>Mark each one </a:t>
            </a:r>
            <a:r>
              <a:rPr kumimoji="0" lang="en-US" sz="1650" b="1" i="0" u="none" strike="noStrike" kern="1200" cap="none" spc="0" normalizeH="0" baseline="0" noProof="0" dirty="0">
                <a:ln>
                  <a:noFill/>
                </a:ln>
                <a:solidFill>
                  <a:srgbClr val="1A2A5E"/>
                </a:solidFill>
                <a:effectLst/>
                <a:uLnTx/>
                <a:uFillTx/>
                <a:latin typeface="Helvetica" pitchFamily="34" charset="0"/>
                <a:ea typeface="Helvetica" pitchFamily="34" charset="-122"/>
                <a:cs typeface="Helvetica" pitchFamily="34" charset="-120"/>
              </a:rPr>
              <a:t>WORTH IT </a:t>
            </a:r>
            <a:r>
              <a:rPr kumimoji="0" lang="en-US" sz="1650" b="0" i="0" u="none" strike="noStrike" kern="1200" cap="none" spc="0" normalizeH="0" baseline="0" noProof="0" dirty="0">
                <a:ln>
                  <a:noFill/>
                </a:ln>
                <a:solidFill>
                  <a:srgbClr val="555555"/>
                </a:solidFill>
                <a:effectLst/>
                <a:uLnTx/>
                <a:uFillTx/>
                <a:latin typeface="Helvetica" pitchFamily="34" charset="0"/>
                <a:ea typeface="Helvetica" pitchFamily="34" charset="-122"/>
                <a:cs typeface="Helvetica" pitchFamily="34" charset="-120"/>
              </a:rPr>
              <a:t>or </a:t>
            </a:r>
            <a:r>
              <a:rPr kumimoji="0" lang="en-US" sz="1650" b="1" i="0" u="none" strike="noStrike" kern="1200" cap="none" spc="0" normalizeH="0" baseline="0" noProof="0" dirty="0">
                <a:ln>
                  <a:noFill/>
                </a:ln>
                <a:solidFill>
                  <a:srgbClr val="1A2A5E"/>
                </a:solidFill>
                <a:effectLst/>
                <a:uLnTx/>
                <a:uFillTx/>
                <a:latin typeface="Helvetica" pitchFamily="34" charset="0"/>
                <a:ea typeface="Helvetica" pitchFamily="34" charset="-122"/>
                <a:cs typeface="Helvetica" pitchFamily="34" charset="-120"/>
              </a:rPr>
              <a:t>NOT</a:t>
            </a:r>
            <a:r>
              <a:rPr kumimoji="0" lang="en-US" sz="1650" b="0" i="0" u="none" strike="noStrike" kern="1200" cap="none" spc="0" normalizeH="0" baseline="0" noProof="0" dirty="0">
                <a:ln>
                  <a:noFill/>
                </a:ln>
                <a:solidFill>
                  <a:srgbClr val="555555"/>
                </a:solidFill>
                <a:effectLst/>
                <a:uLnTx/>
                <a:uFillTx/>
                <a:latin typeface="Helvetica" pitchFamily="34" charset="0"/>
                <a:ea typeface="Helvetica" pitchFamily="34" charset="-122"/>
                <a:cs typeface="Helvetica" pitchFamily="34" charset="-120"/>
              </a:rPr>
              <a:t>. You have to agree as a group, and be ready to say who paid.</a:t>
            </a:r>
            <a:endParaRPr kumimoji="0" lang="en-US" sz="1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8"/>
          <p:cNvSpPr/>
          <p:nvPr/>
        </p:nvSpPr>
        <p:spPr>
          <a:xfrm>
            <a:off x="1047750" y="2527935"/>
            <a:ext cx="16192500" cy="15240"/>
          </a:xfrm>
          <a:prstGeom prst="rect">
            <a:avLst/>
          </a:prstGeom>
          <a:solidFill>
            <a:srgbClr val="1A2A5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Text 9"/>
          <p:cNvSpPr/>
          <p:nvPr/>
        </p:nvSpPr>
        <p:spPr>
          <a:xfrm>
            <a:off x="1047750" y="2619375"/>
            <a:ext cx="3237548" cy="220980"/>
          </a:xfrm>
          <a:prstGeom prst="rect">
            <a:avLst/>
          </a:prstGeom>
          <a:noFill/>
          <a:ln/>
        </p:spPr>
        <p:txBody>
          <a:bodyPr wrap="square" lIns="25400" tIns="25400" rIns="25400" bIns="2540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0" cap="none" spc="150" normalizeH="0" baseline="0" noProof="0" dirty="0">
                <a:ln>
                  <a:noFill/>
                </a:ln>
                <a:solidFill>
                  <a:srgbClr val="8A8A8A"/>
                </a:solidFill>
                <a:effectLst/>
                <a:uLnTx/>
                <a:uFillTx/>
                <a:latin typeface="Helvetica" pitchFamily="34" charset="0"/>
                <a:ea typeface="Helvetica" pitchFamily="34" charset="-122"/>
                <a:cs typeface="Helvetica" pitchFamily="34" charset="-120"/>
              </a:rPr>
              <a:t>WHAT THEY GOT</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10"/>
          <p:cNvSpPr/>
          <p:nvPr/>
        </p:nvSpPr>
        <p:spPr>
          <a:xfrm>
            <a:off x="4191000" y="2619375"/>
            <a:ext cx="10889933" cy="220980"/>
          </a:xfrm>
          <a:prstGeom prst="rect">
            <a:avLst/>
          </a:prstGeom>
          <a:noFill/>
          <a:ln/>
        </p:spPr>
        <p:txBody>
          <a:bodyPr wrap="square" lIns="25400" tIns="25400" rIns="25400" bIns="2540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0" cap="none" spc="150" normalizeH="0" baseline="0" noProof="0" dirty="0">
                <a:ln>
                  <a:noFill/>
                </a:ln>
                <a:solidFill>
                  <a:srgbClr val="8A8A8A"/>
                </a:solidFill>
                <a:effectLst/>
                <a:uLnTx/>
                <a:uFillTx/>
                <a:latin typeface="Helvetica" pitchFamily="34" charset="0"/>
                <a:ea typeface="Helvetica" pitchFamily="34" charset="-122"/>
                <a:cs typeface="Helvetica" pitchFamily="34" charset="-120"/>
              </a:rPr>
              <a:t>WHAT IT LOOKS LIKE FIVE YEARS LATER</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1"/>
          <p:cNvSpPr/>
          <p:nvPr/>
        </p:nvSpPr>
        <p:spPr>
          <a:xfrm>
            <a:off x="14725650" y="2619375"/>
            <a:ext cx="1504950" cy="220980"/>
          </a:xfrm>
          <a:prstGeom prst="rect">
            <a:avLst/>
          </a:prstGeom>
          <a:noFill/>
          <a:ln/>
        </p:spPr>
        <p:txBody>
          <a:bodyPr wrap="square" lIns="25400" tIns="25400" rIns="25400" bIns="25400" rtlCol="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0" cap="none" spc="75" normalizeH="0" baseline="0" noProof="0" dirty="0">
                <a:ln>
                  <a:noFill/>
                </a:ln>
                <a:solidFill>
                  <a:srgbClr val="8A8A8A"/>
                </a:solidFill>
                <a:effectLst/>
                <a:uLnTx/>
                <a:uFillTx/>
                <a:latin typeface="Helvetica" pitchFamily="34" charset="0"/>
                <a:ea typeface="Helvetica" pitchFamily="34" charset="-122"/>
                <a:cs typeface="Helvetica" pitchFamily="34" charset="-120"/>
              </a:rPr>
              <a:t>WORTH IT</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16154400" y="2619375"/>
            <a:ext cx="1123950" cy="220980"/>
          </a:xfrm>
          <a:prstGeom prst="rect">
            <a:avLst/>
          </a:prstGeom>
          <a:noFill/>
          <a:ln/>
        </p:spPr>
        <p:txBody>
          <a:bodyPr wrap="square" lIns="25400" tIns="25400" rIns="25400" bIns="25400" rtlCol="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0" cap="none" spc="75" normalizeH="0" baseline="0" noProof="0" dirty="0">
                <a:ln>
                  <a:noFill/>
                </a:ln>
                <a:solidFill>
                  <a:srgbClr val="8A8A8A"/>
                </a:solidFill>
                <a:effectLst/>
                <a:uLnTx/>
                <a:uFillTx/>
                <a:latin typeface="Helvetica" pitchFamily="34" charset="0"/>
                <a:ea typeface="Helvetica" pitchFamily="34" charset="-122"/>
                <a:cs typeface="Helvetica" pitchFamily="34" charset="-120"/>
              </a:rPr>
              <a:t>NOT</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1047750" y="2878455"/>
            <a:ext cx="314325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p:cNvSpPr/>
          <p:nvPr/>
        </p:nvSpPr>
        <p:spPr>
          <a:xfrm>
            <a:off x="1047750" y="3000375"/>
            <a:ext cx="3142298" cy="320040"/>
          </a:xfrm>
          <a:prstGeom prst="rect">
            <a:avLst/>
          </a:prstGeom>
          <a:noFill/>
          <a:ln/>
        </p:spPr>
        <p:txBody>
          <a:bodyPr wrap="square" lIns="25400" tIns="25400" rIns="25400" bIns="2540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75" b="1" i="0" u="none" strike="noStrike" kern="1200" cap="none" spc="0" normalizeH="0" baseline="0" noProof="0" dirty="0">
                <a:ln>
                  <a:noFill/>
                </a:ln>
                <a:solidFill>
                  <a:srgbClr val="1A1A1A"/>
                </a:solidFill>
                <a:effectLst/>
                <a:uLnTx/>
                <a:uFillTx/>
                <a:latin typeface="Helvetica" pitchFamily="34" charset="0"/>
                <a:ea typeface="Helvetica" pitchFamily="34" charset="-122"/>
                <a:cs typeface="Helvetica" pitchFamily="34" charset="-120"/>
              </a:rPr>
              <a:t>A $200M stadium</a:t>
            </a:r>
            <a:endParaRPr kumimoji="0" lang="en-US" sz="157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4191000" y="2878455"/>
            <a:ext cx="1057275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4191000" y="3000375"/>
            <a:ext cx="10775633" cy="320040"/>
          </a:xfrm>
          <a:prstGeom prst="rect">
            <a:avLst/>
          </a:prstGeom>
          <a:noFill/>
          <a:ln/>
        </p:spPr>
        <p:txBody>
          <a:bodyPr wrap="square" lIns="25400" tIns="25400" rIns="25400" bIns="25400" rtlCol="0" anchor="t">
            <a:normAutofit/>
          </a:bodyPr>
          <a:lstStyle/>
          <a:p>
            <a:pPr marL="0" marR="0" lvl="0" indent="0" algn="l" defTabSz="914400" rtl="0" eaLnBrk="1" fontAlgn="auto" latinLnBrk="0" hangingPunct="1">
              <a:lnSpc>
                <a:spcPct val="106027"/>
              </a:lnSpc>
              <a:spcBef>
                <a:spcPts val="0"/>
              </a:spcBef>
              <a:spcAft>
                <a:spcPts val="0"/>
              </a:spcAft>
              <a:buClrTx/>
              <a:buSzTx/>
              <a:buFontTx/>
              <a:buNone/>
              <a:tabLst/>
              <a:defRPr/>
            </a:pPr>
            <a:r>
              <a:rPr kumimoji="0" lang="en-US" sz="1425" b="0" i="0" u="none" strike="noStrike" kern="1200" cap="none" spc="0" normalizeH="0" baseline="0" noProof="0" dirty="0">
                <a:ln>
                  <a:noFill/>
                </a:ln>
                <a:solidFill>
                  <a:srgbClr val="333333"/>
                </a:solidFill>
                <a:effectLst/>
                <a:uLnTx/>
                <a:uFillTx/>
                <a:latin typeface="Helvetica" pitchFamily="34" charset="0"/>
                <a:ea typeface="Helvetica" pitchFamily="34" charset="-122"/>
                <a:cs typeface="Helvetica" pitchFamily="34" charset="-120"/>
              </a:rPr>
              <a:t>Beautiful, and now home to a third-division team who fill a tenth of it.</a:t>
            </a:r>
            <a:endParaRPr kumimoji="0" lang="en-US" sz="142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14763750" y="2878455"/>
            <a:ext cx="142875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14725650" y="3000375"/>
            <a:ext cx="1504950" cy="320040"/>
          </a:xfrm>
          <a:prstGeom prst="rect">
            <a:avLst/>
          </a:prstGeom>
          <a:noFill/>
          <a:ln/>
        </p:spPr>
        <p:txBody>
          <a:bodyPr wrap="square" lIns="25400" tIns="25400" rIns="25400" bIns="25400" rtlCol="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50" b="0" i="0" u="none" strike="noStrike" kern="1200" cap="none" spc="0" normalizeH="0" baseline="0" noProof="0" dirty="0">
                <a:ln>
                  <a:noFill/>
                </a:ln>
                <a:solidFill>
                  <a:srgbClr val="B9B7B0"/>
                </a:solidFill>
                <a:effectLst/>
                <a:uLnTx/>
                <a:uFillTx/>
                <a:latin typeface="Helvetica" pitchFamily="34" charset="0"/>
                <a:ea typeface="Helvetica" pitchFamily="34" charset="-122"/>
                <a:cs typeface="Helvetica" pitchFamily="34" charset="-120"/>
              </a:rPr>
              <a:t>☐</a:t>
            </a:r>
            <a:endParaRPr kumimoji="0" lang="en-US" sz="1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16192500" y="2878455"/>
            <a:ext cx="104775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16154400" y="3000375"/>
            <a:ext cx="1123950" cy="320040"/>
          </a:xfrm>
          <a:prstGeom prst="rect">
            <a:avLst/>
          </a:prstGeom>
          <a:noFill/>
          <a:ln/>
        </p:spPr>
        <p:txBody>
          <a:bodyPr wrap="square" lIns="25400" tIns="25400" rIns="25400" bIns="25400" rtlCol="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50" b="0" i="0" u="none" strike="noStrike" kern="1200" cap="none" spc="0" normalizeH="0" baseline="0" noProof="0" dirty="0">
                <a:ln>
                  <a:noFill/>
                </a:ln>
                <a:solidFill>
                  <a:srgbClr val="B9B7B0"/>
                </a:solidFill>
                <a:effectLst/>
                <a:uLnTx/>
                <a:uFillTx/>
                <a:latin typeface="Helvetica" pitchFamily="34" charset="0"/>
                <a:ea typeface="Helvetica" pitchFamily="34" charset="-122"/>
                <a:cs typeface="Helvetica" pitchFamily="34" charset="-120"/>
              </a:rPr>
              <a:t>☐</a:t>
            </a:r>
            <a:endParaRPr kumimoji="0" lang="en-US" sz="1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21"/>
          <p:cNvSpPr/>
          <p:nvPr/>
        </p:nvSpPr>
        <p:spPr>
          <a:xfrm>
            <a:off x="1047750" y="3396615"/>
            <a:ext cx="314325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Text 22"/>
          <p:cNvSpPr/>
          <p:nvPr/>
        </p:nvSpPr>
        <p:spPr>
          <a:xfrm>
            <a:off x="1047750" y="3518535"/>
            <a:ext cx="3142298" cy="320040"/>
          </a:xfrm>
          <a:prstGeom prst="rect">
            <a:avLst/>
          </a:prstGeom>
          <a:noFill/>
          <a:ln/>
        </p:spPr>
        <p:txBody>
          <a:bodyPr wrap="square" lIns="25400" tIns="25400" rIns="25400" bIns="2540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75" b="1" i="0" u="none" strike="noStrike" kern="1200" cap="none" spc="0" normalizeH="0" baseline="0" noProof="0" dirty="0">
                <a:ln>
                  <a:noFill/>
                </a:ln>
                <a:solidFill>
                  <a:srgbClr val="1A1A1A"/>
                </a:solidFill>
                <a:effectLst/>
                <a:uLnTx/>
                <a:uFillTx/>
                <a:latin typeface="Helvetica" pitchFamily="34" charset="0"/>
                <a:ea typeface="Helvetica" pitchFamily="34" charset="-122"/>
                <a:cs typeface="Helvetica" pitchFamily="34" charset="-120"/>
              </a:rPr>
              <a:t>A new metro line</a:t>
            </a:r>
            <a:endParaRPr kumimoji="0" lang="en-US" sz="157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4191000" y="3396615"/>
            <a:ext cx="1057275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4"/>
          <p:cNvSpPr/>
          <p:nvPr/>
        </p:nvSpPr>
        <p:spPr>
          <a:xfrm>
            <a:off x="4191000" y="3518535"/>
            <a:ext cx="10775633" cy="320040"/>
          </a:xfrm>
          <a:prstGeom prst="rect">
            <a:avLst/>
          </a:prstGeom>
          <a:noFill/>
          <a:ln/>
        </p:spPr>
        <p:txBody>
          <a:bodyPr wrap="square" lIns="25400" tIns="25400" rIns="25400" bIns="25400" rtlCol="0" anchor="t">
            <a:normAutofit/>
          </a:bodyPr>
          <a:lstStyle/>
          <a:p>
            <a:pPr marL="0" marR="0" lvl="0" indent="0" algn="l" defTabSz="914400" rtl="0" eaLnBrk="1" fontAlgn="auto" latinLnBrk="0" hangingPunct="1">
              <a:lnSpc>
                <a:spcPct val="106027"/>
              </a:lnSpc>
              <a:spcBef>
                <a:spcPts val="0"/>
              </a:spcBef>
              <a:spcAft>
                <a:spcPts val="0"/>
              </a:spcAft>
              <a:buClrTx/>
              <a:buSzTx/>
              <a:buFontTx/>
              <a:buNone/>
              <a:tabLst/>
              <a:defRPr/>
            </a:pPr>
            <a:r>
              <a:rPr kumimoji="0" lang="en-US" sz="1425" b="0" i="0" u="none" strike="noStrike" kern="1200" cap="none" spc="0" normalizeH="0" baseline="0" noProof="0" dirty="0">
                <a:ln>
                  <a:noFill/>
                </a:ln>
                <a:solidFill>
                  <a:srgbClr val="333333"/>
                </a:solidFill>
                <a:effectLst/>
                <a:uLnTx/>
                <a:uFillTx/>
                <a:latin typeface="Helvetica" pitchFamily="34" charset="0"/>
                <a:ea typeface="Helvetica" pitchFamily="34" charset="-122"/>
                <a:cs typeface="Helvetica" pitchFamily="34" charset="-120"/>
              </a:rPr>
              <a:t>Built for the fans. Used every morning by people who never bought a ticket.</a:t>
            </a:r>
            <a:endParaRPr kumimoji="0" lang="en-US" sz="142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14763750" y="3396615"/>
            <a:ext cx="142875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6"/>
          <p:cNvSpPr/>
          <p:nvPr/>
        </p:nvSpPr>
        <p:spPr>
          <a:xfrm>
            <a:off x="14725650" y="3518535"/>
            <a:ext cx="1504950" cy="320040"/>
          </a:xfrm>
          <a:prstGeom prst="rect">
            <a:avLst/>
          </a:prstGeom>
          <a:noFill/>
          <a:ln/>
        </p:spPr>
        <p:txBody>
          <a:bodyPr wrap="square" lIns="25400" tIns="25400" rIns="25400" bIns="25400" rtlCol="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50" b="0" i="0" u="none" strike="noStrike" kern="1200" cap="none" spc="0" normalizeH="0" baseline="0" noProof="0" dirty="0">
                <a:ln>
                  <a:noFill/>
                </a:ln>
                <a:solidFill>
                  <a:srgbClr val="B9B7B0"/>
                </a:solidFill>
                <a:effectLst/>
                <a:uLnTx/>
                <a:uFillTx/>
                <a:latin typeface="Helvetica" pitchFamily="34" charset="0"/>
                <a:ea typeface="Helvetica" pitchFamily="34" charset="-122"/>
                <a:cs typeface="Helvetica" pitchFamily="34" charset="-120"/>
              </a:rPr>
              <a:t>☐</a:t>
            </a:r>
            <a:endParaRPr kumimoji="0" lang="en-US" sz="1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16192500" y="3396615"/>
            <a:ext cx="104775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 28"/>
          <p:cNvSpPr/>
          <p:nvPr/>
        </p:nvSpPr>
        <p:spPr>
          <a:xfrm>
            <a:off x="16154400" y="3518535"/>
            <a:ext cx="1123950" cy="320040"/>
          </a:xfrm>
          <a:prstGeom prst="rect">
            <a:avLst/>
          </a:prstGeom>
          <a:noFill/>
          <a:ln/>
        </p:spPr>
        <p:txBody>
          <a:bodyPr wrap="square" lIns="25400" tIns="25400" rIns="25400" bIns="25400" rtlCol="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50" b="0" i="0" u="none" strike="noStrike" kern="1200" cap="none" spc="0" normalizeH="0" baseline="0" noProof="0" dirty="0">
                <a:ln>
                  <a:noFill/>
                </a:ln>
                <a:solidFill>
                  <a:srgbClr val="B9B7B0"/>
                </a:solidFill>
                <a:effectLst/>
                <a:uLnTx/>
                <a:uFillTx/>
                <a:latin typeface="Helvetica" pitchFamily="34" charset="0"/>
                <a:ea typeface="Helvetica" pitchFamily="34" charset="-122"/>
                <a:cs typeface="Helvetica" pitchFamily="34" charset="-120"/>
              </a:rPr>
              <a:t>☐</a:t>
            </a:r>
            <a:endParaRPr kumimoji="0" lang="en-US" sz="1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1047750" y="3914775"/>
            <a:ext cx="314325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1047750" y="4036695"/>
            <a:ext cx="3142298" cy="320040"/>
          </a:xfrm>
          <a:prstGeom prst="rect">
            <a:avLst/>
          </a:prstGeom>
          <a:noFill/>
          <a:ln/>
        </p:spPr>
        <p:txBody>
          <a:bodyPr wrap="square" lIns="25400" tIns="25400" rIns="25400" bIns="2540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75" b="1" i="0" u="none" strike="noStrike" kern="1200" cap="none" spc="0" normalizeH="0" baseline="0" noProof="0" dirty="0">
                <a:ln>
                  <a:noFill/>
                </a:ln>
                <a:solidFill>
                  <a:srgbClr val="1A1A1A"/>
                </a:solidFill>
                <a:effectLst/>
                <a:uLnTx/>
                <a:uFillTx/>
                <a:latin typeface="Helvetica" pitchFamily="34" charset="0"/>
                <a:ea typeface="Helvetica" pitchFamily="34" charset="-122"/>
                <a:cs typeface="Helvetica" pitchFamily="34" charset="-120"/>
              </a:rPr>
              <a:t>A month of attention</a:t>
            </a:r>
            <a:endParaRPr kumimoji="0" lang="en-US" sz="157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Shape 31"/>
          <p:cNvSpPr/>
          <p:nvPr/>
        </p:nvSpPr>
        <p:spPr>
          <a:xfrm>
            <a:off x="4191000" y="3914775"/>
            <a:ext cx="1057275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Text 32"/>
          <p:cNvSpPr/>
          <p:nvPr/>
        </p:nvSpPr>
        <p:spPr>
          <a:xfrm>
            <a:off x="4191000" y="4036695"/>
            <a:ext cx="10775633" cy="320040"/>
          </a:xfrm>
          <a:prstGeom prst="rect">
            <a:avLst/>
          </a:prstGeom>
          <a:noFill/>
          <a:ln/>
        </p:spPr>
        <p:txBody>
          <a:bodyPr wrap="square" lIns="25400" tIns="25400" rIns="25400" bIns="25400" rtlCol="0" anchor="t">
            <a:normAutofit/>
          </a:bodyPr>
          <a:lstStyle/>
          <a:p>
            <a:pPr marL="0" marR="0" lvl="0" indent="0" algn="l" defTabSz="914400" rtl="0" eaLnBrk="1" fontAlgn="auto" latinLnBrk="0" hangingPunct="1">
              <a:lnSpc>
                <a:spcPct val="106027"/>
              </a:lnSpc>
              <a:spcBef>
                <a:spcPts val="0"/>
              </a:spcBef>
              <a:spcAft>
                <a:spcPts val="0"/>
              </a:spcAft>
              <a:buClrTx/>
              <a:buSzTx/>
              <a:buFontTx/>
              <a:buNone/>
              <a:tabLst/>
              <a:defRPr/>
            </a:pPr>
            <a:r>
              <a:rPr kumimoji="0" lang="en-US" sz="1425" b="0" i="0" u="none" strike="noStrike" kern="1200" cap="none" spc="0" normalizeH="0" baseline="0" noProof="0" dirty="0">
                <a:ln>
                  <a:noFill/>
                </a:ln>
                <a:solidFill>
                  <a:srgbClr val="333333"/>
                </a:solidFill>
                <a:effectLst/>
                <a:uLnTx/>
                <a:uFillTx/>
                <a:latin typeface="Helvetica" pitchFamily="34" charset="0"/>
                <a:ea typeface="Helvetica" pitchFamily="34" charset="-122"/>
                <a:cs typeface="Helvetica" pitchFamily="34" charset="-120"/>
              </a:rPr>
              <a:t>The whole world learned the country’s name. Tourism rose, then settled back.</a:t>
            </a:r>
            <a:endParaRPr kumimoji="0" lang="en-US" sz="142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Shape 33"/>
          <p:cNvSpPr/>
          <p:nvPr/>
        </p:nvSpPr>
        <p:spPr>
          <a:xfrm>
            <a:off x="14763750" y="3914775"/>
            <a:ext cx="142875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 name="Text 34"/>
          <p:cNvSpPr/>
          <p:nvPr/>
        </p:nvSpPr>
        <p:spPr>
          <a:xfrm>
            <a:off x="14725650" y="4036695"/>
            <a:ext cx="1504950" cy="320040"/>
          </a:xfrm>
          <a:prstGeom prst="rect">
            <a:avLst/>
          </a:prstGeom>
          <a:noFill/>
          <a:ln/>
        </p:spPr>
        <p:txBody>
          <a:bodyPr wrap="square" lIns="25400" tIns="25400" rIns="25400" bIns="25400" rtlCol="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50" b="0" i="0" u="none" strike="noStrike" kern="1200" cap="none" spc="0" normalizeH="0" baseline="0" noProof="0" dirty="0">
                <a:ln>
                  <a:noFill/>
                </a:ln>
                <a:solidFill>
                  <a:srgbClr val="B9B7B0"/>
                </a:solidFill>
                <a:effectLst/>
                <a:uLnTx/>
                <a:uFillTx/>
                <a:latin typeface="Helvetica" pitchFamily="34" charset="0"/>
                <a:ea typeface="Helvetica" pitchFamily="34" charset="-122"/>
                <a:cs typeface="Helvetica" pitchFamily="34" charset="-120"/>
              </a:rPr>
              <a:t>☐</a:t>
            </a:r>
            <a:endParaRPr kumimoji="0" lang="en-US" sz="1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Shape 35"/>
          <p:cNvSpPr/>
          <p:nvPr/>
        </p:nvSpPr>
        <p:spPr>
          <a:xfrm>
            <a:off x="16192500" y="3914775"/>
            <a:ext cx="104775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Text 36"/>
          <p:cNvSpPr/>
          <p:nvPr/>
        </p:nvSpPr>
        <p:spPr>
          <a:xfrm>
            <a:off x="16154400" y="4036695"/>
            <a:ext cx="1123950" cy="320040"/>
          </a:xfrm>
          <a:prstGeom prst="rect">
            <a:avLst/>
          </a:prstGeom>
          <a:noFill/>
          <a:ln/>
        </p:spPr>
        <p:txBody>
          <a:bodyPr wrap="square" lIns="25400" tIns="25400" rIns="25400" bIns="25400" rtlCol="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50" b="0" i="0" u="none" strike="noStrike" kern="1200" cap="none" spc="0" normalizeH="0" baseline="0" noProof="0" dirty="0">
                <a:ln>
                  <a:noFill/>
                </a:ln>
                <a:solidFill>
                  <a:srgbClr val="B9B7B0"/>
                </a:solidFill>
                <a:effectLst/>
                <a:uLnTx/>
                <a:uFillTx/>
                <a:latin typeface="Helvetica" pitchFamily="34" charset="0"/>
                <a:ea typeface="Helvetica" pitchFamily="34" charset="-122"/>
                <a:cs typeface="Helvetica" pitchFamily="34" charset="-120"/>
              </a:rPr>
              <a:t>☐</a:t>
            </a:r>
            <a:endParaRPr kumimoji="0" lang="en-US" sz="1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Shape 37"/>
          <p:cNvSpPr/>
          <p:nvPr/>
        </p:nvSpPr>
        <p:spPr>
          <a:xfrm>
            <a:off x="1047750" y="4432935"/>
            <a:ext cx="314325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 name="Text 38"/>
          <p:cNvSpPr/>
          <p:nvPr/>
        </p:nvSpPr>
        <p:spPr>
          <a:xfrm>
            <a:off x="1047750" y="4554855"/>
            <a:ext cx="3142298" cy="320040"/>
          </a:xfrm>
          <a:prstGeom prst="rect">
            <a:avLst/>
          </a:prstGeom>
          <a:noFill/>
          <a:ln/>
        </p:spPr>
        <p:txBody>
          <a:bodyPr wrap="square" lIns="25400" tIns="25400" rIns="25400" bIns="2540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75" b="1" i="0" u="none" strike="noStrike" kern="1200" cap="none" spc="0" normalizeH="0" baseline="0" noProof="0" dirty="0">
                <a:ln>
                  <a:noFill/>
                </a:ln>
                <a:solidFill>
                  <a:srgbClr val="1A1A1A"/>
                </a:solidFill>
                <a:effectLst/>
                <a:uLnTx/>
                <a:uFillTx/>
                <a:latin typeface="Helvetica" pitchFamily="34" charset="0"/>
                <a:ea typeface="Helvetica" pitchFamily="34" charset="-122"/>
                <a:cs typeface="Helvetica" pitchFamily="34" charset="-120"/>
              </a:rPr>
              <a:t>40,000 jobs</a:t>
            </a:r>
            <a:endParaRPr kumimoji="0" lang="en-US" sz="157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Shape 39"/>
          <p:cNvSpPr/>
          <p:nvPr/>
        </p:nvSpPr>
        <p:spPr>
          <a:xfrm>
            <a:off x="4191000" y="4432935"/>
            <a:ext cx="1057275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 name="Text 40"/>
          <p:cNvSpPr/>
          <p:nvPr/>
        </p:nvSpPr>
        <p:spPr>
          <a:xfrm>
            <a:off x="4191000" y="4554855"/>
            <a:ext cx="10775633" cy="320040"/>
          </a:xfrm>
          <a:prstGeom prst="rect">
            <a:avLst/>
          </a:prstGeom>
          <a:noFill/>
          <a:ln/>
        </p:spPr>
        <p:txBody>
          <a:bodyPr wrap="square" lIns="25400" tIns="25400" rIns="25400" bIns="25400" rtlCol="0" anchor="t">
            <a:normAutofit/>
          </a:bodyPr>
          <a:lstStyle/>
          <a:p>
            <a:pPr marL="0" marR="0" lvl="0" indent="0" algn="l" defTabSz="914400" rtl="0" eaLnBrk="1" fontAlgn="auto" latinLnBrk="0" hangingPunct="1">
              <a:lnSpc>
                <a:spcPct val="106027"/>
              </a:lnSpc>
              <a:spcBef>
                <a:spcPts val="0"/>
              </a:spcBef>
              <a:spcAft>
                <a:spcPts val="0"/>
              </a:spcAft>
              <a:buClrTx/>
              <a:buSzTx/>
              <a:buFontTx/>
              <a:buNone/>
              <a:tabLst/>
              <a:defRPr/>
            </a:pPr>
            <a:r>
              <a:rPr kumimoji="0" lang="en-US" sz="1425" b="0" i="0" u="none" strike="noStrike" kern="1200" cap="none" spc="0" normalizeH="0" baseline="0" noProof="0" dirty="0">
                <a:ln>
                  <a:noFill/>
                </a:ln>
                <a:solidFill>
                  <a:srgbClr val="333333"/>
                </a:solidFill>
                <a:effectLst/>
                <a:uLnTx/>
                <a:uFillTx/>
                <a:latin typeface="Helvetica" pitchFamily="34" charset="0"/>
                <a:ea typeface="Helvetica" pitchFamily="34" charset="-122"/>
                <a:cs typeface="Helvetica" pitchFamily="34" charset="-120"/>
              </a:rPr>
              <a:t>Real wages for two years. Almost all of them ended the week after the final.</a:t>
            </a:r>
            <a:endParaRPr kumimoji="0" lang="en-US" sz="142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Shape 41"/>
          <p:cNvSpPr/>
          <p:nvPr/>
        </p:nvSpPr>
        <p:spPr>
          <a:xfrm>
            <a:off x="14763750" y="4432935"/>
            <a:ext cx="142875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 name="Text 42"/>
          <p:cNvSpPr/>
          <p:nvPr/>
        </p:nvSpPr>
        <p:spPr>
          <a:xfrm>
            <a:off x="14725650" y="4554855"/>
            <a:ext cx="1504950" cy="320040"/>
          </a:xfrm>
          <a:prstGeom prst="rect">
            <a:avLst/>
          </a:prstGeom>
          <a:noFill/>
          <a:ln/>
        </p:spPr>
        <p:txBody>
          <a:bodyPr wrap="square" lIns="25400" tIns="25400" rIns="25400" bIns="25400" rtlCol="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50" b="0" i="0" u="none" strike="noStrike" kern="1200" cap="none" spc="0" normalizeH="0" baseline="0" noProof="0" dirty="0">
                <a:ln>
                  <a:noFill/>
                </a:ln>
                <a:solidFill>
                  <a:srgbClr val="B9B7B0"/>
                </a:solidFill>
                <a:effectLst/>
                <a:uLnTx/>
                <a:uFillTx/>
                <a:latin typeface="Helvetica" pitchFamily="34" charset="0"/>
                <a:ea typeface="Helvetica" pitchFamily="34" charset="-122"/>
                <a:cs typeface="Helvetica" pitchFamily="34" charset="-120"/>
              </a:rPr>
              <a:t>☐</a:t>
            </a:r>
            <a:endParaRPr kumimoji="0" lang="en-US" sz="1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Shape 43"/>
          <p:cNvSpPr/>
          <p:nvPr/>
        </p:nvSpPr>
        <p:spPr>
          <a:xfrm>
            <a:off x="16192500" y="4432935"/>
            <a:ext cx="104775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 name="Text 44"/>
          <p:cNvSpPr/>
          <p:nvPr/>
        </p:nvSpPr>
        <p:spPr>
          <a:xfrm>
            <a:off x="16154400" y="4554855"/>
            <a:ext cx="1123950" cy="320040"/>
          </a:xfrm>
          <a:prstGeom prst="rect">
            <a:avLst/>
          </a:prstGeom>
          <a:noFill/>
          <a:ln/>
        </p:spPr>
        <p:txBody>
          <a:bodyPr wrap="square" lIns="25400" tIns="25400" rIns="25400" bIns="25400" rtlCol="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50" b="0" i="0" u="none" strike="noStrike" kern="1200" cap="none" spc="0" normalizeH="0" baseline="0" noProof="0" dirty="0">
                <a:ln>
                  <a:noFill/>
                </a:ln>
                <a:solidFill>
                  <a:srgbClr val="B9B7B0"/>
                </a:solidFill>
                <a:effectLst/>
                <a:uLnTx/>
                <a:uFillTx/>
                <a:latin typeface="Helvetica" pitchFamily="34" charset="0"/>
                <a:ea typeface="Helvetica" pitchFamily="34" charset="-122"/>
                <a:cs typeface="Helvetica" pitchFamily="34" charset="-120"/>
              </a:rPr>
              <a:t>☐</a:t>
            </a:r>
            <a:endParaRPr kumimoji="0" lang="en-US" sz="1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7" name="Shape 45"/>
          <p:cNvSpPr/>
          <p:nvPr/>
        </p:nvSpPr>
        <p:spPr>
          <a:xfrm>
            <a:off x="1047750" y="4951095"/>
            <a:ext cx="314325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 name="Text 46"/>
          <p:cNvSpPr/>
          <p:nvPr/>
        </p:nvSpPr>
        <p:spPr>
          <a:xfrm>
            <a:off x="1047750" y="5073015"/>
            <a:ext cx="3142298" cy="320040"/>
          </a:xfrm>
          <a:prstGeom prst="rect">
            <a:avLst/>
          </a:prstGeom>
          <a:noFill/>
          <a:ln/>
        </p:spPr>
        <p:txBody>
          <a:bodyPr wrap="square" lIns="25400" tIns="25400" rIns="25400" bIns="2540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75" b="1" i="0" u="none" strike="noStrike" kern="1200" cap="none" spc="0" normalizeH="0" baseline="0" noProof="0" dirty="0">
                <a:ln>
                  <a:noFill/>
                </a:ln>
                <a:solidFill>
                  <a:srgbClr val="1A1A1A"/>
                </a:solidFill>
                <a:effectLst/>
                <a:uLnTx/>
                <a:uFillTx/>
                <a:latin typeface="Helvetica" pitchFamily="34" charset="0"/>
                <a:ea typeface="Helvetica" pitchFamily="34" charset="-122"/>
                <a:cs typeface="Helvetica" pitchFamily="34" charset="-120"/>
              </a:rPr>
              <a:t>The debt</a:t>
            </a:r>
            <a:endParaRPr kumimoji="0" lang="en-US" sz="157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9" name="Shape 47"/>
          <p:cNvSpPr/>
          <p:nvPr/>
        </p:nvSpPr>
        <p:spPr>
          <a:xfrm>
            <a:off x="4191000" y="4951095"/>
            <a:ext cx="1057275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 name="Text 48"/>
          <p:cNvSpPr/>
          <p:nvPr/>
        </p:nvSpPr>
        <p:spPr>
          <a:xfrm>
            <a:off x="4191000" y="5073015"/>
            <a:ext cx="10775633" cy="320040"/>
          </a:xfrm>
          <a:prstGeom prst="rect">
            <a:avLst/>
          </a:prstGeom>
          <a:noFill/>
          <a:ln/>
        </p:spPr>
        <p:txBody>
          <a:bodyPr wrap="square" lIns="25400" tIns="25400" rIns="25400" bIns="25400" rtlCol="0" anchor="t">
            <a:normAutofit/>
          </a:bodyPr>
          <a:lstStyle/>
          <a:p>
            <a:pPr marL="0" marR="0" lvl="0" indent="0" algn="l" defTabSz="914400" rtl="0" eaLnBrk="1" fontAlgn="auto" latinLnBrk="0" hangingPunct="1">
              <a:lnSpc>
                <a:spcPct val="106027"/>
              </a:lnSpc>
              <a:spcBef>
                <a:spcPts val="0"/>
              </a:spcBef>
              <a:spcAft>
                <a:spcPts val="0"/>
              </a:spcAft>
              <a:buClrTx/>
              <a:buSzTx/>
              <a:buFontTx/>
              <a:buNone/>
              <a:tabLst/>
              <a:defRPr/>
            </a:pPr>
            <a:r>
              <a:rPr kumimoji="0" lang="en-US" sz="1425" b="0" i="0" u="none" strike="noStrike" kern="1200" cap="none" spc="0" normalizeH="0" baseline="0" noProof="0" dirty="0">
                <a:ln>
                  <a:noFill/>
                </a:ln>
                <a:solidFill>
                  <a:srgbClr val="333333"/>
                </a:solidFill>
                <a:effectLst/>
                <a:uLnTx/>
                <a:uFillTx/>
                <a:latin typeface="Helvetica" pitchFamily="34" charset="0"/>
                <a:ea typeface="Helvetica" pitchFamily="34" charset="-122"/>
                <a:cs typeface="Helvetica" pitchFamily="34" charset="-120"/>
              </a:rPr>
              <a:t>Still being repaid by people who were children during the tournament.</a:t>
            </a:r>
            <a:endParaRPr kumimoji="0" lang="en-US" sz="142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 name="Shape 49"/>
          <p:cNvSpPr/>
          <p:nvPr/>
        </p:nvSpPr>
        <p:spPr>
          <a:xfrm>
            <a:off x="14763750" y="4951095"/>
            <a:ext cx="142875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 name="Text 50"/>
          <p:cNvSpPr/>
          <p:nvPr/>
        </p:nvSpPr>
        <p:spPr>
          <a:xfrm>
            <a:off x="14725650" y="5073015"/>
            <a:ext cx="1504950" cy="320040"/>
          </a:xfrm>
          <a:prstGeom prst="rect">
            <a:avLst/>
          </a:prstGeom>
          <a:noFill/>
          <a:ln/>
        </p:spPr>
        <p:txBody>
          <a:bodyPr wrap="square" lIns="25400" tIns="25400" rIns="25400" bIns="25400" rtlCol="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50" b="0" i="0" u="none" strike="noStrike" kern="1200" cap="none" spc="0" normalizeH="0" baseline="0" noProof="0" dirty="0">
                <a:ln>
                  <a:noFill/>
                </a:ln>
                <a:solidFill>
                  <a:srgbClr val="B9B7B0"/>
                </a:solidFill>
                <a:effectLst/>
                <a:uLnTx/>
                <a:uFillTx/>
                <a:latin typeface="Helvetica" pitchFamily="34" charset="0"/>
                <a:ea typeface="Helvetica" pitchFamily="34" charset="-122"/>
                <a:cs typeface="Helvetica" pitchFamily="34" charset="-120"/>
              </a:rPr>
              <a:t>☐</a:t>
            </a:r>
            <a:endParaRPr kumimoji="0" lang="en-US" sz="1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3" name="Shape 51"/>
          <p:cNvSpPr/>
          <p:nvPr/>
        </p:nvSpPr>
        <p:spPr>
          <a:xfrm>
            <a:off x="16192500" y="4951095"/>
            <a:ext cx="104775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 name="Text 52"/>
          <p:cNvSpPr/>
          <p:nvPr/>
        </p:nvSpPr>
        <p:spPr>
          <a:xfrm>
            <a:off x="16154400" y="5073015"/>
            <a:ext cx="1123950" cy="320040"/>
          </a:xfrm>
          <a:prstGeom prst="rect">
            <a:avLst/>
          </a:prstGeom>
          <a:noFill/>
          <a:ln/>
        </p:spPr>
        <p:txBody>
          <a:bodyPr wrap="square" lIns="25400" tIns="25400" rIns="25400" bIns="25400" rtlCol="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50" b="0" i="0" u="none" strike="noStrike" kern="1200" cap="none" spc="0" normalizeH="0" baseline="0" noProof="0" dirty="0">
                <a:ln>
                  <a:noFill/>
                </a:ln>
                <a:solidFill>
                  <a:srgbClr val="B9B7B0"/>
                </a:solidFill>
                <a:effectLst/>
                <a:uLnTx/>
                <a:uFillTx/>
                <a:latin typeface="Helvetica" pitchFamily="34" charset="0"/>
                <a:ea typeface="Helvetica" pitchFamily="34" charset="-122"/>
                <a:cs typeface="Helvetica" pitchFamily="34" charset="-120"/>
              </a:rPr>
              <a:t>☐</a:t>
            </a:r>
            <a:endParaRPr kumimoji="0" lang="en-US" sz="1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5" name="Shape 53"/>
          <p:cNvSpPr/>
          <p:nvPr/>
        </p:nvSpPr>
        <p:spPr>
          <a:xfrm>
            <a:off x="1047750" y="5987415"/>
            <a:ext cx="3143250" cy="15240"/>
          </a:xfrm>
          <a:prstGeom prst="rect">
            <a:avLst/>
          </a:prstGeom>
          <a:solidFill>
            <a:srgbClr val="1A2A5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 name="Shape 54"/>
          <p:cNvSpPr/>
          <p:nvPr/>
        </p:nvSpPr>
        <p:spPr>
          <a:xfrm>
            <a:off x="1047750" y="5469255"/>
            <a:ext cx="314325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 name="Text 55"/>
          <p:cNvSpPr/>
          <p:nvPr/>
        </p:nvSpPr>
        <p:spPr>
          <a:xfrm>
            <a:off x="1047750" y="5591175"/>
            <a:ext cx="3142298" cy="320040"/>
          </a:xfrm>
          <a:prstGeom prst="rect">
            <a:avLst/>
          </a:prstGeom>
          <a:noFill/>
          <a:ln/>
        </p:spPr>
        <p:txBody>
          <a:bodyPr wrap="square" lIns="25400" tIns="25400" rIns="25400" bIns="2540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75" b="1" i="0" u="none" strike="noStrike" kern="1200" cap="none" spc="0" normalizeH="0" baseline="0" noProof="0" dirty="0">
                <a:ln>
                  <a:noFill/>
                </a:ln>
                <a:solidFill>
                  <a:srgbClr val="1A1A1A"/>
                </a:solidFill>
                <a:effectLst/>
                <a:uLnTx/>
                <a:uFillTx/>
                <a:latin typeface="Helvetica" pitchFamily="34" charset="0"/>
                <a:ea typeface="Helvetica" pitchFamily="34" charset="-122"/>
                <a:cs typeface="Helvetica" pitchFamily="34" charset="-120"/>
              </a:rPr>
              <a:t>One national memory</a:t>
            </a:r>
            <a:endParaRPr kumimoji="0" lang="en-US" sz="157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8" name="Shape 56"/>
          <p:cNvSpPr/>
          <p:nvPr/>
        </p:nvSpPr>
        <p:spPr>
          <a:xfrm>
            <a:off x="4191000" y="5987415"/>
            <a:ext cx="10572750" cy="15240"/>
          </a:xfrm>
          <a:prstGeom prst="rect">
            <a:avLst/>
          </a:prstGeom>
          <a:solidFill>
            <a:srgbClr val="1A2A5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 name="Shape 57"/>
          <p:cNvSpPr/>
          <p:nvPr/>
        </p:nvSpPr>
        <p:spPr>
          <a:xfrm>
            <a:off x="4191000" y="5469255"/>
            <a:ext cx="1057275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 name="Text 58"/>
          <p:cNvSpPr/>
          <p:nvPr/>
        </p:nvSpPr>
        <p:spPr>
          <a:xfrm>
            <a:off x="4191000" y="5591175"/>
            <a:ext cx="10775633" cy="320040"/>
          </a:xfrm>
          <a:prstGeom prst="rect">
            <a:avLst/>
          </a:prstGeom>
          <a:noFill/>
          <a:ln/>
        </p:spPr>
        <p:txBody>
          <a:bodyPr wrap="square" lIns="25400" tIns="25400" rIns="25400" bIns="25400" rtlCol="0" anchor="t">
            <a:normAutofit/>
          </a:bodyPr>
          <a:lstStyle/>
          <a:p>
            <a:pPr marL="0" marR="0" lvl="0" indent="0" algn="l" defTabSz="914400" rtl="0" eaLnBrk="1" fontAlgn="auto" latinLnBrk="0" hangingPunct="1">
              <a:lnSpc>
                <a:spcPct val="106027"/>
              </a:lnSpc>
              <a:spcBef>
                <a:spcPts val="0"/>
              </a:spcBef>
              <a:spcAft>
                <a:spcPts val="0"/>
              </a:spcAft>
              <a:buClrTx/>
              <a:buSzTx/>
              <a:buFontTx/>
              <a:buNone/>
              <a:tabLst/>
              <a:defRPr/>
            </a:pPr>
            <a:r>
              <a:rPr kumimoji="0" lang="en-US" sz="1425" b="0" i="0" u="none" strike="noStrike" kern="1200" cap="none" spc="0" normalizeH="0" baseline="0" noProof="0" dirty="0">
                <a:ln>
                  <a:noFill/>
                </a:ln>
                <a:solidFill>
                  <a:srgbClr val="333333"/>
                </a:solidFill>
                <a:effectLst/>
                <a:uLnTx/>
                <a:uFillTx/>
                <a:latin typeface="Helvetica" pitchFamily="34" charset="0"/>
                <a:ea typeface="Helvetica" pitchFamily="34" charset="-122"/>
                <a:cs typeface="Helvetica" pitchFamily="34" charset="-120"/>
              </a:rPr>
              <a:t>A goal the whole country watched together. Nobody can put a price on it.</a:t>
            </a:r>
            <a:endParaRPr kumimoji="0" lang="en-US" sz="142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1" name="Shape 59"/>
          <p:cNvSpPr/>
          <p:nvPr/>
        </p:nvSpPr>
        <p:spPr>
          <a:xfrm>
            <a:off x="14763750" y="5987415"/>
            <a:ext cx="1428750" cy="15240"/>
          </a:xfrm>
          <a:prstGeom prst="rect">
            <a:avLst/>
          </a:prstGeom>
          <a:solidFill>
            <a:srgbClr val="1A2A5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 name="Shape 60"/>
          <p:cNvSpPr/>
          <p:nvPr/>
        </p:nvSpPr>
        <p:spPr>
          <a:xfrm>
            <a:off x="14763750" y="5469255"/>
            <a:ext cx="142875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 name="Text 61"/>
          <p:cNvSpPr/>
          <p:nvPr/>
        </p:nvSpPr>
        <p:spPr>
          <a:xfrm>
            <a:off x="14725650" y="5591175"/>
            <a:ext cx="1504950" cy="320040"/>
          </a:xfrm>
          <a:prstGeom prst="rect">
            <a:avLst/>
          </a:prstGeom>
          <a:noFill/>
          <a:ln/>
        </p:spPr>
        <p:txBody>
          <a:bodyPr wrap="square" lIns="25400" tIns="25400" rIns="25400" bIns="25400" rtlCol="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50" b="0" i="0" u="none" strike="noStrike" kern="1200" cap="none" spc="0" normalizeH="0" baseline="0" noProof="0" dirty="0">
                <a:ln>
                  <a:noFill/>
                </a:ln>
                <a:solidFill>
                  <a:srgbClr val="B9B7B0"/>
                </a:solidFill>
                <a:effectLst/>
                <a:uLnTx/>
                <a:uFillTx/>
                <a:latin typeface="Helvetica" pitchFamily="34" charset="0"/>
                <a:ea typeface="Helvetica" pitchFamily="34" charset="-122"/>
                <a:cs typeface="Helvetica" pitchFamily="34" charset="-120"/>
              </a:rPr>
              <a:t>☐</a:t>
            </a:r>
            <a:endParaRPr kumimoji="0" lang="en-US" sz="1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4" name="Shape 62"/>
          <p:cNvSpPr/>
          <p:nvPr/>
        </p:nvSpPr>
        <p:spPr>
          <a:xfrm>
            <a:off x="16192500" y="5987415"/>
            <a:ext cx="1047750" cy="15240"/>
          </a:xfrm>
          <a:prstGeom prst="rect">
            <a:avLst/>
          </a:prstGeom>
          <a:solidFill>
            <a:srgbClr val="1A2A5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 name="Shape 63"/>
          <p:cNvSpPr/>
          <p:nvPr/>
        </p:nvSpPr>
        <p:spPr>
          <a:xfrm>
            <a:off x="16192500" y="5469255"/>
            <a:ext cx="1047750" cy="9525"/>
          </a:xfrm>
          <a:prstGeom prst="rect">
            <a:avLst/>
          </a:prstGeom>
          <a:solidFill>
            <a:srgbClr val="E3E1DB"/>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 name="Text 64"/>
          <p:cNvSpPr/>
          <p:nvPr/>
        </p:nvSpPr>
        <p:spPr>
          <a:xfrm>
            <a:off x="16154400" y="5591175"/>
            <a:ext cx="1123950" cy="320040"/>
          </a:xfrm>
          <a:prstGeom prst="rect">
            <a:avLst/>
          </a:prstGeom>
          <a:noFill/>
          <a:ln/>
        </p:spPr>
        <p:txBody>
          <a:bodyPr wrap="square" lIns="25400" tIns="25400" rIns="25400" bIns="25400" rtlCol="0" anchor="t">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50" b="0" i="0" u="none" strike="noStrike" kern="1200" cap="none" spc="0" normalizeH="0" baseline="0" noProof="0" dirty="0">
                <a:ln>
                  <a:noFill/>
                </a:ln>
                <a:solidFill>
                  <a:srgbClr val="B9B7B0"/>
                </a:solidFill>
                <a:effectLst/>
                <a:uLnTx/>
                <a:uFillTx/>
                <a:latin typeface="Helvetica" pitchFamily="34" charset="0"/>
                <a:ea typeface="Helvetica" pitchFamily="34" charset="-122"/>
                <a:cs typeface="Helvetica" pitchFamily="34" charset="-120"/>
              </a:rPr>
              <a:t>☐</a:t>
            </a:r>
            <a:endParaRPr kumimoji="0" lang="en-US" sz="16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7" name="Text 65"/>
          <p:cNvSpPr/>
          <p:nvPr/>
        </p:nvSpPr>
        <p:spPr>
          <a:xfrm>
            <a:off x="1047750" y="6174105"/>
            <a:ext cx="1865126" cy="236220"/>
          </a:xfrm>
          <a:prstGeom prst="rect">
            <a:avLst/>
          </a:prstGeom>
          <a:noFill/>
          <a:ln/>
        </p:spPr>
        <p:txBody>
          <a:bodyPr wrap="none" lIns="25400" tIns="25400" rIns="25400" bIns="25400" rtlCol="0" anchor="t">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1" i="0" u="none" strike="noStrike" kern="0" cap="none" spc="263" normalizeH="0" baseline="0" noProof="0" dirty="0">
                <a:ln>
                  <a:noFill/>
                </a:ln>
                <a:solidFill>
                  <a:srgbClr val="BF842C"/>
                </a:solidFill>
                <a:effectLst/>
                <a:uLnTx/>
                <a:uFillTx/>
                <a:latin typeface="Helvetica" pitchFamily="34" charset="0"/>
                <a:ea typeface="Helvetica" pitchFamily="34" charset="-122"/>
                <a:cs typeface="Helvetica" pitchFamily="34" charset="-120"/>
              </a:rPr>
              <a:t>YOUR VERDICT</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8" name="Text 66"/>
          <p:cNvSpPr/>
          <p:nvPr/>
        </p:nvSpPr>
        <p:spPr>
          <a:xfrm>
            <a:off x="2990969" y="6136005"/>
            <a:ext cx="15674210" cy="358140"/>
          </a:xfrm>
          <a:prstGeom prst="rect">
            <a:avLst/>
          </a:prstGeom>
          <a:noFill/>
          <a:ln/>
        </p:spPr>
        <p:txBody>
          <a:bodyPr wrap="square" lIns="25400" tIns="25400" rIns="25400" bIns="25400" rtlCol="0" anchor="t">
            <a:normAutofit lnSpcReduction="10000"/>
          </a:bodyPr>
          <a:lstStyle/>
          <a:p>
            <a:pPr marL="0" marR="0" lvl="0" indent="0" algn="l" defTabSz="914400" rtl="0" eaLnBrk="1" fontAlgn="auto" latinLnBrk="0" hangingPunct="1">
              <a:lnSpc>
                <a:spcPct val="123529"/>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A1A1A"/>
                </a:solidFill>
                <a:effectLst/>
                <a:uLnTx/>
                <a:uFillTx/>
                <a:latin typeface="Helvetica" pitchFamily="34" charset="0"/>
                <a:ea typeface="Helvetica" pitchFamily="34" charset="-122"/>
                <a:cs typeface="Helvetica" pitchFamily="34" charset="-120"/>
              </a:rPr>
              <a:t>Worth it overall? ___________ Would you vote yes for your own city? ___________</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9" name="Shape 67"/>
          <p:cNvSpPr/>
          <p:nvPr/>
        </p:nvSpPr>
        <p:spPr>
          <a:xfrm>
            <a:off x="1047750" y="6570345"/>
            <a:ext cx="38100" cy="693420"/>
          </a:xfrm>
          <a:prstGeom prst="rect">
            <a:avLst/>
          </a:prstGeom>
          <a:solidFill>
            <a:srgbClr val="D9B877"/>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 name="Text 68"/>
          <p:cNvSpPr/>
          <p:nvPr/>
        </p:nvSpPr>
        <p:spPr>
          <a:xfrm>
            <a:off x="1276350" y="6608445"/>
            <a:ext cx="1071801" cy="236220"/>
          </a:xfrm>
          <a:prstGeom prst="rect">
            <a:avLst/>
          </a:prstGeom>
          <a:noFill/>
          <a:ln/>
        </p:spPr>
        <p:txBody>
          <a:bodyPr wrap="none" lIns="25400" tIns="25400" rIns="25400" bIns="25400" rtlCol="0" anchor="t">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1" i="0" u="none" strike="noStrike" kern="0" cap="none" spc="263" normalizeH="0" baseline="0" noProof="0" dirty="0">
                <a:ln>
                  <a:noFill/>
                </a:ln>
                <a:solidFill>
                  <a:srgbClr val="BF842C"/>
                </a:solidFill>
                <a:effectLst/>
                <a:uLnTx/>
                <a:uFillTx/>
                <a:latin typeface="Helvetica" pitchFamily="34" charset="0"/>
                <a:ea typeface="Helvetica" pitchFamily="34" charset="-122"/>
                <a:cs typeface="Helvetica" pitchFamily="34" charset="-120"/>
              </a:rPr>
              <a:t>DISCUSS</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1" name="Text 69"/>
          <p:cNvSpPr/>
          <p:nvPr/>
        </p:nvSpPr>
        <p:spPr>
          <a:xfrm>
            <a:off x="2519601" y="6570345"/>
            <a:ext cx="228719" cy="346710"/>
          </a:xfrm>
          <a:prstGeom prst="rect">
            <a:avLst/>
          </a:prstGeom>
          <a:noFill/>
          <a:ln/>
        </p:spPr>
        <p:txBody>
          <a:bodyPr wrap="square" lIns="25400" tIns="25400" rIns="25400" bIns="25400" rtlCol="0" anchor="t">
            <a:normAutofit/>
          </a:bodyPr>
          <a:lstStyle/>
          <a:p>
            <a:pPr marL="0" marR="0" lvl="0" indent="0" algn="l" defTabSz="914400" rtl="0" eaLnBrk="1" fontAlgn="auto" latinLnBrk="0" hangingPunct="1">
              <a:lnSpc>
                <a:spcPct val="96429"/>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A2A5E"/>
                </a:solidFill>
                <a:effectLst/>
                <a:uLnTx/>
                <a:uFillTx/>
                <a:latin typeface="Helvetica" pitchFamily="34" charset="0"/>
                <a:ea typeface="Helvetica" pitchFamily="34" charset="-122"/>
                <a:cs typeface="Helvetica" pitchFamily="34" charset="-120"/>
              </a:rPr>
              <a:t>1</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2" name="Text 70"/>
          <p:cNvSpPr/>
          <p:nvPr/>
        </p:nvSpPr>
        <p:spPr>
          <a:xfrm>
            <a:off x="2824520" y="6570345"/>
            <a:ext cx="7850398" cy="346710"/>
          </a:xfrm>
          <a:prstGeom prst="rect">
            <a:avLst/>
          </a:prstGeom>
          <a:noFill/>
          <a:ln/>
        </p:spPr>
        <p:txBody>
          <a:bodyPr wrap="square" lIns="25400" tIns="25400" rIns="25400" bIns="25400" rtlCol="0" anchor="t">
            <a:normAutofit lnSpcReduction="10000"/>
          </a:bodyPr>
          <a:lstStyle/>
          <a:p>
            <a:pPr marL="0" marR="0" lvl="0" indent="0" algn="l" defTabSz="914400" rtl="0" eaLnBrk="1" fontAlgn="auto" latinLnBrk="0" hangingPunct="1">
              <a:lnSpc>
                <a:spcPct val="119118"/>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A1A1A"/>
                </a:solidFill>
                <a:effectLst/>
                <a:uLnTx/>
                <a:uFillTx/>
                <a:latin typeface="Helvetica" pitchFamily="34" charset="0"/>
                <a:ea typeface="Helvetica" pitchFamily="34" charset="-122"/>
                <a:cs typeface="Helvetica" pitchFamily="34" charset="-120"/>
              </a:rPr>
              <a:t>Can a memory be worth a debt your children pay?</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3" name="Text 71"/>
          <p:cNvSpPr/>
          <p:nvPr/>
        </p:nvSpPr>
        <p:spPr>
          <a:xfrm>
            <a:off x="2519601" y="6955155"/>
            <a:ext cx="228719" cy="346710"/>
          </a:xfrm>
          <a:prstGeom prst="rect">
            <a:avLst/>
          </a:prstGeom>
          <a:noFill/>
          <a:ln/>
        </p:spPr>
        <p:txBody>
          <a:bodyPr wrap="square" lIns="25400" tIns="25400" rIns="25400" bIns="25400" rtlCol="0" anchor="t">
            <a:normAutofit/>
          </a:bodyPr>
          <a:lstStyle/>
          <a:p>
            <a:pPr marL="0" marR="0" lvl="0" indent="0" algn="l" defTabSz="914400" rtl="0" eaLnBrk="1" fontAlgn="auto" latinLnBrk="0" hangingPunct="1">
              <a:lnSpc>
                <a:spcPct val="96429"/>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A2A5E"/>
                </a:solidFill>
                <a:effectLst/>
                <a:uLnTx/>
                <a:uFillTx/>
                <a:latin typeface="Helvetica" pitchFamily="34" charset="0"/>
                <a:ea typeface="Helvetica" pitchFamily="34" charset="-122"/>
                <a:cs typeface="Helvetica" pitchFamily="34" charset="-120"/>
              </a:rPr>
              <a:t>2</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4" name="Text 72"/>
          <p:cNvSpPr/>
          <p:nvPr/>
        </p:nvSpPr>
        <p:spPr>
          <a:xfrm>
            <a:off x="2824520" y="6955155"/>
            <a:ext cx="7850398" cy="346710"/>
          </a:xfrm>
          <a:prstGeom prst="rect">
            <a:avLst/>
          </a:prstGeom>
          <a:noFill/>
          <a:ln/>
        </p:spPr>
        <p:txBody>
          <a:bodyPr wrap="square" lIns="25400" tIns="25400" rIns="25400" bIns="25400" rtlCol="0" anchor="t">
            <a:normAutofit lnSpcReduction="10000"/>
          </a:bodyPr>
          <a:lstStyle/>
          <a:p>
            <a:pPr marL="0" marR="0" lvl="0" indent="0" algn="l" defTabSz="914400" rtl="0" eaLnBrk="1" fontAlgn="auto" latinLnBrk="0" hangingPunct="1">
              <a:lnSpc>
                <a:spcPct val="119118"/>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A1A1A"/>
                </a:solidFill>
                <a:effectLst/>
                <a:uLnTx/>
                <a:uFillTx/>
                <a:latin typeface="Helvetica" pitchFamily="34" charset="0"/>
                <a:ea typeface="Helvetica" pitchFamily="34" charset="-122"/>
                <a:cs typeface="Helvetica" pitchFamily="34" charset="-120"/>
              </a:rPr>
              <a:t>Compare with another group. Who said yes to their own city, and why?</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5" name="Text 73"/>
          <p:cNvSpPr/>
          <p:nvPr/>
        </p:nvSpPr>
        <p:spPr>
          <a:xfrm>
            <a:off x="1047750" y="9525000"/>
            <a:ext cx="17811750" cy="228600"/>
          </a:xfrm>
          <a:prstGeom prst="rect">
            <a:avLst/>
          </a:prstGeom>
          <a:noFill/>
          <a:ln/>
        </p:spPr>
        <p:txBody>
          <a:bodyPr wrap="square" lIns="25400" tIns="25400" rIns="25400" bIns="25400" rtlCol="0" anchor="t">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75" b="0" i="0" u="none" strike="noStrike" kern="0" cap="none" spc="38" normalizeH="0" baseline="0" noProof="0" dirty="0">
                <a:ln>
                  <a:noFill/>
                </a:ln>
                <a:solidFill>
                  <a:srgbClr val="9A9890"/>
                </a:solidFill>
                <a:effectLst/>
                <a:uLnTx/>
                <a:uFillTx/>
                <a:latin typeface="Helvetica" pitchFamily="34" charset="0"/>
                <a:ea typeface="Helvetica" pitchFamily="34" charset="-122"/>
                <a:cs typeface="Helvetica" pitchFamily="34" charset="-120"/>
              </a:rPr>
              <a:t>perspectiveenglish.com</a:t>
            </a:r>
            <a:endParaRPr kumimoji="0" lang="en-US" sz="1275"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50495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LANGUAGE IN CONTEXT</a:t>
            </a:r>
            <a:endParaRPr lang="en-US" sz="1500" dirty="0"/>
          </a:p>
        </p:txBody>
      </p:sp>
      <p:sp>
        <p:nvSpPr>
          <p:cNvPr id="6" name="Text 4"/>
          <p:cNvSpPr/>
          <p:nvPr/>
        </p:nvSpPr>
        <p:spPr>
          <a:xfrm>
            <a:off x="1047750" y="1821180"/>
            <a:ext cx="17811750" cy="601980"/>
          </a:xfrm>
          <a:prstGeom prst="rect">
            <a:avLst/>
          </a:prstGeom>
          <a:noFill/>
          <a:ln/>
        </p:spPr>
        <p:txBody>
          <a:bodyPr wrap="square" lIns="25400" tIns="25400" rIns="25400" bIns="25400" rtlCol="0" anchor="t">
            <a:normAutofit lnSpcReduction="10000"/>
          </a:bodyPr>
          <a:lstStyle/>
          <a:p>
            <a:pPr marL="0" indent="0" algn="l">
              <a:buNone/>
            </a:pPr>
            <a:r>
              <a:rPr lang="en-US" sz="3900" b="1" dirty="0">
                <a:solidFill>
                  <a:srgbClr val="1A2A5E"/>
                </a:solidFill>
                <a:latin typeface="Georgia" pitchFamily="34" charset="0"/>
                <a:ea typeface="Georgia" pitchFamily="34" charset="-122"/>
                <a:cs typeface="Georgia" pitchFamily="34" charset="-120"/>
              </a:rPr>
              <a:t>Complete &amp; say each line</a:t>
            </a:r>
            <a:endParaRPr lang="en-US" sz="3900" dirty="0"/>
          </a:p>
        </p:txBody>
      </p:sp>
      <p:sp>
        <p:nvSpPr>
          <p:cNvPr id="7" name="Text 5"/>
          <p:cNvSpPr/>
          <p:nvPr/>
        </p:nvSpPr>
        <p:spPr>
          <a:xfrm>
            <a:off x="1047750" y="2499360"/>
            <a:ext cx="17811750" cy="297180"/>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55555"/>
                </a:solidFill>
                <a:latin typeface="Helvetica" pitchFamily="34" charset="0"/>
                <a:ea typeface="Helvetica" pitchFamily="34" charset="-122"/>
                <a:cs typeface="Helvetica" pitchFamily="34" charset="-120"/>
              </a:rPr>
              <a:t>Complete each sentence with a word from the box. Change the form if you need to.</a:t>
            </a:r>
            <a:endParaRPr lang="en-US" sz="1800" dirty="0"/>
          </a:p>
        </p:txBody>
      </p:sp>
      <p:sp>
        <p:nvSpPr>
          <p:cNvPr id="8" name="Shape 6"/>
          <p:cNvSpPr/>
          <p:nvPr/>
        </p:nvSpPr>
        <p:spPr>
          <a:xfrm>
            <a:off x="1047750" y="2987040"/>
            <a:ext cx="14859000" cy="678180"/>
          </a:xfrm>
          <a:prstGeom prst="rect">
            <a:avLst/>
          </a:prstGeom>
          <a:ln w="15240">
            <a:solidFill>
              <a:srgbClr val="1A2A5E"/>
            </a:solidFill>
            <a:prstDash val="solid"/>
          </a:ln>
        </p:spPr>
        <p:txBody>
          <a:bodyPr/>
          <a:lstStyle/>
          <a:p>
            <a:endParaRPr lang="en-US"/>
          </a:p>
        </p:txBody>
      </p:sp>
      <p:sp>
        <p:nvSpPr>
          <p:cNvPr id="9" name="Text 7"/>
          <p:cNvSpPr/>
          <p:nvPr/>
        </p:nvSpPr>
        <p:spPr>
          <a:xfrm>
            <a:off x="3876640" y="3184208"/>
            <a:ext cx="1613535"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tournament</a:t>
            </a:r>
            <a:endParaRPr lang="en-US" sz="2100" dirty="0"/>
          </a:p>
        </p:txBody>
      </p:sp>
      <p:sp>
        <p:nvSpPr>
          <p:cNvPr id="10" name="Text 8"/>
          <p:cNvSpPr/>
          <p:nvPr/>
        </p:nvSpPr>
        <p:spPr>
          <a:xfrm>
            <a:off x="6932055" y="3184208"/>
            <a:ext cx="1337453"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spectacle</a:t>
            </a:r>
            <a:endParaRPr lang="en-US" sz="2100" dirty="0"/>
          </a:p>
        </p:txBody>
      </p:sp>
      <p:sp>
        <p:nvSpPr>
          <p:cNvPr id="11" name="Text 9"/>
          <p:cNvSpPr/>
          <p:nvPr/>
        </p:nvSpPr>
        <p:spPr>
          <a:xfrm>
            <a:off x="5772608" y="3185444"/>
            <a:ext cx="877014"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rivalry</a:t>
            </a:r>
            <a:endParaRPr lang="en-US" sz="2100" dirty="0"/>
          </a:p>
        </p:txBody>
      </p:sp>
      <p:sp>
        <p:nvSpPr>
          <p:cNvPr id="12" name="Text 10"/>
          <p:cNvSpPr/>
          <p:nvPr/>
        </p:nvSpPr>
        <p:spPr>
          <a:xfrm>
            <a:off x="1501973" y="3184208"/>
            <a:ext cx="639247"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host</a:t>
            </a:r>
            <a:endParaRPr lang="en-US" sz="2100" dirty="0"/>
          </a:p>
        </p:txBody>
      </p:sp>
      <p:sp>
        <p:nvSpPr>
          <p:cNvPr id="13" name="Text 11"/>
          <p:cNvSpPr/>
          <p:nvPr/>
        </p:nvSpPr>
        <p:spPr>
          <a:xfrm>
            <a:off x="2555659" y="3185444"/>
            <a:ext cx="906542"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2A5E"/>
                </a:solidFill>
                <a:latin typeface="Helvetica" pitchFamily="34" charset="0"/>
                <a:ea typeface="Helvetica" pitchFamily="34" charset="-122"/>
                <a:cs typeface="Helvetica" pitchFamily="34" charset="-120"/>
              </a:rPr>
              <a:t>legacy</a:t>
            </a:r>
            <a:endParaRPr lang="en-US" sz="2100" dirty="0"/>
          </a:p>
        </p:txBody>
      </p:sp>
      <p:sp>
        <p:nvSpPr>
          <p:cNvPr id="14" name="Text 12"/>
          <p:cNvSpPr/>
          <p:nvPr/>
        </p:nvSpPr>
        <p:spPr>
          <a:xfrm>
            <a:off x="1047750" y="3981450"/>
            <a:ext cx="40005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1</a:t>
            </a:r>
            <a:endParaRPr lang="en-US" sz="2250" dirty="0"/>
          </a:p>
        </p:txBody>
      </p:sp>
      <p:sp>
        <p:nvSpPr>
          <p:cNvPr id="15" name="Text 13"/>
          <p:cNvSpPr/>
          <p:nvPr/>
        </p:nvSpPr>
        <p:spPr>
          <a:xfrm>
            <a:off x="1581150" y="3950970"/>
            <a:ext cx="8993624" cy="423863"/>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2250" dirty="0">
                <a:solidFill>
                  <a:srgbClr val="1A1A1A"/>
                </a:solidFill>
                <a:latin typeface="Helvetica" pitchFamily="34" charset="0"/>
                <a:ea typeface="Helvetica" pitchFamily="34" charset="-122"/>
                <a:cs typeface="Helvetica" pitchFamily="34" charset="-120"/>
              </a:rPr>
              <a:t>The final was an amazing ________________ that no one will forget.</a:t>
            </a:r>
            <a:endParaRPr lang="en-US" sz="2250" dirty="0"/>
          </a:p>
        </p:txBody>
      </p:sp>
      <p:sp>
        <p:nvSpPr>
          <p:cNvPr id="16" name="Text 14"/>
          <p:cNvSpPr/>
          <p:nvPr/>
        </p:nvSpPr>
        <p:spPr>
          <a:xfrm>
            <a:off x="1047750" y="4576763"/>
            <a:ext cx="40005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2</a:t>
            </a:r>
            <a:endParaRPr lang="en-US" sz="2250" dirty="0"/>
          </a:p>
        </p:txBody>
      </p:sp>
      <p:sp>
        <p:nvSpPr>
          <p:cNvPr id="17" name="Text 15"/>
          <p:cNvSpPr/>
          <p:nvPr/>
        </p:nvSpPr>
        <p:spPr>
          <a:xfrm>
            <a:off x="1581150" y="4546283"/>
            <a:ext cx="7927407" cy="423863"/>
          </a:xfrm>
          <a:prstGeom prst="rect">
            <a:avLst/>
          </a:prstGeom>
          <a:noFill/>
          <a:ln/>
        </p:spPr>
        <p:txBody>
          <a:bodyPr wrap="square" lIns="25400" tIns="25400" rIns="25400" bIns="25400" rtlCol="0" anchor="t">
            <a:normAutofit lnSpcReduction="10000"/>
          </a:bodyPr>
          <a:lstStyle/>
          <a:p>
            <a:pPr>
              <a:lnSpc>
                <a:spcPct val="117733"/>
              </a:lnSpc>
            </a:pPr>
            <a:r>
              <a:rPr lang="en-US" sz="2250" dirty="0">
                <a:solidFill>
                  <a:srgbClr val="1A1A1A"/>
                </a:solidFill>
                <a:latin typeface="Helvetica" pitchFamily="34" charset="0"/>
                <a:ea typeface="Helvetica" pitchFamily="34" charset="-122"/>
                <a:cs typeface="Helvetica" pitchFamily="34" charset="-120"/>
              </a:rPr>
              <a:t>There is a fierce ________________ between the two teams.</a:t>
            </a:r>
            <a:endParaRPr lang="en-US" sz="2250" dirty="0"/>
          </a:p>
        </p:txBody>
      </p:sp>
      <p:sp>
        <p:nvSpPr>
          <p:cNvPr id="18" name="Text 16"/>
          <p:cNvSpPr/>
          <p:nvPr/>
        </p:nvSpPr>
        <p:spPr>
          <a:xfrm>
            <a:off x="1047750" y="5172075"/>
            <a:ext cx="40005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3</a:t>
            </a:r>
            <a:endParaRPr lang="en-US" sz="2250" dirty="0"/>
          </a:p>
        </p:txBody>
      </p:sp>
      <p:sp>
        <p:nvSpPr>
          <p:cNvPr id="19" name="Text 17"/>
          <p:cNvSpPr/>
          <p:nvPr/>
        </p:nvSpPr>
        <p:spPr>
          <a:xfrm>
            <a:off x="1581150" y="5141595"/>
            <a:ext cx="8061520" cy="423863"/>
          </a:xfrm>
          <a:prstGeom prst="rect">
            <a:avLst/>
          </a:prstGeom>
          <a:noFill/>
          <a:ln/>
        </p:spPr>
        <p:txBody>
          <a:bodyPr wrap="square" lIns="25400" tIns="25400" rIns="25400" bIns="25400" rtlCol="0" anchor="t">
            <a:normAutofit lnSpcReduction="10000"/>
          </a:bodyPr>
          <a:lstStyle/>
          <a:p>
            <a:pPr>
              <a:lnSpc>
                <a:spcPct val="117733"/>
              </a:lnSpc>
            </a:pPr>
            <a:r>
              <a:rPr lang="en-US" sz="2250" dirty="0">
                <a:solidFill>
                  <a:srgbClr val="1A1A1A"/>
                </a:solidFill>
                <a:latin typeface="Helvetica" pitchFamily="34" charset="0"/>
                <a:ea typeface="Helvetica" pitchFamily="34" charset="-122"/>
                <a:cs typeface="Helvetica" pitchFamily="34" charset="-120"/>
              </a:rPr>
              <a:t>Our country hopes to ________________ the next World Cup.</a:t>
            </a:r>
            <a:endParaRPr lang="en-US" sz="2250" dirty="0"/>
          </a:p>
        </p:txBody>
      </p:sp>
      <p:sp>
        <p:nvSpPr>
          <p:cNvPr id="20" name="Text 18"/>
          <p:cNvSpPr/>
          <p:nvPr/>
        </p:nvSpPr>
        <p:spPr>
          <a:xfrm>
            <a:off x="1047750" y="5767388"/>
            <a:ext cx="40005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4</a:t>
            </a:r>
            <a:endParaRPr lang="en-US" sz="2250" dirty="0"/>
          </a:p>
        </p:txBody>
      </p:sp>
      <p:sp>
        <p:nvSpPr>
          <p:cNvPr id="21" name="Text 19"/>
          <p:cNvSpPr/>
          <p:nvPr/>
        </p:nvSpPr>
        <p:spPr>
          <a:xfrm>
            <a:off x="1581150" y="5736907"/>
            <a:ext cx="6897338" cy="423863"/>
          </a:xfrm>
          <a:prstGeom prst="rect">
            <a:avLst/>
          </a:prstGeom>
          <a:noFill/>
          <a:ln/>
        </p:spPr>
        <p:txBody>
          <a:bodyPr wrap="square" lIns="25400" tIns="25400" rIns="25400" bIns="25400" rtlCol="0" anchor="t">
            <a:normAutofit fontScale="92500"/>
          </a:bodyPr>
          <a:lstStyle/>
          <a:p>
            <a:pPr>
              <a:lnSpc>
                <a:spcPct val="117733"/>
              </a:lnSpc>
            </a:pPr>
            <a:r>
              <a:rPr lang="en-US" sz="2250" dirty="0">
                <a:solidFill>
                  <a:srgbClr val="1A1A1A"/>
                </a:solidFill>
                <a:latin typeface="Helvetica" pitchFamily="34" charset="0"/>
                <a:ea typeface="Helvetica" pitchFamily="34" charset="-122"/>
                <a:cs typeface="Helvetica" pitchFamily="34" charset="-120"/>
              </a:rPr>
              <a:t>A great event can leave a lasting ________________ .</a:t>
            </a:r>
            <a:endParaRPr lang="en-US" sz="2250" dirty="0"/>
          </a:p>
        </p:txBody>
      </p:sp>
      <p:sp>
        <p:nvSpPr>
          <p:cNvPr id="22" name="Text 20"/>
          <p:cNvSpPr/>
          <p:nvPr/>
        </p:nvSpPr>
        <p:spPr>
          <a:xfrm>
            <a:off x="1047750" y="6362700"/>
            <a:ext cx="400050" cy="358140"/>
          </a:xfrm>
          <a:prstGeom prst="rect">
            <a:avLst/>
          </a:prstGeom>
          <a:noFill/>
          <a:ln/>
        </p:spPr>
        <p:txBody>
          <a:bodyPr wrap="square" lIns="25400" tIns="25400" rIns="25400" bIns="25400" rtlCol="0" anchor="t">
            <a:normAutofit fontScale="92500" lnSpcReduction="10000"/>
          </a:bodyPr>
          <a:lstStyle/>
          <a:p>
            <a:pPr marL="0" indent="0" algn="l">
              <a:buNone/>
            </a:pPr>
            <a:r>
              <a:rPr lang="en-US" sz="2250" b="1" dirty="0">
                <a:solidFill>
                  <a:srgbClr val="D9B877"/>
                </a:solidFill>
                <a:latin typeface="Georgia" pitchFamily="34" charset="0"/>
                <a:ea typeface="Georgia" pitchFamily="34" charset="-122"/>
                <a:cs typeface="Georgia" pitchFamily="34" charset="-120"/>
              </a:rPr>
              <a:t>5</a:t>
            </a:r>
            <a:endParaRPr lang="en-US" sz="2250" dirty="0"/>
          </a:p>
        </p:txBody>
      </p:sp>
      <p:sp>
        <p:nvSpPr>
          <p:cNvPr id="23" name="Text 21"/>
          <p:cNvSpPr/>
          <p:nvPr/>
        </p:nvSpPr>
        <p:spPr>
          <a:xfrm>
            <a:off x="1581150" y="6332220"/>
            <a:ext cx="8382917" cy="423863"/>
          </a:xfrm>
          <a:prstGeom prst="rect">
            <a:avLst/>
          </a:prstGeom>
          <a:noFill/>
          <a:ln/>
        </p:spPr>
        <p:txBody>
          <a:bodyPr wrap="square" lIns="25400" tIns="25400" rIns="25400" bIns="25400" rtlCol="0" anchor="t">
            <a:normAutofit lnSpcReduction="10000"/>
          </a:bodyPr>
          <a:lstStyle/>
          <a:p>
            <a:pPr>
              <a:lnSpc>
                <a:spcPct val="117733"/>
              </a:lnSpc>
            </a:pPr>
            <a:r>
              <a:rPr lang="en-US" sz="2250" dirty="0">
                <a:solidFill>
                  <a:srgbClr val="1A1A1A"/>
                </a:solidFill>
                <a:latin typeface="Helvetica" pitchFamily="34" charset="0"/>
                <a:ea typeface="Helvetica" pitchFamily="34" charset="-122"/>
                <a:cs typeface="Helvetica" pitchFamily="34" charset="-120"/>
              </a:rPr>
              <a:t>A knockout ________________ can be decided by a single goal.</a:t>
            </a:r>
            <a:endParaRPr lang="en-US" sz="2250" dirty="0"/>
          </a:p>
        </p:txBody>
      </p:sp>
      <p:sp>
        <p:nvSpPr>
          <p:cNvPr id="24" name="Text 22"/>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638300"/>
            <a:ext cx="3322677"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LANGUAGE IN CONTEXT</a:t>
            </a:r>
            <a:endParaRPr lang="en-US" sz="1500" dirty="0"/>
          </a:p>
        </p:txBody>
      </p:sp>
      <p:sp>
        <p:nvSpPr>
          <p:cNvPr id="6" name="Shape 4"/>
          <p:cNvSpPr/>
          <p:nvPr/>
        </p:nvSpPr>
        <p:spPr>
          <a:xfrm>
            <a:off x="4277916" y="1543050"/>
            <a:ext cx="3262670" cy="388620"/>
          </a:xfrm>
          <a:prstGeom prst="rect">
            <a:avLst/>
          </a:prstGeom>
          <a:solidFill>
            <a:srgbClr val="1A2A5E"/>
          </a:solidFill>
          <a:ln/>
        </p:spPr>
        <p:txBody>
          <a:bodyPr/>
          <a:lstStyle/>
          <a:p>
            <a:endParaRPr lang="en-US"/>
          </a:p>
        </p:txBody>
      </p:sp>
      <p:sp>
        <p:nvSpPr>
          <p:cNvPr id="7" name="Text 5"/>
          <p:cNvSpPr/>
          <p:nvPr/>
        </p:nvSpPr>
        <p:spPr>
          <a:xfrm>
            <a:off x="4449366" y="1600200"/>
            <a:ext cx="3017650" cy="312420"/>
          </a:xfrm>
          <a:prstGeom prst="rect">
            <a:avLst/>
          </a:prstGeom>
          <a:noFill/>
          <a:ln/>
        </p:spPr>
        <p:txBody>
          <a:bodyPr wrap="square" lIns="25400" tIns="25400" rIns="25400" bIns="25400" rtlCol="0" anchor="t">
            <a:normAutofit/>
          </a:bodyPr>
          <a:lstStyle/>
          <a:p>
            <a:pPr marL="0" indent="0" algn="l">
              <a:buNone/>
            </a:pPr>
            <a:r>
              <a:rPr lang="en-US" sz="1500" b="1" kern="0" spc="225" dirty="0">
                <a:solidFill>
                  <a:srgbClr val="FFFFFF"/>
                </a:solidFill>
                <a:latin typeface="Helvetica" pitchFamily="34" charset="0"/>
                <a:ea typeface="Helvetica" pitchFamily="34" charset="-122"/>
                <a:cs typeface="Helvetica" pitchFamily="34" charset="-120"/>
              </a:rPr>
              <a:t>SUGGESTED ANSWERS</a:t>
            </a:r>
            <a:endParaRPr lang="en-US" sz="1500" dirty="0"/>
          </a:p>
        </p:txBody>
      </p:sp>
      <p:sp>
        <p:nvSpPr>
          <p:cNvPr id="8" name="Text 6"/>
          <p:cNvSpPr/>
          <p:nvPr/>
        </p:nvSpPr>
        <p:spPr>
          <a:xfrm>
            <a:off x="1047750" y="2065020"/>
            <a:ext cx="17811750" cy="579120"/>
          </a:xfrm>
          <a:prstGeom prst="rect">
            <a:avLst/>
          </a:prstGeom>
          <a:noFill/>
          <a:ln/>
        </p:spPr>
        <p:txBody>
          <a:bodyPr wrap="square" lIns="25400" tIns="25400" rIns="25400" bIns="25400" rtlCol="0" anchor="t">
            <a:normAutofit lnSpcReduction="10000"/>
          </a:bodyPr>
          <a:lstStyle/>
          <a:p>
            <a:pPr marL="0" indent="0" algn="l">
              <a:buNone/>
            </a:pPr>
            <a:r>
              <a:rPr lang="en-US" sz="3750" b="1" dirty="0">
                <a:solidFill>
                  <a:srgbClr val="1A2A5E"/>
                </a:solidFill>
                <a:latin typeface="Georgia" pitchFamily="34" charset="0"/>
                <a:ea typeface="Georgia" pitchFamily="34" charset="-122"/>
                <a:cs typeface="Georgia" pitchFamily="34" charset="-120"/>
              </a:rPr>
              <a:t>Complete &amp; say each line</a:t>
            </a:r>
            <a:endParaRPr lang="en-US" sz="3750" dirty="0"/>
          </a:p>
        </p:txBody>
      </p:sp>
      <p:sp>
        <p:nvSpPr>
          <p:cNvPr id="9" name="Text 7"/>
          <p:cNvSpPr/>
          <p:nvPr/>
        </p:nvSpPr>
        <p:spPr>
          <a:xfrm>
            <a:off x="1047750" y="3017520"/>
            <a:ext cx="400050"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D9B877"/>
                </a:solidFill>
                <a:latin typeface="Georgia" pitchFamily="34" charset="0"/>
                <a:ea typeface="Georgia" pitchFamily="34" charset="-122"/>
                <a:cs typeface="Georgia" pitchFamily="34" charset="-120"/>
              </a:rPr>
              <a:t>1</a:t>
            </a:r>
            <a:endParaRPr lang="en-US" sz="2100" dirty="0"/>
          </a:p>
        </p:txBody>
      </p:sp>
      <p:sp>
        <p:nvSpPr>
          <p:cNvPr id="10" name="Text 8"/>
          <p:cNvSpPr/>
          <p:nvPr/>
        </p:nvSpPr>
        <p:spPr>
          <a:xfrm>
            <a:off x="1581150" y="2987040"/>
            <a:ext cx="7697427"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The final was an amazing </a:t>
            </a:r>
            <a:r>
              <a:rPr lang="en-US" sz="2100" b="1" dirty="0">
                <a:solidFill>
                  <a:srgbClr val="1A2A5E"/>
                </a:solidFill>
                <a:latin typeface="Helvetica" pitchFamily="34" charset="0"/>
                <a:ea typeface="Helvetica" pitchFamily="34" charset="-122"/>
                <a:cs typeface="Helvetica" pitchFamily="34" charset="-120"/>
              </a:rPr>
              <a:t>spectacle </a:t>
            </a:r>
            <a:r>
              <a:rPr lang="en-US" sz="2100" dirty="0">
                <a:solidFill>
                  <a:srgbClr val="444444"/>
                </a:solidFill>
                <a:latin typeface="Helvetica" pitchFamily="34" charset="0"/>
                <a:ea typeface="Helvetica" pitchFamily="34" charset="-122"/>
                <a:cs typeface="Helvetica" pitchFamily="34" charset="-120"/>
              </a:rPr>
              <a:t>that no one will forget.</a:t>
            </a:r>
            <a:endParaRPr lang="en-US" sz="2100" dirty="0"/>
          </a:p>
        </p:txBody>
      </p:sp>
      <p:sp>
        <p:nvSpPr>
          <p:cNvPr id="11" name="Text 9"/>
          <p:cNvSpPr/>
          <p:nvPr/>
        </p:nvSpPr>
        <p:spPr>
          <a:xfrm>
            <a:off x="1047750" y="3587115"/>
            <a:ext cx="400050"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D9B877"/>
                </a:solidFill>
                <a:latin typeface="Georgia" pitchFamily="34" charset="0"/>
                <a:ea typeface="Georgia" pitchFamily="34" charset="-122"/>
                <a:cs typeface="Georgia" pitchFamily="34" charset="-120"/>
              </a:rPr>
              <a:t>2</a:t>
            </a:r>
            <a:endParaRPr lang="en-US" sz="2100" dirty="0"/>
          </a:p>
        </p:txBody>
      </p:sp>
      <p:sp>
        <p:nvSpPr>
          <p:cNvPr id="12" name="Text 10"/>
          <p:cNvSpPr/>
          <p:nvPr/>
        </p:nvSpPr>
        <p:spPr>
          <a:xfrm>
            <a:off x="1581150" y="3556635"/>
            <a:ext cx="6245769"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There is a fierce </a:t>
            </a:r>
            <a:r>
              <a:rPr lang="en-US" sz="2100" b="1" dirty="0">
                <a:solidFill>
                  <a:srgbClr val="1A2A5E"/>
                </a:solidFill>
                <a:latin typeface="Helvetica" pitchFamily="34" charset="0"/>
                <a:ea typeface="Helvetica" pitchFamily="34" charset="-122"/>
                <a:cs typeface="Helvetica" pitchFamily="34" charset="-120"/>
              </a:rPr>
              <a:t>rivalry </a:t>
            </a:r>
            <a:r>
              <a:rPr lang="en-US" sz="2100" dirty="0">
                <a:solidFill>
                  <a:srgbClr val="444444"/>
                </a:solidFill>
                <a:latin typeface="Helvetica" pitchFamily="34" charset="0"/>
                <a:ea typeface="Helvetica" pitchFamily="34" charset="-122"/>
                <a:cs typeface="Helvetica" pitchFamily="34" charset="-120"/>
              </a:rPr>
              <a:t>between the two teams.</a:t>
            </a:r>
            <a:endParaRPr lang="en-US" sz="2100" dirty="0"/>
          </a:p>
        </p:txBody>
      </p:sp>
      <p:sp>
        <p:nvSpPr>
          <p:cNvPr id="13" name="Text 11"/>
          <p:cNvSpPr/>
          <p:nvPr/>
        </p:nvSpPr>
        <p:spPr>
          <a:xfrm>
            <a:off x="1047750" y="4156710"/>
            <a:ext cx="400050"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D9B877"/>
                </a:solidFill>
                <a:latin typeface="Georgia" pitchFamily="34" charset="0"/>
                <a:ea typeface="Georgia" pitchFamily="34" charset="-122"/>
                <a:cs typeface="Georgia" pitchFamily="34" charset="-120"/>
              </a:rPr>
              <a:t>3</a:t>
            </a:r>
            <a:endParaRPr lang="en-US" sz="2100" dirty="0"/>
          </a:p>
        </p:txBody>
      </p:sp>
      <p:sp>
        <p:nvSpPr>
          <p:cNvPr id="14" name="Text 12"/>
          <p:cNvSpPr/>
          <p:nvPr/>
        </p:nvSpPr>
        <p:spPr>
          <a:xfrm>
            <a:off x="1581150" y="4126230"/>
            <a:ext cx="6109431"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Our country hopes to </a:t>
            </a:r>
            <a:r>
              <a:rPr lang="en-US" sz="2100" b="1" dirty="0">
                <a:solidFill>
                  <a:srgbClr val="1A2A5E"/>
                </a:solidFill>
                <a:latin typeface="Helvetica" pitchFamily="34" charset="0"/>
                <a:ea typeface="Helvetica" pitchFamily="34" charset="-122"/>
                <a:cs typeface="Helvetica" pitchFamily="34" charset="-120"/>
              </a:rPr>
              <a:t>host </a:t>
            </a:r>
            <a:r>
              <a:rPr lang="en-US" sz="2100" dirty="0">
                <a:solidFill>
                  <a:srgbClr val="444444"/>
                </a:solidFill>
                <a:latin typeface="Helvetica" pitchFamily="34" charset="0"/>
                <a:ea typeface="Helvetica" pitchFamily="34" charset="-122"/>
                <a:cs typeface="Helvetica" pitchFamily="34" charset="-120"/>
              </a:rPr>
              <a:t>the next World Cup.</a:t>
            </a:r>
            <a:endParaRPr lang="en-US" sz="2100" dirty="0"/>
          </a:p>
        </p:txBody>
      </p:sp>
      <p:sp>
        <p:nvSpPr>
          <p:cNvPr id="15" name="Text 13"/>
          <p:cNvSpPr/>
          <p:nvPr/>
        </p:nvSpPr>
        <p:spPr>
          <a:xfrm>
            <a:off x="1047750" y="4726305"/>
            <a:ext cx="400050"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D9B877"/>
                </a:solidFill>
                <a:latin typeface="Georgia" pitchFamily="34" charset="0"/>
                <a:ea typeface="Georgia" pitchFamily="34" charset="-122"/>
                <a:cs typeface="Georgia" pitchFamily="34" charset="-120"/>
              </a:rPr>
              <a:t>4</a:t>
            </a:r>
            <a:endParaRPr lang="en-US" sz="2100" dirty="0"/>
          </a:p>
        </p:txBody>
      </p:sp>
      <p:sp>
        <p:nvSpPr>
          <p:cNvPr id="16" name="Text 14"/>
          <p:cNvSpPr/>
          <p:nvPr/>
        </p:nvSpPr>
        <p:spPr>
          <a:xfrm>
            <a:off x="1581150" y="4695825"/>
            <a:ext cx="5316938"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A great event can leave a lasting </a:t>
            </a:r>
            <a:r>
              <a:rPr lang="en-US" sz="2100" b="1" dirty="0">
                <a:solidFill>
                  <a:srgbClr val="1A2A5E"/>
                </a:solidFill>
                <a:latin typeface="Helvetica" pitchFamily="34" charset="0"/>
                <a:ea typeface="Helvetica" pitchFamily="34" charset="-122"/>
                <a:cs typeface="Helvetica" pitchFamily="34" charset="-120"/>
              </a:rPr>
              <a:t>legacy</a:t>
            </a:r>
            <a:r>
              <a:rPr lang="en-US" sz="2100" dirty="0">
                <a:solidFill>
                  <a:srgbClr val="444444"/>
                </a:solidFill>
                <a:latin typeface="Helvetica" pitchFamily="34" charset="0"/>
                <a:ea typeface="Helvetica" pitchFamily="34" charset="-122"/>
                <a:cs typeface="Helvetica" pitchFamily="34" charset="-120"/>
              </a:rPr>
              <a:t>.</a:t>
            </a:r>
            <a:endParaRPr lang="en-US" sz="2100" dirty="0"/>
          </a:p>
        </p:txBody>
      </p:sp>
      <p:sp>
        <p:nvSpPr>
          <p:cNvPr id="17" name="Text 15"/>
          <p:cNvSpPr/>
          <p:nvPr/>
        </p:nvSpPr>
        <p:spPr>
          <a:xfrm>
            <a:off x="1047750" y="5295900"/>
            <a:ext cx="400050" cy="34290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D9B877"/>
                </a:solidFill>
                <a:latin typeface="Georgia" pitchFamily="34" charset="0"/>
                <a:ea typeface="Georgia" pitchFamily="34" charset="-122"/>
                <a:cs typeface="Georgia" pitchFamily="34" charset="-120"/>
              </a:rPr>
              <a:t>5</a:t>
            </a:r>
            <a:endParaRPr lang="en-US" sz="2100" dirty="0"/>
          </a:p>
        </p:txBody>
      </p:sp>
      <p:sp>
        <p:nvSpPr>
          <p:cNvPr id="18" name="Text 16"/>
          <p:cNvSpPr/>
          <p:nvPr/>
        </p:nvSpPr>
        <p:spPr>
          <a:xfrm>
            <a:off x="1581150" y="5265420"/>
            <a:ext cx="7403532" cy="398145"/>
          </a:xfrm>
          <a:prstGeom prst="rect">
            <a:avLst/>
          </a:prstGeom>
          <a:noFill/>
          <a:ln/>
        </p:spPr>
        <p:txBody>
          <a:bodyPr wrap="square" lIns="25400" tIns="25400" rIns="25400" bIns="25400" rtlCol="0" anchor="t">
            <a:normAutofit lnSpcReduction="10000"/>
          </a:bodyPr>
          <a:lstStyle/>
          <a:p>
            <a:pPr marL="0" indent="0" algn="l">
              <a:lnSpc>
                <a:spcPct val="118125"/>
              </a:lnSpc>
              <a:buNone/>
            </a:pPr>
            <a:r>
              <a:rPr lang="en-US" sz="2100" dirty="0">
                <a:solidFill>
                  <a:srgbClr val="444444"/>
                </a:solidFill>
                <a:latin typeface="Helvetica" pitchFamily="34" charset="0"/>
                <a:ea typeface="Helvetica" pitchFamily="34" charset="-122"/>
                <a:cs typeface="Helvetica" pitchFamily="34" charset="-120"/>
              </a:rPr>
              <a:t>A knockout </a:t>
            </a:r>
            <a:r>
              <a:rPr lang="en-US" sz="2100" b="1" dirty="0">
                <a:solidFill>
                  <a:srgbClr val="1A2A5E"/>
                </a:solidFill>
                <a:latin typeface="Helvetica" pitchFamily="34" charset="0"/>
                <a:ea typeface="Helvetica" pitchFamily="34" charset="-122"/>
                <a:cs typeface="Helvetica" pitchFamily="34" charset="-120"/>
              </a:rPr>
              <a:t>tournament </a:t>
            </a:r>
            <a:r>
              <a:rPr lang="en-US" sz="2100" dirty="0">
                <a:solidFill>
                  <a:srgbClr val="444444"/>
                </a:solidFill>
                <a:latin typeface="Helvetica" pitchFamily="34" charset="0"/>
                <a:ea typeface="Helvetica" pitchFamily="34" charset="-122"/>
                <a:cs typeface="Helvetica" pitchFamily="34" charset="-120"/>
              </a:rPr>
              <a:t>can be decided by a single goal.</a:t>
            </a:r>
            <a:endParaRPr lang="en-US" sz="2100" dirty="0"/>
          </a:p>
        </p:txBody>
      </p:sp>
      <p:sp>
        <p:nvSpPr>
          <p:cNvPr id="19" name="Text 17"/>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AF9F6"/>
        </a:solidFill>
        <a:effectLst/>
      </p:bgPr>
    </p:bg>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504950"/>
            <a:ext cx="3211092"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SPEAKING CHALLENGE</a:t>
            </a:r>
            <a:endParaRPr lang="en-US" sz="1500" dirty="0"/>
          </a:p>
        </p:txBody>
      </p:sp>
      <p:sp>
        <p:nvSpPr>
          <p:cNvPr id="6" name="Text 4"/>
          <p:cNvSpPr/>
          <p:nvPr/>
        </p:nvSpPr>
        <p:spPr>
          <a:xfrm>
            <a:off x="4176474" y="1550670"/>
            <a:ext cx="2534507" cy="205740"/>
          </a:xfrm>
          <a:prstGeom prst="rect">
            <a:avLst/>
          </a:prstGeom>
          <a:noFill/>
          <a:ln/>
        </p:spPr>
        <p:txBody>
          <a:bodyPr wrap="square" lIns="25400" tIns="25400" rIns="25400" bIns="25400" rtlCol="0" anchor="t">
            <a:normAutofit lnSpcReduction="10000"/>
          </a:bodyPr>
          <a:lstStyle/>
          <a:p>
            <a:pPr marL="0" indent="0" algn="l">
              <a:buNone/>
            </a:pPr>
            <a:r>
              <a:rPr lang="en-US" sz="1125" b="1" kern="0" spc="225" dirty="0">
                <a:solidFill>
                  <a:srgbClr val="8A8A8A"/>
                </a:solidFill>
                <a:latin typeface="Helvetica" pitchFamily="34" charset="0"/>
                <a:ea typeface="Helvetica" pitchFamily="34" charset="-122"/>
                <a:cs typeface="Helvetica" pitchFamily="34" charset="-120"/>
              </a:rPr>
              <a:t>ROLE · TASK · PRESENT</a:t>
            </a:r>
            <a:endParaRPr lang="en-US" sz="1125" dirty="0"/>
          </a:p>
        </p:txBody>
      </p:sp>
      <p:sp>
        <p:nvSpPr>
          <p:cNvPr id="7" name="Text 5"/>
          <p:cNvSpPr/>
          <p:nvPr/>
        </p:nvSpPr>
        <p:spPr>
          <a:xfrm>
            <a:off x="1047750" y="1840230"/>
            <a:ext cx="17811750" cy="579120"/>
          </a:xfrm>
          <a:prstGeom prst="rect">
            <a:avLst/>
          </a:prstGeom>
          <a:noFill/>
          <a:ln/>
        </p:spPr>
        <p:txBody>
          <a:bodyPr wrap="square" lIns="25400" tIns="25400" rIns="25400" bIns="25400" rtlCol="0" anchor="t">
            <a:normAutofit lnSpcReduction="10000"/>
          </a:bodyPr>
          <a:lstStyle/>
          <a:p>
            <a:pPr marL="0" indent="0" algn="l">
              <a:buNone/>
            </a:pPr>
            <a:r>
              <a:rPr lang="en-US" sz="3750" b="1" dirty="0">
                <a:solidFill>
                  <a:srgbClr val="1A2A5E"/>
                </a:solidFill>
                <a:latin typeface="Georgia" pitchFamily="34" charset="0"/>
                <a:ea typeface="Georgia" pitchFamily="34" charset="-122"/>
                <a:cs typeface="Georgia" pitchFamily="34" charset="-120"/>
              </a:rPr>
              <a:t>Bid to host the World Cup</a:t>
            </a:r>
            <a:endParaRPr lang="en-US" sz="3750" dirty="0"/>
          </a:p>
        </p:txBody>
      </p:sp>
      <p:sp>
        <p:nvSpPr>
          <p:cNvPr id="8" name="Shape 6"/>
          <p:cNvSpPr/>
          <p:nvPr/>
        </p:nvSpPr>
        <p:spPr>
          <a:xfrm>
            <a:off x="1047750" y="2819400"/>
            <a:ext cx="14859000" cy="9525"/>
          </a:xfrm>
          <a:prstGeom prst="rect">
            <a:avLst/>
          </a:prstGeom>
          <a:solidFill>
            <a:srgbClr val="D8D6D0"/>
          </a:solidFill>
          <a:ln/>
        </p:spPr>
        <p:txBody>
          <a:bodyPr/>
          <a:lstStyle/>
          <a:p>
            <a:endParaRPr lang="en-US"/>
          </a:p>
        </p:txBody>
      </p:sp>
      <p:sp>
        <p:nvSpPr>
          <p:cNvPr id="9" name="Text 7"/>
          <p:cNvSpPr/>
          <p:nvPr/>
        </p:nvSpPr>
        <p:spPr>
          <a:xfrm>
            <a:off x="1047750" y="3093720"/>
            <a:ext cx="2095500" cy="358140"/>
          </a:xfrm>
          <a:prstGeom prst="rect">
            <a:avLst/>
          </a:prstGeom>
          <a:noFill/>
          <a:ln/>
        </p:spPr>
        <p:txBody>
          <a:bodyPr wrap="square" lIns="25400" tIns="25400" rIns="25400" bIns="25400" rtlCol="0" anchor="t">
            <a:normAutofit/>
          </a:bodyPr>
          <a:lstStyle/>
          <a:p>
            <a:pPr marL="0" indent="0" algn="l">
              <a:buNone/>
            </a:pPr>
            <a:r>
              <a:rPr lang="en-US" sz="1800" b="1" kern="0" spc="225" dirty="0">
                <a:solidFill>
                  <a:srgbClr val="1A2A5E"/>
                </a:solidFill>
                <a:latin typeface="Helvetica" pitchFamily="34" charset="0"/>
                <a:ea typeface="Helvetica" pitchFamily="34" charset="-122"/>
                <a:cs typeface="Helvetica" pitchFamily="34" charset="-120"/>
              </a:rPr>
              <a:t>ROLE</a:t>
            </a:r>
            <a:endParaRPr lang="en-US" sz="1800" dirty="0"/>
          </a:p>
        </p:txBody>
      </p:sp>
      <p:sp>
        <p:nvSpPr>
          <p:cNvPr id="10" name="Text 8"/>
          <p:cNvSpPr/>
          <p:nvPr/>
        </p:nvSpPr>
        <p:spPr>
          <a:xfrm>
            <a:off x="3238500" y="3055620"/>
            <a:ext cx="13935075"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222222"/>
                </a:solidFill>
                <a:latin typeface="Helvetica" pitchFamily="34" charset="0"/>
                <a:ea typeface="Helvetica" pitchFamily="34" charset="-122"/>
                <a:cs typeface="Helvetica" pitchFamily="34" charset="-120"/>
              </a:rPr>
              <a:t>You are on your city’s committee bidding to host the World Cup.</a:t>
            </a:r>
            <a:endParaRPr lang="en-US" sz="2250" dirty="0"/>
          </a:p>
        </p:txBody>
      </p:sp>
      <p:sp>
        <p:nvSpPr>
          <p:cNvPr id="11" name="Shape 9"/>
          <p:cNvSpPr/>
          <p:nvPr/>
        </p:nvSpPr>
        <p:spPr>
          <a:xfrm>
            <a:off x="1047750" y="3689033"/>
            <a:ext cx="14859000" cy="9525"/>
          </a:xfrm>
          <a:prstGeom prst="rect">
            <a:avLst/>
          </a:prstGeom>
          <a:solidFill>
            <a:srgbClr val="D8D6D0"/>
          </a:solidFill>
          <a:ln/>
        </p:spPr>
        <p:txBody>
          <a:bodyPr/>
          <a:lstStyle/>
          <a:p>
            <a:endParaRPr lang="en-US"/>
          </a:p>
        </p:txBody>
      </p:sp>
      <p:sp>
        <p:nvSpPr>
          <p:cNvPr id="12" name="Text 10"/>
          <p:cNvSpPr/>
          <p:nvPr/>
        </p:nvSpPr>
        <p:spPr>
          <a:xfrm>
            <a:off x="1047750" y="3963353"/>
            <a:ext cx="2095500" cy="358140"/>
          </a:xfrm>
          <a:prstGeom prst="rect">
            <a:avLst/>
          </a:prstGeom>
          <a:noFill/>
          <a:ln/>
        </p:spPr>
        <p:txBody>
          <a:bodyPr wrap="square" lIns="25400" tIns="25400" rIns="25400" bIns="25400" rtlCol="0" anchor="t">
            <a:normAutofit/>
          </a:bodyPr>
          <a:lstStyle/>
          <a:p>
            <a:pPr marL="0" indent="0" algn="l">
              <a:buNone/>
            </a:pPr>
            <a:r>
              <a:rPr lang="en-US" sz="1800" b="1" kern="0" spc="225" dirty="0">
                <a:solidFill>
                  <a:srgbClr val="1A2A5E"/>
                </a:solidFill>
                <a:latin typeface="Helvetica" pitchFamily="34" charset="0"/>
                <a:ea typeface="Helvetica" pitchFamily="34" charset="-122"/>
                <a:cs typeface="Helvetica" pitchFamily="34" charset="-120"/>
              </a:rPr>
              <a:t>TASK</a:t>
            </a:r>
            <a:endParaRPr lang="en-US" sz="1800" dirty="0"/>
          </a:p>
        </p:txBody>
      </p:sp>
      <p:sp>
        <p:nvSpPr>
          <p:cNvPr id="13" name="Text 11"/>
          <p:cNvSpPr/>
          <p:nvPr/>
        </p:nvSpPr>
        <p:spPr>
          <a:xfrm>
            <a:off x="3238500" y="3925253"/>
            <a:ext cx="13935075"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222222"/>
                </a:solidFill>
                <a:latin typeface="Helvetica" pitchFamily="34" charset="0"/>
                <a:ea typeface="Helvetica" pitchFamily="34" charset="-122"/>
                <a:cs typeface="Helvetica" pitchFamily="34" charset="-120"/>
              </a:rPr>
              <a:t>Agree on three reasons your city would be a great host.</a:t>
            </a:r>
            <a:endParaRPr lang="en-US" sz="2250" dirty="0"/>
          </a:p>
        </p:txBody>
      </p:sp>
      <p:sp>
        <p:nvSpPr>
          <p:cNvPr id="14" name="Shape 12"/>
          <p:cNvSpPr/>
          <p:nvPr/>
        </p:nvSpPr>
        <p:spPr>
          <a:xfrm>
            <a:off x="1047750" y="5409248"/>
            <a:ext cx="14859000" cy="9525"/>
          </a:xfrm>
          <a:prstGeom prst="rect">
            <a:avLst/>
          </a:prstGeom>
          <a:solidFill>
            <a:srgbClr val="D8D6D0"/>
          </a:solidFill>
          <a:ln/>
        </p:spPr>
        <p:txBody>
          <a:bodyPr/>
          <a:lstStyle/>
          <a:p>
            <a:endParaRPr lang="en-US"/>
          </a:p>
        </p:txBody>
      </p:sp>
      <p:sp>
        <p:nvSpPr>
          <p:cNvPr id="15" name="Shape 13"/>
          <p:cNvSpPr/>
          <p:nvPr/>
        </p:nvSpPr>
        <p:spPr>
          <a:xfrm>
            <a:off x="1047750" y="4558665"/>
            <a:ext cx="14859000" cy="9525"/>
          </a:xfrm>
          <a:prstGeom prst="rect">
            <a:avLst/>
          </a:prstGeom>
          <a:solidFill>
            <a:srgbClr val="D8D6D0"/>
          </a:solidFill>
          <a:ln/>
        </p:spPr>
        <p:txBody>
          <a:bodyPr/>
          <a:lstStyle/>
          <a:p>
            <a:endParaRPr lang="en-US"/>
          </a:p>
        </p:txBody>
      </p:sp>
      <p:sp>
        <p:nvSpPr>
          <p:cNvPr id="16" name="Text 14"/>
          <p:cNvSpPr/>
          <p:nvPr/>
        </p:nvSpPr>
        <p:spPr>
          <a:xfrm>
            <a:off x="1047750" y="4832985"/>
            <a:ext cx="2095500" cy="358140"/>
          </a:xfrm>
          <a:prstGeom prst="rect">
            <a:avLst/>
          </a:prstGeom>
          <a:noFill/>
          <a:ln/>
        </p:spPr>
        <p:txBody>
          <a:bodyPr wrap="square" lIns="25400" tIns="25400" rIns="25400" bIns="25400" rtlCol="0" anchor="t">
            <a:normAutofit/>
          </a:bodyPr>
          <a:lstStyle/>
          <a:p>
            <a:pPr marL="0" indent="0" algn="l">
              <a:buNone/>
            </a:pPr>
            <a:r>
              <a:rPr lang="en-US" sz="1800" b="1" kern="0" spc="225" dirty="0">
                <a:solidFill>
                  <a:srgbClr val="1A2A5E"/>
                </a:solidFill>
                <a:latin typeface="Helvetica" pitchFamily="34" charset="0"/>
                <a:ea typeface="Helvetica" pitchFamily="34" charset="-122"/>
                <a:cs typeface="Helvetica" pitchFamily="34" charset="-120"/>
              </a:rPr>
              <a:t>PRESENT</a:t>
            </a:r>
            <a:endParaRPr lang="en-US" sz="1800" dirty="0"/>
          </a:p>
        </p:txBody>
      </p:sp>
      <p:sp>
        <p:nvSpPr>
          <p:cNvPr id="17" name="Text 15"/>
          <p:cNvSpPr/>
          <p:nvPr/>
        </p:nvSpPr>
        <p:spPr>
          <a:xfrm>
            <a:off x="3238500" y="4794885"/>
            <a:ext cx="13935075"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222222"/>
                </a:solidFill>
                <a:latin typeface="Helvetica" pitchFamily="34" charset="0"/>
                <a:ea typeface="Helvetica" pitchFamily="34" charset="-122"/>
                <a:cs typeface="Helvetica" pitchFamily="34" charset="-120"/>
              </a:rPr>
              <a:t>Present your bid and explain why your city deserves it.</a:t>
            </a:r>
            <a:endParaRPr lang="en-US" sz="2250" dirty="0"/>
          </a:p>
        </p:txBody>
      </p:sp>
      <p:sp>
        <p:nvSpPr>
          <p:cNvPr id="18" name="Text 16"/>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a:t>
            </a:r>
            <a:endParaRPr lang="en-US" sz="1275"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1047750" y="1101090"/>
            <a:ext cx="16192500" cy="22860"/>
          </a:xfrm>
          <a:prstGeom prst="rect">
            <a:avLst/>
          </a:prstGeom>
          <a:solidFill>
            <a:srgbClr val="1A2A5E"/>
          </a:solidFill>
          <a:ln/>
        </p:spPr>
        <p:txBody>
          <a:bodyPr/>
          <a:lstStyle/>
          <a:p>
            <a:endParaRPr lang="en-US"/>
          </a:p>
        </p:txBody>
      </p:sp>
      <p:sp>
        <p:nvSpPr>
          <p:cNvPr id="3" name="Text 1"/>
          <p:cNvSpPr/>
          <p:nvPr/>
        </p:nvSpPr>
        <p:spPr>
          <a:xfrm>
            <a:off x="1047750" y="666750"/>
            <a:ext cx="3771900" cy="320040"/>
          </a:xfrm>
          <a:prstGeom prst="rect">
            <a:avLst/>
          </a:prstGeom>
          <a:noFill/>
          <a:ln/>
        </p:spPr>
        <p:txBody>
          <a:bodyPr wrap="none" lIns="25400" tIns="25400" rIns="25400" bIns="25400" rtlCol="0" anchor="t">
            <a:normAutofit lnSpcReduction="10000"/>
          </a:bodyPr>
          <a:lstStyle/>
          <a:p>
            <a:pPr marL="0" indent="0" algn="l">
              <a:buNone/>
            </a:pPr>
            <a:r>
              <a:rPr lang="en-US" sz="1950" b="1" kern="0" spc="38" dirty="0">
                <a:solidFill>
                  <a:srgbClr val="1A2A5E"/>
                </a:solidFill>
                <a:latin typeface="Georgia" pitchFamily="34" charset="0"/>
                <a:ea typeface="Georgia" pitchFamily="34" charset="-122"/>
                <a:cs typeface="Georgia" pitchFamily="34" charset="-120"/>
              </a:rPr>
              <a:t>PERSPECTIVE</a:t>
            </a:r>
            <a:endParaRPr lang="en-US" sz="1950" dirty="0"/>
          </a:p>
        </p:txBody>
      </p:sp>
      <p:sp>
        <p:nvSpPr>
          <p:cNvPr id="4" name="Text 2"/>
          <p:cNvSpPr/>
          <p:nvPr/>
        </p:nvSpPr>
        <p:spPr>
          <a:xfrm>
            <a:off x="14319528" y="701040"/>
            <a:ext cx="3212795" cy="251460"/>
          </a:xfrm>
          <a:prstGeom prst="rect">
            <a:avLst/>
          </a:prstGeom>
          <a:noFill/>
          <a:ln/>
        </p:spPr>
        <p:txBody>
          <a:bodyPr wrap="square" lIns="25400" tIns="25400" rIns="25400" bIns="25400" rtlCol="0" anchor="t">
            <a:normAutofit/>
          </a:bodyPr>
          <a:lstStyle/>
          <a:p>
            <a:pPr marL="0" indent="0" algn="l">
              <a:buNone/>
            </a:pPr>
            <a:r>
              <a:rPr lang="en-US" sz="1200" b="1" kern="0" spc="150" dirty="0">
                <a:solidFill>
                  <a:srgbClr val="1A2A5E"/>
                </a:solidFill>
                <a:latin typeface="Helvetica" pitchFamily="34" charset="0"/>
                <a:ea typeface="Helvetica" pitchFamily="34" charset="-122"/>
                <a:cs typeface="Helvetica" pitchFamily="34" charset="-120"/>
              </a:rPr>
              <a:t>ISSUE 005 · THE WORLD CUP</a:t>
            </a:r>
            <a:endParaRPr lang="en-US" sz="1200" dirty="0"/>
          </a:p>
        </p:txBody>
      </p:sp>
      <p:sp>
        <p:nvSpPr>
          <p:cNvPr id="5" name="Text 3"/>
          <p:cNvSpPr/>
          <p:nvPr/>
        </p:nvSpPr>
        <p:spPr>
          <a:xfrm>
            <a:off x="1047750" y="1695450"/>
            <a:ext cx="17811750"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300" dirty="0">
                <a:solidFill>
                  <a:srgbClr val="BF842C"/>
                </a:solidFill>
                <a:latin typeface="Helvetica" pitchFamily="34" charset="0"/>
                <a:ea typeface="Helvetica" pitchFamily="34" charset="-122"/>
                <a:cs typeface="Helvetica" pitchFamily="34" charset="-120"/>
              </a:rPr>
              <a:t>WRITING · YOUR OPINION</a:t>
            </a:r>
            <a:endParaRPr lang="en-US" sz="1500" dirty="0"/>
          </a:p>
        </p:txBody>
      </p:sp>
      <p:sp>
        <p:nvSpPr>
          <p:cNvPr id="6" name="Text 4"/>
          <p:cNvSpPr/>
          <p:nvPr/>
        </p:nvSpPr>
        <p:spPr>
          <a:xfrm>
            <a:off x="1047750" y="2145030"/>
            <a:ext cx="15206662" cy="158877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5550" b="1" dirty="0">
                <a:solidFill>
                  <a:srgbClr val="1A2A5E"/>
                </a:solidFill>
                <a:latin typeface="Georgia" pitchFamily="34" charset="0"/>
                <a:ea typeface="Georgia" pitchFamily="34" charset="-122"/>
                <a:cs typeface="Georgia" pitchFamily="34" charset="-120"/>
              </a:rPr>
              <a:t>Should countries spend billions of dollars to host the World Cup?</a:t>
            </a:r>
            <a:endParaRPr lang="en-US" sz="5550" dirty="0"/>
          </a:p>
        </p:txBody>
      </p:sp>
      <p:sp>
        <p:nvSpPr>
          <p:cNvPr id="7" name="Text 5"/>
          <p:cNvSpPr/>
          <p:nvPr/>
        </p:nvSpPr>
        <p:spPr>
          <a:xfrm>
            <a:off x="1047750" y="4076700"/>
            <a:ext cx="13620750" cy="46482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400" dirty="0">
                <a:solidFill>
                  <a:srgbClr val="444444"/>
                </a:solidFill>
                <a:latin typeface="Helvetica" pitchFamily="34" charset="0"/>
                <a:ea typeface="Helvetica" pitchFamily="34" charset="-122"/>
                <a:cs typeface="Helvetica" pitchFamily="34" charset="-120"/>
              </a:rPr>
              <a:t>Write </a:t>
            </a:r>
            <a:r>
              <a:rPr lang="en-US" sz="2400" b="1" dirty="0">
                <a:solidFill>
                  <a:srgbClr val="1A2A5E"/>
                </a:solidFill>
                <a:latin typeface="Helvetica" pitchFamily="34" charset="0"/>
                <a:ea typeface="Helvetica" pitchFamily="34" charset="-122"/>
                <a:cs typeface="Helvetica" pitchFamily="34" charset="-120"/>
              </a:rPr>
              <a:t>150–200 words</a:t>
            </a:r>
            <a:r>
              <a:rPr lang="en-US" sz="2400" dirty="0">
                <a:solidFill>
                  <a:srgbClr val="444444"/>
                </a:solidFill>
                <a:latin typeface="Helvetica" pitchFamily="34" charset="0"/>
                <a:ea typeface="Helvetica" pitchFamily="34" charset="-122"/>
                <a:cs typeface="Helvetica" pitchFamily="34" charset="-120"/>
              </a:rPr>
              <a:t>, using ideas and vocabulary from the article.</a:t>
            </a:r>
            <a:endParaRPr lang="en-US" sz="2400" dirty="0"/>
          </a:p>
        </p:txBody>
      </p:sp>
      <p:sp>
        <p:nvSpPr>
          <p:cNvPr id="8" name="Shape 6"/>
          <p:cNvSpPr/>
          <p:nvPr/>
        </p:nvSpPr>
        <p:spPr>
          <a:xfrm>
            <a:off x="1047750" y="4979670"/>
            <a:ext cx="2476500" cy="22860"/>
          </a:xfrm>
          <a:prstGeom prst="rect">
            <a:avLst/>
          </a:prstGeom>
          <a:solidFill>
            <a:srgbClr val="D9B877"/>
          </a:solidFill>
          <a:ln/>
        </p:spPr>
        <p:txBody>
          <a:bodyPr/>
          <a:lstStyle/>
          <a:p>
            <a:endParaRPr lang="en-US"/>
          </a:p>
        </p:txBody>
      </p:sp>
      <p:sp>
        <p:nvSpPr>
          <p:cNvPr id="9" name="Text 7"/>
          <p:cNvSpPr/>
          <p:nvPr/>
        </p:nvSpPr>
        <p:spPr>
          <a:xfrm>
            <a:off x="1047750" y="5135880"/>
            <a:ext cx="2552700" cy="556260"/>
          </a:xfrm>
          <a:prstGeom prst="rect">
            <a:avLst/>
          </a:prstGeom>
          <a:noFill/>
          <a:ln/>
        </p:spPr>
        <p:txBody>
          <a:bodyPr wrap="square" lIns="25400" tIns="25400" rIns="25400" bIns="25400" rtlCol="0" anchor="t">
            <a:normAutofit/>
          </a:bodyPr>
          <a:lstStyle/>
          <a:p>
            <a:pPr marL="0" indent="0" algn="l">
              <a:buNone/>
            </a:pPr>
            <a:r>
              <a:rPr lang="en-US" sz="1800" dirty="0">
                <a:solidFill>
                  <a:srgbClr val="777777"/>
                </a:solidFill>
                <a:latin typeface="Helvetica" pitchFamily="34" charset="0"/>
                <a:ea typeface="Helvetica" pitchFamily="34" charset="-122"/>
                <a:cs typeface="Helvetica" pitchFamily="34" charset="-120"/>
              </a:rPr>
              <a:t>Give your opinion clearly</a:t>
            </a:r>
            <a:endParaRPr lang="en-US" sz="1800" dirty="0"/>
          </a:p>
        </p:txBody>
      </p:sp>
      <p:sp>
        <p:nvSpPr>
          <p:cNvPr id="10" name="Shape 8"/>
          <p:cNvSpPr/>
          <p:nvPr/>
        </p:nvSpPr>
        <p:spPr>
          <a:xfrm>
            <a:off x="3905250" y="4979670"/>
            <a:ext cx="2476500" cy="22860"/>
          </a:xfrm>
          <a:prstGeom prst="rect">
            <a:avLst/>
          </a:prstGeom>
          <a:solidFill>
            <a:srgbClr val="D9B877"/>
          </a:solidFill>
          <a:ln/>
        </p:spPr>
        <p:txBody>
          <a:bodyPr/>
          <a:lstStyle/>
          <a:p>
            <a:endParaRPr lang="en-US"/>
          </a:p>
        </p:txBody>
      </p:sp>
      <p:sp>
        <p:nvSpPr>
          <p:cNvPr id="11" name="Text 9"/>
          <p:cNvSpPr/>
          <p:nvPr/>
        </p:nvSpPr>
        <p:spPr>
          <a:xfrm>
            <a:off x="3905250" y="5135880"/>
            <a:ext cx="2552700" cy="556260"/>
          </a:xfrm>
          <a:prstGeom prst="rect">
            <a:avLst/>
          </a:prstGeom>
          <a:noFill/>
          <a:ln/>
        </p:spPr>
        <p:txBody>
          <a:bodyPr wrap="square" lIns="25400" tIns="25400" rIns="25400" bIns="25400" rtlCol="0" anchor="t">
            <a:normAutofit/>
          </a:bodyPr>
          <a:lstStyle/>
          <a:p>
            <a:pPr marL="0" indent="0" algn="l">
              <a:buNone/>
            </a:pPr>
            <a:r>
              <a:rPr lang="en-US" sz="1800" dirty="0">
                <a:solidFill>
                  <a:srgbClr val="777777"/>
                </a:solidFill>
                <a:latin typeface="Helvetica" pitchFamily="34" charset="0"/>
                <a:ea typeface="Helvetica" pitchFamily="34" charset="-122"/>
                <a:cs typeface="Helvetica" pitchFamily="34" charset="-120"/>
              </a:rPr>
              <a:t>Support it with reasons</a:t>
            </a:r>
            <a:endParaRPr lang="en-US" sz="1800" dirty="0"/>
          </a:p>
        </p:txBody>
      </p:sp>
      <p:sp>
        <p:nvSpPr>
          <p:cNvPr id="12" name="Shape 10"/>
          <p:cNvSpPr/>
          <p:nvPr/>
        </p:nvSpPr>
        <p:spPr>
          <a:xfrm>
            <a:off x="6762750" y="4979670"/>
            <a:ext cx="2476500" cy="22860"/>
          </a:xfrm>
          <a:prstGeom prst="rect">
            <a:avLst/>
          </a:prstGeom>
          <a:solidFill>
            <a:srgbClr val="D9B877"/>
          </a:solidFill>
          <a:ln/>
        </p:spPr>
        <p:txBody>
          <a:bodyPr/>
          <a:lstStyle/>
          <a:p>
            <a:endParaRPr lang="en-US"/>
          </a:p>
        </p:txBody>
      </p:sp>
      <p:sp>
        <p:nvSpPr>
          <p:cNvPr id="13" name="Text 11"/>
          <p:cNvSpPr/>
          <p:nvPr/>
        </p:nvSpPr>
        <p:spPr>
          <a:xfrm>
            <a:off x="6762750" y="5135880"/>
            <a:ext cx="2552700" cy="556260"/>
          </a:xfrm>
          <a:prstGeom prst="rect">
            <a:avLst/>
          </a:prstGeom>
          <a:noFill/>
          <a:ln/>
        </p:spPr>
        <p:txBody>
          <a:bodyPr wrap="square" lIns="25400" tIns="25400" rIns="25400" bIns="25400" rtlCol="0" anchor="t">
            <a:normAutofit/>
          </a:bodyPr>
          <a:lstStyle/>
          <a:p>
            <a:pPr marL="0" indent="0" algn="l">
              <a:buNone/>
            </a:pPr>
            <a:r>
              <a:rPr lang="en-US" sz="1800" dirty="0">
                <a:solidFill>
                  <a:srgbClr val="777777"/>
                </a:solidFill>
                <a:latin typeface="Helvetica" pitchFamily="34" charset="0"/>
                <a:ea typeface="Helvetica" pitchFamily="34" charset="-122"/>
                <a:cs typeface="Helvetica" pitchFamily="34" charset="-120"/>
              </a:rPr>
              <a:t>Use the key vocabulary</a:t>
            </a:r>
            <a:endParaRPr lang="en-US" sz="1800" dirty="0"/>
          </a:p>
        </p:txBody>
      </p:sp>
      <p:sp>
        <p:nvSpPr>
          <p:cNvPr id="14" name="Text 12"/>
          <p:cNvSpPr/>
          <p:nvPr/>
        </p:nvSpPr>
        <p:spPr>
          <a:xfrm>
            <a:off x="1047750" y="9429750"/>
            <a:ext cx="17811750" cy="228600"/>
          </a:xfrm>
          <a:prstGeom prst="rect">
            <a:avLst/>
          </a:prstGeom>
          <a:noFill/>
          <a:ln/>
        </p:spPr>
        <p:txBody>
          <a:bodyPr wrap="square" lIns="25400" tIns="25400" rIns="25400" bIns="25400" rtlCol="0" anchor="t">
            <a:normAutofit lnSpcReduction="10000"/>
          </a:bodyPr>
          <a:lstStyle/>
          <a:p>
            <a:pPr marL="0" indent="0" algn="l">
              <a:buNone/>
            </a:pPr>
            <a:r>
              <a:rPr lang="en-US" sz="1275" kern="0" spc="38" dirty="0">
                <a:solidFill>
                  <a:srgbClr val="9A9890"/>
                </a:solidFill>
                <a:latin typeface="Helvetica" pitchFamily="34" charset="0"/>
                <a:ea typeface="Helvetica" pitchFamily="34" charset="-122"/>
                <a:cs typeface="Helvetica" pitchFamily="34" charset="-120"/>
              </a:rPr>
              <a:t>perspectiveenglish.com | Model answer in the Teacher Guide</a:t>
            </a:r>
            <a:endParaRPr lang="en-US" sz="1275"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1A2A5E"/>
        </a:solidFill>
        <a:effectLst/>
      </p:bgPr>
    </p:bg>
    <p:spTree>
      <p:nvGrpSpPr>
        <p:cNvPr id="1" name=""/>
        <p:cNvGrpSpPr/>
        <p:nvPr/>
      </p:nvGrpSpPr>
      <p:grpSpPr>
        <a:xfrm>
          <a:off x="0" y="0"/>
          <a:ext cx="0" cy="0"/>
          <a:chOff x="0" y="0"/>
          <a:chExt cx="0" cy="0"/>
        </a:xfrm>
      </p:grpSpPr>
      <p:sp>
        <p:nvSpPr>
          <p:cNvPr id="2" name="Text 0"/>
          <p:cNvSpPr/>
          <p:nvPr/>
        </p:nvSpPr>
        <p:spPr>
          <a:xfrm>
            <a:off x="1238250" y="1047750"/>
            <a:ext cx="5448300" cy="472440"/>
          </a:xfrm>
          <a:prstGeom prst="rect">
            <a:avLst/>
          </a:prstGeom>
          <a:noFill/>
          <a:ln/>
        </p:spPr>
        <p:txBody>
          <a:bodyPr wrap="none" lIns="25400" tIns="25400" rIns="25400" bIns="25400" rtlCol="0" anchor="t">
            <a:normAutofit lnSpcReduction="10000"/>
          </a:bodyPr>
          <a:lstStyle/>
          <a:p>
            <a:pPr marL="0" indent="0" algn="l">
              <a:buNone/>
            </a:pPr>
            <a:r>
              <a:rPr lang="en-US" sz="3000" b="1" kern="0" spc="75" dirty="0">
                <a:solidFill>
                  <a:srgbClr val="FFFFFF"/>
                </a:solidFill>
                <a:latin typeface="Georgia" pitchFamily="34" charset="0"/>
                <a:ea typeface="Georgia" pitchFamily="34" charset="-122"/>
                <a:cs typeface="Georgia" pitchFamily="34" charset="-120"/>
              </a:rPr>
              <a:t>PERSPECTIVE</a:t>
            </a:r>
            <a:endParaRPr lang="en-US" sz="3000" dirty="0"/>
          </a:p>
        </p:txBody>
      </p:sp>
      <p:sp>
        <p:nvSpPr>
          <p:cNvPr id="3" name="Text 1"/>
          <p:cNvSpPr/>
          <p:nvPr/>
        </p:nvSpPr>
        <p:spPr>
          <a:xfrm>
            <a:off x="1238250" y="3769995"/>
            <a:ext cx="17392650" cy="281940"/>
          </a:xfrm>
          <a:prstGeom prst="rect">
            <a:avLst/>
          </a:prstGeom>
          <a:noFill/>
          <a:ln/>
        </p:spPr>
        <p:txBody>
          <a:bodyPr wrap="square" lIns="25400" tIns="25400" rIns="25400" bIns="25400" rtlCol="0" anchor="t">
            <a:normAutofit lnSpcReduction="10000"/>
          </a:bodyPr>
          <a:lstStyle/>
          <a:p>
            <a:pPr marL="0" indent="0" algn="l">
              <a:buNone/>
            </a:pPr>
            <a:r>
              <a:rPr lang="en-US" sz="1650" b="1" kern="0" spc="450" dirty="0">
                <a:solidFill>
                  <a:srgbClr val="D9B877"/>
                </a:solidFill>
                <a:latin typeface="Helvetica" pitchFamily="34" charset="0"/>
                <a:ea typeface="Helvetica" pitchFamily="34" charset="-122"/>
                <a:cs typeface="Helvetica" pitchFamily="34" charset="-120"/>
              </a:rPr>
              <a:t>THAT’S A WRAP</a:t>
            </a:r>
            <a:endParaRPr lang="en-US" sz="1650" dirty="0"/>
          </a:p>
        </p:txBody>
      </p:sp>
      <p:sp>
        <p:nvSpPr>
          <p:cNvPr id="4" name="Text 2"/>
          <p:cNvSpPr/>
          <p:nvPr/>
        </p:nvSpPr>
        <p:spPr>
          <a:xfrm>
            <a:off x="1238250" y="4204335"/>
            <a:ext cx="16285845" cy="195834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7200" b="1" dirty="0">
                <a:solidFill>
                  <a:srgbClr val="FFFFFF"/>
                </a:solidFill>
                <a:latin typeface="Georgia" pitchFamily="34" charset="0"/>
                <a:ea typeface="Georgia" pitchFamily="34" charset="-122"/>
                <a:cs typeface="Georgia" pitchFamily="34" charset="-120"/>
              </a:rPr>
              <a:t>One fact. One perspective. Endless discussion.</a:t>
            </a:r>
            <a:endParaRPr lang="en-US" sz="7200" dirty="0"/>
          </a:p>
        </p:txBody>
      </p:sp>
      <p:sp>
        <p:nvSpPr>
          <p:cNvPr id="5" name="Text 3"/>
          <p:cNvSpPr/>
          <p:nvPr/>
        </p:nvSpPr>
        <p:spPr>
          <a:xfrm>
            <a:off x="1238250" y="6410325"/>
            <a:ext cx="17392650" cy="365760"/>
          </a:xfrm>
          <a:prstGeom prst="rect">
            <a:avLst/>
          </a:prstGeom>
          <a:noFill/>
          <a:ln/>
        </p:spPr>
        <p:txBody>
          <a:bodyPr wrap="square" lIns="25400" tIns="25400" rIns="25400" bIns="25400" rtlCol="0" anchor="t">
            <a:normAutofit lnSpcReduction="10000"/>
          </a:bodyPr>
          <a:lstStyle/>
          <a:p>
            <a:pPr marL="0" indent="0" algn="l">
              <a:buNone/>
            </a:pPr>
            <a:r>
              <a:rPr lang="en-US" sz="2250" dirty="0">
                <a:solidFill>
                  <a:srgbClr val="DFE4F0"/>
                </a:solidFill>
                <a:latin typeface="Helvetica" pitchFamily="34" charset="0"/>
                <a:ea typeface="Helvetica" pitchFamily="34" charset="-122"/>
                <a:cs typeface="Helvetica" pitchFamily="34" charset="-120"/>
              </a:rPr>
              <a:t>Thanks for a great lesson. See you in the next issue.</a:t>
            </a:r>
            <a:endParaRPr lang="en-US" sz="2250" dirty="0"/>
          </a:p>
        </p:txBody>
      </p:sp>
      <p:sp>
        <p:nvSpPr>
          <p:cNvPr id="6" name="Text 4"/>
          <p:cNvSpPr/>
          <p:nvPr/>
        </p:nvSpPr>
        <p:spPr>
          <a:xfrm>
            <a:off x="1238250" y="9025890"/>
            <a:ext cx="2310813" cy="25146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AA6C6"/>
                </a:solidFill>
                <a:latin typeface="Helvetica" pitchFamily="34" charset="0"/>
                <a:ea typeface="Helvetica" pitchFamily="34" charset="-122"/>
                <a:cs typeface="Helvetica" pitchFamily="34" charset="-120"/>
              </a:rPr>
              <a:t>perspectiveenglish.com</a:t>
            </a:r>
            <a:endParaRPr lang="en-US" sz="1425" dirty="0"/>
          </a:p>
        </p:txBody>
      </p:sp>
      <p:sp>
        <p:nvSpPr>
          <p:cNvPr id="7" name="Text 5"/>
          <p:cNvSpPr/>
          <p:nvPr/>
        </p:nvSpPr>
        <p:spPr>
          <a:xfrm>
            <a:off x="12777431" y="9025890"/>
            <a:ext cx="4699552" cy="25146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AA6C6"/>
                </a:solidFill>
                <a:latin typeface="Helvetica" pitchFamily="34" charset="0"/>
                <a:ea typeface="Helvetica" pitchFamily="34" charset="-122"/>
                <a:cs typeface="Helvetica" pitchFamily="34" charset="-120"/>
              </a:rPr>
              <a:t>© 2026 Perspective English. All rights reserved.</a:t>
            </a:r>
            <a:endParaRPr lang="en-US" sz="1425"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TotalTime>
  <Words>2051</Words>
  <Application>Microsoft Office PowerPoint</Application>
  <PresentationFormat>Custom</PresentationFormat>
  <Paragraphs>283</Paragraphs>
  <Slides>16</Slides>
  <Notes>16</Notes>
  <HiddenSlides>0</HiddenSlides>
  <MMClips>1</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Aptos</vt:lpstr>
      <vt:lpstr>Arial</vt:lpstr>
      <vt:lpstr>Calibri</vt:lpstr>
      <vt:lpstr>Georgia</vt:lpstr>
      <vt:lpstr>Helvetica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Wil Williams</cp:lastModifiedBy>
  <cp:revision>7</cp:revision>
  <dcterms:created xsi:type="dcterms:W3CDTF">2026-07-06T03:20:11Z</dcterms:created>
  <dcterms:modified xsi:type="dcterms:W3CDTF">2026-08-24T23:54:39Z</dcterms:modified>
</cp:coreProperties>
</file>