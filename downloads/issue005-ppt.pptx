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7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761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005 of Perspective — today's topic is The World Cup.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why do billions watch, what does hosting cost, and does the World Cup still unite the world? Point out the balanced view. End on the pull-quote about why it still matters.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4 and 2 are False: the World Cup is much more than football (not merely a match), and some new stadiums sit empty afterwards rather than being reused for many years.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Solution. A country wants to host the next World Cup and must choose its top priority from five options. Students (in pairs) pick ONE, explain their reasons, then compare with another pair. There is no correct answer — the reasons matter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lnSpcReduction="10000"/>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4986730" y="1047750"/>
            <a:ext cx="2063020" cy="220980"/>
          </a:xfrm>
          <a:prstGeom prst="rect">
            <a:avLst/>
          </a:prstGeom>
          <a:noFill/>
          <a:ln/>
        </p:spPr>
        <p:txBody>
          <a:bodyPr wrap="square" lIns="25400" tIns="25400" rIns="25400" bIns="25400" rtlCol="0" anchor="t">
            <a:normAutofit/>
          </a:bodyPr>
          <a:lstStyle/>
          <a:p>
            <a:pPr marL="0" indent="0" algn="r">
              <a:buNone/>
            </a:pPr>
            <a:r>
              <a:rPr lang="en-US" sz="1050" b="1" kern="0" spc="300" dirty="0">
                <a:solidFill>
                  <a:srgbClr val="D9B877"/>
                </a:solidFill>
                <a:latin typeface="Helvetica" pitchFamily="34" charset="0"/>
                <a:ea typeface="Helvetica" pitchFamily="34" charset="-122"/>
                <a:cs typeface="Helvetica" pitchFamily="34" charset="-120"/>
              </a:rPr>
              <a:t>SPECIAL EDITION</a:t>
            </a:r>
            <a:endParaRPr lang="en-US" sz="1050" dirty="0"/>
          </a:p>
        </p:txBody>
      </p:sp>
      <p:sp>
        <p:nvSpPr>
          <p:cNvPr id="4" name="Text 2"/>
          <p:cNvSpPr/>
          <p:nvPr/>
        </p:nvSpPr>
        <p:spPr>
          <a:xfrm>
            <a:off x="14986730" y="1287780"/>
            <a:ext cx="2063020"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005</a:t>
            </a:r>
            <a:endParaRPr lang="en-US" sz="1500" dirty="0"/>
          </a:p>
        </p:txBody>
      </p:sp>
      <p:sp>
        <p:nvSpPr>
          <p:cNvPr id="5" name="Text 3"/>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6" name="Text 4"/>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Georgia" pitchFamily="34" charset="0"/>
                <a:ea typeface="Georgia" pitchFamily="34" charset="-122"/>
                <a:cs typeface="Georgia" pitchFamily="34" charset="-120"/>
              </a:rPr>
              <a:t>The World Cup</a:t>
            </a:r>
            <a:endParaRPr lang="en-US" sz="11250" dirty="0"/>
          </a:p>
        </p:txBody>
      </p:sp>
      <p:sp>
        <p:nvSpPr>
          <p:cNvPr id="7" name="Text 5"/>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More than just football?</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A2A5E"/>
                </a:solidFill>
                <a:latin typeface="Georgia" pitchFamily="34" charset="0"/>
                <a:ea typeface="Georgia" pitchFamily="34" charset="-122"/>
                <a:cs typeface="Georgia" pitchFamily="34" charset="-120"/>
              </a:rPr>
              <a:t>What we’ll do today</a:t>
            </a:r>
            <a:endParaRPr lang="en-US" sz="4500" dirty="0"/>
          </a:p>
        </p:txBody>
      </p:sp>
      <p:sp>
        <p:nvSpPr>
          <p:cNvPr id="7" name="Text 5"/>
          <p:cNvSpPr/>
          <p:nvPr/>
        </p:nvSpPr>
        <p:spPr>
          <a:xfrm>
            <a:off x="1047750" y="3097530"/>
            <a:ext cx="51351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01</a:t>
            </a:r>
            <a:endParaRPr lang="en-US" sz="3300" dirty="0"/>
          </a:p>
        </p:txBody>
      </p:sp>
      <p:sp>
        <p:nvSpPr>
          <p:cNvPr id="8" name="Text 6"/>
          <p:cNvSpPr/>
          <p:nvPr/>
        </p:nvSpPr>
        <p:spPr>
          <a:xfrm>
            <a:off x="1713667" y="309753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3667" y="346329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097530"/>
            <a:ext cx="56757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97346" y="309753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197346" y="346329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3992880"/>
            <a:ext cx="564713"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03</a:t>
            </a:r>
            <a:endParaRPr lang="en-US" sz="3300" dirty="0"/>
          </a:p>
        </p:txBody>
      </p:sp>
      <p:sp>
        <p:nvSpPr>
          <p:cNvPr id="14" name="Text 12"/>
          <p:cNvSpPr/>
          <p:nvPr/>
        </p:nvSpPr>
        <p:spPr>
          <a:xfrm>
            <a:off x="1764863" y="399288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4863" y="435864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3992880"/>
            <a:ext cx="57030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04</a:t>
            </a:r>
            <a:endParaRPr lang="en-US" sz="3300" dirty="0"/>
          </a:p>
        </p:txBody>
      </p:sp>
      <p:sp>
        <p:nvSpPr>
          <p:cNvPr id="17" name="Text 15"/>
          <p:cNvSpPr/>
          <p:nvPr/>
        </p:nvSpPr>
        <p:spPr>
          <a:xfrm>
            <a:off x="10200084" y="399288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0084" y="435864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A2A5E"/>
                </a:solidFill>
                <a:latin typeface="Georgia" pitchFamily="34" charset="0"/>
                <a:ea typeface="Georgia" pitchFamily="34" charset="-122"/>
                <a:cs typeface="Georgia" pitchFamily="34" charset="-120"/>
              </a:rPr>
              <a:t>Talk with a partner</a:t>
            </a:r>
            <a:endParaRPr lang="en-US" sz="4500" dirty="0"/>
          </a:p>
        </p:txBody>
      </p:sp>
      <p:sp>
        <p:nvSpPr>
          <p:cNvPr id="7" name="Text 5"/>
          <p:cNvSpPr/>
          <p:nvPr/>
        </p:nvSpPr>
        <p:spPr>
          <a:xfrm>
            <a:off x="1047750" y="3230880"/>
            <a:ext cx="370880"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1</a:t>
            </a:r>
            <a:endParaRPr lang="en-US" sz="5400" dirty="0"/>
          </a:p>
        </p:txBody>
      </p:sp>
      <p:sp>
        <p:nvSpPr>
          <p:cNvPr id="8" name="Text 6"/>
          <p:cNvSpPr/>
          <p:nvPr/>
        </p:nvSpPr>
        <p:spPr>
          <a:xfrm>
            <a:off x="1666280" y="3288030"/>
            <a:ext cx="12607427" cy="10668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Do you watch the World Cup or other big sporting events? Who do you support?</a:t>
            </a:r>
            <a:endParaRPr lang="en-US" sz="3000" dirty="0"/>
          </a:p>
        </p:txBody>
      </p:sp>
      <p:sp>
        <p:nvSpPr>
          <p:cNvPr id="9" name="Text 7"/>
          <p:cNvSpPr/>
          <p:nvPr/>
        </p:nvSpPr>
        <p:spPr>
          <a:xfrm>
            <a:off x="1047750" y="4735830"/>
            <a:ext cx="459343"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2</a:t>
            </a:r>
            <a:endParaRPr lang="en-US" sz="5400" dirty="0"/>
          </a:p>
        </p:txBody>
      </p:sp>
      <p:sp>
        <p:nvSpPr>
          <p:cNvPr id="10" name="Text 8"/>
          <p:cNvSpPr/>
          <p:nvPr/>
        </p:nvSpPr>
        <p:spPr>
          <a:xfrm>
            <a:off x="1754743" y="4792980"/>
            <a:ext cx="9365706"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Why do you think sport can bring people together?</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404574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38102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Georgia" pitchFamily="34" charset="0"/>
                <a:ea typeface="Georgia" pitchFamily="34" charset="-122"/>
                <a:cs typeface="Georgia" pitchFamily="34" charset="-120"/>
              </a:rPr>
              <a:t>Look and predict</a:t>
            </a:r>
            <a:endParaRPr lang="en-US" sz="4200" dirty="0"/>
          </a:p>
        </p:txBody>
      </p:sp>
      <p:sp>
        <p:nvSpPr>
          <p:cNvPr id="7" name="Text 5"/>
          <p:cNvSpPr/>
          <p:nvPr/>
        </p:nvSpPr>
        <p:spPr>
          <a:xfrm>
            <a:off x="1047750" y="526494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“The World Cup.”</a:t>
            </a:r>
            <a:endParaRPr lang="en-US" sz="2250" dirty="0"/>
          </a:p>
        </p:txBody>
      </p:sp>
      <p:sp>
        <p:nvSpPr>
          <p:cNvPr id="8" name="Text 6"/>
          <p:cNvSpPr/>
          <p:nvPr/>
        </p:nvSpPr>
        <p:spPr>
          <a:xfrm>
            <a:off x="1047750" y="586978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4889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56510"/>
            <a:ext cx="7747635" cy="5318760"/>
          </a:xfrm>
          <a:prstGeom prst="rect">
            <a:avLst/>
          </a:prstGeom>
        </p:spPr>
      </p:pic>
      <p:sp>
        <p:nvSpPr>
          <p:cNvPr id="11" name="Text 8"/>
          <p:cNvSpPr/>
          <p:nvPr/>
        </p:nvSpPr>
        <p:spPr>
          <a:xfrm>
            <a:off x="9477375" y="799719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Fans celebrate as the World Cup trophy is lifted in front of a packed stadium.</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1A2A5E"/>
                </a:solidFill>
                <a:latin typeface="Georgia" pitchFamily="34" charset="0"/>
                <a:ea typeface="Georgia" pitchFamily="34" charset="-122"/>
                <a:cs typeface="Georgia" pitchFamily="34" charset="-120"/>
              </a:rPr>
              <a:t>Match the words to their meanings</a:t>
            </a:r>
            <a:endParaRPr lang="en-US" sz="4050" dirty="0"/>
          </a:p>
        </p:txBody>
      </p:sp>
      <p:sp>
        <p:nvSpPr>
          <p:cNvPr id="7" name="Text 5"/>
          <p:cNvSpPr/>
          <p:nvPr/>
        </p:nvSpPr>
        <p:spPr>
          <a:xfrm>
            <a:off x="1047750" y="2827020"/>
            <a:ext cx="400050" cy="38862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D9B877"/>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24000" y="2834640"/>
            <a:ext cx="1528405"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spectacle</a:t>
            </a:r>
            <a:endParaRPr lang="en-US" sz="2400" dirty="0"/>
          </a:p>
        </p:txBody>
      </p:sp>
      <p:sp>
        <p:nvSpPr>
          <p:cNvPr id="9" name="Text 7"/>
          <p:cNvSpPr/>
          <p:nvPr/>
        </p:nvSpPr>
        <p:spPr>
          <a:xfrm>
            <a:off x="1047750" y="3368040"/>
            <a:ext cx="400050" cy="38862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D9B877"/>
                </a:solidFill>
                <a:latin typeface="Georgia" pitchFamily="34" charset="0"/>
                <a:ea typeface="Georgia" pitchFamily="34" charset="-122"/>
                <a:cs typeface="Georgia" pitchFamily="34" charset="-120"/>
              </a:rPr>
              <a:t>2</a:t>
            </a:r>
            <a:endParaRPr lang="en-US" sz="2400" dirty="0"/>
          </a:p>
        </p:txBody>
      </p:sp>
      <p:sp>
        <p:nvSpPr>
          <p:cNvPr id="10" name="Text 8"/>
          <p:cNvSpPr/>
          <p:nvPr/>
        </p:nvSpPr>
        <p:spPr>
          <a:xfrm>
            <a:off x="1524000" y="3375660"/>
            <a:ext cx="1844040"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tournament</a:t>
            </a:r>
            <a:endParaRPr lang="en-US" sz="2400" dirty="0"/>
          </a:p>
        </p:txBody>
      </p:sp>
      <p:sp>
        <p:nvSpPr>
          <p:cNvPr id="11" name="Text 9"/>
          <p:cNvSpPr/>
          <p:nvPr/>
        </p:nvSpPr>
        <p:spPr>
          <a:xfrm>
            <a:off x="1047750" y="3909060"/>
            <a:ext cx="400050" cy="38862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D9B87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24000" y="3916680"/>
            <a:ext cx="99143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rivalry</a:t>
            </a:r>
            <a:endParaRPr lang="en-US" sz="2400" dirty="0"/>
          </a:p>
        </p:txBody>
      </p:sp>
      <p:sp>
        <p:nvSpPr>
          <p:cNvPr id="13" name="Text 11"/>
          <p:cNvSpPr/>
          <p:nvPr/>
        </p:nvSpPr>
        <p:spPr>
          <a:xfrm>
            <a:off x="1047750" y="4450080"/>
            <a:ext cx="400050" cy="38862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D9B877"/>
                </a:solidFill>
                <a:latin typeface="Georgia" pitchFamily="34" charset="0"/>
                <a:ea typeface="Georgia" pitchFamily="34" charset="-122"/>
                <a:cs typeface="Georgia" pitchFamily="34" charset="-120"/>
              </a:rPr>
              <a:t>4</a:t>
            </a:r>
            <a:endParaRPr lang="en-US" sz="2400" dirty="0"/>
          </a:p>
        </p:txBody>
      </p:sp>
      <p:sp>
        <p:nvSpPr>
          <p:cNvPr id="14" name="Text 12"/>
          <p:cNvSpPr/>
          <p:nvPr/>
        </p:nvSpPr>
        <p:spPr>
          <a:xfrm>
            <a:off x="1524000" y="4457700"/>
            <a:ext cx="71961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host</a:t>
            </a:r>
            <a:endParaRPr lang="en-US" sz="2400" dirty="0"/>
          </a:p>
        </p:txBody>
      </p:sp>
      <p:sp>
        <p:nvSpPr>
          <p:cNvPr id="15" name="Text 13"/>
          <p:cNvSpPr/>
          <p:nvPr/>
        </p:nvSpPr>
        <p:spPr>
          <a:xfrm>
            <a:off x="1047750" y="4991100"/>
            <a:ext cx="400050" cy="38862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D9B877"/>
                </a:solidFill>
                <a:latin typeface="Georgia" pitchFamily="34" charset="0"/>
                <a:ea typeface="Georgia" pitchFamily="34" charset="-122"/>
                <a:cs typeface="Georgia" pitchFamily="34" charset="-120"/>
              </a:rPr>
              <a:t>5</a:t>
            </a:r>
            <a:endParaRPr lang="en-US" sz="2400" dirty="0"/>
          </a:p>
        </p:txBody>
      </p:sp>
      <p:sp>
        <p:nvSpPr>
          <p:cNvPr id="16" name="Text 14"/>
          <p:cNvSpPr/>
          <p:nvPr/>
        </p:nvSpPr>
        <p:spPr>
          <a:xfrm>
            <a:off x="1524000" y="4998720"/>
            <a:ext cx="102512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legacy</a:t>
            </a:r>
            <a:endParaRPr lang="en-US" sz="2400" dirty="0"/>
          </a:p>
        </p:txBody>
      </p:sp>
      <p:sp>
        <p:nvSpPr>
          <p:cNvPr id="17" name="Text 15"/>
          <p:cNvSpPr/>
          <p:nvPr/>
        </p:nvSpPr>
        <p:spPr>
          <a:xfrm>
            <a:off x="7924800" y="282702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849880"/>
            <a:ext cx="4717494" cy="37242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025" dirty="0">
                <a:solidFill>
                  <a:srgbClr val="222222"/>
                </a:solidFill>
                <a:latin typeface="Helvetica" pitchFamily="34" charset="0"/>
                <a:ea typeface="Helvetica" pitchFamily="34" charset="-122"/>
                <a:cs typeface="Helvetica" pitchFamily="34" charset="-120"/>
              </a:rPr>
              <a:t>strong competition between two sides</a:t>
            </a:r>
            <a:endParaRPr lang="en-US" sz="2025" dirty="0"/>
          </a:p>
        </p:txBody>
      </p:sp>
      <p:sp>
        <p:nvSpPr>
          <p:cNvPr id="19" name="Text 17"/>
          <p:cNvSpPr/>
          <p:nvPr/>
        </p:nvSpPr>
        <p:spPr>
          <a:xfrm>
            <a:off x="7924800" y="337470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397568"/>
            <a:ext cx="3900119" cy="37242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025" dirty="0">
                <a:solidFill>
                  <a:srgbClr val="222222"/>
                </a:solidFill>
                <a:latin typeface="Helvetica" pitchFamily="34" charset="0"/>
                <a:ea typeface="Helvetica" pitchFamily="34" charset="-122"/>
                <a:cs typeface="Helvetica" pitchFamily="34" charset="-120"/>
              </a:rPr>
              <a:t>something left behind that lasts</a:t>
            </a:r>
            <a:endParaRPr lang="en-US" sz="2025" dirty="0"/>
          </a:p>
        </p:txBody>
      </p:sp>
      <p:sp>
        <p:nvSpPr>
          <p:cNvPr id="21" name="Text 19"/>
          <p:cNvSpPr/>
          <p:nvPr/>
        </p:nvSpPr>
        <p:spPr>
          <a:xfrm>
            <a:off x="7924800" y="392239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3945255"/>
            <a:ext cx="5141440" cy="37242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025" dirty="0">
                <a:solidFill>
                  <a:srgbClr val="222222"/>
                </a:solidFill>
                <a:latin typeface="Helvetica" pitchFamily="34" charset="0"/>
                <a:ea typeface="Helvetica" pitchFamily="34" charset="-122"/>
                <a:cs typeface="Helvetica" pitchFamily="34" charset="-120"/>
              </a:rPr>
              <a:t>a competition with many teams or games</a:t>
            </a:r>
            <a:endParaRPr lang="en-US" sz="2025" dirty="0"/>
          </a:p>
        </p:txBody>
      </p:sp>
      <p:sp>
        <p:nvSpPr>
          <p:cNvPr id="23" name="Text 21"/>
          <p:cNvSpPr/>
          <p:nvPr/>
        </p:nvSpPr>
        <p:spPr>
          <a:xfrm>
            <a:off x="7924800" y="447008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492943"/>
            <a:ext cx="3727632" cy="37242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025" dirty="0">
                <a:solidFill>
                  <a:srgbClr val="222222"/>
                </a:solidFill>
                <a:latin typeface="Helvetica" pitchFamily="34" charset="0"/>
                <a:ea typeface="Helvetica" pitchFamily="34" charset="-122"/>
                <a:cs typeface="Helvetica" pitchFamily="34" charset="-120"/>
              </a:rPr>
              <a:t>to hold and organize an event</a:t>
            </a:r>
            <a:endParaRPr lang="en-US" sz="2025" dirty="0"/>
          </a:p>
        </p:txBody>
      </p:sp>
      <p:sp>
        <p:nvSpPr>
          <p:cNvPr id="25" name="Text 23"/>
          <p:cNvSpPr/>
          <p:nvPr/>
        </p:nvSpPr>
        <p:spPr>
          <a:xfrm>
            <a:off x="7924800" y="501777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040630"/>
            <a:ext cx="4308217" cy="372428"/>
          </a:xfrm>
          <a:prstGeom prst="rect">
            <a:avLst/>
          </a:prstGeom>
          <a:noFill/>
          <a:ln/>
        </p:spPr>
        <p:txBody>
          <a:bodyPr wrap="square" lIns="25400" tIns="25400" rIns="25400" bIns="25400" rtlCol="0" anchor="t">
            <a:normAutofit lnSpcReduction="10000"/>
          </a:bodyPr>
          <a:lstStyle/>
          <a:p>
            <a:pPr marL="0" indent="0" algn="l">
              <a:lnSpc>
                <a:spcPct val="112500"/>
              </a:lnSpc>
              <a:buNone/>
            </a:pPr>
            <a:r>
              <a:rPr lang="en-US" sz="2025" dirty="0">
                <a:solidFill>
                  <a:srgbClr val="222222"/>
                </a:solidFill>
                <a:latin typeface="Helvetica" pitchFamily="34" charset="0"/>
                <a:ea typeface="Helvetica" pitchFamily="34" charset="-122"/>
                <a:cs typeface="Helvetica" pitchFamily="34" charset="-120"/>
              </a:rPr>
              <a:t>an impressive public show or sight</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7640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581150"/>
            <a:ext cx="1601272" cy="388620"/>
          </a:xfrm>
          <a:prstGeom prst="rect">
            <a:avLst/>
          </a:prstGeom>
          <a:solidFill>
            <a:srgbClr val="1A2A5E"/>
          </a:solidFill>
          <a:ln/>
        </p:spPr>
        <p:txBody>
          <a:bodyPr/>
          <a:lstStyle/>
          <a:p>
            <a:endParaRPr lang="en-US"/>
          </a:p>
        </p:txBody>
      </p:sp>
      <p:sp>
        <p:nvSpPr>
          <p:cNvPr id="7" name="Text 5"/>
          <p:cNvSpPr/>
          <p:nvPr/>
        </p:nvSpPr>
        <p:spPr>
          <a:xfrm>
            <a:off x="3146822" y="16383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03120"/>
            <a:ext cx="17811750" cy="640080"/>
          </a:xfrm>
          <a:prstGeom prst="rect">
            <a:avLst/>
          </a:prstGeom>
          <a:noFill/>
          <a:ln/>
        </p:spPr>
        <p:txBody>
          <a:bodyPr wrap="square" lIns="25400" tIns="25400" rIns="25400" bIns="25400" rtlCol="0" anchor="t">
            <a:normAutofit lnSpcReduction="10000"/>
          </a:bodyPr>
          <a:lstStyle/>
          <a:p>
            <a:pPr marL="0" indent="0" algn="l">
              <a:buNone/>
            </a:pPr>
            <a:r>
              <a:rPr lang="en-US" sz="4200" b="1" dirty="0">
                <a:solidFill>
                  <a:srgbClr val="1A2A5E"/>
                </a:solidFill>
                <a:latin typeface="Georgia" pitchFamily="34" charset="0"/>
                <a:ea typeface="Georgia" pitchFamily="34" charset="-122"/>
                <a:cs typeface="Georgia" pitchFamily="34" charset="-120"/>
              </a:rPr>
              <a:t>How did you do?</a:t>
            </a:r>
            <a:endParaRPr lang="en-US" sz="4200" dirty="0"/>
          </a:p>
        </p:txBody>
      </p:sp>
      <p:sp>
        <p:nvSpPr>
          <p:cNvPr id="9" name="Shape 7"/>
          <p:cNvSpPr/>
          <p:nvPr/>
        </p:nvSpPr>
        <p:spPr>
          <a:xfrm>
            <a:off x="1047750" y="3276600"/>
            <a:ext cx="2857500" cy="883920"/>
          </a:xfrm>
          <a:prstGeom prst="rect">
            <a:avLst/>
          </a:prstGeom>
          <a:ln w="15240">
            <a:solidFill>
              <a:srgbClr val="1A2A5E"/>
            </a:solidFill>
            <a:prstDash val="solid"/>
          </a:ln>
        </p:spPr>
        <p:txBody>
          <a:bodyPr/>
          <a:lstStyle/>
          <a:p>
            <a:endParaRPr lang="en-US"/>
          </a:p>
        </p:txBody>
      </p:sp>
      <p:sp>
        <p:nvSpPr>
          <p:cNvPr id="10" name="Text 8"/>
          <p:cNvSpPr/>
          <p:nvPr/>
        </p:nvSpPr>
        <p:spPr>
          <a:xfrm>
            <a:off x="1386840" y="3501390"/>
            <a:ext cx="2265045" cy="47244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D9B877"/>
                </a:solidFill>
                <a:latin typeface="Georgia" pitchFamily="34" charset="0"/>
                <a:ea typeface="Georgia" pitchFamily="34" charset="-122"/>
                <a:cs typeface="Georgia" pitchFamily="34" charset="-120"/>
              </a:rPr>
              <a:t>1–E </a:t>
            </a:r>
            <a:r>
              <a:rPr lang="en-US" sz="2250" b="1" dirty="0">
                <a:solidFill>
                  <a:srgbClr val="1A2A5E"/>
                </a:solidFill>
                <a:latin typeface="Helvetica" pitchFamily="34" charset="0"/>
                <a:ea typeface="Helvetica" pitchFamily="34" charset="-122"/>
                <a:cs typeface="Helvetica" pitchFamily="34" charset="-120"/>
              </a:rPr>
              <a:t>spectacle</a:t>
            </a:r>
            <a:endParaRPr lang="en-US" sz="1200" dirty="0"/>
          </a:p>
        </p:txBody>
      </p:sp>
      <p:sp>
        <p:nvSpPr>
          <p:cNvPr id="11" name="Shape 9"/>
          <p:cNvSpPr/>
          <p:nvPr/>
        </p:nvSpPr>
        <p:spPr>
          <a:xfrm>
            <a:off x="4152900" y="3276600"/>
            <a:ext cx="3123724" cy="883920"/>
          </a:xfrm>
          <a:prstGeom prst="rect">
            <a:avLst/>
          </a:prstGeom>
          <a:ln w="15240">
            <a:solidFill>
              <a:srgbClr val="1A2A5E"/>
            </a:solidFill>
            <a:prstDash val="solid"/>
          </a:ln>
        </p:spPr>
        <p:txBody>
          <a:bodyPr/>
          <a:lstStyle/>
          <a:p>
            <a:endParaRPr lang="en-US"/>
          </a:p>
        </p:txBody>
      </p:sp>
      <p:sp>
        <p:nvSpPr>
          <p:cNvPr id="12" name="Text 10"/>
          <p:cNvSpPr/>
          <p:nvPr/>
        </p:nvSpPr>
        <p:spPr>
          <a:xfrm>
            <a:off x="4491990" y="3501390"/>
            <a:ext cx="2539256" cy="47244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D9B877"/>
                </a:solidFill>
                <a:latin typeface="Georgia" pitchFamily="34" charset="0"/>
                <a:ea typeface="Georgia" pitchFamily="34" charset="-122"/>
                <a:cs typeface="Georgia" pitchFamily="34" charset="-120"/>
              </a:rPr>
              <a:t>2–C </a:t>
            </a:r>
            <a:r>
              <a:rPr lang="en-US" sz="2250" b="1" dirty="0">
                <a:solidFill>
                  <a:srgbClr val="1A2A5E"/>
                </a:solidFill>
                <a:latin typeface="Helvetica" pitchFamily="34" charset="0"/>
                <a:ea typeface="Helvetica" pitchFamily="34" charset="-122"/>
                <a:cs typeface="Helvetica" pitchFamily="34" charset="-120"/>
              </a:rPr>
              <a:t>tournament</a:t>
            </a:r>
            <a:endParaRPr lang="en-US" sz="1200" dirty="0"/>
          </a:p>
        </p:txBody>
      </p:sp>
      <p:sp>
        <p:nvSpPr>
          <p:cNvPr id="13" name="Shape 11"/>
          <p:cNvSpPr/>
          <p:nvPr/>
        </p:nvSpPr>
        <p:spPr>
          <a:xfrm>
            <a:off x="7524274" y="3276600"/>
            <a:ext cx="2857500" cy="883920"/>
          </a:xfrm>
          <a:prstGeom prst="rect">
            <a:avLst/>
          </a:prstGeom>
          <a:ln w="15240">
            <a:solidFill>
              <a:srgbClr val="1A2A5E"/>
            </a:solidFill>
            <a:prstDash val="solid"/>
          </a:ln>
        </p:spPr>
        <p:txBody>
          <a:bodyPr/>
          <a:lstStyle/>
          <a:p>
            <a:endParaRPr lang="en-US"/>
          </a:p>
        </p:txBody>
      </p:sp>
      <p:sp>
        <p:nvSpPr>
          <p:cNvPr id="14" name="Text 12"/>
          <p:cNvSpPr/>
          <p:nvPr/>
        </p:nvSpPr>
        <p:spPr>
          <a:xfrm>
            <a:off x="7863364" y="3501390"/>
            <a:ext cx="2265045" cy="47244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D9B877"/>
                </a:solidFill>
                <a:latin typeface="Georgia" pitchFamily="34" charset="0"/>
                <a:ea typeface="Georgia" pitchFamily="34" charset="-122"/>
                <a:cs typeface="Georgia" pitchFamily="34" charset="-120"/>
              </a:rPr>
              <a:t>3–A </a:t>
            </a:r>
            <a:r>
              <a:rPr lang="en-US" sz="2250" b="1" dirty="0">
                <a:solidFill>
                  <a:srgbClr val="1A2A5E"/>
                </a:solidFill>
                <a:latin typeface="Helvetica" pitchFamily="34" charset="0"/>
                <a:ea typeface="Helvetica" pitchFamily="34" charset="-122"/>
                <a:cs typeface="Helvetica" pitchFamily="34" charset="-120"/>
              </a:rPr>
              <a:t>rivalry</a:t>
            </a:r>
            <a:endParaRPr lang="en-US" sz="1200" dirty="0"/>
          </a:p>
        </p:txBody>
      </p:sp>
      <p:sp>
        <p:nvSpPr>
          <p:cNvPr id="15" name="Shape 13"/>
          <p:cNvSpPr/>
          <p:nvPr/>
        </p:nvSpPr>
        <p:spPr>
          <a:xfrm>
            <a:off x="10629424" y="3276600"/>
            <a:ext cx="2857500" cy="883920"/>
          </a:xfrm>
          <a:prstGeom prst="rect">
            <a:avLst/>
          </a:prstGeom>
          <a:ln w="15240">
            <a:solidFill>
              <a:srgbClr val="1A2A5E"/>
            </a:solidFill>
            <a:prstDash val="solid"/>
          </a:ln>
        </p:spPr>
        <p:txBody>
          <a:bodyPr/>
          <a:lstStyle/>
          <a:p>
            <a:endParaRPr lang="en-US"/>
          </a:p>
        </p:txBody>
      </p:sp>
      <p:sp>
        <p:nvSpPr>
          <p:cNvPr id="16" name="Text 14"/>
          <p:cNvSpPr/>
          <p:nvPr/>
        </p:nvSpPr>
        <p:spPr>
          <a:xfrm>
            <a:off x="10968514" y="3501390"/>
            <a:ext cx="2265045" cy="47244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D9B877"/>
                </a:solidFill>
                <a:latin typeface="Georgia" pitchFamily="34" charset="0"/>
                <a:ea typeface="Georgia" pitchFamily="34" charset="-122"/>
                <a:cs typeface="Georgia" pitchFamily="34" charset="-120"/>
              </a:rPr>
              <a:t>4–D </a:t>
            </a:r>
            <a:r>
              <a:rPr lang="en-US" sz="2250" b="1" dirty="0">
                <a:solidFill>
                  <a:srgbClr val="1A2A5E"/>
                </a:solidFill>
                <a:latin typeface="Helvetica" pitchFamily="34" charset="0"/>
                <a:ea typeface="Helvetica" pitchFamily="34" charset="-122"/>
                <a:cs typeface="Helvetica" pitchFamily="34" charset="-120"/>
              </a:rPr>
              <a:t>host</a:t>
            </a:r>
            <a:endParaRPr lang="en-US" sz="1200" dirty="0"/>
          </a:p>
        </p:txBody>
      </p:sp>
      <p:sp>
        <p:nvSpPr>
          <p:cNvPr id="17" name="Shape 15"/>
          <p:cNvSpPr/>
          <p:nvPr/>
        </p:nvSpPr>
        <p:spPr>
          <a:xfrm>
            <a:off x="13734574" y="3276600"/>
            <a:ext cx="2857500" cy="883920"/>
          </a:xfrm>
          <a:prstGeom prst="rect">
            <a:avLst/>
          </a:prstGeom>
          <a:ln w="15240">
            <a:solidFill>
              <a:srgbClr val="1A2A5E"/>
            </a:solidFill>
            <a:prstDash val="solid"/>
          </a:ln>
        </p:spPr>
        <p:txBody>
          <a:bodyPr/>
          <a:lstStyle/>
          <a:p>
            <a:endParaRPr lang="en-US"/>
          </a:p>
        </p:txBody>
      </p:sp>
      <p:sp>
        <p:nvSpPr>
          <p:cNvPr id="18" name="Text 16"/>
          <p:cNvSpPr/>
          <p:nvPr/>
        </p:nvSpPr>
        <p:spPr>
          <a:xfrm>
            <a:off x="14073664" y="3501390"/>
            <a:ext cx="2265045" cy="472440"/>
          </a:xfrm>
          <a:prstGeom prst="rect">
            <a:avLst/>
          </a:prstGeom>
          <a:noFill/>
          <a:ln/>
        </p:spPr>
        <p:txBody>
          <a:bodyPr wrap="square" lIns="25400" tIns="25400" rIns="25400" bIns="25400" rtlCol="0" anchor="t">
            <a:normAutofit lnSpcReduction="10000"/>
          </a:bodyPr>
          <a:lstStyle/>
          <a:p>
            <a:pPr marL="0" indent="0" algn="l">
              <a:buNone/>
            </a:pPr>
            <a:r>
              <a:rPr lang="en-US" sz="3000" b="1" dirty="0">
                <a:solidFill>
                  <a:srgbClr val="D9B877"/>
                </a:solidFill>
                <a:latin typeface="Georgia" pitchFamily="34" charset="0"/>
                <a:ea typeface="Georgia" pitchFamily="34" charset="-122"/>
                <a:cs typeface="Georgia" pitchFamily="34" charset="-120"/>
              </a:rPr>
              <a:t>5–B </a:t>
            </a:r>
            <a:r>
              <a:rPr lang="en-US" sz="2250" b="1" dirty="0">
                <a:solidFill>
                  <a:srgbClr val="1A2A5E"/>
                </a:solidFill>
                <a:latin typeface="Helvetica" pitchFamily="34" charset="0"/>
                <a:ea typeface="Helvetica" pitchFamily="34" charset="-122"/>
                <a:cs typeface="Helvetica" pitchFamily="34" charset="-120"/>
              </a:rPr>
              <a:t>legacy</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60579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21920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474470"/>
            <a:ext cx="17811750" cy="579120"/>
          </a:xfrm>
          <a:prstGeom prst="rect">
            <a:avLst/>
          </a:prstGeom>
          <a:noFill/>
          <a:ln/>
        </p:spPr>
        <p:txBody>
          <a:bodyPr wrap="square" lIns="25400" tIns="25400" rIns="25400" bIns="25400" rtlCol="0" anchor="t">
            <a:normAutofit lnSpcReduction="10000"/>
          </a:bodyPr>
          <a:lstStyle/>
          <a:p>
            <a:pPr marL="0" indent="0" algn="l">
              <a:buNone/>
            </a:pPr>
            <a:r>
              <a:rPr lang="en-US" sz="3750" b="1" dirty="0">
                <a:solidFill>
                  <a:srgbClr val="1A2A5E"/>
                </a:solidFill>
                <a:latin typeface="Georgia" pitchFamily="34" charset="0"/>
                <a:ea typeface="Georgia" pitchFamily="34" charset="-122"/>
                <a:cs typeface="Georgia" pitchFamily="34" charset="-120"/>
              </a:rPr>
              <a:t>The World Cup</a:t>
            </a:r>
            <a:endParaRPr lang="en-US" sz="3750" dirty="0"/>
          </a:p>
        </p:txBody>
      </p:sp>
      <p:sp>
        <p:nvSpPr>
          <p:cNvPr id="7" name="Text 5"/>
          <p:cNvSpPr/>
          <p:nvPr/>
        </p:nvSpPr>
        <p:spPr>
          <a:xfrm>
            <a:off x="1047750" y="209169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More than just football?</a:t>
            </a:r>
            <a:endParaRPr lang="en-US" sz="2025" dirty="0"/>
          </a:p>
        </p:txBody>
      </p:sp>
      <p:sp>
        <p:nvSpPr>
          <p:cNvPr id="8" name="Shape 6"/>
          <p:cNvSpPr/>
          <p:nvPr/>
        </p:nvSpPr>
        <p:spPr>
          <a:xfrm>
            <a:off x="1047750" y="2522220"/>
            <a:ext cx="609600" cy="38100"/>
          </a:xfrm>
          <a:prstGeom prst="rect">
            <a:avLst/>
          </a:prstGeom>
          <a:solidFill>
            <a:srgbClr val="D9B877"/>
          </a:solidFill>
          <a:ln/>
        </p:spPr>
        <p:txBody>
          <a:bodyPr/>
          <a:lstStyle/>
          <a:p>
            <a:endParaRPr lang="en-US"/>
          </a:p>
        </p:txBody>
      </p:sp>
      <p:sp>
        <p:nvSpPr>
          <p:cNvPr id="9" name="Text 7"/>
          <p:cNvSpPr/>
          <p:nvPr/>
        </p:nvSpPr>
        <p:spPr>
          <a:xfrm>
            <a:off x="1047750" y="267462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Every four years, one tournament stops the world — and it means far more than the score.</a:t>
            </a:r>
            <a:endParaRPr lang="en-US" sz="1650" dirty="0"/>
          </a:p>
        </p:txBody>
      </p:sp>
      <p:sp>
        <p:nvSpPr>
          <p:cNvPr id="10" name="Text 8"/>
          <p:cNvSpPr/>
          <p:nvPr/>
        </p:nvSpPr>
        <p:spPr>
          <a:xfrm>
            <a:off x="1047750" y="3128010"/>
            <a:ext cx="8074247" cy="1278255"/>
          </a:xfrm>
          <a:prstGeom prst="rect">
            <a:avLst/>
          </a:prstGeom>
          <a:noFill/>
          <a:ln/>
        </p:spPr>
        <p:txBody>
          <a:bodyPr wrap="square" lIns="25400" tIns="25400" rIns="25400" bIns="25400" rtlCol="0" anchor="t">
            <a:normAutofit lnSpcReduction="10000"/>
          </a:bodyPr>
          <a:lstStyle/>
          <a:p>
            <a:pPr marL="0" indent="0" algn="l">
              <a:lnSpc>
                <a:spcPct val="127187"/>
              </a:lnSpc>
              <a:buNone/>
            </a:pPr>
            <a:r>
              <a:rPr lang="en-US" sz="1650" dirty="0">
                <a:solidFill>
                  <a:srgbClr val="222222"/>
                </a:solidFill>
                <a:latin typeface="Helvetica" pitchFamily="34" charset="0"/>
                <a:ea typeface="Helvetica" pitchFamily="34" charset="-122"/>
                <a:cs typeface="Helvetica" pitchFamily="34" charset="-120"/>
              </a:rPr>
              <a:t>Every four years, something remarkable happens. For one month, people who have never kicked a ball gather around screens in homes, cafés, and public squares, united by a single </a:t>
            </a:r>
            <a:r>
              <a:rPr lang="en-US" sz="1650" b="1" dirty="0">
                <a:solidFill>
                  <a:srgbClr val="1A2A5E"/>
                </a:solidFill>
                <a:latin typeface="Helvetica" pitchFamily="34" charset="0"/>
                <a:ea typeface="Helvetica" pitchFamily="34" charset="-122"/>
                <a:cs typeface="Helvetica" pitchFamily="34" charset="-120"/>
              </a:rPr>
              <a:t>tournament </a:t>
            </a:r>
            <a:r>
              <a:rPr lang="en-US" sz="1650" dirty="0">
                <a:solidFill>
                  <a:srgbClr val="222222"/>
                </a:solidFill>
                <a:latin typeface="Helvetica" pitchFamily="34" charset="0"/>
                <a:ea typeface="Helvetica" pitchFamily="34" charset="-122"/>
                <a:cs typeface="Helvetica" pitchFamily="34" charset="-120"/>
              </a:rPr>
              <a:t>. Strangers hug after a goal; entire nations hold their breath together. The World Cup is football, but it is also something much larger.</a:t>
            </a:r>
            <a:endParaRPr lang="en-US" sz="1650" dirty="0"/>
          </a:p>
        </p:txBody>
      </p:sp>
      <p:sp>
        <p:nvSpPr>
          <p:cNvPr id="11" name="Text 9"/>
          <p:cNvSpPr/>
          <p:nvPr/>
        </p:nvSpPr>
        <p:spPr>
          <a:xfrm>
            <a:off x="1047750" y="4577715"/>
            <a:ext cx="8074247" cy="1588294"/>
          </a:xfrm>
          <a:prstGeom prst="rect">
            <a:avLst/>
          </a:prstGeom>
          <a:noFill/>
          <a:ln/>
        </p:spPr>
        <p:txBody>
          <a:bodyPr wrap="square" lIns="25400" tIns="25400" rIns="25400" bIns="25400" rtlCol="0" anchor="t">
            <a:normAutofit lnSpcReduction="10000"/>
          </a:bodyPr>
          <a:lstStyle/>
          <a:p>
            <a:pPr marL="0" indent="0" algn="l">
              <a:lnSpc>
                <a:spcPct val="127187"/>
              </a:lnSpc>
              <a:buNone/>
            </a:pPr>
            <a:r>
              <a:rPr lang="en-US" sz="1650" dirty="0">
                <a:solidFill>
                  <a:srgbClr val="222222"/>
                </a:solidFill>
                <a:latin typeface="Helvetica" pitchFamily="34" charset="0"/>
                <a:ea typeface="Helvetica" pitchFamily="34" charset="-122"/>
                <a:cs typeface="Helvetica" pitchFamily="34" charset="-120"/>
              </a:rPr>
              <a:t>No other event draws an audience like it. Around half the planet watches some part of the competition, and more than a billion people may see a single final. Part of the appeal is the sheer </a:t>
            </a:r>
            <a:r>
              <a:rPr lang="en-US" sz="1650" b="1" dirty="0">
                <a:solidFill>
                  <a:srgbClr val="1A2A5E"/>
                </a:solidFill>
                <a:latin typeface="Helvetica" pitchFamily="34" charset="0"/>
                <a:ea typeface="Helvetica" pitchFamily="34" charset="-122"/>
                <a:cs typeface="Helvetica" pitchFamily="34" charset="-120"/>
              </a:rPr>
              <a:t>spectacle </a:t>
            </a:r>
            <a:r>
              <a:rPr lang="en-US" sz="1650" dirty="0">
                <a:solidFill>
                  <a:srgbClr val="222222"/>
                </a:solidFill>
                <a:latin typeface="Helvetica" pitchFamily="34" charset="0"/>
                <a:ea typeface="Helvetica" pitchFamily="34" charset="-122"/>
                <a:cs typeface="Helvetica" pitchFamily="34" charset="-120"/>
              </a:rPr>
              <a:t>— the color, the noise, the drama of a penalty shoot-out. But it is also the </a:t>
            </a:r>
            <a:r>
              <a:rPr lang="en-US" sz="1650" b="1" dirty="0">
                <a:solidFill>
                  <a:srgbClr val="1A2A5E"/>
                </a:solidFill>
                <a:latin typeface="Helvetica" pitchFamily="34" charset="0"/>
                <a:ea typeface="Helvetica" pitchFamily="34" charset="-122"/>
                <a:cs typeface="Helvetica" pitchFamily="34" charset="-120"/>
              </a:rPr>
              <a:t>rivalry </a:t>
            </a:r>
            <a:r>
              <a:rPr lang="en-US" sz="1650" dirty="0">
                <a:solidFill>
                  <a:srgbClr val="222222"/>
                </a:solidFill>
                <a:latin typeface="Helvetica" pitchFamily="34" charset="0"/>
                <a:ea typeface="Helvetica" pitchFamily="34" charset="-122"/>
                <a:cs typeface="Helvetica" pitchFamily="34" charset="-120"/>
              </a:rPr>
              <a:t>between nations that, for ninety minutes, matters more than almost anything else.</a:t>
            </a:r>
            <a:endParaRPr lang="en-US" sz="1650" dirty="0"/>
          </a:p>
        </p:txBody>
      </p:sp>
      <p:sp>
        <p:nvSpPr>
          <p:cNvPr id="12" name="Text 10"/>
          <p:cNvSpPr/>
          <p:nvPr/>
        </p:nvSpPr>
        <p:spPr>
          <a:xfrm>
            <a:off x="9401175" y="3128010"/>
            <a:ext cx="8074247" cy="1588294"/>
          </a:xfrm>
          <a:prstGeom prst="rect">
            <a:avLst/>
          </a:prstGeom>
          <a:noFill/>
          <a:ln/>
        </p:spPr>
        <p:txBody>
          <a:bodyPr wrap="square" lIns="25400" tIns="25400" rIns="25400" bIns="25400" rtlCol="0" anchor="t">
            <a:normAutofit lnSpcReduction="10000"/>
          </a:bodyPr>
          <a:lstStyle/>
          <a:p>
            <a:pPr marL="0" indent="0" algn="l">
              <a:lnSpc>
                <a:spcPct val="127187"/>
              </a:lnSpc>
              <a:buNone/>
            </a:pPr>
            <a:r>
              <a:rPr lang="en-US" sz="1650" dirty="0">
                <a:solidFill>
                  <a:srgbClr val="222222"/>
                </a:solidFill>
                <a:latin typeface="Helvetica" pitchFamily="34" charset="0"/>
                <a:ea typeface="Helvetica" pitchFamily="34" charset="-122"/>
                <a:cs typeface="Helvetica" pitchFamily="34" charset="-120"/>
              </a:rPr>
              <a:t>Hosting the World Cup is a huge undertaking. Countries spend billions of dollars building stadiums, hotels, and transport, hoping the world’s attention will boost tourism and pride. Yet the results are mixed. Some new stadiums are used for years; others sit empty once the crowds go home. The </a:t>
            </a:r>
            <a:r>
              <a:rPr lang="en-US" sz="1650" b="1" dirty="0">
                <a:solidFill>
                  <a:srgbClr val="1A2A5E"/>
                </a:solidFill>
                <a:latin typeface="Helvetica" pitchFamily="34" charset="0"/>
                <a:ea typeface="Helvetica" pitchFamily="34" charset="-122"/>
                <a:cs typeface="Helvetica" pitchFamily="34" charset="-120"/>
              </a:rPr>
              <a:t>legacy </a:t>
            </a:r>
            <a:r>
              <a:rPr lang="en-US" sz="1650" dirty="0">
                <a:solidFill>
                  <a:srgbClr val="222222"/>
                </a:solidFill>
                <a:latin typeface="Helvetica" pitchFamily="34" charset="0"/>
                <a:ea typeface="Helvetica" pitchFamily="34" charset="-122"/>
                <a:cs typeface="Helvetica" pitchFamily="34" charset="-120"/>
              </a:rPr>
              <a:t>of hosting can be a gift or a costly burden.</a:t>
            </a:r>
            <a:endParaRPr lang="en-US" sz="1650" dirty="0"/>
          </a:p>
        </p:txBody>
      </p:sp>
      <p:sp>
        <p:nvSpPr>
          <p:cNvPr id="13" name="Text 11"/>
          <p:cNvSpPr/>
          <p:nvPr/>
        </p:nvSpPr>
        <p:spPr>
          <a:xfrm>
            <a:off x="9401175" y="4887754"/>
            <a:ext cx="8074247" cy="968216"/>
          </a:xfrm>
          <a:prstGeom prst="rect">
            <a:avLst/>
          </a:prstGeom>
          <a:noFill/>
          <a:ln/>
        </p:spPr>
        <p:txBody>
          <a:bodyPr wrap="square" lIns="25400" tIns="25400" rIns="25400" bIns="25400" rtlCol="0" anchor="t">
            <a:normAutofit lnSpcReduction="10000"/>
          </a:bodyPr>
          <a:lstStyle/>
          <a:p>
            <a:pPr marL="0" indent="0" algn="l">
              <a:lnSpc>
                <a:spcPct val="127187"/>
              </a:lnSpc>
              <a:buNone/>
            </a:pPr>
            <a:r>
              <a:rPr lang="en-US" sz="1650" dirty="0">
                <a:solidFill>
                  <a:srgbClr val="222222"/>
                </a:solidFill>
                <a:latin typeface="Helvetica" pitchFamily="34" charset="0"/>
                <a:ea typeface="Helvetica" pitchFamily="34" charset="-122"/>
                <a:cs typeface="Helvetica" pitchFamily="34" charset="-120"/>
              </a:rPr>
              <a:t>Critics argue the tournament has become too commercial, and that the cost of </a:t>
            </a:r>
            <a:r>
              <a:rPr lang="en-US" sz="1650" b="1" dirty="0">
                <a:solidFill>
                  <a:srgbClr val="1A2A5E"/>
                </a:solidFill>
                <a:latin typeface="Helvetica" pitchFamily="34" charset="0"/>
                <a:ea typeface="Helvetica" pitchFamily="34" charset="-122"/>
                <a:cs typeface="Helvetica" pitchFamily="34" charset="-120"/>
              </a:rPr>
              <a:t>hosting </a:t>
            </a:r>
            <a:r>
              <a:rPr lang="en-US" sz="1650" dirty="0">
                <a:solidFill>
                  <a:srgbClr val="222222"/>
                </a:solidFill>
                <a:latin typeface="Helvetica" pitchFamily="34" charset="0"/>
                <a:ea typeface="Helvetica" pitchFamily="34" charset="-122"/>
                <a:cs typeface="Helvetica" pitchFamily="34" charset="-120"/>
              </a:rPr>
              <a:t>often falls on ordinary people. Supporters reply that few things unite the world so powerfully — that for a few weeks, borders seem to matter a little less.</a:t>
            </a:r>
            <a:endParaRPr lang="en-US" sz="1650" dirty="0"/>
          </a:p>
        </p:txBody>
      </p:sp>
      <p:sp>
        <p:nvSpPr>
          <p:cNvPr id="14" name="Shape 12"/>
          <p:cNvSpPr/>
          <p:nvPr/>
        </p:nvSpPr>
        <p:spPr>
          <a:xfrm>
            <a:off x="1047750" y="6413659"/>
            <a:ext cx="45720" cy="842010"/>
          </a:xfrm>
          <a:prstGeom prst="rect">
            <a:avLst/>
          </a:prstGeom>
          <a:solidFill>
            <a:srgbClr val="D9B877"/>
          </a:solidFill>
          <a:ln/>
        </p:spPr>
        <p:txBody>
          <a:bodyPr/>
          <a:lstStyle/>
          <a:p>
            <a:endParaRPr lang="en-US"/>
          </a:p>
        </p:txBody>
      </p:sp>
      <p:sp>
        <p:nvSpPr>
          <p:cNvPr id="15" name="Text 13"/>
          <p:cNvSpPr/>
          <p:nvPr/>
        </p:nvSpPr>
        <p:spPr>
          <a:xfrm>
            <a:off x="1360170" y="6413659"/>
            <a:ext cx="13422630" cy="880110"/>
          </a:xfrm>
          <a:prstGeom prst="rect">
            <a:avLst/>
          </a:prstGeom>
          <a:noFill/>
          <a:ln/>
        </p:spPr>
        <p:txBody>
          <a:bodyPr wrap="square" lIns="25400" tIns="25400" rIns="25400" bIns="25400" rtlCol="0" anchor="t">
            <a:normAutofit lnSpcReduction="10000"/>
          </a:bodyPr>
          <a:lstStyle/>
          <a:p>
            <a:pPr marL="0" indent="0" algn="l">
              <a:lnSpc>
                <a:spcPct val="115104"/>
              </a:lnSpc>
              <a:buNone/>
            </a:pPr>
            <a:r>
              <a:rPr lang="en-US" sz="2550" b="1" i="1" dirty="0">
                <a:solidFill>
                  <a:srgbClr val="1A2A5E"/>
                </a:solidFill>
                <a:latin typeface="Georgia" pitchFamily="34" charset="0"/>
                <a:ea typeface="Georgia" pitchFamily="34" charset="-122"/>
                <a:cs typeface="Georgia" pitchFamily="34" charset="-120"/>
              </a:rPr>
              <a:t>For one month every four years, the whole world seems to watch the same thing. Why does that still matter?</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5-audio">
            <a:hlinkClick r:id="" action="ppaction://media"/>
            <a:extLst>
              <a:ext uri="{FF2B5EF4-FFF2-40B4-BE49-F238E27FC236}">
                <a16:creationId xmlns:a16="http://schemas.microsoft.com/office/drawing/2014/main" id="{D8EC5561-9078-E15D-E59F-75FEA0584B8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332" y="1408271"/>
            <a:ext cx="487363"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About half the planet watches some part of the World Cup.</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Every new World Cup stadium is used for many years afterwards.</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Hosting the World Cup costs billions of dollars.</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Some critics say the tournament has become too commercial.</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The article says the World Cup is only about football.</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About half the planet watches some part of the World Cup.</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Every new World Cup stadium is used for many years afterwards. </a:t>
            </a:r>
            <a:r>
              <a:rPr lang="en-US" sz="1950" i="1" dirty="0">
                <a:solidFill>
                  <a:srgbClr val="888888"/>
                </a:solidFill>
                <a:latin typeface="Helvetica" pitchFamily="34" charset="0"/>
                <a:ea typeface="Helvetica" pitchFamily="34" charset="-122"/>
                <a:cs typeface="Helvetica" pitchFamily="34" charset="-120"/>
              </a:rPr>
              <a:t>— some sit empty.</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Hosting the World Cup costs billions of dollars.</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Some critics say the tournament has become too commercial.</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The article says the World Cup is only about football. </a:t>
            </a:r>
            <a:r>
              <a:rPr lang="en-US" sz="1950" i="1" dirty="0">
                <a:solidFill>
                  <a:srgbClr val="888888"/>
                </a:solidFill>
                <a:latin typeface="Helvetica" pitchFamily="34" charset="0"/>
                <a:ea typeface="Helvetica" pitchFamily="34" charset="-122"/>
                <a:cs typeface="Helvetica" pitchFamily="34" charset="-120"/>
              </a:rPr>
              <a:t>— it is much larger.</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FFFFFF"/>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4668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764030"/>
            <a:ext cx="17811750"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FFFFFF"/>
                </a:solidFill>
                <a:latin typeface="Georgia" pitchFamily="34" charset="0"/>
                <a:ea typeface="Georgia" pitchFamily="34" charset="-122"/>
                <a:cs typeface="Georgia" pitchFamily="34" charset="-120"/>
              </a:rPr>
              <a:t>Talk it through</a:t>
            </a:r>
            <a:endParaRPr lang="en-US" sz="3900" dirty="0"/>
          </a:p>
        </p:txBody>
      </p:sp>
      <p:sp>
        <p:nvSpPr>
          <p:cNvPr id="7" name="Shape 5"/>
          <p:cNvSpPr/>
          <p:nvPr/>
        </p:nvSpPr>
        <p:spPr>
          <a:xfrm>
            <a:off x="1047750" y="3200400"/>
            <a:ext cx="15049500" cy="9525"/>
          </a:xfrm>
          <a:prstGeom prst="rect">
            <a:avLst/>
          </a:prstGeom>
          <a:solidFill>
            <a:srgbClr val="34437A"/>
          </a:solidFill>
          <a:ln/>
        </p:spPr>
        <p:txBody>
          <a:bodyPr/>
          <a:lstStyle/>
          <a:p>
            <a:endParaRPr lang="en-US"/>
          </a:p>
        </p:txBody>
      </p:sp>
      <p:sp>
        <p:nvSpPr>
          <p:cNvPr id="8" name="Text 6"/>
          <p:cNvSpPr/>
          <p:nvPr/>
        </p:nvSpPr>
        <p:spPr>
          <a:xfrm>
            <a:off x="1047750" y="2670810"/>
            <a:ext cx="215384"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415534" y="2701290"/>
            <a:ext cx="161498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enjoy watching the World Cup or big sporting events? Why or why not?</a:t>
            </a:r>
            <a:endParaRPr lang="en-US" sz="2100" dirty="0"/>
          </a:p>
        </p:txBody>
      </p:sp>
      <p:sp>
        <p:nvSpPr>
          <p:cNvPr id="10" name="Shape 8"/>
          <p:cNvSpPr/>
          <p:nvPr/>
        </p:nvSpPr>
        <p:spPr>
          <a:xfrm>
            <a:off x="1047750" y="3909060"/>
            <a:ext cx="15049500" cy="9525"/>
          </a:xfrm>
          <a:prstGeom prst="rect">
            <a:avLst/>
          </a:prstGeom>
          <a:solidFill>
            <a:srgbClr val="34437A"/>
          </a:solidFill>
          <a:ln/>
        </p:spPr>
        <p:txBody>
          <a:bodyPr/>
          <a:lstStyle/>
          <a:p>
            <a:endParaRPr lang="en-US"/>
          </a:p>
        </p:txBody>
      </p:sp>
      <p:sp>
        <p:nvSpPr>
          <p:cNvPr id="11" name="Text 9"/>
          <p:cNvSpPr/>
          <p:nvPr/>
        </p:nvSpPr>
        <p:spPr>
          <a:xfrm>
            <a:off x="1047750" y="3379470"/>
            <a:ext cx="257175"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2" name="Text 10"/>
          <p:cNvSpPr/>
          <p:nvPr/>
        </p:nvSpPr>
        <p:spPr>
          <a:xfrm>
            <a:off x="1457325" y="3409950"/>
            <a:ext cx="1610391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Has a sporting event ever brought your country or family together?</a:t>
            </a:r>
            <a:endParaRPr lang="en-US" sz="2100" dirty="0"/>
          </a:p>
        </p:txBody>
      </p:sp>
      <p:sp>
        <p:nvSpPr>
          <p:cNvPr id="13" name="Shape 11"/>
          <p:cNvSpPr/>
          <p:nvPr/>
        </p:nvSpPr>
        <p:spPr>
          <a:xfrm>
            <a:off x="1047750" y="4617720"/>
            <a:ext cx="15049500" cy="9525"/>
          </a:xfrm>
          <a:prstGeom prst="rect">
            <a:avLst/>
          </a:prstGeom>
          <a:solidFill>
            <a:srgbClr val="34437A"/>
          </a:solidFill>
          <a:ln/>
        </p:spPr>
        <p:txBody>
          <a:bodyPr/>
          <a:lstStyle/>
          <a:p>
            <a:endParaRPr lang="en-US"/>
          </a:p>
        </p:txBody>
      </p:sp>
      <p:sp>
        <p:nvSpPr>
          <p:cNvPr id="14" name="Text 12"/>
          <p:cNvSpPr/>
          <p:nvPr/>
        </p:nvSpPr>
        <p:spPr>
          <a:xfrm>
            <a:off x="1047750" y="4088130"/>
            <a:ext cx="254913"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5" name="Text 13"/>
          <p:cNvSpPr/>
          <p:nvPr/>
        </p:nvSpPr>
        <p:spPr>
          <a:xfrm>
            <a:off x="1455063" y="4118610"/>
            <a:ext cx="16106406"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people feel such strong emotions about their national team?</a:t>
            </a:r>
            <a:endParaRPr lang="en-US" sz="2100" dirty="0"/>
          </a:p>
        </p:txBody>
      </p:sp>
      <p:sp>
        <p:nvSpPr>
          <p:cNvPr id="16" name="Shape 14"/>
          <p:cNvSpPr/>
          <p:nvPr/>
        </p:nvSpPr>
        <p:spPr>
          <a:xfrm>
            <a:off x="1047750" y="5326380"/>
            <a:ext cx="15049500" cy="9525"/>
          </a:xfrm>
          <a:prstGeom prst="rect">
            <a:avLst/>
          </a:prstGeom>
          <a:solidFill>
            <a:srgbClr val="34437A"/>
          </a:solidFill>
          <a:ln/>
        </p:spPr>
        <p:txBody>
          <a:bodyPr/>
          <a:lstStyle/>
          <a:p>
            <a:endParaRPr lang="en-US"/>
          </a:p>
        </p:txBody>
      </p:sp>
      <p:sp>
        <p:nvSpPr>
          <p:cNvPr id="17" name="Text 15"/>
          <p:cNvSpPr/>
          <p:nvPr/>
        </p:nvSpPr>
        <p:spPr>
          <a:xfrm>
            <a:off x="1047750" y="4796790"/>
            <a:ext cx="259199"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18" name="Text 16"/>
          <p:cNvSpPr/>
          <p:nvPr/>
        </p:nvSpPr>
        <p:spPr>
          <a:xfrm>
            <a:off x="1459349" y="4827270"/>
            <a:ext cx="16101691"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spending billions to host the World Cup worth it? Why or why not?</a:t>
            </a:r>
            <a:endParaRPr lang="en-US" sz="2100" dirty="0"/>
          </a:p>
        </p:txBody>
      </p:sp>
      <p:sp>
        <p:nvSpPr>
          <p:cNvPr id="19" name="Text 17"/>
          <p:cNvSpPr/>
          <p:nvPr/>
        </p:nvSpPr>
        <p:spPr>
          <a:xfrm>
            <a:off x="1047750" y="5505450"/>
            <a:ext cx="247412"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0" name="Text 18"/>
          <p:cNvSpPr/>
          <p:nvPr/>
        </p:nvSpPr>
        <p:spPr>
          <a:xfrm>
            <a:off x="1447562" y="5535930"/>
            <a:ext cx="16114657"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Does the World Cup still bring the world together, or divide it?</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275754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14475"/>
            <a:ext cx="1774269"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50670"/>
            <a:ext cx="1606629" cy="205740"/>
          </a:xfrm>
          <a:prstGeom prst="rect">
            <a:avLst/>
          </a:prstGeom>
          <a:noFill/>
          <a:ln/>
        </p:spPr>
        <p:txBody>
          <a:bodyPr wrap="none" lIns="25400" tIns="25400" rIns="25400" bIns="25400" rtlCol="0" anchor="t">
            <a:normAutofit lnSpcReduction="10000"/>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BEST SOLUTION</a:t>
            </a:r>
            <a:endParaRPr lang="en-US" sz="1125" dirty="0"/>
          </a:p>
        </p:txBody>
      </p:sp>
      <p:sp>
        <p:nvSpPr>
          <p:cNvPr id="8" name="Text 6"/>
          <p:cNvSpPr/>
          <p:nvPr/>
        </p:nvSpPr>
        <p:spPr>
          <a:xfrm>
            <a:off x="1047750" y="1868805"/>
            <a:ext cx="17811750" cy="579120"/>
          </a:xfrm>
          <a:prstGeom prst="rect">
            <a:avLst/>
          </a:prstGeom>
          <a:noFill/>
          <a:ln/>
        </p:spPr>
        <p:txBody>
          <a:bodyPr wrap="square" lIns="25400" tIns="25400" rIns="25400" bIns="25400" rtlCol="0" anchor="t">
            <a:normAutofit lnSpcReduction="10000"/>
          </a:bodyPr>
          <a:lstStyle/>
          <a:p>
            <a:pPr marL="0" indent="0" algn="l">
              <a:buNone/>
            </a:pPr>
            <a:r>
              <a:rPr lang="en-US" sz="3750" b="1" dirty="0">
                <a:solidFill>
                  <a:srgbClr val="1A2A5E"/>
                </a:solidFill>
                <a:latin typeface="Georgia" pitchFamily="34" charset="0"/>
                <a:ea typeface="Georgia" pitchFamily="34" charset="-122"/>
                <a:cs typeface="Georgia" pitchFamily="34" charset="-120"/>
              </a:rPr>
              <a:t>What should be the top priority?</a:t>
            </a:r>
            <a:endParaRPr lang="en-US" sz="3750" dirty="0"/>
          </a:p>
        </p:txBody>
      </p:sp>
      <p:sp>
        <p:nvSpPr>
          <p:cNvPr id="9" name="Text 7"/>
          <p:cNvSpPr/>
          <p:nvPr/>
        </p:nvSpPr>
        <p:spPr>
          <a:xfrm>
            <a:off x="1047750" y="2524125"/>
            <a:ext cx="16764000"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A country wants to host the next World Cup. Choose </a:t>
            </a:r>
            <a:r>
              <a:rPr lang="en-US" sz="1950" b="1" dirty="0">
                <a:solidFill>
                  <a:srgbClr val="1A2A5E"/>
                </a:solidFill>
                <a:latin typeface="Helvetica" pitchFamily="34" charset="0"/>
                <a:ea typeface="Helvetica" pitchFamily="34" charset="-122"/>
                <a:cs typeface="Helvetica" pitchFamily="34" charset="-120"/>
              </a:rPr>
              <a:t>ONE </a:t>
            </a:r>
            <a:r>
              <a:rPr lang="en-US" sz="1950" dirty="0">
                <a:solidFill>
                  <a:srgbClr val="555555"/>
                </a:solidFill>
                <a:latin typeface="Helvetica" pitchFamily="34" charset="0"/>
                <a:ea typeface="Helvetica" pitchFamily="34" charset="-122"/>
                <a:cs typeface="Helvetica" pitchFamily="34" charset="-120"/>
              </a:rPr>
              <a:t>top priority, explain your reasons, then compare with another pair.</a:t>
            </a:r>
            <a:endParaRPr lang="en-US" sz="1950" dirty="0"/>
          </a:p>
        </p:txBody>
      </p:sp>
      <p:sp>
        <p:nvSpPr>
          <p:cNvPr id="10" name="Shape 8"/>
          <p:cNvSpPr/>
          <p:nvPr/>
        </p:nvSpPr>
        <p:spPr>
          <a:xfrm>
            <a:off x="1047750" y="3739515"/>
            <a:ext cx="14859000" cy="9525"/>
          </a:xfrm>
          <a:prstGeom prst="rect">
            <a:avLst/>
          </a:prstGeom>
          <a:solidFill>
            <a:srgbClr val="D8D6D0"/>
          </a:solidFill>
          <a:ln/>
        </p:spPr>
        <p:txBody>
          <a:bodyPr/>
          <a:lstStyle/>
          <a:p>
            <a:endParaRPr lang="en-US"/>
          </a:p>
        </p:txBody>
      </p:sp>
      <p:sp>
        <p:nvSpPr>
          <p:cNvPr id="11" name="Shape 9"/>
          <p:cNvSpPr/>
          <p:nvPr/>
        </p:nvSpPr>
        <p:spPr>
          <a:xfrm>
            <a:off x="1047750" y="3225165"/>
            <a:ext cx="342900" cy="342900"/>
          </a:xfrm>
          <a:prstGeom prst="rect">
            <a:avLst/>
          </a:prstGeom>
          <a:ln w="15240">
            <a:solidFill>
              <a:srgbClr val="1A2A5E"/>
            </a:solidFill>
            <a:prstDash val="solid"/>
          </a:ln>
        </p:spPr>
        <p:txBody>
          <a:bodyPr/>
          <a:lstStyle/>
          <a:p>
            <a:endParaRPr lang="en-US"/>
          </a:p>
        </p:txBody>
      </p:sp>
      <p:sp>
        <p:nvSpPr>
          <p:cNvPr id="12" name="Text 10"/>
          <p:cNvSpPr/>
          <p:nvPr/>
        </p:nvSpPr>
        <p:spPr>
          <a:xfrm>
            <a:off x="1619250" y="3232785"/>
            <a:ext cx="386109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Build modern new stadiums</a:t>
            </a:r>
            <a:endParaRPr lang="en-US" sz="2250" dirty="0"/>
          </a:p>
        </p:txBody>
      </p:sp>
      <p:sp>
        <p:nvSpPr>
          <p:cNvPr id="13" name="Shape 11"/>
          <p:cNvSpPr/>
          <p:nvPr/>
        </p:nvSpPr>
        <p:spPr>
          <a:xfrm>
            <a:off x="1047750" y="4451985"/>
            <a:ext cx="14859000" cy="9525"/>
          </a:xfrm>
          <a:prstGeom prst="rect">
            <a:avLst/>
          </a:prstGeom>
          <a:solidFill>
            <a:srgbClr val="D8D6D0"/>
          </a:solidFill>
          <a:ln/>
        </p:spPr>
        <p:txBody>
          <a:bodyPr/>
          <a:lstStyle/>
          <a:p>
            <a:endParaRPr lang="en-US"/>
          </a:p>
        </p:txBody>
      </p:sp>
      <p:sp>
        <p:nvSpPr>
          <p:cNvPr id="14" name="Shape 12"/>
          <p:cNvSpPr/>
          <p:nvPr/>
        </p:nvSpPr>
        <p:spPr>
          <a:xfrm>
            <a:off x="1047750" y="3937635"/>
            <a:ext cx="342900" cy="342900"/>
          </a:xfrm>
          <a:prstGeom prst="rect">
            <a:avLst/>
          </a:prstGeom>
          <a:ln w="15240">
            <a:solidFill>
              <a:srgbClr val="1A2A5E"/>
            </a:solidFill>
            <a:prstDash val="solid"/>
          </a:ln>
        </p:spPr>
        <p:txBody>
          <a:bodyPr/>
          <a:lstStyle/>
          <a:p>
            <a:endParaRPr lang="en-US"/>
          </a:p>
        </p:txBody>
      </p:sp>
      <p:sp>
        <p:nvSpPr>
          <p:cNvPr id="15" name="Text 13"/>
          <p:cNvSpPr/>
          <p:nvPr/>
        </p:nvSpPr>
        <p:spPr>
          <a:xfrm>
            <a:off x="1619250" y="3945255"/>
            <a:ext cx="337179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Improve public transport</a:t>
            </a:r>
            <a:endParaRPr lang="en-US" sz="2250" dirty="0"/>
          </a:p>
        </p:txBody>
      </p:sp>
      <p:sp>
        <p:nvSpPr>
          <p:cNvPr id="16" name="Shape 14"/>
          <p:cNvSpPr/>
          <p:nvPr/>
        </p:nvSpPr>
        <p:spPr>
          <a:xfrm>
            <a:off x="1047750" y="5164455"/>
            <a:ext cx="14859000" cy="9525"/>
          </a:xfrm>
          <a:prstGeom prst="rect">
            <a:avLst/>
          </a:prstGeom>
          <a:solidFill>
            <a:srgbClr val="D8D6D0"/>
          </a:solidFill>
          <a:ln/>
        </p:spPr>
        <p:txBody>
          <a:bodyPr/>
          <a:lstStyle/>
          <a:p>
            <a:endParaRPr lang="en-US"/>
          </a:p>
        </p:txBody>
      </p:sp>
      <p:sp>
        <p:nvSpPr>
          <p:cNvPr id="17" name="Shape 15"/>
          <p:cNvSpPr/>
          <p:nvPr/>
        </p:nvSpPr>
        <p:spPr>
          <a:xfrm>
            <a:off x="1047750" y="4650105"/>
            <a:ext cx="342900" cy="342900"/>
          </a:xfrm>
          <a:prstGeom prst="rect">
            <a:avLst/>
          </a:prstGeom>
          <a:ln w="15240">
            <a:solidFill>
              <a:srgbClr val="1A2A5E"/>
            </a:solidFill>
            <a:prstDash val="solid"/>
          </a:ln>
        </p:spPr>
        <p:txBody>
          <a:bodyPr/>
          <a:lstStyle/>
          <a:p>
            <a:endParaRPr lang="en-US"/>
          </a:p>
        </p:txBody>
      </p:sp>
      <p:sp>
        <p:nvSpPr>
          <p:cNvPr id="18" name="Text 16"/>
          <p:cNvSpPr/>
          <p:nvPr/>
        </p:nvSpPr>
        <p:spPr>
          <a:xfrm>
            <a:off x="1619250" y="4657725"/>
            <a:ext cx="333721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Protect the environment</a:t>
            </a:r>
            <a:endParaRPr lang="en-US" sz="2250" dirty="0"/>
          </a:p>
        </p:txBody>
      </p:sp>
      <p:sp>
        <p:nvSpPr>
          <p:cNvPr id="19" name="Shape 17"/>
          <p:cNvSpPr/>
          <p:nvPr/>
        </p:nvSpPr>
        <p:spPr>
          <a:xfrm>
            <a:off x="1047750" y="5876925"/>
            <a:ext cx="14859000" cy="9525"/>
          </a:xfrm>
          <a:prstGeom prst="rect">
            <a:avLst/>
          </a:prstGeom>
          <a:solidFill>
            <a:srgbClr val="D8D6D0"/>
          </a:solidFill>
          <a:ln/>
        </p:spPr>
        <p:txBody>
          <a:bodyPr/>
          <a:lstStyle/>
          <a:p>
            <a:endParaRPr lang="en-US"/>
          </a:p>
        </p:txBody>
      </p:sp>
      <p:sp>
        <p:nvSpPr>
          <p:cNvPr id="20" name="Shape 18"/>
          <p:cNvSpPr/>
          <p:nvPr/>
        </p:nvSpPr>
        <p:spPr>
          <a:xfrm>
            <a:off x="1047750" y="5362575"/>
            <a:ext cx="342900" cy="342900"/>
          </a:xfrm>
          <a:prstGeom prst="rect">
            <a:avLst/>
          </a:prstGeom>
          <a:ln w="15240">
            <a:solidFill>
              <a:srgbClr val="1A2A5E"/>
            </a:solidFill>
            <a:prstDash val="solid"/>
          </a:ln>
        </p:spPr>
        <p:txBody>
          <a:bodyPr/>
          <a:lstStyle/>
          <a:p>
            <a:endParaRPr lang="en-US"/>
          </a:p>
        </p:txBody>
      </p:sp>
      <p:sp>
        <p:nvSpPr>
          <p:cNvPr id="21" name="Text 19"/>
          <p:cNvSpPr/>
          <p:nvPr/>
        </p:nvSpPr>
        <p:spPr>
          <a:xfrm>
            <a:off x="1619250" y="5370195"/>
            <a:ext cx="2341197"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Create local jobs</a:t>
            </a:r>
            <a:endParaRPr lang="en-US" sz="2250" dirty="0"/>
          </a:p>
        </p:txBody>
      </p:sp>
      <p:sp>
        <p:nvSpPr>
          <p:cNvPr id="22" name="Shape 20"/>
          <p:cNvSpPr/>
          <p:nvPr/>
        </p:nvSpPr>
        <p:spPr>
          <a:xfrm>
            <a:off x="1047750" y="6589395"/>
            <a:ext cx="14859000" cy="9525"/>
          </a:xfrm>
          <a:prstGeom prst="rect">
            <a:avLst/>
          </a:prstGeom>
          <a:solidFill>
            <a:srgbClr val="D8D6D0"/>
          </a:solidFill>
          <a:ln/>
        </p:spPr>
        <p:txBody>
          <a:bodyPr/>
          <a:lstStyle/>
          <a:p>
            <a:endParaRPr lang="en-US"/>
          </a:p>
        </p:txBody>
      </p:sp>
      <p:sp>
        <p:nvSpPr>
          <p:cNvPr id="23" name="Shape 21"/>
          <p:cNvSpPr/>
          <p:nvPr/>
        </p:nvSpPr>
        <p:spPr>
          <a:xfrm>
            <a:off x="1047750" y="6075045"/>
            <a:ext cx="342900" cy="342900"/>
          </a:xfrm>
          <a:prstGeom prst="rect">
            <a:avLst/>
          </a:prstGeom>
          <a:ln w="15240">
            <a:solidFill>
              <a:srgbClr val="1A2A5E"/>
            </a:solidFill>
            <a:prstDash val="solid"/>
          </a:ln>
        </p:spPr>
        <p:txBody>
          <a:bodyPr/>
          <a:lstStyle/>
          <a:p>
            <a:endParaRPr lang="en-US"/>
          </a:p>
        </p:txBody>
      </p:sp>
      <p:sp>
        <p:nvSpPr>
          <p:cNvPr id="24" name="Text 22"/>
          <p:cNvSpPr/>
          <p:nvPr/>
        </p:nvSpPr>
        <p:spPr>
          <a:xfrm>
            <a:off x="1619250" y="6082665"/>
            <a:ext cx="4210645"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222222"/>
                </a:solidFill>
                <a:latin typeface="Helvetica" pitchFamily="34" charset="0"/>
                <a:ea typeface="Helvetica" pitchFamily="34" charset="-122"/>
                <a:cs typeface="Helvetica" pitchFamily="34" charset="-120"/>
              </a:rPr>
              <a:t>Keep costs low for the country</a:t>
            </a:r>
            <a:endParaRPr lang="en-US" sz="2250" dirty="0"/>
          </a:p>
        </p:txBody>
      </p:sp>
      <p:sp>
        <p:nvSpPr>
          <p:cNvPr id="25" name="Text 23"/>
          <p:cNvSpPr/>
          <p:nvPr/>
        </p:nvSpPr>
        <p:spPr>
          <a:xfrm>
            <a:off x="1047750" y="7012305"/>
            <a:ext cx="1724597" cy="213360"/>
          </a:xfrm>
          <a:prstGeom prst="rect">
            <a:avLst/>
          </a:prstGeom>
          <a:noFill/>
          <a:ln/>
        </p:spPr>
        <p:txBody>
          <a:bodyPr wrap="none" lIns="25400" tIns="25400" rIns="25400" bIns="25400" rtlCol="0" anchor="t">
            <a:normAutofit fontScale="92500" lnSpcReduction="10000"/>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THEN COMPARE</a:t>
            </a:r>
            <a:endParaRPr lang="en-US" sz="1200" dirty="0"/>
          </a:p>
        </p:txBody>
      </p:sp>
      <p:sp>
        <p:nvSpPr>
          <p:cNvPr id="26" name="Text 24"/>
          <p:cNvSpPr/>
          <p:nvPr/>
        </p:nvSpPr>
        <p:spPr>
          <a:xfrm>
            <a:off x="2806065" y="6920865"/>
            <a:ext cx="10555689" cy="355759"/>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Did the other pair choose the same? · Whose reasons were strongest? · Can you agree on one?</a:t>
            </a:r>
            <a:endParaRPr lang="en-US" sz="17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21180"/>
            <a:ext cx="17811750"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1A2A5E"/>
                </a:solidFill>
                <a:latin typeface="Georgia" pitchFamily="34" charset="0"/>
                <a:ea typeface="Georgia" pitchFamily="34" charset="-122"/>
                <a:cs typeface="Georgia" pitchFamily="34" charset="-120"/>
              </a:rPr>
              <a:t>Complete &amp; say each line</a:t>
            </a:r>
            <a:endParaRPr lang="en-US" sz="3900" dirty="0"/>
          </a:p>
        </p:txBody>
      </p:sp>
      <p:sp>
        <p:nvSpPr>
          <p:cNvPr id="7" name="Text 5"/>
          <p:cNvSpPr/>
          <p:nvPr/>
        </p:nvSpPr>
        <p:spPr>
          <a:xfrm>
            <a:off x="1047750" y="249936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298704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3876640" y="3184208"/>
            <a:ext cx="161353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tournament</a:t>
            </a:r>
            <a:endParaRPr lang="en-US" sz="2100" dirty="0"/>
          </a:p>
        </p:txBody>
      </p:sp>
      <p:sp>
        <p:nvSpPr>
          <p:cNvPr id="10" name="Text 8"/>
          <p:cNvSpPr/>
          <p:nvPr/>
        </p:nvSpPr>
        <p:spPr>
          <a:xfrm>
            <a:off x="6932055" y="3184208"/>
            <a:ext cx="133745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spectacle</a:t>
            </a:r>
            <a:endParaRPr lang="en-US" sz="2100" dirty="0"/>
          </a:p>
        </p:txBody>
      </p:sp>
      <p:sp>
        <p:nvSpPr>
          <p:cNvPr id="11" name="Text 9"/>
          <p:cNvSpPr/>
          <p:nvPr/>
        </p:nvSpPr>
        <p:spPr>
          <a:xfrm>
            <a:off x="5772608" y="3185444"/>
            <a:ext cx="87701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rivalry</a:t>
            </a:r>
            <a:endParaRPr lang="en-US" sz="2100" dirty="0"/>
          </a:p>
        </p:txBody>
      </p:sp>
      <p:sp>
        <p:nvSpPr>
          <p:cNvPr id="12" name="Text 10"/>
          <p:cNvSpPr/>
          <p:nvPr/>
        </p:nvSpPr>
        <p:spPr>
          <a:xfrm>
            <a:off x="1501973" y="3184208"/>
            <a:ext cx="639247"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host</a:t>
            </a:r>
            <a:endParaRPr lang="en-US" sz="2100" dirty="0"/>
          </a:p>
        </p:txBody>
      </p:sp>
      <p:sp>
        <p:nvSpPr>
          <p:cNvPr id="13" name="Text 11"/>
          <p:cNvSpPr/>
          <p:nvPr/>
        </p:nvSpPr>
        <p:spPr>
          <a:xfrm>
            <a:off x="2555659" y="3185444"/>
            <a:ext cx="906542"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legacy</a:t>
            </a:r>
            <a:endParaRPr lang="en-US" sz="2100" dirty="0"/>
          </a:p>
        </p:txBody>
      </p:sp>
      <p:sp>
        <p:nvSpPr>
          <p:cNvPr id="14" name="Text 12"/>
          <p:cNvSpPr/>
          <p:nvPr/>
        </p:nvSpPr>
        <p:spPr>
          <a:xfrm>
            <a:off x="1047750" y="3981450"/>
            <a:ext cx="40005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5" name="Text 13"/>
          <p:cNvSpPr/>
          <p:nvPr/>
        </p:nvSpPr>
        <p:spPr>
          <a:xfrm>
            <a:off x="1581150" y="3950970"/>
            <a:ext cx="8993624" cy="423863"/>
          </a:xfrm>
          <a:prstGeom prst="rect">
            <a:avLst/>
          </a:prstGeom>
          <a:noFill/>
          <a:ln/>
        </p:spPr>
        <p:txBody>
          <a:bodyPr wrap="square" lIns="25400" tIns="25400" rIns="25400" bIns="25400" rtlCol="0" anchor="t">
            <a:normAutofit lnSpcReduction="10000"/>
          </a:bodyPr>
          <a:lstStyle/>
          <a:p>
            <a:pPr marL="0" indent="0" algn="l">
              <a:lnSpc>
                <a:spcPct val="117733"/>
              </a:lnSpc>
              <a:buNone/>
            </a:pPr>
            <a:r>
              <a:rPr lang="en-US" sz="2250" dirty="0">
                <a:solidFill>
                  <a:srgbClr val="1A1A1A"/>
                </a:solidFill>
                <a:latin typeface="Helvetica" pitchFamily="34" charset="0"/>
                <a:ea typeface="Helvetica" pitchFamily="34" charset="-122"/>
                <a:cs typeface="Helvetica" pitchFamily="34" charset="-120"/>
              </a:rPr>
              <a:t>The final was an amazing ________________ that no one will forget.</a:t>
            </a:r>
            <a:endParaRPr lang="en-US" sz="2250" dirty="0"/>
          </a:p>
        </p:txBody>
      </p:sp>
      <p:sp>
        <p:nvSpPr>
          <p:cNvPr id="16" name="Text 14"/>
          <p:cNvSpPr/>
          <p:nvPr/>
        </p:nvSpPr>
        <p:spPr>
          <a:xfrm>
            <a:off x="1047750" y="4576763"/>
            <a:ext cx="40005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7" name="Text 15"/>
          <p:cNvSpPr/>
          <p:nvPr/>
        </p:nvSpPr>
        <p:spPr>
          <a:xfrm>
            <a:off x="1581150" y="4546283"/>
            <a:ext cx="7927407"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There is a fierce ________________ between the two teams.</a:t>
            </a:r>
            <a:endParaRPr lang="en-US" sz="2250" dirty="0"/>
          </a:p>
        </p:txBody>
      </p:sp>
      <p:sp>
        <p:nvSpPr>
          <p:cNvPr id="18" name="Text 16"/>
          <p:cNvSpPr/>
          <p:nvPr/>
        </p:nvSpPr>
        <p:spPr>
          <a:xfrm>
            <a:off x="1047750" y="5172075"/>
            <a:ext cx="40005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9" name="Text 17"/>
          <p:cNvSpPr/>
          <p:nvPr/>
        </p:nvSpPr>
        <p:spPr>
          <a:xfrm>
            <a:off x="1581150" y="5141595"/>
            <a:ext cx="8061520"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Our country hopes to ________________ the next World Cup.</a:t>
            </a:r>
            <a:endParaRPr lang="en-US" sz="2250" dirty="0"/>
          </a:p>
        </p:txBody>
      </p:sp>
      <p:sp>
        <p:nvSpPr>
          <p:cNvPr id="20" name="Text 18"/>
          <p:cNvSpPr/>
          <p:nvPr/>
        </p:nvSpPr>
        <p:spPr>
          <a:xfrm>
            <a:off x="1047750" y="5767388"/>
            <a:ext cx="40005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21" name="Text 19"/>
          <p:cNvSpPr/>
          <p:nvPr/>
        </p:nvSpPr>
        <p:spPr>
          <a:xfrm>
            <a:off x="1581150" y="5736907"/>
            <a:ext cx="6897338" cy="423863"/>
          </a:xfrm>
          <a:prstGeom prst="rect">
            <a:avLst/>
          </a:prstGeom>
          <a:noFill/>
          <a:ln/>
        </p:spPr>
        <p:txBody>
          <a:bodyPr wrap="square" lIns="25400" tIns="25400" rIns="25400" bIns="25400" rtlCol="0" anchor="t">
            <a:normAutofit fontScale="925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A great event can leave a lasting ________________ .</a:t>
            </a:r>
            <a:endParaRPr lang="en-US" sz="2250" dirty="0"/>
          </a:p>
        </p:txBody>
      </p:sp>
      <p:sp>
        <p:nvSpPr>
          <p:cNvPr id="22" name="Text 20"/>
          <p:cNvSpPr/>
          <p:nvPr/>
        </p:nvSpPr>
        <p:spPr>
          <a:xfrm>
            <a:off x="1047750" y="6362700"/>
            <a:ext cx="40005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581150" y="6332220"/>
            <a:ext cx="8382917" cy="423863"/>
          </a:xfrm>
          <a:prstGeom prst="rect">
            <a:avLst/>
          </a:prstGeom>
          <a:noFill/>
          <a:ln/>
        </p:spPr>
        <p:txBody>
          <a:bodyPr wrap="square" lIns="25400" tIns="25400" rIns="25400" bIns="25400" rtlCol="0" anchor="t">
            <a:normAutofit lnSpcReduction="10000"/>
          </a:bodyPr>
          <a:lstStyle/>
          <a:p>
            <a:pPr>
              <a:lnSpc>
                <a:spcPct val="117733"/>
              </a:lnSpc>
            </a:pPr>
            <a:r>
              <a:rPr lang="en-US" sz="2250" dirty="0">
                <a:solidFill>
                  <a:srgbClr val="1A1A1A"/>
                </a:solidFill>
                <a:latin typeface="Helvetica" pitchFamily="34" charset="0"/>
                <a:ea typeface="Helvetica" pitchFamily="34" charset="-122"/>
                <a:cs typeface="Helvetica" pitchFamily="34" charset="-120"/>
              </a:rPr>
              <a:t>A knockout ________________ can be decided by a single goal.</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3830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43050"/>
            <a:ext cx="3262670" cy="388620"/>
          </a:xfrm>
          <a:prstGeom prst="rect">
            <a:avLst/>
          </a:prstGeom>
          <a:solidFill>
            <a:srgbClr val="1A2A5E"/>
          </a:solidFill>
          <a:ln/>
        </p:spPr>
        <p:txBody>
          <a:bodyPr/>
          <a:lstStyle/>
          <a:p>
            <a:endParaRPr lang="en-US"/>
          </a:p>
        </p:txBody>
      </p:sp>
      <p:sp>
        <p:nvSpPr>
          <p:cNvPr id="7" name="Text 5"/>
          <p:cNvSpPr/>
          <p:nvPr/>
        </p:nvSpPr>
        <p:spPr>
          <a:xfrm>
            <a:off x="4449366" y="160020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065020"/>
            <a:ext cx="17811750" cy="579120"/>
          </a:xfrm>
          <a:prstGeom prst="rect">
            <a:avLst/>
          </a:prstGeom>
          <a:noFill/>
          <a:ln/>
        </p:spPr>
        <p:txBody>
          <a:bodyPr wrap="square" lIns="25400" tIns="25400" rIns="25400" bIns="25400" rtlCol="0" anchor="t">
            <a:normAutofit lnSpcReduction="10000"/>
          </a:bodyPr>
          <a:lstStyle/>
          <a:p>
            <a:pPr marL="0" indent="0" algn="l">
              <a:buNone/>
            </a:pPr>
            <a:r>
              <a:rPr lang="en-US" sz="3750" b="1" dirty="0">
                <a:solidFill>
                  <a:srgbClr val="1A2A5E"/>
                </a:solidFill>
                <a:latin typeface="Georgia" pitchFamily="34" charset="0"/>
                <a:ea typeface="Georgia" pitchFamily="34" charset="-122"/>
                <a:cs typeface="Georgia" pitchFamily="34" charset="-120"/>
              </a:rPr>
              <a:t>Complete &amp; say each line</a:t>
            </a:r>
            <a:endParaRPr lang="en-US" sz="3750" dirty="0"/>
          </a:p>
        </p:txBody>
      </p:sp>
      <p:sp>
        <p:nvSpPr>
          <p:cNvPr id="9" name="Text 7"/>
          <p:cNvSpPr/>
          <p:nvPr/>
        </p:nvSpPr>
        <p:spPr>
          <a:xfrm>
            <a:off x="1047750" y="3017520"/>
            <a:ext cx="40005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9B877"/>
                </a:solidFill>
                <a:latin typeface="Georgia" pitchFamily="34" charset="0"/>
                <a:ea typeface="Georgia" pitchFamily="34" charset="-122"/>
                <a:cs typeface="Georgia" pitchFamily="34" charset="-120"/>
              </a:rPr>
              <a:t>1</a:t>
            </a:r>
            <a:endParaRPr lang="en-US" sz="2100" dirty="0"/>
          </a:p>
        </p:txBody>
      </p:sp>
      <p:sp>
        <p:nvSpPr>
          <p:cNvPr id="10" name="Text 8"/>
          <p:cNvSpPr/>
          <p:nvPr/>
        </p:nvSpPr>
        <p:spPr>
          <a:xfrm>
            <a:off x="1581150" y="2987040"/>
            <a:ext cx="7697427"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The final was an amazing </a:t>
            </a:r>
            <a:r>
              <a:rPr lang="en-US" sz="2100" b="1" dirty="0">
                <a:solidFill>
                  <a:srgbClr val="1A2A5E"/>
                </a:solidFill>
                <a:latin typeface="Helvetica" pitchFamily="34" charset="0"/>
                <a:ea typeface="Helvetica" pitchFamily="34" charset="-122"/>
                <a:cs typeface="Helvetica" pitchFamily="34" charset="-120"/>
              </a:rPr>
              <a:t>spectacle </a:t>
            </a:r>
            <a:r>
              <a:rPr lang="en-US" sz="2100" dirty="0">
                <a:solidFill>
                  <a:srgbClr val="444444"/>
                </a:solidFill>
                <a:latin typeface="Helvetica" pitchFamily="34" charset="0"/>
                <a:ea typeface="Helvetica" pitchFamily="34" charset="-122"/>
                <a:cs typeface="Helvetica" pitchFamily="34" charset="-120"/>
              </a:rPr>
              <a:t>that no one will forget.</a:t>
            </a:r>
            <a:endParaRPr lang="en-US" sz="2100" dirty="0"/>
          </a:p>
        </p:txBody>
      </p:sp>
      <p:sp>
        <p:nvSpPr>
          <p:cNvPr id="11" name="Text 9"/>
          <p:cNvSpPr/>
          <p:nvPr/>
        </p:nvSpPr>
        <p:spPr>
          <a:xfrm>
            <a:off x="1047750" y="3587115"/>
            <a:ext cx="40005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9B877"/>
                </a:solidFill>
                <a:latin typeface="Georgia" pitchFamily="34" charset="0"/>
                <a:ea typeface="Georgia" pitchFamily="34" charset="-122"/>
                <a:cs typeface="Georgia" pitchFamily="34" charset="-120"/>
              </a:rPr>
              <a:t>2</a:t>
            </a:r>
            <a:endParaRPr lang="en-US" sz="2100" dirty="0"/>
          </a:p>
        </p:txBody>
      </p:sp>
      <p:sp>
        <p:nvSpPr>
          <p:cNvPr id="12" name="Text 10"/>
          <p:cNvSpPr/>
          <p:nvPr/>
        </p:nvSpPr>
        <p:spPr>
          <a:xfrm>
            <a:off x="1581150" y="3556635"/>
            <a:ext cx="6245769"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There is a fierce </a:t>
            </a:r>
            <a:r>
              <a:rPr lang="en-US" sz="2100" b="1" dirty="0">
                <a:solidFill>
                  <a:srgbClr val="1A2A5E"/>
                </a:solidFill>
                <a:latin typeface="Helvetica" pitchFamily="34" charset="0"/>
                <a:ea typeface="Helvetica" pitchFamily="34" charset="-122"/>
                <a:cs typeface="Helvetica" pitchFamily="34" charset="-120"/>
              </a:rPr>
              <a:t>rivalry </a:t>
            </a:r>
            <a:r>
              <a:rPr lang="en-US" sz="2100" dirty="0">
                <a:solidFill>
                  <a:srgbClr val="444444"/>
                </a:solidFill>
                <a:latin typeface="Helvetica" pitchFamily="34" charset="0"/>
                <a:ea typeface="Helvetica" pitchFamily="34" charset="-122"/>
                <a:cs typeface="Helvetica" pitchFamily="34" charset="-120"/>
              </a:rPr>
              <a:t>between the two teams.</a:t>
            </a:r>
            <a:endParaRPr lang="en-US" sz="2100" dirty="0"/>
          </a:p>
        </p:txBody>
      </p:sp>
      <p:sp>
        <p:nvSpPr>
          <p:cNvPr id="13" name="Text 11"/>
          <p:cNvSpPr/>
          <p:nvPr/>
        </p:nvSpPr>
        <p:spPr>
          <a:xfrm>
            <a:off x="1047750" y="4156710"/>
            <a:ext cx="40005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9B877"/>
                </a:solidFill>
                <a:latin typeface="Georgia" pitchFamily="34" charset="0"/>
                <a:ea typeface="Georgia" pitchFamily="34" charset="-122"/>
                <a:cs typeface="Georgia" pitchFamily="34" charset="-120"/>
              </a:rPr>
              <a:t>3</a:t>
            </a:r>
            <a:endParaRPr lang="en-US" sz="2100" dirty="0"/>
          </a:p>
        </p:txBody>
      </p:sp>
      <p:sp>
        <p:nvSpPr>
          <p:cNvPr id="14" name="Text 12"/>
          <p:cNvSpPr/>
          <p:nvPr/>
        </p:nvSpPr>
        <p:spPr>
          <a:xfrm>
            <a:off x="1581150" y="4126230"/>
            <a:ext cx="6109431"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Our country hopes to </a:t>
            </a:r>
            <a:r>
              <a:rPr lang="en-US" sz="2100" b="1" dirty="0">
                <a:solidFill>
                  <a:srgbClr val="1A2A5E"/>
                </a:solidFill>
                <a:latin typeface="Helvetica" pitchFamily="34" charset="0"/>
                <a:ea typeface="Helvetica" pitchFamily="34" charset="-122"/>
                <a:cs typeface="Helvetica" pitchFamily="34" charset="-120"/>
              </a:rPr>
              <a:t>host </a:t>
            </a:r>
            <a:r>
              <a:rPr lang="en-US" sz="2100" dirty="0">
                <a:solidFill>
                  <a:srgbClr val="444444"/>
                </a:solidFill>
                <a:latin typeface="Helvetica" pitchFamily="34" charset="0"/>
                <a:ea typeface="Helvetica" pitchFamily="34" charset="-122"/>
                <a:cs typeface="Helvetica" pitchFamily="34" charset="-120"/>
              </a:rPr>
              <a:t>the next World Cup.</a:t>
            </a:r>
            <a:endParaRPr lang="en-US" sz="2100" dirty="0"/>
          </a:p>
        </p:txBody>
      </p:sp>
      <p:sp>
        <p:nvSpPr>
          <p:cNvPr id="15" name="Text 13"/>
          <p:cNvSpPr/>
          <p:nvPr/>
        </p:nvSpPr>
        <p:spPr>
          <a:xfrm>
            <a:off x="1047750" y="4726305"/>
            <a:ext cx="40005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9B877"/>
                </a:solidFill>
                <a:latin typeface="Georgia" pitchFamily="34" charset="0"/>
                <a:ea typeface="Georgia" pitchFamily="34" charset="-122"/>
                <a:cs typeface="Georgia" pitchFamily="34" charset="-120"/>
              </a:rPr>
              <a:t>4</a:t>
            </a:r>
            <a:endParaRPr lang="en-US" sz="2100" dirty="0"/>
          </a:p>
        </p:txBody>
      </p:sp>
      <p:sp>
        <p:nvSpPr>
          <p:cNvPr id="16" name="Text 14"/>
          <p:cNvSpPr/>
          <p:nvPr/>
        </p:nvSpPr>
        <p:spPr>
          <a:xfrm>
            <a:off x="1581150" y="4695825"/>
            <a:ext cx="5316938"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A great event can leave a lasting </a:t>
            </a:r>
            <a:r>
              <a:rPr lang="en-US" sz="2100" b="1" dirty="0">
                <a:solidFill>
                  <a:srgbClr val="1A2A5E"/>
                </a:solidFill>
                <a:latin typeface="Helvetica" pitchFamily="34" charset="0"/>
                <a:ea typeface="Helvetica" pitchFamily="34" charset="-122"/>
                <a:cs typeface="Helvetica" pitchFamily="34" charset="-120"/>
              </a:rPr>
              <a:t>legacy</a:t>
            </a:r>
            <a:r>
              <a:rPr lang="en-US" sz="2100" dirty="0">
                <a:solidFill>
                  <a:srgbClr val="444444"/>
                </a:solidFill>
                <a:latin typeface="Helvetica" pitchFamily="34" charset="0"/>
                <a:ea typeface="Helvetica" pitchFamily="34" charset="-122"/>
                <a:cs typeface="Helvetica" pitchFamily="34" charset="-120"/>
              </a:rPr>
              <a:t>.</a:t>
            </a:r>
            <a:endParaRPr lang="en-US" sz="2100" dirty="0"/>
          </a:p>
        </p:txBody>
      </p:sp>
      <p:sp>
        <p:nvSpPr>
          <p:cNvPr id="17" name="Text 15"/>
          <p:cNvSpPr/>
          <p:nvPr/>
        </p:nvSpPr>
        <p:spPr>
          <a:xfrm>
            <a:off x="1047750" y="5295900"/>
            <a:ext cx="400050"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D9B877"/>
                </a:solidFill>
                <a:latin typeface="Georgia" pitchFamily="34" charset="0"/>
                <a:ea typeface="Georgia" pitchFamily="34" charset="-122"/>
                <a:cs typeface="Georgia" pitchFamily="34" charset="-120"/>
              </a:rPr>
              <a:t>5</a:t>
            </a:r>
            <a:endParaRPr lang="en-US" sz="2100" dirty="0"/>
          </a:p>
        </p:txBody>
      </p:sp>
      <p:sp>
        <p:nvSpPr>
          <p:cNvPr id="18" name="Text 16"/>
          <p:cNvSpPr/>
          <p:nvPr/>
        </p:nvSpPr>
        <p:spPr>
          <a:xfrm>
            <a:off x="1581150" y="5265420"/>
            <a:ext cx="7403532" cy="398145"/>
          </a:xfrm>
          <a:prstGeom prst="rect">
            <a:avLst/>
          </a:prstGeom>
          <a:noFill/>
          <a:ln/>
        </p:spPr>
        <p:txBody>
          <a:bodyPr wrap="square" lIns="25400" tIns="25400" rIns="25400" bIns="25400" rtlCol="0" anchor="t">
            <a:normAutofit lnSpcReduction="10000"/>
          </a:bodyPr>
          <a:lstStyle/>
          <a:p>
            <a:pPr marL="0" indent="0" algn="l">
              <a:lnSpc>
                <a:spcPct val="118125"/>
              </a:lnSpc>
              <a:buNone/>
            </a:pPr>
            <a:r>
              <a:rPr lang="en-US" sz="2100" dirty="0">
                <a:solidFill>
                  <a:srgbClr val="444444"/>
                </a:solidFill>
                <a:latin typeface="Helvetica" pitchFamily="34" charset="0"/>
                <a:ea typeface="Helvetica" pitchFamily="34" charset="-122"/>
                <a:cs typeface="Helvetica" pitchFamily="34" charset="-120"/>
              </a:rPr>
              <a:t>A knockout </a:t>
            </a:r>
            <a:r>
              <a:rPr lang="en-US" sz="2100" b="1" dirty="0">
                <a:solidFill>
                  <a:srgbClr val="1A2A5E"/>
                </a:solidFill>
                <a:latin typeface="Helvetica" pitchFamily="34" charset="0"/>
                <a:ea typeface="Helvetica" pitchFamily="34" charset="-122"/>
                <a:cs typeface="Helvetica" pitchFamily="34" charset="-120"/>
              </a:rPr>
              <a:t>tournament </a:t>
            </a:r>
            <a:r>
              <a:rPr lang="en-US" sz="2100" dirty="0">
                <a:solidFill>
                  <a:srgbClr val="444444"/>
                </a:solidFill>
                <a:latin typeface="Helvetica" pitchFamily="34" charset="0"/>
                <a:ea typeface="Helvetica" pitchFamily="34" charset="-122"/>
                <a:cs typeface="Helvetica" pitchFamily="34" charset="-120"/>
              </a:rPr>
              <a:t>can be decided by a single goal.</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50495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5067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40230"/>
            <a:ext cx="17811750" cy="579120"/>
          </a:xfrm>
          <a:prstGeom prst="rect">
            <a:avLst/>
          </a:prstGeom>
          <a:noFill/>
          <a:ln/>
        </p:spPr>
        <p:txBody>
          <a:bodyPr wrap="square" lIns="25400" tIns="25400" rIns="25400" bIns="25400" rtlCol="0" anchor="t">
            <a:normAutofit lnSpcReduction="10000"/>
          </a:bodyPr>
          <a:lstStyle/>
          <a:p>
            <a:pPr marL="0" indent="0" algn="l">
              <a:buNone/>
            </a:pPr>
            <a:r>
              <a:rPr lang="en-US" sz="3750" b="1" dirty="0">
                <a:solidFill>
                  <a:srgbClr val="1A2A5E"/>
                </a:solidFill>
                <a:latin typeface="Georgia" pitchFamily="34" charset="0"/>
                <a:ea typeface="Georgia" pitchFamily="34" charset="-122"/>
                <a:cs typeface="Georgia" pitchFamily="34" charset="-120"/>
              </a:rPr>
              <a:t>Bid to host the World Cup</a:t>
            </a:r>
            <a:endParaRPr lang="en-US" sz="3750" dirty="0"/>
          </a:p>
        </p:txBody>
      </p:sp>
      <p:sp>
        <p:nvSpPr>
          <p:cNvPr id="8" name="Shape 6"/>
          <p:cNvSpPr/>
          <p:nvPr/>
        </p:nvSpPr>
        <p:spPr>
          <a:xfrm>
            <a:off x="1047750" y="2819400"/>
            <a:ext cx="14859000" cy="9525"/>
          </a:xfrm>
          <a:prstGeom prst="rect">
            <a:avLst/>
          </a:prstGeom>
          <a:solidFill>
            <a:srgbClr val="D8D6D0"/>
          </a:solidFill>
          <a:ln/>
        </p:spPr>
        <p:txBody>
          <a:bodyPr/>
          <a:lstStyle/>
          <a:p>
            <a:endParaRPr lang="en-US"/>
          </a:p>
        </p:txBody>
      </p:sp>
      <p:sp>
        <p:nvSpPr>
          <p:cNvPr id="9" name="Text 7"/>
          <p:cNvSpPr/>
          <p:nvPr/>
        </p:nvSpPr>
        <p:spPr>
          <a:xfrm>
            <a:off x="1047750" y="309372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05562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are on your city’s committee bidding to host the World Cup.</a:t>
            </a:r>
            <a:endParaRPr lang="en-US" sz="2250" dirty="0"/>
          </a:p>
        </p:txBody>
      </p:sp>
      <p:sp>
        <p:nvSpPr>
          <p:cNvPr id="11" name="Shape 9"/>
          <p:cNvSpPr/>
          <p:nvPr/>
        </p:nvSpPr>
        <p:spPr>
          <a:xfrm>
            <a:off x="1047750" y="3689033"/>
            <a:ext cx="14859000" cy="9525"/>
          </a:xfrm>
          <a:prstGeom prst="rect">
            <a:avLst/>
          </a:prstGeom>
          <a:solidFill>
            <a:srgbClr val="D8D6D0"/>
          </a:solidFill>
          <a:ln/>
        </p:spPr>
        <p:txBody>
          <a:bodyPr/>
          <a:lstStyle/>
          <a:p>
            <a:endParaRPr lang="en-US"/>
          </a:p>
        </p:txBody>
      </p:sp>
      <p:sp>
        <p:nvSpPr>
          <p:cNvPr id="12" name="Text 10"/>
          <p:cNvSpPr/>
          <p:nvPr/>
        </p:nvSpPr>
        <p:spPr>
          <a:xfrm>
            <a:off x="1047750" y="396335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392525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reasons your city would be a great host.</a:t>
            </a:r>
            <a:endParaRPr lang="en-US" sz="2250" dirty="0"/>
          </a:p>
        </p:txBody>
      </p:sp>
      <p:sp>
        <p:nvSpPr>
          <p:cNvPr id="14" name="Shape 12"/>
          <p:cNvSpPr/>
          <p:nvPr/>
        </p:nvSpPr>
        <p:spPr>
          <a:xfrm>
            <a:off x="1047750" y="5409248"/>
            <a:ext cx="14859000" cy="9525"/>
          </a:xfrm>
          <a:prstGeom prst="rect">
            <a:avLst/>
          </a:prstGeom>
          <a:solidFill>
            <a:srgbClr val="D8D6D0"/>
          </a:solidFill>
          <a:ln/>
        </p:spPr>
        <p:txBody>
          <a:bodyPr/>
          <a:lstStyle/>
          <a:p>
            <a:endParaRPr lang="en-US"/>
          </a:p>
        </p:txBody>
      </p:sp>
      <p:sp>
        <p:nvSpPr>
          <p:cNvPr id="15" name="Shape 13"/>
          <p:cNvSpPr/>
          <p:nvPr/>
        </p:nvSpPr>
        <p:spPr>
          <a:xfrm>
            <a:off x="1047750" y="4558665"/>
            <a:ext cx="14859000" cy="9525"/>
          </a:xfrm>
          <a:prstGeom prst="rect">
            <a:avLst/>
          </a:prstGeom>
          <a:solidFill>
            <a:srgbClr val="D8D6D0"/>
          </a:solidFill>
          <a:ln/>
        </p:spPr>
        <p:txBody>
          <a:bodyPr/>
          <a:lstStyle/>
          <a:p>
            <a:endParaRPr lang="en-US"/>
          </a:p>
        </p:txBody>
      </p:sp>
      <p:sp>
        <p:nvSpPr>
          <p:cNvPr id="16" name="Text 14"/>
          <p:cNvSpPr/>
          <p:nvPr/>
        </p:nvSpPr>
        <p:spPr>
          <a:xfrm>
            <a:off x="1047750" y="483298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79488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Present your bid and explain why your city deserves it.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lnSpcReduction="10000"/>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319528" y="701040"/>
            <a:ext cx="3212795"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005 · THE WORLD CUP</a:t>
            </a:r>
            <a:endParaRPr lang="en-US" sz="1200" dirty="0"/>
          </a:p>
        </p:txBody>
      </p:sp>
      <p:sp>
        <p:nvSpPr>
          <p:cNvPr id="5" name="Text 3"/>
          <p:cNvSpPr/>
          <p:nvPr/>
        </p:nvSpPr>
        <p:spPr>
          <a:xfrm>
            <a:off x="1047750" y="169545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4503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Georgia" pitchFamily="34" charset="0"/>
                <a:ea typeface="Georgia" pitchFamily="34" charset="-122"/>
                <a:cs typeface="Georgia" pitchFamily="34" charset="-120"/>
              </a:rPr>
              <a:t>Should countries spend billions of dollars to host the World Cup?</a:t>
            </a:r>
            <a:endParaRPr lang="en-US" sz="5550" dirty="0"/>
          </a:p>
        </p:txBody>
      </p:sp>
      <p:sp>
        <p:nvSpPr>
          <p:cNvPr id="7" name="Text 5"/>
          <p:cNvSpPr/>
          <p:nvPr/>
        </p:nvSpPr>
        <p:spPr>
          <a:xfrm>
            <a:off x="1047750" y="407670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4979670"/>
            <a:ext cx="2476500" cy="22860"/>
          </a:xfrm>
          <a:prstGeom prst="rect">
            <a:avLst/>
          </a:prstGeom>
          <a:solidFill>
            <a:srgbClr val="D9B877"/>
          </a:solidFill>
          <a:ln/>
        </p:spPr>
        <p:txBody>
          <a:bodyPr/>
          <a:lstStyle/>
          <a:p>
            <a:endParaRPr lang="en-US"/>
          </a:p>
        </p:txBody>
      </p:sp>
      <p:sp>
        <p:nvSpPr>
          <p:cNvPr id="9" name="Text 7"/>
          <p:cNvSpPr/>
          <p:nvPr/>
        </p:nvSpPr>
        <p:spPr>
          <a:xfrm>
            <a:off x="1047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4979670"/>
            <a:ext cx="2476500" cy="22860"/>
          </a:xfrm>
          <a:prstGeom prst="rect">
            <a:avLst/>
          </a:prstGeom>
          <a:solidFill>
            <a:srgbClr val="D9B877"/>
          </a:solidFill>
          <a:ln/>
        </p:spPr>
        <p:txBody>
          <a:bodyPr/>
          <a:lstStyle/>
          <a:p>
            <a:endParaRPr lang="en-US"/>
          </a:p>
        </p:txBody>
      </p:sp>
      <p:sp>
        <p:nvSpPr>
          <p:cNvPr id="11" name="Text 9"/>
          <p:cNvSpPr/>
          <p:nvPr/>
        </p:nvSpPr>
        <p:spPr>
          <a:xfrm>
            <a:off x="39052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4979670"/>
            <a:ext cx="2476500" cy="22860"/>
          </a:xfrm>
          <a:prstGeom prst="rect">
            <a:avLst/>
          </a:prstGeom>
          <a:solidFill>
            <a:srgbClr val="D9B877"/>
          </a:solidFill>
          <a:ln/>
        </p:spPr>
        <p:txBody>
          <a:bodyPr/>
          <a:lstStyle/>
          <a:p>
            <a:endParaRPr lang="en-US"/>
          </a:p>
        </p:txBody>
      </p:sp>
      <p:sp>
        <p:nvSpPr>
          <p:cNvPr id="13" name="Text 11"/>
          <p:cNvSpPr/>
          <p:nvPr/>
        </p:nvSpPr>
        <p:spPr>
          <a:xfrm>
            <a:off x="6762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lnSpcReduction="10000"/>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238250" y="37699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043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Georgia" pitchFamily="34" charset="0"/>
                <a:ea typeface="Georgia" pitchFamily="34" charset="-122"/>
                <a:cs typeface="Georgia" pitchFamily="34" charset="-120"/>
              </a:rPr>
              <a:t>One fact. One perspective. Endless discussion.</a:t>
            </a:r>
            <a:endParaRPr lang="en-US" sz="7200" dirty="0"/>
          </a:p>
        </p:txBody>
      </p:sp>
      <p:sp>
        <p:nvSpPr>
          <p:cNvPr id="5" name="Text 3"/>
          <p:cNvSpPr/>
          <p:nvPr/>
        </p:nvSpPr>
        <p:spPr>
          <a:xfrm>
            <a:off x="1238250" y="64103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1905</Words>
  <Application>Microsoft Office PowerPoint</Application>
  <PresentationFormat>Custom</PresentationFormat>
  <Paragraphs>255</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5</cp:revision>
  <dcterms:created xsi:type="dcterms:W3CDTF">2026-07-06T03:20:11Z</dcterms:created>
  <dcterms:modified xsi:type="dcterms:W3CDTF">2026-07-17T04:19:11Z</dcterms:modified>
</cp:coreProperties>
</file>