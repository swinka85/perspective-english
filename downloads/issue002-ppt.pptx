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73"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53" d="100"/>
          <a:sy n="53" d="100"/>
        </p:scale>
        <p:origin x="8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585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002 of Perspective — today's topic is AI in Education.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how is AI changing education, what are the benefits, and what are the risks? Point out the balanced view — AI is a tool, not simply good or bad. End on the pull-quote about what education is really for.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1 and 4 are False: AI can adapt to each student's level, and not every school has banned it — some build their own tools.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task. Groups of three or four. Read all eight rows aloud first, then insist that anything marked GRAY comes with a stated condition. Give about ten minutes and run the YOUR RULE line plus both DISCUSS questions — the translate row and the outline row are where the argument lives.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act as teachers writing their school's AI rules. Give ~8 minutes to agree on three rules, then each group presents and explains how the rules keep learning fair.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003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002</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AI in Education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Can a machine help us learn?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348264"/>
            <a:ext cx="13326524" cy="1066800"/>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Have you ever used an app or a website to help you learn something? Did it help?</a:t>
            </a:r>
            <a:endParaRPr lang="en-US" sz="3000" dirty="0"/>
          </a:p>
        </p:txBody>
      </p:sp>
      <p:sp>
        <p:nvSpPr>
          <p:cNvPr id="9" name="Text 7"/>
          <p:cNvSpPr/>
          <p:nvPr/>
        </p:nvSpPr>
        <p:spPr>
          <a:xfrm>
            <a:off x="1047750" y="4292056"/>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292056"/>
            <a:ext cx="9482006"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In your opinion, what makes a really good teacher?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“AI in Education.”</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A student studies with the help of an AI assistant on a laptop.</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889159"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adapt</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204953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personalized</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69643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accessible</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61853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rely</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32265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integrity</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87992"/>
            <a:ext cx="4717887"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designed to suit one particular person</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539150"/>
            <a:ext cx="4608135"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depend on someone or something</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75271"/>
            <a:ext cx="330290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quality of being honest</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622006"/>
            <a:ext cx="4245876"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change so it fits a new situation</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44054" y="5165022"/>
            <a:ext cx="319223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easy to reach, get, or use</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857500"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1–D </a:t>
            </a:r>
            <a:r>
              <a:rPr lang="en-US" sz="2250" b="1" dirty="0">
                <a:solidFill>
                  <a:srgbClr val="1A2A5E"/>
                </a:solidFill>
                <a:latin typeface="Helvetica" pitchFamily="34" charset="0"/>
                <a:ea typeface="Helvetica" pitchFamily="34" charset="-122"/>
                <a:cs typeface="Helvetica" pitchFamily="34" charset="-120"/>
              </a:rPr>
              <a:t>adapt</a:t>
            </a:r>
            <a:endParaRPr lang="en-US" sz="1200" dirty="0"/>
          </a:p>
        </p:txBody>
      </p:sp>
      <p:sp>
        <p:nvSpPr>
          <p:cNvPr id="11" name="Shape 9"/>
          <p:cNvSpPr/>
          <p:nvPr/>
        </p:nvSpPr>
        <p:spPr>
          <a:xfrm>
            <a:off x="4152900" y="3436620"/>
            <a:ext cx="3285530" cy="960120"/>
          </a:xfrm>
          <a:prstGeom prst="rect">
            <a:avLst/>
          </a:prstGeom>
          <a:ln w="15240">
            <a:solidFill>
              <a:srgbClr val="1A2A5E"/>
            </a:solidFill>
            <a:prstDash val="solid"/>
          </a:ln>
        </p:spPr>
        <p:txBody>
          <a:bodyPr/>
          <a:lstStyle/>
          <a:p>
            <a:endParaRPr lang="en-US"/>
          </a:p>
        </p:txBody>
      </p:sp>
      <p:sp>
        <p:nvSpPr>
          <p:cNvPr id="12" name="Text 10"/>
          <p:cNvSpPr/>
          <p:nvPr/>
        </p:nvSpPr>
        <p:spPr>
          <a:xfrm>
            <a:off x="4491990" y="3661410"/>
            <a:ext cx="2705916"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2–A </a:t>
            </a:r>
            <a:r>
              <a:rPr lang="en-US" sz="2250" b="1" dirty="0">
                <a:solidFill>
                  <a:srgbClr val="1A2A5E"/>
                </a:solidFill>
                <a:latin typeface="Helvetica" pitchFamily="34" charset="0"/>
                <a:ea typeface="Helvetica" pitchFamily="34" charset="-122"/>
                <a:cs typeface="Helvetica" pitchFamily="34" charset="-120"/>
              </a:rPr>
              <a:t>personalized</a:t>
            </a:r>
            <a:endParaRPr lang="en-US" sz="1200" dirty="0"/>
          </a:p>
        </p:txBody>
      </p:sp>
      <p:sp>
        <p:nvSpPr>
          <p:cNvPr id="13" name="Shape 11"/>
          <p:cNvSpPr/>
          <p:nvPr/>
        </p:nvSpPr>
        <p:spPr>
          <a:xfrm>
            <a:off x="7686080" y="3436620"/>
            <a:ext cx="2960489" cy="960120"/>
          </a:xfrm>
          <a:prstGeom prst="rect">
            <a:avLst/>
          </a:prstGeom>
          <a:ln w="15240">
            <a:solidFill>
              <a:srgbClr val="1A2A5E"/>
            </a:solidFill>
            <a:prstDash val="solid"/>
          </a:ln>
        </p:spPr>
        <p:txBody>
          <a:bodyPr/>
          <a:lstStyle/>
          <a:p>
            <a:endParaRPr lang="en-US"/>
          </a:p>
        </p:txBody>
      </p:sp>
      <p:sp>
        <p:nvSpPr>
          <p:cNvPr id="14" name="Text 12"/>
          <p:cNvSpPr/>
          <p:nvPr/>
        </p:nvSpPr>
        <p:spPr>
          <a:xfrm>
            <a:off x="8025170" y="3661410"/>
            <a:ext cx="2371124"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3–E </a:t>
            </a:r>
            <a:r>
              <a:rPr lang="en-US" sz="2250" b="1" dirty="0">
                <a:solidFill>
                  <a:srgbClr val="1A2A5E"/>
                </a:solidFill>
                <a:latin typeface="Helvetica" pitchFamily="34" charset="0"/>
                <a:ea typeface="Helvetica" pitchFamily="34" charset="-122"/>
                <a:cs typeface="Helvetica" pitchFamily="34" charset="-120"/>
              </a:rPr>
              <a:t>accessible</a:t>
            </a:r>
            <a:endParaRPr lang="en-US" sz="1200" dirty="0"/>
          </a:p>
        </p:txBody>
      </p:sp>
      <p:sp>
        <p:nvSpPr>
          <p:cNvPr id="15" name="Shape 13"/>
          <p:cNvSpPr/>
          <p:nvPr/>
        </p:nvSpPr>
        <p:spPr>
          <a:xfrm>
            <a:off x="10894219" y="3436620"/>
            <a:ext cx="2857500" cy="960120"/>
          </a:xfrm>
          <a:prstGeom prst="rect">
            <a:avLst/>
          </a:prstGeom>
          <a:ln w="15240">
            <a:solidFill>
              <a:srgbClr val="1A2A5E"/>
            </a:solidFill>
            <a:prstDash val="solid"/>
          </a:ln>
        </p:spPr>
        <p:txBody>
          <a:bodyPr/>
          <a:lstStyle/>
          <a:p>
            <a:endParaRPr lang="en-US"/>
          </a:p>
        </p:txBody>
      </p:sp>
      <p:sp>
        <p:nvSpPr>
          <p:cNvPr id="16" name="Text 14"/>
          <p:cNvSpPr/>
          <p:nvPr/>
        </p:nvSpPr>
        <p:spPr>
          <a:xfrm>
            <a:off x="11233309"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4–B </a:t>
            </a:r>
            <a:r>
              <a:rPr lang="en-US" sz="2250" b="1" dirty="0">
                <a:solidFill>
                  <a:srgbClr val="1A2A5E"/>
                </a:solidFill>
                <a:latin typeface="Helvetica" pitchFamily="34" charset="0"/>
                <a:ea typeface="Helvetica" pitchFamily="34" charset="-122"/>
                <a:cs typeface="Helvetica" pitchFamily="34" charset="-120"/>
              </a:rPr>
              <a:t>rely</a:t>
            </a:r>
            <a:endParaRPr lang="en-US" sz="1200" dirty="0"/>
          </a:p>
        </p:txBody>
      </p:sp>
      <p:sp>
        <p:nvSpPr>
          <p:cNvPr id="17" name="Shape 15"/>
          <p:cNvSpPr/>
          <p:nvPr/>
        </p:nvSpPr>
        <p:spPr>
          <a:xfrm>
            <a:off x="13999369"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4338459"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5–C </a:t>
            </a:r>
            <a:r>
              <a:rPr lang="en-US" sz="2250" b="1" dirty="0">
                <a:solidFill>
                  <a:srgbClr val="1A2A5E"/>
                </a:solidFill>
                <a:latin typeface="Helvetica" pitchFamily="34" charset="0"/>
                <a:ea typeface="Helvetica" pitchFamily="34" charset="-122"/>
                <a:cs typeface="Helvetica" pitchFamily="34" charset="-120"/>
              </a:rPr>
              <a:t>integrity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62865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AI in Education</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Can a machine help us learn?</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Artificial intelligence promises a private tutor for everyone — but at what cost?</a:t>
            </a:r>
            <a:endParaRPr lang="en-US" sz="1650" dirty="0"/>
          </a:p>
        </p:txBody>
      </p:sp>
      <p:sp>
        <p:nvSpPr>
          <p:cNvPr id="10" name="Text 8"/>
          <p:cNvSpPr/>
          <p:nvPr/>
        </p:nvSpPr>
        <p:spPr>
          <a:xfrm>
            <a:off x="1047750" y="3272790"/>
            <a:ext cx="8074247" cy="1588294"/>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Imagine a classroom where every student has a private tutor, available at any hour, ready to explain a difficult idea in a dozen different ways. For a growing number of learners, this is no longer science fiction. Artificial intelligence has entered education, and it is changing how people study, write, and even think. Some teachers welcome it; others worry about what might be lost.</a:t>
            </a:r>
            <a:endParaRPr lang="en-US" sz="1650" dirty="0"/>
          </a:p>
        </p:txBody>
      </p:sp>
      <p:sp>
        <p:nvSpPr>
          <p:cNvPr id="11" name="Text 9"/>
          <p:cNvSpPr/>
          <p:nvPr/>
        </p:nvSpPr>
        <p:spPr>
          <a:xfrm>
            <a:off x="1047750" y="5422992"/>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Supporters point to one powerful idea: </a:t>
            </a:r>
            <a:r>
              <a:rPr lang="en-US" sz="1650" b="1" dirty="0">
                <a:solidFill>
                  <a:srgbClr val="1A2A5E"/>
                </a:solidFill>
                <a:latin typeface="Helvetica" pitchFamily="34" charset="0"/>
                <a:ea typeface="Helvetica" pitchFamily="34" charset="-122"/>
                <a:cs typeface="Helvetica" pitchFamily="34" charset="-120"/>
              </a:rPr>
              <a:t>personalized </a:t>
            </a:r>
            <a:r>
              <a:rPr lang="en-US" sz="1650" dirty="0">
                <a:solidFill>
                  <a:srgbClr val="222222"/>
                </a:solidFill>
                <a:latin typeface="Helvetica" pitchFamily="34" charset="0"/>
                <a:ea typeface="Helvetica" pitchFamily="34" charset="-122"/>
                <a:cs typeface="Helvetica" pitchFamily="34" charset="-120"/>
              </a:rPr>
              <a:t>learning. AI tools can </a:t>
            </a:r>
            <a:r>
              <a:rPr lang="en-US" sz="1650" b="1" dirty="0">
                <a:solidFill>
                  <a:srgbClr val="1A2A5E"/>
                </a:solidFill>
                <a:latin typeface="Helvetica" pitchFamily="34" charset="0"/>
                <a:ea typeface="Helvetica" pitchFamily="34" charset="-122"/>
                <a:cs typeface="Helvetica" pitchFamily="34" charset="-120"/>
              </a:rPr>
              <a:t>adapt </a:t>
            </a:r>
            <a:r>
              <a:rPr lang="en-US" sz="1650" dirty="0">
                <a:solidFill>
                  <a:srgbClr val="222222"/>
                </a:solidFill>
                <a:latin typeface="Helvetica" pitchFamily="34" charset="0"/>
                <a:ea typeface="Helvetica" pitchFamily="34" charset="-122"/>
                <a:cs typeface="Helvetica" pitchFamily="34" charset="-120"/>
              </a:rPr>
              <a:t>to each student, offering harder questions to those who race ahead and gentle review to those who struggle. They are also </a:t>
            </a:r>
            <a:r>
              <a:rPr lang="en-US" sz="1650" b="1" dirty="0">
                <a:solidFill>
                  <a:srgbClr val="1A2A5E"/>
                </a:solidFill>
                <a:latin typeface="Helvetica" pitchFamily="34" charset="0"/>
                <a:ea typeface="Helvetica" pitchFamily="34" charset="-122"/>
                <a:cs typeface="Helvetica" pitchFamily="34" charset="-120"/>
              </a:rPr>
              <a:t>accessible </a:t>
            </a:r>
            <a:r>
              <a:rPr lang="en-US" sz="1650" dirty="0">
                <a:solidFill>
                  <a:srgbClr val="222222"/>
                </a:solidFill>
                <a:latin typeface="Helvetica" pitchFamily="34" charset="0"/>
                <a:ea typeface="Helvetica" pitchFamily="34" charset="-122"/>
                <a:cs typeface="Helvetica" pitchFamily="34" charset="-120"/>
              </a:rPr>
              <a:t>— available day and night to anyone with a phone.</a:t>
            </a:r>
            <a:endParaRPr lang="en-US" sz="1650" dirty="0"/>
          </a:p>
        </p:txBody>
      </p:sp>
      <p:sp>
        <p:nvSpPr>
          <p:cNvPr id="12" name="Text 10"/>
          <p:cNvSpPr/>
          <p:nvPr/>
        </p:nvSpPr>
        <p:spPr>
          <a:xfrm>
            <a:off x="9401175" y="3272790"/>
            <a:ext cx="8074247" cy="968216"/>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shift is already underway. In many countries, most university students have used AI for their work. Some schools have built their own tutoring systems; others have banned it entirely. Many teachers now spend less time on routine marking.</a:t>
            </a:r>
            <a:endParaRPr lang="en-US" sz="1650" dirty="0"/>
          </a:p>
        </p:txBody>
      </p:sp>
      <p:sp>
        <p:nvSpPr>
          <p:cNvPr id="13" name="Text 11"/>
          <p:cNvSpPr/>
          <p:nvPr/>
        </p:nvSpPr>
        <p:spPr>
          <a:xfrm>
            <a:off x="9401715" y="4861084"/>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Yet there is a cost. When students </a:t>
            </a:r>
            <a:r>
              <a:rPr lang="en-US" sz="1650" b="1" dirty="0">
                <a:solidFill>
                  <a:srgbClr val="1A2A5E"/>
                </a:solidFill>
                <a:latin typeface="Helvetica" pitchFamily="34" charset="0"/>
                <a:ea typeface="Helvetica" pitchFamily="34" charset="-122"/>
                <a:cs typeface="Helvetica" pitchFamily="34" charset="-120"/>
              </a:rPr>
              <a:t>rely </a:t>
            </a:r>
            <a:r>
              <a:rPr lang="en-US" sz="1650" dirty="0">
                <a:solidFill>
                  <a:srgbClr val="222222"/>
                </a:solidFill>
                <a:latin typeface="Helvetica" pitchFamily="34" charset="0"/>
                <a:ea typeface="Helvetica" pitchFamily="34" charset="-122"/>
                <a:cs typeface="Helvetica" pitchFamily="34" charset="-120"/>
              </a:rPr>
              <a:t>too heavily on machines, they may stop building skills of their own. Educators also worry about </a:t>
            </a:r>
            <a:r>
              <a:rPr lang="en-US" sz="1650" b="1" dirty="0">
                <a:solidFill>
                  <a:srgbClr val="1A2A5E"/>
                </a:solidFill>
                <a:latin typeface="Helvetica" pitchFamily="34" charset="0"/>
                <a:ea typeface="Helvetica" pitchFamily="34" charset="-122"/>
                <a:cs typeface="Helvetica" pitchFamily="34" charset="-120"/>
              </a:rPr>
              <a:t>integrity </a:t>
            </a:r>
            <a:r>
              <a:rPr lang="en-US" sz="1650" dirty="0">
                <a:solidFill>
                  <a:srgbClr val="222222"/>
                </a:solidFill>
                <a:latin typeface="Helvetica" pitchFamily="34" charset="0"/>
                <a:ea typeface="Helvetica" pitchFamily="34" charset="-122"/>
                <a:cs typeface="Helvetica" pitchFamily="34" charset="-120"/>
              </a:rPr>
              <a:t>: if a machine writes the essay, what has the student learned? Others argue that AI is just a new tool that schools should teach students to use wisely.</a:t>
            </a:r>
            <a:endParaRPr lang="en-US" sz="1650" dirty="0"/>
          </a:p>
        </p:txBody>
      </p:sp>
      <p:sp>
        <p:nvSpPr>
          <p:cNvPr id="14" name="Shape 12"/>
          <p:cNvSpPr/>
          <p:nvPr/>
        </p:nvSpPr>
        <p:spPr>
          <a:xfrm>
            <a:off x="1047750" y="7610475"/>
            <a:ext cx="45720" cy="842010"/>
          </a:xfrm>
          <a:prstGeom prst="rect">
            <a:avLst/>
          </a:prstGeom>
          <a:solidFill>
            <a:srgbClr val="D9B877"/>
          </a:solidFill>
          <a:ln/>
        </p:spPr>
        <p:txBody>
          <a:bodyPr/>
          <a:lstStyle/>
          <a:p>
            <a:endParaRPr lang="en-US"/>
          </a:p>
        </p:txBody>
      </p:sp>
      <p:sp>
        <p:nvSpPr>
          <p:cNvPr id="15" name="Text 13"/>
          <p:cNvSpPr/>
          <p:nvPr/>
        </p:nvSpPr>
        <p:spPr>
          <a:xfrm>
            <a:off x="1360169" y="7610475"/>
            <a:ext cx="14112059" cy="88011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Maybe the real question is not whether AI belongs in education, but what we want education to be for.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2-audio">
            <a:hlinkClick r:id="" action="ppaction://media"/>
            <a:extLst>
              <a:ext uri="{FF2B5EF4-FFF2-40B4-BE49-F238E27FC236}">
                <a16:creationId xmlns:a16="http://schemas.microsoft.com/office/drawing/2014/main" id="{861A9A5C-6A3B-7166-86AB-86461905AE3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588250" y="1602422"/>
            <a:ext cx="487363"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AI is used only by school-age children.</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AI tools can change the level of difficulty for different students.</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In many countries, most university students have used AI for work.</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school has banned AI from the classroom.</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teachers now spend less time on routine marking.</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229993" y="70104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AI is used only by school-age children. </a:t>
            </a:r>
            <a:r>
              <a:rPr lang="en-US" sz="1950" i="1" dirty="0">
                <a:solidFill>
                  <a:srgbClr val="888888"/>
                </a:solidFill>
                <a:latin typeface="Helvetica" pitchFamily="34" charset="0"/>
                <a:ea typeface="Helvetica" pitchFamily="34" charset="-122"/>
                <a:cs typeface="Helvetica" pitchFamily="34" charset="-120"/>
              </a:rPr>
              <a:t>— universities too.</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AI tools can change the level of difficulty for different students.</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In many countries, most university students have used AI for work.</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school has banned AI. </a:t>
            </a:r>
            <a:r>
              <a:rPr lang="en-US" sz="1950" i="1" dirty="0">
                <a:solidFill>
                  <a:srgbClr val="888888"/>
                </a:solidFill>
                <a:latin typeface="Helvetica" pitchFamily="34" charset="0"/>
                <a:ea typeface="Helvetica" pitchFamily="34" charset="-122"/>
                <a:cs typeface="Helvetica" pitchFamily="34" charset="-120"/>
              </a:rPr>
              <a:t>— some build their own; some ban it.</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teachers now spend less time on routine marking.</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Have you ever used AI to help you study or write? How did it go?</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Would you like to have a personal AI tutor? Why or why not?</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can a human teacher do that a machine cannot?</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Should students be allowed to use AI for homework? Where is the line?</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What do you think education should really be for?</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1" i="0" u="none" strike="noStrike" kern="0" cap="none" spc="38" normalizeH="0" baseline="0" noProof="0" dirty="0">
                <a:ln>
                  <a:noFill/>
                </a:ln>
                <a:solidFill>
                  <a:srgbClr val="1A2A5E"/>
                </a:solidFill>
                <a:effectLst/>
                <a:uLnTx/>
                <a:uFillTx/>
                <a:latin typeface="Georgia" pitchFamily="34" charset="0"/>
                <a:ea typeface="Georgia" pitchFamily="34" charset="-122"/>
                <a:cs typeface="Georgia" pitchFamily="34" charset="-120"/>
              </a:rPr>
              <a:t>PERSPECTIVE</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4229993" y="605790"/>
            <a:ext cx="3311283" cy="25146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1A2A5E"/>
                </a:solidFill>
                <a:effectLst/>
                <a:uLnTx/>
                <a:uFillTx/>
                <a:latin typeface="Helvetica" pitchFamily="34" charset="0"/>
                <a:ea typeface="Helvetica" pitchFamily="34" charset="-122"/>
                <a:cs typeface="Helvetica" pitchFamily="34" charset="-120"/>
              </a:rPr>
              <a:t>ISSUE 002 · AI IN EDUCATION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47750" y="1238250"/>
            <a:ext cx="2757547" cy="25908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300" normalizeH="0" baseline="0" noProof="0" dirty="0">
                <a:ln>
                  <a:noFill/>
                </a:ln>
                <a:solidFill>
                  <a:srgbClr val="BF842C"/>
                </a:solidFill>
                <a:effectLst/>
                <a:uLnTx/>
                <a:uFillTx/>
                <a:latin typeface="Helvetica" pitchFamily="34" charset="0"/>
                <a:ea typeface="Helvetica" pitchFamily="34" charset="-122"/>
                <a:cs typeface="Helvetica" pitchFamily="34" charset="-120"/>
              </a:rPr>
              <a:t>CRITICAL THINKING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3764161" y="1247775"/>
            <a:ext cx="2242542" cy="240030"/>
          </a:xfrm>
          <a:prstGeom prst="rect">
            <a:avLst/>
          </a:prstGeom>
          <a:ln w="7620">
            <a:solidFill>
              <a:srgbClr val="D9B87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886081" y="1283970"/>
            <a:ext cx="2074902" cy="20574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0" cap="none" spc="225" normalizeH="0" baseline="0" noProof="0" dirty="0">
                <a:ln>
                  <a:noFill/>
                </a:ln>
                <a:solidFill>
                  <a:srgbClr val="BF842C"/>
                </a:solidFill>
                <a:effectLst/>
                <a:uLnTx/>
                <a:uFillTx/>
                <a:latin typeface="Helvetica" pitchFamily="34" charset="0"/>
                <a:ea typeface="Helvetica" pitchFamily="34" charset="-122"/>
                <a:cs typeface="Helvetica" pitchFamily="34" charset="-120"/>
              </a:rPr>
              <a:t>WHERE IS THE LINE?</a:t>
            </a:r>
            <a:endParaRPr kumimoji="0" lang="en-US" sz="11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7750" y="1564005"/>
            <a:ext cx="17811750" cy="5105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A2A5E"/>
                </a:solidFill>
                <a:effectLst/>
                <a:uLnTx/>
                <a:uFillTx/>
                <a:latin typeface="Georgia" pitchFamily="34" charset="0"/>
                <a:ea typeface="Georgia" pitchFamily="34" charset="-122"/>
                <a:cs typeface="Georgia" pitchFamily="34" charset="-120"/>
              </a:rPr>
              <a:t>Eight ways students use AI for homework. Which of them is cheating?</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47750" y="2112645"/>
            <a:ext cx="17811750" cy="2819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Mark each one </a:t>
            </a: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FINE</a:t>
            </a: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 </a:t>
            </a: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GRAY </a:t>
            </a: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or </a:t>
            </a: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CHEATING</a:t>
            </a: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 If you choose GRAY, your group must say what it depends on. You have to agree.</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047750" y="2527935"/>
            <a:ext cx="7810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047750" y="2619375"/>
            <a:ext cx="5297805" cy="22098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8A8A8A"/>
                </a:solidFill>
                <a:effectLst/>
                <a:uLnTx/>
                <a:uFillTx/>
                <a:latin typeface="Helvetica" pitchFamily="34" charset="0"/>
                <a:ea typeface="Helvetica" pitchFamily="34" charset="-122"/>
                <a:cs typeface="Helvetica" pitchFamily="34" charset="-120"/>
              </a:rPr>
              <a:t>WHAT THE STUDENT DOES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153150" y="2619375"/>
            <a:ext cx="9334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FINE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7010400" y="2619375"/>
            <a:ext cx="9334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GRAY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867650" y="2619375"/>
            <a:ext cx="102870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CHEAT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047750" y="287845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047750" y="299085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Fixes the grammar in an essay they wrote themselves.</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191250" y="287845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153150" y="299085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7048500" y="287845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7010400" y="299085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905750" y="287845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867650" y="299085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047750" y="337756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1047750" y="348996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Asks AI to explain a concept the teacher rushed through.</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191250" y="337756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153150" y="348996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048500" y="337756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7010400" y="348996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7905750" y="337756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7867650" y="348996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1047750" y="387667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1047750" y="398907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Has AI generate practice questions before a test.</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6191250" y="387667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6153150" y="398907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7048500" y="387667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7010400" y="398907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7905750" y="387667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7867650" y="398907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1047750" y="4874895"/>
            <a:ext cx="5143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1047750" y="437578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1047750" y="448818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Writes in their own language, then has AI translate it.</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6191250" y="4874895"/>
            <a:ext cx="8572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p:cNvSpPr/>
          <p:nvPr/>
        </p:nvSpPr>
        <p:spPr>
          <a:xfrm>
            <a:off x="6191250" y="437578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6153150" y="448818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7048500" y="4874895"/>
            <a:ext cx="8572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p:cNvSpPr/>
          <p:nvPr/>
        </p:nvSpPr>
        <p:spPr>
          <a:xfrm>
            <a:off x="7048500" y="437578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7010400" y="448818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7905750" y="4874895"/>
            <a:ext cx="952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p:cNvSpPr/>
          <p:nvPr/>
        </p:nvSpPr>
        <p:spPr>
          <a:xfrm>
            <a:off x="7905750" y="437578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7867650" y="448818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9429750" y="2527935"/>
            <a:ext cx="7810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9429750" y="2619375"/>
            <a:ext cx="5297805" cy="22098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8A8A8A"/>
                </a:solidFill>
                <a:effectLst/>
                <a:uLnTx/>
                <a:uFillTx/>
                <a:latin typeface="Helvetica" pitchFamily="34" charset="0"/>
                <a:ea typeface="Helvetica" pitchFamily="34" charset="-122"/>
                <a:cs typeface="Helvetica" pitchFamily="34" charset="-120"/>
              </a:rPr>
              <a:t>WHAT THE STUDENT DOES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14535150" y="2619375"/>
            <a:ext cx="9334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FINE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15392400" y="2619375"/>
            <a:ext cx="9334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GRAY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16249650" y="2619375"/>
            <a:ext cx="102870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CHEAT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54"/>
          <p:cNvSpPr/>
          <p:nvPr/>
        </p:nvSpPr>
        <p:spPr>
          <a:xfrm>
            <a:off x="9429750" y="287845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9429750" y="299085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Asks AI to outline the essay, then writes every word.</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14573250" y="287845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14535150" y="299085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8"/>
          <p:cNvSpPr/>
          <p:nvPr/>
        </p:nvSpPr>
        <p:spPr>
          <a:xfrm>
            <a:off x="15430500" y="287845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9"/>
          <p:cNvSpPr/>
          <p:nvPr/>
        </p:nvSpPr>
        <p:spPr>
          <a:xfrm>
            <a:off x="15392400" y="299085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60"/>
          <p:cNvSpPr/>
          <p:nvPr/>
        </p:nvSpPr>
        <p:spPr>
          <a:xfrm>
            <a:off x="16287750" y="287845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16249650" y="299085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Shape 62"/>
          <p:cNvSpPr/>
          <p:nvPr/>
        </p:nvSpPr>
        <p:spPr>
          <a:xfrm>
            <a:off x="9429750" y="337756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3"/>
          <p:cNvSpPr/>
          <p:nvPr/>
        </p:nvSpPr>
        <p:spPr>
          <a:xfrm>
            <a:off x="9429750" y="348996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Uses AI for one paragraph, then rewrites it heavily.</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64"/>
          <p:cNvSpPr/>
          <p:nvPr/>
        </p:nvSpPr>
        <p:spPr>
          <a:xfrm>
            <a:off x="14573250" y="337756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14535150" y="348996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15430500" y="337756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67"/>
          <p:cNvSpPr/>
          <p:nvPr/>
        </p:nvSpPr>
        <p:spPr>
          <a:xfrm>
            <a:off x="15392400" y="348996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Shape 68"/>
          <p:cNvSpPr/>
          <p:nvPr/>
        </p:nvSpPr>
        <p:spPr>
          <a:xfrm>
            <a:off x="16287750" y="337756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Text 69"/>
          <p:cNvSpPr/>
          <p:nvPr/>
        </p:nvSpPr>
        <p:spPr>
          <a:xfrm>
            <a:off x="16249650" y="348996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70"/>
          <p:cNvSpPr/>
          <p:nvPr/>
        </p:nvSpPr>
        <p:spPr>
          <a:xfrm>
            <a:off x="9429750" y="387667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Text 71"/>
          <p:cNvSpPr/>
          <p:nvPr/>
        </p:nvSpPr>
        <p:spPr>
          <a:xfrm>
            <a:off x="9429750" y="398907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Uses AI only for the parts they already understand.</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Shape 72"/>
          <p:cNvSpPr/>
          <p:nvPr/>
        </p:nvSpPr>
        <p:spPr>
          <a:xfrm>
            <a:off x="14573250" y="387667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3"/>
          <p:cNvSpPr/>
          <p:nvPr/>
        </p:nvSpPr>
        <p:spPr>
          <a:xfrm>
            <a:off x="14535150" y="398907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Shape 74"/>
          <p:cNvSpPr/>
          <p:nvPr/>
        </p:nvSpPr>
        <p:spPr>
          <a:xfrm>
            <a:off x="15430500" y="387667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75"/>
          <p:cNvSpPr/>
          <p:nvPr/>
        </p:nvSpPr>
        <p:spPr>
          <a:xfrm>
            <a:off x="15392400" y="398907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Shape 76"/>
          <p:cNvSpPr/>
          <p:nvPr/>
        </p:nvSpPr>
        <p:spPr>
          <a:xfrm>
            <a:off x="16287750" y="387667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Text 77"/>
          <p:cNvSpPr/>
          <p:nvPr/>
        </p:nvSpPr>
        <p:spPr>
          <a:xfrm>
            <a:off x="16249650" y="398907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Shape 78"/>
          <p:cNvSpPr/>
          <p:nvPr/>
        </p:nvSpPr>
        <p:spPr>
          <a:xfrm>
            <a:off x="9429750" y="4874895"/>
            <a:ext cx="5143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p:cNvSpPr/>
          <p:nvPr/>
        </p:nvSpPr>
        <p:spPr>
          <a:xfrm>
            <a:off x="9429750" y="4375785"/>
            <a:ext cx="5143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80"/>
          <p:cNvSpPr/>
          <p:nvPr/>
        </p:nvSpPr>
        <p:spPr>
          <a:xfrm>
            <a:off x="9429750" y="4488180"/>
            <a:ext cx="5202555"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847"/>
              </a:lnSpc>
              <a:spcBef>
                <a:spcPts val="0"/>
              </a:spcBef>
              <a:spcAft>
                <a:spcPts val="0"/>
              </a:spcAft>
              <a:buClrTx/>
              <a:buSzTx/>
              <a:buFontTx/>
              <a:buNone/>
              <a:tabLst/>
              <a:defRPr/>
            </a:pPr>
            <a:r>
              <a:rPr kumimoji="0" lang="en-US" sz="1575"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Submits what AI wrote, without reading it.</a:t>
            </a:r>
            <a:endParaRPr kumimoji="0" lang="en-US" sz="15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Shape 81"/>
          <p:cNvSpPr/>
          <p:nvPr/>
        </p:nvSpPr>
        <p:spPr>
          <a:xfrm>
            <a:off x="14573250" y="4874895"/>
            <a:ext cx="8572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p:cNvSpPr/>
          <p:nvPr/>
        </p:nvSpPr>
        <p:spPr>
          <a:xfrm>
            <a:off x="14573250" y="437578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3"/>
          <p:cNvSpPr/>
          <p:nvPr/>
        </p:nvSpPr>
        <p:spPr>
          <a:xfrm>
            <a:off x="14535150" y="448818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Shape 84"/>
          <p:cNvSpPr/>
          <p:nvPr/>
        </p:nvSpPr>
        <p:spPr>
          <a:xfrm>
            <a:off x="15430500" y="4874895"/>
            <a:ext cx="8572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p:cNvSpPr/>
          <p:nvPr/>
        </p:nvSpPr>
        <p:spPr>
          <a:xfrm>
            <a:off x="15430500" y="4375785"/>
            <a:ext cx="857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6"/>
          <p:cNvSpPr/>
          <p:nvPr/>
        </p:nvSpPr>
        <p:spPr>
          <a:xfrm>
            <a:off x="15392400" y="4488180"/>
            <a:ext cx="9334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Shape 87"/>
          <p:cNvSpPr/>
          <p:nvPr/>
        </p:nvSpPr>
        <p:spPr>
          <a:xfrm>
            <a:off x="16287750" y="4874895"/>
            <a:ext cx="952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p:cNvSpPr/>
          <p:nvPr/>
        </p:nvSpPr>
        <p:spPr>
          <a:xfrm>
            <a:off x="16287750" y="4375785"/>
            <a:ext cx="95250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Text 89"/>
          <p:cNvSpPr/>
          <p:nvPr/>
        </p:nvSpPr>
        <p:spPr>
          <a:xfrm>
            <a:off x="16249650" y="4488180"/>
            <a:ext cx="102870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Text 90"/>
          <p:cNvSpPr/>
          <p:nvPr/>
        </p:nvSpPr>
        <p:spPr>
          <a:xfrm>
            <a:off x="1047750" y="5107305"/>
            <a:ext cx="1440787" cy="23622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263" normalizeH="0" baseline="0" noProof="0" dirty="0">
                <a:ln>
                  <a:noFill/>
                </a:ln>
                <a:solidFill>
                  <a:srgbClr val="BF842C"/>
                </a:solidFill>
                <a:effectLst/>
                <a:uLnTx/>
                <a:uFillTx/>
                <a:latin typeface="Helvetica" pitchFamily="34" charset="0"/>
                <a:ea typeface="Helvetica" pitchFamily="34" charset="-122"/>
                <a:cs typeface="Helvetica" pitchFamily="34" charset="-120"/>
              </a:rPr>
              <a:t>YOUR RULE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Text 91"/>
          <p:cNvSpPr/>
          <p:nvPr/>
        </p:nvSpPr>
        <p:spPr>
          <a:xfrm>
            <a:off x="2605207" y="5023485"/>
            <a:ext cx="11891700" cy="3581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23529"/>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Finish the sentence: It becomes cheating when ______________________________________________________</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Shape 92"/>
          <p:cNvSpPr/>
          <p:nvPr/>
        </p:nvSpPr>
        <p:spPr>
          <a:xfrm>
            <a:off x="1047750" y="5457825"/>
            <a:ext cx="38100" cy="693420"/>
          </a:xfrm>
          <a:prstGeom prst="rect">
            <a:avLst/>
          </a:prstGeom>
          <a:solidFill>
            <a:srgbClr val="D9B87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Text 93"/>
          <p:cNvSpPr/>
          <p:nvPr/>
        </p:nvSpPr>
        <p:spPr>
          <a:xfrm>
            <a:off x="1276350" y="5495925"/>
            <a:ext cx="1071801" cy="23622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263" normalizeH="0" baseline="0" noProof="0" dirty="0">
                <a:ln>
                  <a:noFill/>
                </a:ln>
                <a:solidFill>
                  <a:srgbClr val="BF842C"/>
                </a:solidFill>
                <a:effectLst/>
                <a:uLnTx/>
                <a:uFillTx/>
                <a:latin typeface="Helvetica" pitchFamily="34" charset="0"/>
                <a:ea typeface="Helvetica" pitchFamily="34" charset="-122"/>
                <a:cs typeface="Helvetica" pitchFamily="34" charset="-120"/>
              </a:rPr>
              <a:t>DISCUSS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Text 94"/>
          <p:cNvSpPr/>
          <p:nvPr/>
        </p:nvSpPr>
        <p:spPr>
          <a:xfrm>
            <a:off x="2519601" y="5457825"/>
            <a:ext cx="228719" cy="34671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96429"/>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Text 95"/>
          <p:cNvSpPr/>
          <p:nvPr/>
        </p:nvSpPr>
        <p:spPr>
          <a:xfrm>
            <a:off x="2824520" y="5457825"/>
            <a:ext cx="7739729" cy="34671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911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Could a teacher actually tell the difference between any two of these?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Text 96"/>
          <p:cNvSpPr/>
          <p:nvPr/>
        </p:nvSpPr>
        <p:spPr>
          <a:xfrm>
            <a:off x="2519601" y="5842635"/>
            <a:ext cx="228719" cy="34671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96429"/>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97"/>
          <p:cNvSpPr/>
          <p:nvPr/>
        </p:nvSpPr>
        <p:spPr>
          <a:xfrm>
            <a:off x="2824520" y="5842635"/>
            <a:ext cx="7869388" cy="34671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911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Compare with another group. Which row did you disagree about most?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Text 98"/>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0" i="0" u="none" strike="noStrike" kern="0" cap="none" spc="38" normalizeH="0" baseline="0" noProof="0" dirty="0">
                <a:ln>
                  <a:noFill/>
                </a:ln>
                <a:solidFill>
                  <a:srgbClr val="9A9890"/>
                </a:solidFill>
                <a:effectLst/>
                <a:uLnTx/>
                <a:uFillTx/>
                <a:latin typeface="Helvetica" pitchFamily="34" charset="0"/>
                <a:ea typeface="Helvetica" pitchFamily="34" charset="-122"/>
                <a:cs typeface="Helvetica" pitchFamily="34" charset="-120"/>
              </a:rPr>
              <a:t>perspectiveenglish.com</a:t>
            </a:r>
            <a:endParaRPr kumimoji="0" lang="en-US" sz="12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787598"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adapt</a:t>
            </a:r>
            <a:endParaRPr lang="en-US" sz="2100" dirty="0"/>
          </a:p>
        </p:txBody>
      </p:sp>
      <p:sp>
        <p:nvSpPr>
          <p:cNvPr id="10" name="Text 8"/>
          <p:cNvSpPr/>
          <p:nvPr/>
        </p:nvSpPr>
        <p:spPr>
          <a:xfrm>
            <a:off x="2479238" y="3310890"/>
            <a:ext cx="179335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personalized</a:t>
            </a:r>
            <a:endParaRPr lang="en-US" sz="2100" dirty="0"/>
          </a:p>
        </p:txBody>
      </p:sp>
      <p:sp>
        <p:nvSpPr>
          <p:cNvPr id="11" name="Text 9"/>
          <p:cNvSpPr/>
          <p:nvPr/>
        </p:nvSpPr>
        <p:spPr>
          <a:xfrm>
            <a:off x="4490561" y="3310890"/>
            <a:ext cx="148440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accessible</a:t>
            </a:r>
            <a:endParaRPr lang="en-US" sz="2100" dirty="0"/>
          </a:p>
        </p:txBody>
      </p:sp>
      <p:sp>
        <p:nvSpPr>
          <p:cNvPr id="12" name="Text 10"/>
          <p:cNvSpPr/>
          <p:nvPr/>
        </p:nvSpPr>
        <p:spPr>
          <a:xfrm>
            <a:off x="6221016" y="3310890"/>
            <a:ext cx="55078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rely</a:t>
            </a:r>
            <a:endParaRPr lang="en-US" sz="2100" dirty="0"/>
          </a:p>
        </p:txBody>
      </p:sp>
      <p:sp>
        <p:nvSpPr>
          <p:cNvPr id="13" name="Text 11"/>
          <p:cNvSpPr/>
          <p:nvPr/>
        </p:nvSpPr>
        <p:spPr>
          <a:xfrm>
            <a:off x="7076599" y="3310890"/>
            <a:ext cx="112835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integrity</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8313241"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good app can _______________ to the level of each learner.</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8573869"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Many students now _______________ on AI to check their work.</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658326" y="5347335"/>
            <a:ext cx="8295299"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Online lessons are _______________ to anyone with a phone.</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10879574"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Teachers worry about academic _______________ when machines write essays.</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7054632"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AI can give each student a _______________ lesson.</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6507445"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good app can </a:t>
            </a:r>
            <a:r>
              <a:rPr lang="en-US" sz="2100" b="1" dirty="0">
                <a:solidFill>
                  <a:srgbClr val="1A2A5E"/>
                </a:solidFill>
                <a:latin typeface="Helvetica" pitchFamily="34" charset="0"/>
                <a:ea typeface="Helvetica" pitchFamily="34" charset="-122"/>
                <a:cs typeface="Helvetica" pitchFamily="34" charset="-120"/>
              </a:rPr>
              <a:t>adapt </a:t>
            </a:r>
            <a:r>
              <a:rPr lang="en-US" sz="2100" dirty="0">
                <a:solidFill>
                  <a:srgbClr val="444444"/>
                </a:solidFill>
                <a:latin typeface="Helvetica" pitchFamily="34" charset="0"/>
                <a:ea typeface="Helvetica" pitchFamily="34" charset="-122"/>
                <a:cs typeface="Helvetica" pitchFamily="34" charset="-120"/>
              </a:rPr>
              <a:t>to the level of each learner.</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6490288"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Many students now </a:t>
            </a:r>
            <a:r>
              <a:rPr lang="en-US" sz="2100" b="1" dirty="0">
                <a:solidFill>
                  <a:srgbClr val="1A2A5E"/>
                </a:solidFill>
                <a:latin typeface="Helvetica" pitchFamily="34" charset="0"/>
                <a:ea typeface="Helvetica" pitchFamily="34" charset="-122"/>
                <a:cs typeface="Helvetica" pitchFamily="34" charset="-120"/>
              </a:rPr>
              <a:t>rely </a:t>
            </a:r>
            <a:r>
              <a:rPr lang="en-US" sz="2100" dirty="0">
                <a:solidFill>
                  <a:srgbClr val="444444"/>
                </a:solidFill>
                <a:latin typeface="Helvetica" pitchFamily="34" charset="0"/>
                <a:ea typeface="Helvetica" pitchFamily="34" charset="-122"/>
                <a:cs typeface="Helvetica" pitchFamily="34" charset="-120"/>
              </a:rPr>
              <a:t>on AI to check their work.</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7192673"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Online lessons are </a:t>
            </a:r>
            <a:r>
              <a:rPr lang="en-US" sz="2100" b="1" dirty="0">
                <a:solidFill>
                  <a:srgbClr val="1A2A5E"/>
                </a:solidFill>
                <a:latin typeface="Helvetica" pitchFamily="34" charset="0"/>
                <a:ea typeface="Helvetica" pitchFamily="34" charset="-122"/>
                <a:cs typeface="Helvetica" pitchFamily="34" charset="-120"/>
              </a:rPr>
              <a:t>accessible </a:t>
            </a:r>
            <a:r>
              <a:rPr lang="en-US" sz="2100" dirty="0">
                <a:solidFill>
                  <a:srgbClr val="444444"/>
                </a:solidFill>
                <a:latin typeface="Helvetica" pitchFamily="34" charset="0"/>
                <a:ea typeface="Helvetica" pitchFamily="34" charset="-122"/>
                <a:cs typeface="Helvetica" pitchFamily="34" charset="-120"/>
              </a:rPr>
              <a:t>to anyone with a phone.</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9277565"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Teachers worry about academic </a:t>
            </a:r>
            <a:r>
              <a:rPr lang="en-US" sz="2100" b="1" dirty="0">
                <a:solidFill>
                  <a:srgbClr val="1A2A5E"/>
                </a:solidFill>
                <a:latin typeface="Helvetica" pitchFamily="34" charset="0"/>
                <a:ea typeface="Helvetica" pitchFamily="34" charset="-122"/>
                <a:cs typeface="Helvetica" pitchFamily="34" charset="-120"/>
              </a:rPr>
              <a:t>integrity </a:t>
            </a:r>
            <a:r>
              <a:rPr lang="en-US" sz="2100" dirty="0">
                <a:solidFill>
                  <a:srgbClr val="444444"/>
                </a:solidFill>
                <a:latin typeface="Helvetica" pitchFamily="34" charset="0"/>
                <a:ea typeface="Helvetica" pitchFamily="34" charset="-122"/>
                <a:cs typeface="Helvetica" pitchFamily="34" charset="-120"/>
              </a:rPr>
              <a:t>when machines write essays.</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6343603"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AI can give each student a </a:t>
            </a:r>
            <a:r>
              <a:rPr lang="en-US" sz="2100" b="1" dirty="0">
                <a:solidFill>
                  <a:srgbClr val="1A2A5E"/>
                </a:solidFill>
                <a:latin typeface="Helvetica" pitchFamily="34" charset="0"/>
                <a:ea typeface="Helvetica" pitchFamily="34" charset="-122"/>
                <a:cs typeface="Helvetica" pitchFamily="34" charset="-120"/>
              </a:rPr>
              <a:t>personalized </a:t>
            </a:r>
            <a:r>
              <a:rPr lang="en-US" sz="2100" dirty="0">
                <a:solidFill>
                  <a:srgbClr val="444444"/>
                </a:solidFill>
                <a:latin typeface="Helvetica" pitchFamily="34" charset="0"/>
                <a:ea typeface="Helvetica" pitchFamily="34" charset="-122"/>
                <a:cs typeface="Helvetica" pitchFamily="34" charset="-120"/>
              </a:rPr>
              <a:t>lesson.</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write the AI rules</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a group of teachers writing the AI rules for your school.</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rules for how students may — and may not — use AI.</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policy and explain how it keeps learning fair.</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229993" y="723900"/>
            <a:ext cx="3311283"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002 · AI IN EDUCATION</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Should students be allowed to use AI to help with their schoolwork?</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2029</Words>
  <Application>Microsoft Office PowerPoint</Application>
  <PresentationFormat>Custom</PresentationFormat>
  <Paragraphs>294</Paragraphs>
  <Slides>16</Slides>
  <Notes>16</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Georgia</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6</cp:revision>
  <dcterms:created xsi:type="dcterms:W3CDTF">2026-07-06T08:02:55Z</dcterms:created>
  <dcterms:modified xsi:type="dcterms:W3CDTF">2026-08-24T23:21:10Z</dcterms:modified>
</cp:coreProperties>
</file>