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5674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003 of Perspective — today's topic is Food Waste.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what is food waste, why does it matter, and how can we reduce it? Point out the balanced view and the scale of the problem. End on the pull-quote about wasting a little less.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2 and 4 are False: in wealthier countries most waste happens at home (not on farms), and food waste has a major climate impact through methane.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Challenge. In small groups, students imagine their city has a government grant that can fund only three of the eight projects. They must agree on three and justify their choices. There is no correct answer — the reasoning and negotiation are the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The goal is that students can say each line aloud and use the words in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task. In small groups, students run a busy café that throws away food every night. Give ~8 minutes to agree on three ways to cut waste without losing money, then each group presents and explains how it helps people and the planet.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004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003</a:t>
            </a:r>
            <a:endParaRPr lang="en-US" sz="1500" dirty="0"/>
          </a:p>
        </p:txBody>
      </p:sp>
      <p:sp>
        <p:nvSpPr>
          <p:cNvPr id="4" name="Text 2"/>
          <p:cNvSpPr/>
          <p:nvPr/>
        </p:nvSpPr>
        <p:spPr>
          <a:xfrm>
            <a:off x="1238250" y="6719888"/>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7211378"/>
            <a:ext cx="17392650" cy="1395413"/>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1250" b="1" kern="0" spc="-150" dirty="0">
                <a:solidFill>
                  <a:srgbClr val="FFFFFF"/>
                </a:solidFill>
                <a:latin typeface="Playfair Display" pitchFamily="34" charset="0"/>
                <a:ea typeface="Playfair Display" pitchFamily="34" charset="-122"/>
                <a:cs typeface="Playfair Display" pitchFamily="34" charset="-120"/>
              </a:rPr>
              <a:t>Food Waste</a:t>
            </a:r>
            <a:endParaRPr lang="en-US" sz="11250" dirty="0"/>
          </a:p>
        </p:txBody>
      </p:sp>
      <p:sp>
        <p:nvSpPr>
          <p:cNvPr id="6" name="Text 4"/>
          <p:cNvSpPr/>
          <p:nvPr/>
        </p:nvSpPr>
        <p:spPr>
          <a:xfrm>
            <a:off x="1238250" y="8797290"/>
            <a:ext cx="17392650" cy="48006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Why do we throw so much away?</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What we’ll do today</a:t>
            </a:r>
            <a:endParaRPr lang="en-US" sz="4500" dirty="0"/>
          </a:p>
        </p:txBody>
      </p:sp>
      <p:sp>
        <p:nvSpPr>
          <p:cNvPr id="7" name="Text 5"/>
          <p:cNvSpPr/>
          <p:nvPr/>
        </p:nvSpPr>
        <p:spPr>
          <a:xfrm>
            <a:off x="1047750" y="3257550"/>
            <a:ext cx="515422"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01</a:t>
            </a:r>
            <a:endParaRPr lang="en-US" sz="3300" dirty="0"/>
          </a:p>
        </p:txBody>
      </p:sp>
      <p:sp>
        <p:nvSpPr>
          <p:cNvPr id="8" name="Text 6"/>
          <p:cNvSpPr/>
          <p:nvPr/>
        </p:nvSpPr>
        <p:spPr>
          <a:xfrm>
            <a:off x="1715572" y="3257550"/>
            <a:ext cx="3715583"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5572" y="3623310"/>
            <a:ext cx="3715583"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257550"/>
            <a:ext cx="578287"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02</a:t>
            </a:r>
            <a:endParaRPr lang="en-US" sz="3300" dirty="0"/>
          </a:p>
        </p:txBody>
      </p:sp>
      <p:sp>
        <p:nvSpPr>
          <p:cNvPr id="11" name="Text 9"/>
          <p:cNvSpPr/>
          <p:nvPr/>
        </p:nvSpPr>
        <p:spPr>
          <a:xfrm>
            <a:off x="10208062" y="3257550"/>
            <a:ext cx="317769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208062" y="3623310"/>
            <a:ext cx="317769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4152900"/>
            <a:ext cx="562451"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03</a:t>
            </a:r>
            <a:endParaRPr lang="en-US" sz="3300" dirty="0"/>
          </a:p>
        </p:txBody>
      </p:sp>
      <p:sp>
        <p:nvSpPr>
          <p:cNvPr id="14" name="Text 12"/>
          <p:cNvSpPr/>
          <p:nvPr/>
        </p:nvSpPr>
        <p:spPr>
          <a:xfrm>
            <a:off x="1762601" y="4152900"/>
            <a:ext cx="3985117"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2601" y="4518660"/>
            <a:ext cx="3985117"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4152900"/>
            <a:ext cx="574119"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04</a:t>
            </a:r>
            <a:endParaRPr lang="en-US" sz="3300" dirty="0"/>
          </a:p>
        </p:txBody>
      </p:sp>
      <p:sp>
        <p:nvSpPr>
          <p:cNvPr id="17" name="Text 15"/>
          <p:cNvSpPr/>
          <p:nvPr/>
        </p:nvSpPr>
        <p:spPr>
          <a:xfrm>
            <a:off x="10203895" y="4152900"/>
            <a:ext cx="362652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3895" y="4518660"/>
            <a:ext cx="362652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Talk with a partner</a:t>
            </a:r>
            <a:endParaRPr lang="en-US" sz="4500" dirty="0"/>
          </a:p>
        </p:txBody>
      </p:sp>
      <p:sp>
        <p:nvSpPr>
          <p:cNvPr id="7" name="Text 5"/>
          <p:cNvSpPr/>
          <p:nvPr/>
        </p:nvSpPr>
        <p:spPr>
          <a:xfrm>
            <a:off x="1047750" y="3390900"/>
            <a:ext cx="34230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1</a:t>
            </a:r>
            <a:endParaRPr lang="en-US" sz="5400" dirty="0"/>
          </a:p>
        </p:txBody>
      </p:sp>
      <p:sp>
        <p:nvSpPr>
          <p:cNvPr id="8" name="Text 6"/>
          <p:cNvSpPr/>
          <p:nvPr/>
        </p:nvSpPr>
        <p:spPr>
          <a:xfrm>
            <a:off x="1637705" y="3448050"/>
            <a:ext cx="13069503" cy="55245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How much food do you think your household throws away each week?</a:t>
            </a:r>
            <a:endParaRPr lang="en-US" sz="3000" dirty="0"/>
          </a:p>
        </p:txBody>
      </p:sp>
      <p:sp>
        <p:nvSpPr>
          <p:cNvPr id="9" name="Text 7"/>
          <p:cNvSpPr/>
          <p:nvPr/>
        </p:nvSpPr>
        <p:spPr>
          <a:xfrm>
            <a:off x="1047750" y="4427220"/>
            <a:ext cx="44517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2</a:t>
            </a:r>
            <a:endParaRPr lang="en-US" sz="5400" dirty="0"/>
          </a:p>
        </p:txBody>
      </p:sp>
      <p:sp>
        <p:nvSpPr>
          <p:cNvPr id="10" name="Text 8"/>
          <p:cNvSpPr/>
          <p:nvPr/>
        </p:nvSpPr>
        <p:spPr>
          <a:xfrm>
            <a:off x="1740575" y="4484370"/>
            <a:ext cx="10297025" cy="55245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Whose job is it to reduce the amount of food we waste?</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4068604"/>
            <a:ext cx="8539163"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403884"/>
            <a:ext cx="8539163"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b="1" dirty="0">
                <a:solidFill>
                  <a:srgbClr val="1A2A5E"/>
                </a:solidFill>
                <a:latin typeface="Playfair Display" pitchFamily="34" charset="0"/>
                <a:ea typeface="Playfair Display" pitchFamily="34" charset="-122"/>
                <a:cs typeface="Playfair Display" pitchFamily="34" charset="-120"/>
              </a:rPr>
              <a:t>Look and predict</a:t>
            </a:r>
            <a:endParaRPr lang="en-US" sz="4200" dirty="0"/>
          </a:p>
        </p:txBody>
      </p:sp>
      <p:sp>
        <p:nvSpPr>
          <p:cNvPr id="7" name="Text 5"/>
          <p:cNvSpPr/>
          <p:nvPr/>
        </p:nvSpPr>
        <p:spPr>
          <a:xfrm>
            <a:off x="1047750" y="5287804"/>
            <a:ext cx="8539163" cy="45243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“Food Waste.”</a:t>
            </a:r>
            <a:endParaRPr lang="en-US" sz="2250" dirty="0"/>
          </a:p>
        </p:txBody>
      </p:sp>
      <p:sp>
        <p:nvSpPr>
          <p:cNvPr id="8" name="Text 6"/>
          <p:cNvSpPr/>
          <p:nvPr/>
        </p:nvSpPr>
        <p:spPr>
          <a:xfrm>
            <a:off x="1047750" y="5892641"/>
            <a:ext cx="7995761"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7175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524" r="1524"/>
          <a:stretch/>
        </p:blipFill>
        <p:spPr>
          <a:xfrm>
            <a:off x="9484995" y="2579370"/>
            <a:ext cx="7747635" cy="5318760"/>
          </a:xfrm>
          <a:prstGeom prst="rect">
            <a:avLst/>
          </a:prstGeom>
        </p:spPr>
      </p:pic>
      <p:sp>
        <p:nvSpPr>
          <p:cNvPr id="11" name="Text 8"/>
          <p:cNvSpPr/>
          <p:nvPr/>
        </p:nvSpPr>
        <p:spPr>
          <a:xfrm>
            <a:off x="9477375" y="8020050"/>
            <a:ext cx="8539163" cy="236220"/>
          </a:xfrm>
          <a:prstGeom prst="rect">
            <a:avLst/>
          </a:prstGeom>
          <a:noFill/>
          <a:ln/>
        </p:spPr>
        <p:txBody>
          <a:bodyPr wrap="square" lIns="25400" tIns="25400" rIns="25400" bIns="25400" rtlCol="0" anchor="t">
            <a:normAutofit lnSpcReduction="10000"/>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Perfectly good food is discarded daily while millions still experience hunger worldwide.</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Match the words to their meanings</a:t>
            </a:r>
            <a:endParaRPr lang="en-US" sz="4050" dirty="0"/>
          </a:p>
        </p:txBody>
      </p:sp>
      <p:sp>
        <p:nvSpPr>
          <p:cNvPr id="7" name="Text 5"/>
          <p:cNvSpPr/>
          <p:nvPr/>
        </p:nvSpPr>
        <p:spPr>
          <a:xfrm>
            <a:off x="1047750" y="297180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1</a:t>
            </a:r>
            <a:endParaRPr lang="en-US" sz="2400" dirty="0"/>
          </a:p>
        </p:txBody>
      </p:sp>
      <p:sp>
        <p:nvSpPr>
          <p:cNvPr id="8" name="Text 6"/>
          <p:cNvSpPr/>
          <p:nvPr/>
        </p:nvSpPr>
        <p:spPr>
          <a:xfrm>
            <a:off x="1524000" y="3025140"/>
            <a:ext cx="1677055"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perishable</a:t>
            </a:r>
            <a:endParaRPr lang="en-US" sz="2400" dirty="0"/>
          </a:p>
        </p:txBody>
      </p:sp>
      <p:sp>
        <p:nvSpPr>
          <p:cNvPr id="9" name="Text 7"/>
          <p:cNvSpPr/>
          <p:nvPr/>
        </p:nvSpPr>
        <p:spPr>
          <a:xfrm>
            <a:off x="1047750" y="356616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2</a:t>
            </a:r>
            <a:endParaRPr lang="en-US" sz="2400" dirty="0"/>
          </a:p>
        </p:txBody>
      </p:sp>
      <p:sp>
        <p:nvSpPr>
          <p:cNvPr id="10" name="Text 8"/>
          <p:cNvSpPr/>
          <p:nvPr/>
        </p:nvSpPr>
        <p:spPr>
          <a:xfrm>
            <a:off x="1524000" y="3619500"/>
            <a:ext cx="1160502"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discard</a:t>
            </a:r>
            <a:endParaRPr lang="en-US" sz="2400" dirty="0"/>
          </a:p>
        </p:txBody>
      </p:sp>
      <p:sp>
        <p:nvSpPr>
          <p:cNvPr id="11" name="Text 9"/>
          <p:cNvSpPr/>
          <p:nvPr/>
        </p:nvSpPr>
        <p:spPr>
          <a:xfrm>
            <a:off x="1047750" y="416052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3</a:t>
            </a:r>
            <a:endParaRPr lang="en-US" sz="2400" dirty="0"/>
          </a:p>
        </p:txBody>
      </p:sp>
      <p:sp>
        <p:nvSpPr>
          <p:cNvPr id="12" name="Text 10"/>
          <p:cNvSpPr/>
          <p:nvPr/>
        </p:nvSpPr>
        <p:spPr>
          <a:xfrm>
            <a:off x="1524000" y="4213860"/>
            <a:ext cx="1177171"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surplus</a:t>
            </a:r>
            <a:endParaRPr lang="en-US" sz="2400" dirty="0"/>
          </a:p>
        </p:txBody>
      </p:sp>
      <p:sp>
        <p:nvSpPr>
          <p:cNvPr id="13" name="Text 11"/>
          <p:cNvSpPr/>
          <p:nvPr/>
        </p:nvSpPr>
        <p:spPr>
          <a:xfrm>
            <a:off x="1047750" y="475488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4</a:t>
            </a:r>
            <a:endParaRPr lang="en-US" sz="2400" dirty="0"/>
          </a:p>
        </p:txBody>
      </p:sp>
      <p:sp>
        <p:nvSpPr>
          <p:cNvPr id="14" name="Text 12"/>
          <p:cNvSpPr/>
          <p:nvPr/>
        </p:nvSpPr>
        <p:spPr>
          <a:xfrm>
            <a:off x="1524000" y="4808220"/>
            <a:ext cx="1397175"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compost</a:t>
            </a:r>
            <a:endParaRPr lang="en-US" sz="2400" dirty="0"/>
          </a:p>
        </p:txBody>
      </p:sp>
      <p:sp>
        <p:nvSpPr>
          <p:cNvPr id="15" name="Text 13"/>
          <p:cNvSpPr/>
          <p:nvPr/>
        </p:nvSpPr>
        <p:spPr>
          <a:xfrm>
            <a:off x="1047750" y="534924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5</a:t>
            </a:r>
            <a:endParaRPr lang="en-US" sz="2400" dirty="0"/>
          </a:p>
        </p:txBody>
      </p:sp>
      <p:sp>
        <p:nvSpPr>
          <p:cNvPr id="16" name="Text 14"/>
          <p:cNvSpPr/>
          <p:nvPr/>
        </p:nvSpPr>
        <p:spPr>
          <a:xfrm>
            <a:off x="1524000" y="5402580"/>
            <a:ext cx="957024"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edible</a:t>
            </a:r>
            <a:endParaRPr lang="en-US" sz="2400" dirty="0"/>
          </a:p>
        </p:txBody>
      </p:sp>
      <p:sp>
        <p:nvSpPr>
          <p:cNvPr id="17" name="Text 15"/>
          <p:cNvSpPr/>
          <p:nvPr/>
        </p:nvSpPr>
        <p:spPr>
          <a:xfrm>
            <a:off x="7924800" y="297180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953276"/>
            <a:ext cx="2579299"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more than is needed</a:t>
            </a:r>
            <a:endParaRPr lang="en-US" sz="2025" dirty="0"/>
          </a:p>
        </p:txBody>
      </p:sp>
      <p:sp>
        <p:nvSpPr>
          <p:cNvPr id="19" name="Text 17"/>
          <p:cNvSpPr/>
          <p:nvPr/>
        </p:nvSpPr>
        <p:spPr>
          <a:xfrm>
            <a:off x="7924800" y="351948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486626"/>
            <a:ext cx="2359271"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safe or good to eat</a:t>
            </a:r>
            <a:endParaRPr lang="en-US" sz="2025" dirty="0"/>
          </a:p>
        </p:txBody>
      </p:sp>
      <p:sp>
        <p:nvSpPr>
          <p:cNvPr id="21" name="Text 19"/>
          <p:cNvSpPr/>
          <p:nvPr/>
        </p:nvSpPr>
        <p:spPr>
          <a:xfrm>
            <a:off x="7924800" y="406717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4062174"/>
            <a:ext cx="3569423"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likely to go bad or rot quickly</a:t>
            </a:r>
            <a:endParaRPr lang="en-US" sz="2025" dirty="0"/>
          </a:p>
        </p:txBody>
      </p:sp>
      <p:sp>
        <p:nvSpPr>
          <p:cNvPr id="23" name="Text 21"/>
          <p:cNvSpPr/>
          <p:nvPr/>
        </p:nvSpPr>
        <p:spPr>
          <a:xfrm>
            <a:off x="7924800" y="461486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594860"/>
            <a:ext cx="5441620"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decayed food and plants used to enrich soil</a:t>
            </a:r>
            <a:endParaRPr lang="en-US" sz="2025" dirty="0"/>
          </a:p>
        </p:txBody>
      </p:sp>
      <p:sp>
        <p:nvSpPr>
          <p:cNvPr id="25" name="Text 23"/>
          <p:cNvSpPr/>
          <p:nvPr/>
        </p:nvSpPr>
        <p:spPr>
          <a:xfrm>
            <a:off x="7924800" y="516255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5127546"/>
            <a:ext cx="5598259"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throw away something you no longer want</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722120"/>
            <a:ext cx="1889879"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626870"/>
            <a:ext cx="1601272" cy="388620"/>
          </a:xfrm>
          <a:prstGeom prst="rect">
            <a:avLst/>
          </a:prstGeom>
          <a:solidFill>
            <a:srgbClr val="1A2A5E"/>
          </a:solidFill>
          <a:ln/>
        </p:spPr>
        <p:txBody>
          <a:bodyPr/>
          <a:lstStyle/>
          <a:p>
            <a:endParaRPr lang="en-US"/>
          </a:p>
        </p:txBody>
      </p:sp>
      <p:sp>
        <p:nvSpPr>
          <p:cNvPr id="7" name="Text 5"/>
          <p:cNvSpPr/>
          <p:nvPr/>
        </p:nvSpPr>
        <p:spPr>
          <a:xfrm>
            <a:off x="3146822" y="16840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48840"/>
            <a:ext cx="17811750" cy="7543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Playfair Display" pitchFamily="34" charset="0"/>
                <a:ea typeface="Playfair Display" pitchFamily="34" charset="-122"/>
                <a:cs typeface="Playfair Display" pitchFamily="34" charset="-120"/>
              </a:rPr>
              <a:t>How did you do?</a:t>
            </a:r>
            <a:endParaRPr lang="en-US" sz="4200" dirty="0"/>
          </a:p>
        </p:txBody>
      </p:sp>
      <p:sp>
        <p:nvSpPr>
          <p:cNvPr id="9" name="Shape 7"/>
          <p:cNvSpPr/>
          <p:nvPr/>
        </p:nvSpPr>
        <p:spPr>
          <a:xfrm>
            <a:off x="1047750" y="3436620"/>
            <a:ext cx="2930247" cy="960120"/>
          </a:xfrm>
          <a:prstGeom prst="rect">
            <a:avLst/>
          </a:prstGeom>
          <a:ln w="15240">
            <a:solidFill>
              <a:srgbClr val="1A2A5E"/>
            </a:solidFill>
            <a:prstDash val="solid"/>
          </a:ln>
        </p:spPr>
        <p:txBody>
          <a:bodyPr/>
          <a:lstStyle/>
          <a:p>
            <a:endParaRPr lang="en-US"/>
          </a:p>
        </p:txBody>
      </p:sp>
      <p:sp>
        <p:nvSpPr>
          <p:cNvPr id="10" name="Text 8"/>
          <p:cNvSpPr/>
          <p:nvPr/>
        </p:nvSpPr>
        <p:spPr>
          <a:xfrm>
            <a:off x="1386840" y="3661410"/>
            <a:ext cx="233997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1–C </a:t>
            </a:r>
            <a:r>
              <a:rPr lang="en-US" sz="2250" b="1" dirty="0">
                <a:solidFill>
                  <a:srgbClr val="1A2A5E"/>
                </a:solidFill>
                <a:latin typeface="Helvetica" pitchFamily="34" charset="0"/>
                <a:ea typeface="Helvetica" pitchFamily="34" charset="-122"/>
                <a:cs typeface="Helvetica" pitchFamily="34" charset="-120"/>
              </a:rPr>
              <a:t>perishable</a:t>
            </a:r>
            <a:endParaRPr lang="en-US" sz="1200" dirty="0"/>
          </a:p>
        </p:txBody>
      </p:sp>
      <p:sp>
        <p:nvSpPr>
          <p:cNvPr id="11" name="Shape 9"/>
          <p:cNvSpPr/>
          <p:nvPr/>
        </p:nvSpPr>
        <p:spPr>
          <a:xfrm>
            <a:off x="4225647" y="3436620"/>
            <a:ext cx="2857500" cy="960120"/>
          </a:xfrm>
          <a:prstGeom prst="rect">
            <a:avLst/>
          </a:prstGeom>
          <a:ln w="15240">
            <a:solidFill>
              <a:srgbClr val="1A2A5E"/>
            </a:solidFill>
            <a:prstDash val="solid"/>
          </a:ln>
        </p:spPr>
        <p:txBody>
          <a:bodyPr/>
          <a:lstStyle/>
          <a:p>
            <a:endParaRPr lang="en-US"/>
          </a:p>
        </p:txBody>
      </p:sp>
      <p:sp>
        <p:nvSpPr>
          <p:cNvPr id="12" name="Text 10"/>
          <p:cNvSpPr/>
          <p:nvPr/>
        </p:nvSpPr>
        <p:spPr>
          <a:xfrm>
            <a:off x="4564737"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2–E </a:t>
            </a:r>
            <a:r>
              <a:rPr lang="en-US" sz="2250" b="1" dirty="0">
                <a:solidFill>
                  <a:srgbClr val="1A2A5E"/>
                </a:solidFill>
                <a:latin typeface="Helvetica" pitchFamily="34" charset="0"/>
                <a:ea typeface="Helvetica" pitchFamily="34" charset="-122"/>
                <a:cs typeface="Helvetica" pitchFamily="34" charset="-120"/>
              </a:rPr>
              <a:t>discard</a:t>
            </a:r>
            <a:endParaRPr lang="en-US" sz="1200" dirty="0"/>
          </a:p>
        </p:txBody>
      </p:sp>
      <p:sp>
        <p:nvSpPr>
          <p:cNvPr id="13" name="Shape 11"/>
          <p:cNvSpPr/>
          <p:nvPr/>
        </p:nvSpPr>
        <p:spPr>
          <a:xfrm>
            <a:off x="7330797" y="3436620"/>
            <a:ext cx="2857500" cy="960120"/>
          </a:xfrm>
          <a:prstGeom prst="rect">
            <a:avLst/>
          </a:prstGeom>
          <a:ln w="15240">
            <a:solidFill>
              <a:srgbClr val="1A2A5E"/>
            </a:solidFill>
            <a:prstDash val="solid"/>
          </a:ln>
        </p:spPr>
        <p:txBody>
          <a:bodyPr/>
          <a:lstStyle/>
          <a:p>
            <a:endParaRPr lang="en-US"/>
          </a:p>
        </p:txBody>
      </p:sp>
      <p:sp>
        <p:nvSpPr>
          <p:cNvPr id="14" name="Text 12"/>
          <p:cNvSpPr/>
          <p:nvPr/>
        </p:nvSpPr>
        <p:spPr>
          <a:xfrm>
            <a:off x="7669887"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3–A </a:t>
            </a:r>
            <a:r>
              <a:rPr lang="en-US" sz="2250" b="1" dirty="0">
                <a:solidFill>
                  <a:srgbClr val="1A2A5E"/>
                </a:solidFill>
                <a:latin typeface="Helvetica" pitchFamily="34" charset="0"/>
                <a:ea typeface="Helvetica" pitchFamily="34" charset="-122"/>
                <a:cs typeface="Helvetica" pitchFamily="34" charset="-120"/>
              </a:rPr>
              <a:t>surplus</a:t>
            </a:r>
            <a:endParaRPr lang="en-US" sz="1200" dirty="0"/>
          </a:p>
        </p:txBody>
      </p:sp>
      <p:sp>
        <p:nvSpPr>
          <p:cNvPr id="15" name="Shape 13"/>
          <p:cNvSpPr/>
          <p:nvPr/>
        </p:nvSpPr>
        <p:spPr>
          <a:xfrm>
            <a:off x="10435948" y="3436620"/>
            <a:ext cx="2857500" cy="960120"/>
          </a:xfrm>
          <a:prstGeom prst="rect">
            <a:avLst/>
          </a:prstGeom>
          <a:ln w="15240">
            <a:solidFill>
              <a:srgbClr val="1A2A5E"/>
            </a:solidFill>
            <a:prstDash val="solid"/>
          </a:ln>
        </p:spPr>
        <p:txBody>
          <a:bodyPr/>
          <a:lstStyle/>
          <a:p>
            <a:endParaRPr lang="en-US"/>
          </a:p>
        </p:txBody>
      </p:sp>
      <p:sp>
        <p:nvSpPr>
          <p:cNvPr id="16" name="Text 14"/>
          <p:cNvSpPr/>
          <p:nvPr/>
        </p:nvSpPr>
        <p:spPr>
          <a:xfrm>
            <a:off x="10775038"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4–D </a:t>
            </a:r>
            <a:r>
              <a:rPr lang="en-US" sz="2250" b="1" dirty="0">
                <a:solidFill>
                  <a:srgbClr val="1A2A5E"/>
                </a:solidFill>
                <a:latin typeface="Helvetica" pitchFamily="34" charset="0"/>
                <a:ea typeface="Helvetica" pitchFamily="34" charset="-122"/>
                <a:cs typeface="Helvetica" pitchFamily="34" charset="-120"/>
              </a:rPr>
              <a:t>compost</a:t>
            </a:r>
            <a:endParaRPr lang="en-US" sz="1200" dirty="0"/>
          </a:p>
        </p:txBody>
      </p:sp>
      <p:sp>
        <p:nvSpPr>
          <p:cNvPr id="17" name="Shape 15"/>
          <p:cNvSpPr/>
          <p:nvPr/>
        </p:nvSpPr>
        <p:spPr>
          <a:xfrm>
            <a:off x="13541098" y="3436620"/>
            <a:ext cx="2857500" cy="960120"/>
          </a:xfrm>
          <a:prstGeom prst="rect">
            <a:avLst/>
          </a:prstGeom>
          <a:ln w="15240">
            <a:solidFill>
              <a:srgbClr val="1A2A5E"/>
            </a:solidFill>
            <a:prstDash val="solid"/>
          </a:ln>
        </p:spPr>
        <p:txBody>
          <a:bodyPr/>
          <a:lstStyle/>
          <a:p>
            <a:endParaRPr lang="en-US"/>
          </a:p>
        </p:txBody>
      </p:sp>
      <p:sp>
        <p:nvSpPr>
          <p:cNvPr id="18" name="Text 16"/>
          <p:cNvSpPr/>
          <p:nvPr/>
        </p:nvSpPr>
        <p:spPr>
          <a:xfrm>
            <a:off x="13880188"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5–B </a:t>
            </a:r>
            <a:r>
              <a:rPr lang="en-US" sz="2250" b="1" dirty="0">
                <a:solidFill>
                  <a:srgbClr val="1A2A5E"/>
                </a:solidFill>
                <a:latin typeface="Helvetica" pitchFamily="34" charset="0"/>
                <a:ea typeface="Helvetica" pitchFamily="34" charset="-122"/>
                <a:cs typeface="Helvetica" pitchFamily="34" charset="-120"/>
              </a:rPr>
              <a:t>edible</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03251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62865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264920"/>
            <a:ext cx="17811750" cy="236220"/>
          </a:xfrm>
          <a:prstGeom prst="rect">
            <a:avLst/>
          </a:prstGeom>
          <a:noFill/>
          <a:ln/>
        </p:spPr>
        <p:txBody>
          <a:bodyPr wrap="square" lIns="25400" tIns="25400" rIns="25400" bIns="25400" rtlCol="0" anchor="t">
            <a:normAutofit lnSpcReduction="10000"/>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52019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Food Waste</a:t>
            </a:r>
            <a:endParaRPr lang="en-US" sz="3750" dirty="0"/>
          </a:p>
        </p:txBody>
      </p:sp>
      <p:sp>
        <p:nvSpPr>
          <p:cNvPr id="7" name="Text 5"/>
          <p:cNvSpPr/>
          <p:nvPr/>
        </p:nvSpPr>
        <p:spPr>
          <a:xfrm>
            <a:off x="1047750" y="2236470"/>
            <a:ext cx="17811750" cy="33528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Why do we throw so much away?</a:t>
            </a:r>
            <a:endParaRPr lang="en-US" sz="2025" dirty="0"/>
          </a:p>
        </p:txBody>
      </p:sp>
      <p:sp>
        <p:nvSpPr>
          <p:cNvPr id="8" name="Shape 6"/>
          <p:cNvSpPr/>
          <p:nvPr/>
        </p:nvSpPr>
        <p:spPr>
          <a:xfrm>
            <a:off x="1047750" y="2667000"/>
            <a:ext cx="609600" cy="38100"/>
          </a:xfrm>
          <a:prstGeom prst="rect">
            <a:avLst/>
          </a:prstGeom>
          <a:solidFill>
            <a:srgbClr val="D9B877"/>
          </a:solidFill>
          <a:ln/>
        </p:spPr>
        <p:txBody>
          <a:bodyPr/>
          <a:lstStyle/>
          <a:p>
            <a:endParaRPr lang="en-US"/>
          </a:p>
        </p:txBody>
      </p:sp>
      <p:sp>
        <p:nvSpPr>
          <p:cNvPr id="9" name="Text 7"/>
          <p:cNvSpPr/>
          <p:nvPr/>
        </p:nvSpPr>
        <p:spPr>
          <a:xfrm>
            <a:off x="1047750" y="2819400"/>
            <a:ext cx="17811750" cy="281940"/>
          </a:xfrm>
          <a:prstGeom prst="rect">
            <a:avLst/>
          </a:prstGeom>
          <a:noFill/>
          <a:ln/>
        </p:spPr>
        <p:txBody>
          <a:bodyPr wrap="square" lIns="25400" tIns="25400" rIns="25400" bIns="25400" rtlCol="0" anchor="t">
            <a:normAutofit lnSpcReduction="10000"/>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 third of the world’s food is never eaten — and the cost is far greater than it seems.</a:t>
            </a:r>
            <a:endParaRPr lang="en-US" sz="1650" dirty="0"/>
          </a:p>
        </p:txBody>
      </p:sp>
      <p:sp>
        <p:nvSpPr>
          <p:cNvPr id="10" name="Text 8"/>
          <p:cNvSpPr/>
          <p:nvPr/>
        </p:nvSpPr>
        <p:spPr>
          <a:xfrm>
            <a:off x="1039863" y="3328543"/>
            <a:ext cx="8074247" cy="1588294"/>
          </a:xfrm>
          <a:prstGeom prst="rect">
            <a:avLst/>
          </a:prstGeom>
          <a:noFill/>
          <a:ln/>
        </p:spPr>
        <p:txBody>
          <a:bodyPr wrap="square" lIns="25400" tIns="25400" rIns="25400" bIns="25400" rtlCol="0" anchor="t">
            <a:normAutofit fontScale="92500" lnSpcReduction="20000"/>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Every evening, in kitchens and restaurants around the world, a quiet waste takes place. Perfectly good bread, bruised fruit, and half-eaten meals are scraped into the bin without a second thought. It feels harmless — but multiplied across billions of homes, it becomes one of the planet’s largest and most overlooked problems. Roughly a third of all the food grown for people is never eaten.</a:t>
            </a:r>
            <a:endParaRPr lang="en-US" sz="1650" dirty="0"/>
          </a:p>
        </p:txBody>
      </p:sp>
      <p:sp>
        <p:nvSpPr>
          <p:cNvPr id="11" name="Text 9"/>
          <p:cNvSpPr/>
          <p:nvPr/>
        </p:nvSpPr>
        <p:spPr>
          <a:xfrm>
            <a:off x="1047750" y="5604748"/>
            <a:ext cx="8074247" cy="1588294"/>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scale is hard to picture. About 1.3 billion tonnes of food are lost or thrown away every year, while hundreds of millions of people go hungry. Some is lost on farms or in transport, especially </a:t>
            </a:r>
            <a:r>
              <a:rPr lang="en-US" sz="1650" b="1" dirty="0">
                <a:solidFill>
                  <a:srgbClr val="1A2A5E"/>
                </a:solidFill>
                <a:latin typeface="Helvetica" pitchFamily="34" charset="0"/>
                <a:ea typeface="Helvetica" pitchFamily="34" charset="-122"/>
                <a:cs typeface="Helvetica" pitchFamily="34" charset="-120"/>
              </a:rPr>
              <a:t>perishable </a:t>
            </a:r>
            <a:r>
              <a:rPr lang="en-US" sz="1650" dirty="0">
                <a:solidFill>
                  <a:srgbClr val="222222"/>
                </a:solidFill>
                <a:latin typeface="Helvetica" pitchFamily="34" charset="0"/>
                <a:ea typeface="Helvetica" pitchFamily="34" charset="-122"/>
                <a:cs typeface="Helvetica" pitchFamily="34" charset="-120"/>
              </a:rPr>
              <a:t>items like milk and vegetables that spoil quickly. But in wealthier countries, most waste happens at home, where families routinely </a:t>
            </a:r>
            <a:r>
              <a:rPr lang="en-US" sz="1650" b="1" dirty="0">
                <a:solidFill>
                  <a:srgbClr val="1A2A5E"/>
                </a:solidFill>
                <a:latin typeface="Helvetica" pitchFamily="34" charset="0"/>
                <a:ea typeface="Helvetica" pitchFamily="34" charset="-122"/>
                <a:cs typeface="Helvetica" pitchFamily="34" charset="-120"/>
              </a:rPr>
              <a:t>discard </a:t>
            </a:r>
            <a:r>
              <a:rPr lang="en-US" sz="1650" dirty="0">
                <a:solidFill>
                  <a:srgbClr val="222222"/>
                </a:solidFill>
                <a:latin typeface="Helvetica" pitchFamily="34" charset="0"/>
                <a:ea typeface="Helvetica" pitchFamily="34" charset="-122"/>
                <a:cs typeface="Helvetica" pitchFamily="34" charset="-120"/>
              </a:rPr>
              <a:t>food they simply forgot to eat.</a:t>
            </a:r>
            <a:endParaRPr lang="en-US" sz="1650" dirty="0"/>
          </a:p>
        </p:txBody>
      </p:sp>
      <p:sp>
        <p:nvSpPr>
          <p:cNvPr id="12" name="Text 10"/>
          <p:cNvSpPr/>
          <p:nvPr/>
        </p:nvSpPr>
        <p:spPr>
          <a:xfrm>
            <a:off x="9401175" y="3272790"/>
            <a:ext cx="8074247" cy="1588294"/>
          </a:xfrm>
          <a:prstGeom prst="rect">
            <a:avLst/>
          </a:prstGeom>
          <a:noFill/>
          <a:ln/>
        </p:spPr>
        <p:txBody>
          <a:bodyPr wrap="square" lIns="25400" tIns="25400" rIns="25400" bIns="25400" rtlCol="0" anchor="t">
            <a:normAutofit fontScale="92500"/>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costs reach far beyond the dinner table. When food rots in a landfill it releases methane, a gas far more powerful than carbon dioxide. If food waste were a country, it would be the third-largest source of greenhouse gases on Earth. It also throws away the water, land, and fuel used to grow it — a single wasted apple represents about 125 litres of water.</a:t>
            </a:r>
            <a:endParaRPr lang="en-US" sz="1650" dirty="0"/>
          </a:p>
        </p:txBody>
      </p:sp>
      <p:sp>
        <p:nvSpPr>
          <p:cNvPr id="13" name="Text 11"/>
          <p:cNvSpPr/>
          <p:nvPr/>
        </p:nvSpPr>
        <p:spPr>
          <a:xfrm>
            <a:off x="9401174" y="5610598"/>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Yet this is a problem almost anyone can help solve. Some shops now sell </a:t>
            </a:r>
            <a:r>
              <a:rPr lang="en-US" sz="1650" b="1" dirty="0">
                <a:solidFill>
                  <a:srgbClr val="1A2A5E"/>
                </a:solidFill>
                <a:latin typeface="Helvetica" pitchFamily="34" charset="0"/>
                <a:ea typeface="Helvetica" pitchFamily="34" charset="-122"/>
                <a:cs typeface="Helvetica" pitchFamily="34" charset="-120"/>
              </a:rPr>
              <a:t>surplus </a:t>
            </a:r>
            <a:r>
              <a:rPr lang="en-US" sz="1650" dirty="0">
                <a:solidFill>
                  <a:srgbClr val="222222"/>
                </a:solidFill>
                <a:latin typeface="Helvetica" pitchFamily="34" charset="0"/>
                <a:ea typeface="Helvetica" pitchFamily="34" charset="-122"/>
                <a:cs typeface="Helvetica" pitchFamily="34" charset="-120"/>
              </a:rPr>
              <a:t>stock cheaply instead of binning it. Restaurants donate leftovers, and many families turn scraps into </a:t>
            </a:r>
            <a:r>
              <a:rPr lang="en-US" sz="1650" b="1" dirty="0">
                <a:solidFill>
                  <a:srgbClr val="1A2A5E"/>
                </a:solidFill>
                <a:latin typeface="Helvetica" pitchFamily="34" charset="0"/>
                <a:ea typeface="Helvetica" pitchFamily="34" charset="-122"/>
                <a:cs typeface="Helvetica" pitchFamily="34" charset="-120"/>
              </a:rPr>
              <a:t>compost </a:t>
            </a:r>
            <a:r>
              <a:rPr lang="en-US" sz="1650" dirty="0">
                <a:solidFill>
                  <a:srgbClr val="222222"/>
                </a:solidFill>
                <a:latin typeface="Helvetica" pitchFamily="34" charset="0"/>
                <a:ea typeface="Helvetica" pitchFamily="34" charset="-122"/>
                <a:cs typeface="Helvetica" pitchFamily="34" charset="-120"/>
              </a:rPr>
              <a:t>that feeds a garden rather than a dump. Others simply plan meals and remember that a slightly ugly vegetable is still perfectly </a:t>
            </a:r>
            <a:r>
              <a:rPr lang="en-US" sz="1650" b="1" dirty="0">
                <a:solidFill>
                  <a:srgbClr val="1A2A5E"/>
                </a:solidFill>
                <a:latin typeface="Helvetica" pitchFamily="34" charset="0"/>
                <a:ea typeface="Helvetica" pitchFamily="34" charset="-122"/>
                <a:cs typeface="Helvetica" pitchFamily="34" charset="-120"/>
              </a:rPr>
              <a:t>edible</a:t>
            </a:r>
            <a:r>
              <a:rPr lang="en-US" sz="1650" dirty="0">
                <a:solidFill>
                  <a:srgbClr val="222222"/>
                </a:solidFill>
                <a:latin typeface="Helvetica" pitchFamily="34" charset="0"/>
                <a:ea typeface="Helvetica" pitchFamily="34" charset="-122"/>
                <a:cs typeface="Helvetica" pitchFamily="34" charset="-120"/>
              </a:rPr>
              <a:t>.</a:t>
            </a:r>
            <a:endParaRPr lang="en-US" sz="1650" dirty="0"/>
          </a:p>
        </p:txBody>
      </p:sp>
      <p:sp>
        <p:nvSpPr>
          <p:cNvPr id="14" name="Shape 12"/>
          <p:cNvSpPr/>
          <p:nvPr/>
        </p:nvSpPr>
        <p:spPr>
          <a:xfrm>
            <a:off x="1047750" y="8006246"/>
            <a:ext cx="45720" cy="842010"/>
          </a:xfrm>
          <a:prstGeom prst="rect">
            <a:avLst/>
          </a:prstGeom>
          <a:solidFill>
            <a:srgbClr val="D9B877"/>
          </a:solidFill>
          <a:ln/>
        </p:spPr>
        <p:txBody>
          <a:bodyPr/>
          <a:lstStyle/>
          <a:p>
            <a:endParaRPr lang="en-US"/>
          </a:p>
        </p:txBody>
      </p:sp>
      <p:sp>
        <p:nvSpPr>
          <p:cNvPr id="15" name="Text 13"/>
          <p:cNvSpPr/>
          <p:nvPr/>
        </p:nvSpPr>
        <p:spPr>
          <a:xfrm>
            <a:off x="1360170" y="8006246"/>
            <a:ext cx="13422630" cy="880110"/>
          </a:xfrm>
          <a:prstGeom prst="rect">
            <a:avLst/>
          </a:prstGeom>
          <a:noFill/>
          <a:ln/>
        </p:spPr>
        <p:txBody>
          <a:bodyPr wrap="square" lIns="25400" tIns="25400" rIns="25400" bIns="25400" rtlCol="0" anchor="t">
            <a:normAutofit/>
          </a:bodyPr>
          <a:lstStyle/>
          <a:p>
            <a:pPr marL="0" indent="0" algn="l">
              <a:lnSpc>
                <a:spcPct val="130000"/>
              </a:lnSpc>
              <a:buNone/>
            </a:pPr>
            <a:r>
              <a:rPr lang="en-US" sz="2550" b="1" i="1" dirty="0">
                <a:solidFill>
                  <a:srgbClr val="1A2A5E"/>
                </a:solidFill>
                <a:latin typeface="Playfair Display" pitchFamily="34" charset="0"/>
                <a:ea typeface="Playfair Display" pitchFamily="34" charset="-122"/>
                <a:cs typeface="Playfair Display" pitchFamily="34" charset="-120"/>
              </a:rPr>
              <a:t>If a third of our food is wasted, how much could change if each of us wasted just a little less?</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3-audio">
            <a:hlinkClick r:id="" action="ppaction://media"/>
            <a:extLst>
              <a:ext uri="{FF2B5EF4-FFF2-40B4-BE49-F238E27FC236}">
                <a16:creationId xmlns:a16="http://schemas.microsoft.com/office/drawing/2014/main" id="{B12BE2CF-49A7-856F-D023-0DD6BA16434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862094" y="1421987"/>
            <a:ext cx="487362"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True or False?</a:t>
            </a:r>
            <a:endParaRPr lang="en-US" sz="4050" dirty="0"/>
          </a:p>
        </p:txBody>
      </p:sp>
      <p:sp>
        <p:nvSpPr>
          <p:cNvPr id="7" name="Shape 5"/>
          <p:cNvSpPr/>
          <p:nvPr/>
        </p:nvSpPr>
        <p:spPr>
          <a:xfrm>
            <a:off x="1047750" y="3615690"/>
            <a:ext cx="14763750" cy="9525"/>
          </a:xfrm>
          <a:prstGeom prst="rect">
            <a:avLst/>
          </a:prstGeom>
          <a:solidFill>
            <a:srgbClr val="E3E1DB"/>
          </a:solidFill>
          <a:ln/>
        </p:spPr>
        <p:txBody>
          <a:bodyPr/>
          <a:lstStyle/>
          <a:p>
            <a:endParaRPr lang="en-US"/>
          </a:p>
        </p:txBody>
      </p:sp>
      <p:sp>
        <p:nvSpPr>
          <p:cNvPr id="8" name="Text 6"/>
          <p:cNvSpPr/>
          <p:nvPr/>
        </p:nvSpPr>
        <p:spPr>
          <a:xfrm>
            <a:off x="1047750" y="299085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676400" y="304800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About a third of the food grown for people is never eaten.</a:t>
            </a:r>
            <a:endParaRPr lang="en-US" sz="2175" dirty="0"/>
          </a:p>
        </p:txBody>
      </p:sp>
      <p:sp>
        <p:nvSpPr>
          <p:cNvPr id="10" name="Text 8"/>
          <p:cNvSpPr/>
          <p:nvPr/>
        </p:nvSpPr>
        <p:spPr>
          <a:xfrm>
            <a:off x="14997469" y="303276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457700"/>
            <a:ext cx="14763750" cy="9525"/>
          </a:xfrm>
          <a:prstGeom prst="rect">
            <a:avLst/>
          </a:prstGeom>
          <a:solidFill>
            <a:srgbClr val="E3E1DB"/>
          </a:solidFill>
          <a:ln/>
        </p:spPr>
        <p:txBody>
          <a:bodyPr/>
          <a:lstStyle/>
          <a:p>
            <a:endParaRPr lang="en-US"/>
          </a:p>
        </p:txBody>
      </p:sp>
      <p:sp>
        <p:nvSpPr>
          <p:cNvPr id="12" name="Text 10"/>
          <p:cNvSpPr/>
          <p:nvPr/>
        </p:nvSpPr>
        <p:spPr>
          <a:xfrm>
            <a:off x="1047750" y="383286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3" name="Text 11"/>
          <p:cNvSpPr/>
          <p:nvPr/>
        </p:nvSpPr>
        <p:spPr>
          <a:xfrm>
            <a:off x="1676400" y="389001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In wealthier countries, most food waste happens on farms.</a:t>
            </a:r>
            <a:endParaRPr lang="en-US" sz="2175" dirty="0"/>
          </a:p>
        </p:txBody>
      </p:sp>
      <p:sp>
        <p:nvSpPr>
          <p:cNvPr id="14" name="Text 12"/>
          <p:cNvSpPr/>
          <p:nvPr/>
        </p:nvSpPr>
        <p:spPr>
          <a:xfrm>
            <a:off x="14997469" y="387477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5299710"/>
            <a:ext cx="14763750" cy="9525"/>
          </a:xfrm>
          <a:prstGeom prst="rect">
            <a:avLst/>
          </a:prstGeom>
          <a:solidFill>
            <a:srgbClr val="E3E1DB"/>
          </a:solidFill>
          <a:ln/>
        </p:spPr>
        <p:txBody>
          <a:bodyPr/>
          <a:lstStyle/>
          <a:p>
            <a:endParaRPr lang="en-US"/>
          </a:p>
        </p:txBody>
      </p:sp>
      <p:sp>
        <p:nvSpPr>
          <p:cNvPr id="16" name="Text 14"/>
          <p:cNvSpPr/>
          <p:nvPr/>
        </p:nvSpPr>
        <p:spPr>
          <a:xfrm>
            <a:off x="1047750" y="467487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7" name="Text 15"/>
          <p:cNvSpPr/>
          <p:nvPr/>
        </p:nvSpPr>
        <p:spPr>
          <a:xfrm>
            <a:off x="1676400" y="473202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Food rotting in a landfill releases methane.</a:t>
            </a:r>
            <a:endParaRPr lang="en-US" sz="2175" dirty="0"/>
          </a:p>
        </p:txBody>
      </p:sp>
      <p:sp>
        <p:nvSpPr>
          <p:cNvPr id="18" name="Text 16"/>
          <p:cNvSpPr/>
          <p:nvPr/>
        </p:nvSpPr>
        <p:spPr>
          <a:xfrm>
            <a:off x="14997469" y="47167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6141720"/>
            <a:ext cx="14763750" cy="9525"/>
          </a:xfrm>
          <a:prstGeom prst="rect">
            <a:avLst/>
          </a:prstGeom>
          <a:solidFill>
            <a:srgbClr val="E3E1DB"/>
          </a:solidFill>
          <a:ln/>
        </p:spPr>
        <p:txBody>
          <a:bodyPr/>
          <a:lstStyle/>
          <a:p>
            <a:endParaRPr lang="en-US"/>
          </a:p>
        </p:txBody>
      </p:sp>
      <p:sp>
        <p:nvSpPr>
          <p:cNvPr id="20" name="Text 18"/>
          <p:cNvSpPr/>
          <p:nvPr/>
        </p:nvSpPr>
        <p:spPr>
          <a:xfrm>
            <a:off x="1047750" y="551688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21" name="Text 19"/>
          <p:cNvSpPr/>
          <p:nvPr/>
        </p:nvSpPr>
        <p:spPr>
          <a:xfrm>
            <a:off x="1676400" y="557403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Food waste has almost no effect on the climate.</a:t>
            </a:r>
            <a:endParaRPr lang="en-US" sz="2175" dirty="0"/>
          </a:p>
        </p:txBody>
      </p:sp>
      <p:sp>
        <p:nvSpPr>
          <p:cNvPr id="22" name="Text 20"/>
          <p:cNvSpPr/>
          <p:nvPr/>
        </p:nvSpPr>
        <p:spPr>
          <a:xfrm>
            <a:off x="14997469" y="55587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635889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4" name="Text 22"/>
          <p:cNvSpPr/>
          <p:nvPr/>
        </p:nvSpPr>
        <p:spPr>
          <a:xfrm>
            <a:off x="1676400" y="641604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Some shops sell surplus food cheaply instead of binning it.</a:t>
            </a:r>
            <a:endParaRPr lang="en-US" sz="2175" dirty="0"/>
          </a:p>
        </p:txBody>
      </p:sp>
      <p:sp>
        <p:nvSpPr>
          <p:cNvPr id="25" name="Text 23"/>
          <p:cNvSpPr/>
          <p:nvPr/>
        </p:nvSpPr>
        <p:spPr>
          <a:xfrm>
            <a:off x="14997469" y="640080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684020"/>
            <a:ext cx="2419386"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88770"/>
            <a:ext cx="1601272" cy="388620"/>
          </a:xfrm>
          <a:prstGeom prst="rect">
            <a:avLst/>
          </a:prstGeom>
          <a:solidFill>
            <a:srgbClr val="1A2A5E"/>
          </a:solidFill>
          <a:ln/>
        </p:spPr>
        <p:txBody>
          <a:bodyPr/>
          <a:lstStyle/>
          <a:p>
            <a:endParaRPr lang="en-US"/>
          </a:p>
        </p:txBody>
      </p:sp>
      <p:sp>
        <p:nvSpPr>
          <p:cNvPr id="7" name="Text 5"/>
          <p:cNvSpPr/>
          <p:nvPr/>
        </p:nvSpPr>
        <p:spPr>
          <a:xfrm>
            <a:off x="3628192" y="16459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1074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True or False?</a:t>
            </a:r>
            <a:endParaRPr lang="en-US" sz="3900" dirty="0"/>
          </a:p>
        </p:txBody>
      </p:sp>
      <p:sp>
        <p:nvSpPr>
          <p:cNvPr id="9" name="Text 7"/>
          <p:cNvSpPr/>
          <p:nvPr/>
        </p:nvSpPr>
        <p:spPr>
          <a:xfrm>
            <a:off x="1047750" y="31470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0" name="Text 8"/>
          <p:cNvSpPr/>
          <p:nvPr/>
        </p:nvSpPr>
        <p:spPr>
          <a:xfrm>
            <a:off x="1676400" y="31623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1965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About a third of the food grown for people is never eaten.</a:t>
            </a:r>
            <a:endParaRPr lang="en-US" sz="1950" dirty="0"/>
          </a:p>
        </p:txBody>
      </p:sp>
      <p:sp>
        <p:nvSpPr>
          <p:cNvPr id="12" name="Text 10"/>
          <p:cNvSpPr/>
          <p:nvPr/>
        </p:nvSpPr>
        <p:spPr>
          <a:xfrm>
            <a:off x="1047750" y="36995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3" name="Text 11"/>
          <p:cNvSpPr/>
          <p:nvPr/>
        </p:nvSpPr>
        <p:spPr>
          <a:xfrm>
            <a:off x="1676400" y="37147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7490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In wealthier countries, most food waste happens on farms. </a:t>
            </a:r>
            <a:r>
              <a:rPr lang="en-US" sz="1950" i="1" dirty="0">
                <a:solidFill>
                  <a:srgbClr val="888888"/>
                </a:solidFill>
                <a:latin typeface="Helvetica" pitchFamily="34" charset="0"/>
                <a:ea typeface="Helvetica" pitchFamily="34" charset="-122"/>
                <a:cs typeface="Helvetica" pitchFamily="34" charset="-120"/>
              </a:rPr>
              <a:t>— it happens at home.</a:t>
            </a:r>
            <a:endParaRPr lang="en-US" sz="1950" dirty="0"/>
          </a:p>
        </p:txBody>
      </p:sp>
      <p:sp>
        <p:nvSpPr>
          <p:cNvPr id="15" name="Text 13"/>
          <p:cNvSpPr/>
          <p:nvPr/>
        </p:nvSpPr>
        <p:spPr>
          <a:xfrm>
            <a:off x="1047750" y="42519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6" name="Text 14"/>
          <p:cNvSpPr/>
          <p:nvPr/>
        </p:nvSpPr>
        <p:spPr>
          <a:xfrm>
            <a:off x="1676400" y="42672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3014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Food rotting in a landfill releases methane.</a:t>
            </a:r>
            <a:endParaRPr lang="en-US" sz="1950" dirty="0"/>
          </a:p>
        </p:txBody>
      </p:sp>
      <p:sp>
        <p:nvSpPr>
          <p:cNvPr id="18" name="Text 16"/>
          <p:cNvSpPr/>
          <p:nvPr/>
        </p:nvSpPr>
        <p:spPr>
          <a:xfrm>
            <a:off x="1047750" y="48044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19" name="Text 17"/>
          <p:cNvSpPr/>
          <p:nvPr/>
        </p:nvSpPr>
        <p:spPr>
          <a:xfrm>
            <a:off x="1676400" y="48196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8539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Food waste has almost no effect on the climate. </a:t>
            </a:r>
            <a:r>
              <a:rPr lang="en-US" sz="1950" i="1" dirty="0">
                <a:solidFill>
                  <a:srgbClr val="888888"/>
                </a:solidFill>
                <a:latin typeface="Helvetica" pitchFamily="34" charset="0"/>
                <a:ea typeface="Helvetica" pitchFamily="34" charset="-122"/>
                <a:cs typeface="Helvetica" pitchFamily="34" charset="-120"/>
              </a:rPr>
              <a:t>— it drives methane.</a:t>
            </a:r>
            <a:endParaRPr lang="en-US" sz="1950" dirty="0"/>
          </a:p>
        </p:txBody>
      </p:sp>
      <p:sp>
        <p:nvSpPr>
          <p:cNvPr id="21" name="Text 19"/>
          <p:cNvSpPr/>
          <p:nvPr/>
        </p:nvSpPr>
        <p:spPr>
          <a:xfrm>
            <a:off x="1047750" y="53568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2" name="Text 20"/>
          <p:cNvSpPr/>
          <p:nvPr/>
        </p:nvSpPr>
        <p:spPr>
          <a:xfrm>
            <a:off x="1676400" y="53721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4063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Some shops sell surplus food cheaply instead of binning it.</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125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80975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Playfair Display" pitchFamily="34" charset="0"/>
                <a:ea typeface="Playfair Display" pitchFamily="34" charset="-122"/>
                <a:cs typeface="Playfair Display" pitchFamily="34" charset="-120"/>
              </a:rPr>
              <a:t>Talk it through</a:t>
            </a:r>
            <a:endParaRPr lang="en-US" sz="3900" dirty="0"/>
          </a:p>
        </p:txBody>
      </p:sp>
      <p:sp>
        <p:nvSpPr>
          <p:cNvPr id="7" name="Shape 5"/>
          <p:cNvSpPr/>
          <p:nvPr/>
        </p:nvSpPr>
        <p:spPr>
          <a:xfrm>
            <a:off x="1047750" y="3394710"/>
            <a:ext cx="15049500" cy="9525"/>
          </a:xfrm>
          <a:prstGeom prst="rect">
            <a:avLst/>
          </a:prstGeom>
          <a:solidFill>
            <a:srgbClr val="34437A"/>
          </a:solidFill>
          <a:ln/>
        </p:spPr>
        <p:txBody>
          <a:bodyPr/>
          <a:lstStyle/>
          <a:p>
            <a:endParaRPr lang="en-US"/>
          </a:p>
        </p:txBody>
      </p:sp>
      <p:sp>
        <p:nvSpPr>
          <p:cNvPr id="8" name="Text 6"/>
          <p:cNvSpPr/>
          <p:nvPr/>
        </p:nvSpPr>
        <p:spPr>
          <a:xfrm>
            <a:off x="1047750" y="2807970"/>
            <a:ext cx="20193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402080" y="2891790"/>
            <a:ext cx="16164688"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throw away much food at home? What kind, and why?</a:t>
            </a:r>
            <a:endParaRPr lang="en-US" sz="2100" dirty="0"/>
          </a:p>
        </p:txBody>
      </p:sp>
      <p:sp>
        <p:nvSpPr>
          <p:cNvPr id="10" name="Shape 8"/>
          <p:cNvSpPr/>
          <p:nvPr/>
        </p:nvSpPr>
        <p:spPr>
          <a:xfrm>
            <a:off x="1047750" y="4160520"/>
            <a:ext cx="15049500" cy="9525"/>
          </a:xfrm>
          <a:prstGeom prst="rect">
            <a:avLst/>
          </a:prstGeom>
          <a:solidFill>
            <a:srgbClr val="34437A"/>
          </a:solidFill>
          <a:ln/>
        </p:spPr>
        <p:txBody>
          <a:bodyPr/>
          <a:lstStyle/>
          <a:p>
            <a:endParaRPr lang="en-US"/>
          </a:p>
        </p:txBody>
      </p:sp>
      <p:sp>
        <p:nvSpPr>
          <p:cNvPr id="11" name="Text 9"/>
          <p:cNvSpPr/>
          <p:nvPr/>
        </p:nvSpPr>
        <p:spPr>
          <a:xfrm>
            <a:off x="1047750" y="3573780"/>
            <a:ext cx="250508"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2" name="Text 10"/>
          <p:cNvSpPr/>
          <p:nvPr/>
        </p:nvSpPr>
        <p:spPr>
          <a:xfrm>
            <a:off x="1450658" y="3657600"/>
            <a:ext cx="16111253"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How was food treated in your home when you were growing up?</a:t>
            </a:r>
            <a:endParaRPr lang="en-US" sz="2100" dirty="0"/>
          </a:p>
        </p:txBody>
      </p:sp>
      <p:sp>
        <p:nvSpPr>
          <p:cNvPr id="13" name="Shape 11"/>
          <p:cNvSpPr/>
          <p:nvPr/>
        </p:nvSpPr>
        <p:spPr>
          <a:xfrm>
            <a:off x="1047750" y="4926330"/>
            <a:ext cx="15049500" cy="9525"/>
          </a:xfrm>
          <a:prstGeom prst="rect">
            <a:avLst/>
          </a:prstGeom>
          <a:solidFill>
            <a:srgbClr val="34437A"/>
          </a:solidFill>
          <a:ln/>
        </p:spPr>
        <p:txBody>
          <a:bodyPr/>
          <a:lstStyle/>
          <a:p>
            <a:endParaRPr lang="en-US"/>
          </a:p>
        </p:txBody>
      </p:sp>
      <p:sp>
        <p:nvSpPr>
          <p:cNvPr id="14" name="Text 12"/>
          <p:cNvSpPr/>
          <p:nvPr/>
        </p:nvSpPr>
        <p:spPr>
          <a:xfrm>
            <a:off x="1047750" y="4339590"/>
            <a:ext cx="23812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5" name="Text 13"/>
          <p:cNvSpPr/>
          <p:nvPr/>
        </p:nvSpPr>
        <p:spPr>
          <a:xfrm>
            <a:off x="1438275" y="4423410"/>
            <a:ext cx="16124872"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do you think people in wealthier countries waste more food?</a:t>
            </a:r>
            <a:endParaRPr lang="en-US" sz="2100" dirty="0"/>
          </a:p>
        </p:txBody>
      </p:sp>
      <p:sp>
        <p:nvSpPr>
          <p:cNvPr id="16" name="Shape 14"/>
          <p:cNvSpPr/>
          <p:nvPr/>
        </p:nvSpPr>
        <p:spPr>
          <a:xfrm>
            <a:off x="1047750" y="5692140"/>
            <a:ext cx="15049500" cy="9525"/>
          </a:xfrm>
          <a:prstGeom prst="rect">
            <a:avLst/>
          </a:prstGeom>
          <a:solidFill>
            <a:srgbClr val="34437A"/>
          </a:solidFill>
          <a:ln/>
        </p:spPr>
        <p:txBody>
          <a:bodyPr/>
          <a:lstStyle/>
          <a:p>
            <a:endParaRPr lang="en-US"/>
          </a:p>
        </p:txBody>
      </p:sp>
      <p:sp>
        <p:nvSpPr>
          <p:cNvPr id="17" name="Text 15"/>
          <p:cNvSpPr/>
          <p:nvPr/>
        </p:nvSpPr>
        <p:spPr>
          <a:xfrm>
            <a:off x="1047750" y="5105400"/>
            <a:ext cx="25086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18" name="Text 16"/>
          <p:cNvSpPr/>
          <p:nvPr/>
        </p:nvSpPr>
        <p:spPr>
          <a:xfrm>
            <a:off x="1451015" y="5189220"/>
            <a:ext cx="16110859"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Should supermarkets be allowed to throw away food that is still edible?</a:t>
            </a:r>
            <a:endParaRPr lang="en-US" sz="2100" dirty="0"/>
          </a:p>
        </p:txBody>
      </p:sp>
      <p:sp>
        <p:nvSpPr>
          <p:cNvPr id="19" name="Text 17"/>
          <p:cNvSpPr/>
          <p:nvPr/>
        </p:nvSpPr>
        <p:spPr>
          <a:xfrm>
            <a:off x="1047750" y="5871210"/>
            <a:ext cx="229791"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0" name="Text 18"/>
          <p:cNvSpPr/>
          <p:nvPr/>
        </p:nvSpPr>
        <p:spPr>
          <a:xfrm>
            <a:off x="1429941" y="5955030"/>
            <a:ext cx="16134040"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it ever acceptable to waste food? Where would you draw the line?</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50670"/>
            <a:ext cx="275754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60195"/>
            <a:ext cx="2233017"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96390"/>
            <a:ext cx="2065377" cy="205740"/>
          </a:xfrm>
          <a:prstGeom prst="rect">
            <a:avLst/>
          </a:prstGeom>
          <a:noFill/>
          <a:ln/>
        </p:spPr>
        <p:txBody>
          <a:bodyPr wrap="none" lIns="25400" tIns="25400" rIns="25400" bIns="25400" rtlCol="0" anchor="t">
            <a:normAutofit lnSpcReduction="10000"/>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BUDGET CHALLENGE</a:t>
            </a:r>
            <a:endParaRPr lang="en-US" sz="1125" dirty="0"/>
          </a:p>
        </p:txBody>
      </p:sp>
      <p:sp>
        <p:nvSpPr>
          <p:cNvPr id="8" name="Text 6"/>
          <p:cNvSpPr/>
          <p:nvPr/>
        </p:nvSpPr>
        <p:spPr>
          <a:xfrm>
            <a:off x="1047750" y="1914525"/>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Fund only three projects</a:t>
            </a:r>
            <a:endParaRPr lang="en-US" sz="3750" dirty="0"/>
          </a:p>
        </p:txBody>
      </p:sp>
      <p:sp>
        <p:nvSpPr>
          <p:cNvPr id="9" name="Text 7"/>
          <p:cNvSpPr/>
          <p:nvPr/>
        </p:nvSpPr>
        <p:spPr>
          <a:xfrm>
            <a:off x="1047750" y="2668905"/>
            <a:ext cx="15697200" cy="60198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Your city has received a government grant to reduce food waste. There is enough funding for only </a:t>
            </a:r>
            <a:r>
              <a:rPr lang="en-US" sz="1950" b="1" dirty="0">
                <a:solidFill>
                  <a:srgbClr val="1A2A5E"/>
                </a:solidFill>
                <a:latin typeface="Helvetica" pitchFamily="34" charset="0"/>
                <a:ea typeface="Helvetica" pitchFamily="34" charset="-122"/>
                <a:cs typeface="Helvetica" pitchFamily="34" charset="-120"/>
              </a:rPr>
              <a:t>THREE </a:t>
            </a:r>
            <a:r>
              <a:rPr lang="en-US" sz="1950" dirty="0">
                <a:solidFill>
                  <a:srgbClr val="555555"/>
                </a:solidFill>
                <a:latin typeface="Helvetica" pitchFamily="34" charset="0"/>
                <a:ea typeface="Helvetica" pitchFamily="34" charset="-122"/>
                <a:cs typeface="Helvetica" pitchFamily="34" charset="-120"/>
              </a:rPr>
              <a:t>projects. As a group, decide which projects should be funded and explain why.</a:t>
            </a:r>
            <a:endParaRPr lang="en-US" sz="1950" dirty="0"/>
          </a:p>
        </p:txBody>
      </p:sp>
      <p:sp>
        <p:nvSpPr>
          <p:cNvPr id="10" name="Shape 8"/>
          <p:cNvSpPr/>
          <p:nvPr/>
        </p:nvSpPr>
        <p:spPr>
          <a:xfrm>
            <a:off x="1047750" y="4070985"/>
            <a:ext cx="7096125" cy="9525"/>
          </a:xfrm>
          <a:prstGeom prst="rect">
            <a:avLst/>
          </a:prstGeom>
          <a:solidFill>
            <a:srgbClr val="D8D6D0"/>
          </a:solidFill>
          <a:ln/>
        </p:spPr>
        <p:txBody>
          <a:bodyPr/>
          <a:lstStyle/>
          <a:p>
            <a:endParaRPr lang="en-US"/>
          </a:p>
        </p:txBody>
      </p:sp>
      <p:sp>
        <p:nvSpPr>
          <p:cNvPr id="11" name="Shape 9"/>
          <p:cNvSpPr/>
          <p:nvPr/>
        </p:nvSpPr>
        <p:spPr>
          <a:xfrm>
            <a:off x="1047750" y="3613785"/>
            <a:ext cx="323850" cy="323850"/>
          </a:xfrm>
          <a:prstGeom prst="rect">
            <a:avLst/>
          </a:prstGeom>
          <a:ln w="15240">
            <a:solidFill>
              <a:srgbClr val="1A2A5E"/>
            </a:solidFill>
            <a:prstDash val="solid"/>
          </a:ln>
        </p:spPr>
        <p:txBody>
          <a:bodyPr/>
          <a:lstStyle/>
          <a:p>
            <a:endParaRPr lang="en-US"/>
          </a:p>
        </p:txBody>
      </p:sp>
      <p:sp>
        <p:nvSpPr>
          <p:cNvPr id="12" name="Text 10"/>
          <p:cNvSpPr/>
          <p:nvPr/>
        </p:nvSpPr>
        <p:spPr>
          <a:xfrm>
            <a:off x="1581150" y="3623310"/>
            <a:ext cx="153312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Food banks</a:t>
            </a:r>
            <a:endParaRPr lang="en-US" sz="2100" dirty="0"/>
          </a:p>
        </p:txBody>
      </p:sp>
      <p:sp>
        <p:nvSpPr>
          <p:cNvPr id="13" name="Shape 11"/>
          <p:cNvSpPr/>
          <p:nvPr/>
        </p:nvSpPr>
        <p:spPr>
          <a:xfrm>
            <a:off x="8810625" y="4070985"/>
            <a:ext cx="7096125" cy="9525"/>
          </a:xfrm>
          <a:prstGeom prst="rect">
            <a:avLst/>
          </a:prstGeom>
          <a:solidFill>
            <a:srgbClr val="D8D6D0"/>
          </a:solidFill>
          <a:ln/>
        </p:spPr>
        <p:txBody>
          <a:bodyPr/>
          <a:lstStyle/>
          <a:p>
            <a:endParaRPr lang="en-US"/>
          </a:p>
        </p:txBody>
      </p:sp>
      <p:sp>
        <p:nvSpPr>
          <p:cNvPr id="14" name="Shape 12"/>
          <p:cNvSpPr/>
          <p:nvPr/>
        </p:nvSpPr>
        <p:spPr>
          <a:xfrm>
            <a:off x="8810625" y="3613785"/>
            <a:ext cx="323850" cy="323850"/>
          </a:xfrm>
          <a:prstGeom prst="rect">
            <a:avLst/>
          </a:prstGeom>
          <a:ln w="15240">
            <a:solidFill>
              <a:srgbClr val="1A2A5E"/>
            </a:solidFill>
            <a:prstDash val="solid"/>
          </a:ln>
        </p:spPr>
        <p:txBody>
          <a:bodyPr/>
          <a:lstStyle/>
          <a:p>
            <a:endParaRPr lang="en-US"/>
          </a:p>
        </p:txBody>
      </p:sp>
      <p:sp>
        <p:nvSpPr>
          <p:cNvPr id="15" name="Text 13"/>
          <p:cNvSpPr/>
          <p:nvPr/>
        </p:nvSpPr>
        <p:spPr>
          <a:xfrm>
            <a:off x="9344025" y="3623310"/>
            <a:ext cx="2577203"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A discount food app</a:t>
            </a:r>
            <a:endParaRPr lang="en-US" sz="2100" dirty="0"/>
          </a:p>
        </p:txBody>
      </p:sp>
      <p:sp>
        <p:nvSpPr>
          <p:cNvPr id="16" name="Shape 14"/>
          <p:cNvSpPr/>
          <p:nvPr/>
        </p:nvSpPr>
        <p:spPr>
          <a:xfrm>
            <a:off x="1047750" y="4707255"/>
            <a:ext cx="7096125" cy="9525"/>
          </a:xfrm>
          <a:prstGeom prst="rect">
            <a:avLst/>
          </a:prstGeom>
          <a:solidFill>
            <a:srgbClr val="D8D6D0"/>
          </a:solidFill>
          <a:ln/>
        </p:spPr>
        <p:txBody>
          <a:bodyPr/>
          <a:lstStyle/>
          <a:p>
            <a:endParaRPr lang="en-US"/>
          </a:p>
        </p:txBody>
      </p:sp>
      <p:sp>
        <p:nvSpPr>
          <p:cNvPr id="17" name="Shape 15"/>
          <p:cNvSpPr/>
          <p:nvPr/>
        </p:nvSpPr>
        <p:spPr>
          <a:xfrm>
            <a:off x="1047750" y="4250055"/>
            <a:ext cx="323850" cy="323850"/>
          </a:xfrm>
          <a:prstGeom prst="rect">
            <a:avLst/>
          </a:prstGeom>
          <a:ln w="15240">
            <a:solidFill>
              <a:srgbClr val="1A2A5E"/>
            </a:solidFill>
            <a:prstDash val="solid"/>
          </a:ln>
        </p:spPr>
        <p:txBody>
          <a:bodyPr/>
          <a:lstStyle/>
          <a:p>
            <a:endParaRPr lang="en-US"/>
          </a:p>
        </p:txBody>
      </p:sp>
      <p:sp>
        <p:nvSpPr>
          <p:cNvPr id="18" name="Text 16"/>
          <p:cNvSpPr/>
          <p:nvPr/>
        </p:nvSpPr>
        <p:spPr>
          <a:xfrm>
            <a:off x="1581150" y="4259580"/>
            <a:ext cx="225096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School education</a:t>
            </a:r>
            <a:endParaRPr lang="en-US" sz="2100" dirty="0"/>
          </a:p>
        </p:txBody>
      </p:sp>
      <p:sp>
        <p:nvSpPr>
          <p:cNvPr id="19" name="Shape 17"/>
          <p:cNvSpPr/>
          <p:nvPr/>
        </p:nvSpPr>
        <p:spPr>
          <a:xfrm>
            <a:off x="8810625" y="4707255"/>
            <a:ext cx="7096125" cy="9525"/>
          </a:xfrm>
          <a:prstGeom prst="rect">
            <a:avLst/>
          </a:prstGeom>
          <a:solidFill>
            <a:srgbClr val="D8D6D0"/>
          </a:solidFill>
          <a:ln/>
        </p:spPr>
        <p:txBody>
          <a:bodyPr/>
          <a:lstStyle/>
          <a:p>
            <a:endParaRPr lang="en-US"/>
          </a:p>
        </p:txBody>
      </p:sp>
      <p:sp>
        <p:nvSpPr>
          <p:cNvPr id="20" name="Shape 18"/>
          <p:cNvSpPr/>
          <p:nvPr/>
        </p:nvSpPr>
        <p:spPr>
          <a:xfrm>
            <a:off x="8810625" y="4250055"/>
            <a:ext cx="323850" cy="323850"/>
          </a:xfrm>
          <a:prstGeom prst="rect">
            <a:avLst/>
          </a:prstGeom>
          <a:ln w="15240">
            <a:solidFill>
              <a:srgbClr val="1A2A5E"/>
            </a:solidFill>
            <a:prstDash val="solid"/>
          </a:ln>
        </p:spPr>
        <p:txBody>
          <a:bodyPr/>
          <a:lstStyle/>
          <a:p>
            <a:endParaRPr lang="en-US"/>
          </a:p>
        </p:txBody>
      </p:sp>
      <p:sp>
        <p:nvSpPr>
          <p:cNvPr id="21" name="Text 19"/>
          <p:cNvSpPr/>
          <p:nvPr/>
        </p:nvSpPr>
        <p:spPr>
          <a:xfrm>
            <a:off x="9344025" y="4259580"/>
            <a:ext cx="3065324"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Community composting</a:t>
            </a:r>
            <a:endParaRPr lang="en-US" sz="2100" dirty="0"/>
          </a:p>
        </p:txBody>
      </p:sp>
      <p:sp>
        <p:nvSpPr>
          <p:cNvPr id="22" name="Shape 20"/>
          <p:cNvSpPr/>
          <p:nvPr/>
        </p:nvSpPr>
        <p:spPr>
          <a:xfrm>
            <a:off x="1047750" y="5343525"/>
            <a:ext cx="7096125" cy="9525"/>
          </a:xfrm>
          <a:prstGeom prst="rect">
            <a:avLst/>
          </a:prstGeom>
          <a:solidFill>
            <a:srgbClr val="D8D6D0"/>
          </a:solidFill>
          <a:ln/>
        </p:spPr>
        <p:txBody>
          <a:bodyPr/>
          <a:lstStyle/>
          <a:p>
            <a:endParaRPr lang="en-US"/>
          </a:p>
        </p:txBody>
      </p:sp>
      <p:sp>
        <p:nvSpPr>
          <p:cNvPr id="23" name="Shape 21"/>
          <p:cNvSpPr/>
          <p:nvPr/>
        </p:nvSpPr>
        <p:spPr>
          <a:xfrm>
            <a:off x="1047750" y="4886325"/>
            <a:ext cx="323850" cy="323850"/>
          </a:xfrm>
          <a:prstGeom prst="rect">
            <a:avLst/>
          </a:prstGeom>
          <a:ln w="15240">
            <a:solidFill>
              <a:srgbClr val="1A2A5E"/>
            </a:solidFill>
            <a:prstDash val="solid"/>
          </a:ln>
        </p:spPr>
        <p:txBody>
          <a:bodyPr/>
          <a:lstStyle/>
          <a:p>
            <a:endParaRPr lang="en-US"/>
          </a:p>
        </p:txBody>
      </p:sp>
      <p:sp>
        <p:nvSpPr>
          <p:cNvPr id="24" name="Text 22"/>
          <p:cNvSpPr/>
          <p:nvPr/>
        </p:nvSpPr>
        <p:spPr>
          <a:xfrm>
            <a:off x="1581150" y="4895850"/>
            <a:ext cx="3995202"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Better supermarket technology</a:t>
            </a:r>
            <a:endParaRPr lang="en-US" sz="2100" dirty="0"/>
          </a:p>
        </p:txBody>
      </p:sp>
      <p:sp>
        <p:nvSpPr>
          <p:cNvPr id="25" name="Shape 23"/>
          <p:cNvSpPr/>
          <p:nvPr/>
        </p:nvSpPr>
        <p:spPr>
          <a:xfrm>
            <a:off x="8810625" y="5343525"/>
            <a:ext cx="7096125" cy="9525"/>
          </a:xfrm>
          <a:prstGeom prst="rect">
            <a:avLst/>
          </a:prstGeom>
          <a:solidFill>
            <a:srgbClr val="D8D6D0"/>
          </a:solidFill>
          <a:ln/>
        </p:spPr>
        <p:txBody>
          <a:bodyPr/>
          <a:lstStyle/>
          <a:p>
            <a:endParaRPr lang="en-US"/>
          </a:p>
        </p:txBody>
      </p:sp>
      <p:sp>
        <p:nvSpPr>
          <p:cNvPr id="26" name="Shape 24"/>
          <p:cNvSpPr/>
          <p:nvPr/>
        </p:nvSpPr>
        <p:spPr>
          <a:xfrm>
            <a:off x="8810625" y="4886325"/>
            <a:ext cx="323850" cy="323850"/>
          </a:xfrm>
          <a:prstGeom prst="rect">
            <a:avLst/>
          </a:prstGeom>
          <a:ln w="15240">
            <a:solidFill>
              <a:srgbClr val="1A2A5E"/>
            </a:solidFill>
            <a:prstDash val="solid"/>
          </a:ln>
        </p:spPr>
        <p:txBody>
          <a:bodyPr/>
          <a:lstStyle/>
          <a:p>
            <a:endParaRPr lang="en-US"/>
          </a:p>
        </p:txBody>
      </p:sp>
      <p:sp>
        <p:nvSpPr>
          <p:cNvPr id="27" name="Text 25"/>
          <p:cNvSpPr/>
          <p:nvPr/>
        </p:nvSpPr>
        <p:spPr>
          <a:xfrm>
            <a:off x="9344025" y="4895850"/>
            <a:ext cx="3522143"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Smaller restaurant portions</a:t>
            </a:r>
            <a:endParaRPr lang="en-US" sz="2100" dirty="0"/>
          </a:p>
        </p:txBody>
      </p:sp>
      <p:sp>
        <p:nvSpPr>
          <p:cNvPr id="28" name="Shape 26"/>
          <p:cNvSpPr/>
          <p:nvPr/>
        </p:nvSpPr>
        <p:spPr>
          <a:xfrm>
            <a:off x="1047750" y="5979795"/>
            <a:ext cx="7096125" cy="9525"/>
          </a:xfrm>
          <a:prstGeom prst="rect">
            <a:avLst/>
          </a:prstGeom>
          <a:solidFill>
            <a:srgbClr val="D8D6D0"/>
          </a:solidFill>
          <a:ln/>
        </p:spPr>
        <p:txBody>
          <a:bodyPr/>
          <a:lstStyle/>
          <a:p>
            <a:endParaRPr lang="en-US"/>
          </a:p>
        </p:txBody>
      </p:sp>
      <p:sp>
        <p:nvSpPr>
          <p:cNvPr id="29" name="Shape 27"/>
          <p:cNvSpPr/>
          <p:nvPr/>
        </p:nvSpPr>
        <p:spPr>
          <a:xfrm>
            <a:off x="1047750" y="5522595"/>
            <a:ext cx="323850" cy="323850"/>
          </a:xfrm>
          <a:prstGeom prst="rect">
            <a:avLst/>
          </a:prstGeom>
          <a:ln w="15240">
            <a:solidFill>
              <a:srgbClr val="1A2A5E"/>
            </a:solidFill>
            <a:prstDash val="solid"/>
          </a:ln>
        </p:spPr>
        <p:txBody>
          <a:bodyPr/>
          <a:lstStyle/>
          <a:p>
            <a:endParaRPr lang="en-US"/>
          </a:p>
        </p:txBody>
      </p:sp>
      <p:sp>
        <p:nvSpPr>
          <p:cNvPr id="30" name="Text 28"/>
          <p:cNvSpPr/>
          <p:nvPr/>
        </p:nvSpPr>
        <p:spPr>
          <a:xfrm>
            <a:off x="1581150" y="5532120"/>
            <a:ext cx="3114961"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New food donation laws</a:t>
            </a:r>
            <a:endParaRPr lang="en-US" sz="2100" dirty="0"/>
          </a:p>
        </p:txBody>
      </p:sp>
      <p:sp>
        <p:nvSpPr>
          <p:cNvPr id="31" name="Shape 29"/>
          <p:cNvSpPr/>
          <p:nvPr/>
        </p:nvSpPr>
        <p:spPr>
          <a:xfrm>
            <a:off x="8810625" y="5979795"/>
            <a:ext cx="7096125" cy="9525"/>
          </a:xfrm>
          <a:prstGeom prst="rect">
            <a:avLst/>
          </a:prstGeom>
          <a:solidFill>
            <a:srgbClr val="D8D6D0"/>
          </a:solidFill>
          <a:ln/>
        </p:spPr>
        <p:txBody>
          <a:bodyPr/>
          <a:lstStyle/>
          <a:p>
            <a:endParaRPr lang="en-US"/>
          </a:p>
        </p:txBody>
      </p:sp>
      <p:sp>
        <p:nvSpPr>
          <p:cNvPr id="32" name="Shape 30"/>
          <p:cNvSpPr/>
          <p:nvPr/>
        </p:nvSpPr>
        <p:spPr>
          <a:xfrm>
            <a:off x="8810625" y="5522595"/>
            <a:ext cx="323850" cy="323850"/>
          </a:xfrm>
          <a:prstGeom prst="rect">
            <a:avLst/>
          </a:prstGeom>
          <a:ln w="15240">
            <a:solidFill>
              <a:srgbClr val="1A2A5E"/>
            </a:solidFill>
            <a:prstDash val="solid"/>
          </a:ln>
        </p:spPr>
        <p:txBody>
          <a:bodyPr/>
          <a:lstStyle/>
          <a:p>
            <a:endParaRPr lang="en-US"/>
          </a:p>
        </p:txBody>
      </p:sp>
      <p:sp>
        <p:nvSpPr>
          <p:cNvPr id="33" name="Text 31"/>
          <p:cNvSpPr/>
          <p:nvPr/>
        </p:nvSpPr>
        <p:spPr>
          <a:xfrm>
            <a:off x="9344025" y="5532120"/>
            <a:ext cx="244558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Community fridges</a:t>
            </a:r>
            <a:endParaRPr lang="en-US" sz="2100" dirty="0"/>
          </a:p>
        </p:txBody>
      </p:sp>
      <p:sp>
        <p:nvSpPr>
          <p:cNvPr id="34" name="Text 32"/>
          <p:cNvSpPr/>
          <p:nvPr/>
        </p:nvSpPr>
        <p:spPr>
          <a:xfrm>
            <a:off x="1047750" y="6402705"/>
            <a:ext cx="1958245" cy="213360"/>
          </a:xfrm>
          <a:prstGeom prst="rect">
            <a:avLst/>
          </a:prstGeom>
          <a:noFill/>
          <a:ln/>
        </p:spPr>
        <p:txBody>
          <a:bodyPr wrap="none" lIns="25400" tIns="25400" rIns="25400" bIns="25400" rtlCol="0" anchor="t">
            <a:normAutofit fontScale="92500" lnSpcReduction="10000"/>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AFTER CHOOSING</a:t>
            </a:r>
            <a:endParaRPr lang="en-US" sz="1200" dirty="0"/>
          </a:p>
        </p:txBody>
      </p:sp>
      <p:sp>
        <p:nvSpPr>
          <p:cNvPr id="35" name="Text 33"/>
          <p:cNvSpPr/>
          <p:nvPr/>
        </p:nvSpPr>
        <p:spPr>
          <a:xfrm>
            <a:off x="3018472" y="6311265"/>
            <a:ext cx="13810132" cy="355759"/>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725" dirty="0">
                <a:solidFill>
                  <a:srgbClr val="1A1A1A"/>
                </a:solidFill>
                <a:latin typeface="Helvetica" pitchFamily="34" charset="0"/>
                <a:ea typeface="Helvetica" pitchFamily="34" charset="-122"/>
                <a:cs typeface="Helvetica" pitchFamily="34" charset="-120"/>
              </a:rPr>
              <a:t>Which idea would have the biggest impact? · Which would be hardest to implement? · Which did your group disagree on most?</a:t>
            </a:r>
            <a:endParaRPr lang="en-US" sz="1725" dirty="0"/>
          </a:p>
        </p:txBody>
      </p:sp>
      <p:sp>
        <p:nvSpPr>
          <p:cNvPr id="36" name="Text 34"/>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No single correct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6690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Complete &amp; say each line</a:t>
            </a:r>
            <a:endParaRPr lang="en-US" sz="3900" dirty="0"/>
          </a:p>
        </p:txBody>
      </p:sp>
      <p:sp>
        <p:nvSpPr>
          <p:cNvPr id="7" name="Text 5"/>
          <p:cNvSpPr/>
          <p:nvPr/>
        </p:nvSpPr>
        <p:spPr>
          <a:xfrm>
            <a:off x="1047750" y="2636520"/>
            <a:ext cx="17811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312420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310890"/>
            <a:ext cx="146750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perishable</a:t>
            </a:r>
            <a:endParaRPr lang="en-US" sz="2100" dirty="0"/>
          </a:p>
        </p:txBody>
      </p:sp>
      <p:sp>
        <p:nvSpPr>
          <p:cNvPr id="10" name="Text 8"/>
          <p:cNvSpPr/>
          <p:nvPr/>
        </p:nvSpPr>
        <p:spPr>
          <a:xfrm>
            <a:off x="3101935" y="3310890"/>
            <a:ext cx="1024890"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discard</a:t>
            </a:r>
            <a:endParaRPr lang="en-US" sz="2100" dirty="0"/>
          </a:p>
        </p:txBody>
      </p:sp>
      <p:sp>
        <p:nvSpPr>
          <p:cNvPr id="11" name="Text 9"/>
          <p:cNvSpPr/>
          <p:nvPr/>
        </p:nvSpPr>
        <p:spPr>
          <a:xfrm>
            <a:off x="4431625" y="3310890"/>
            <a:ext cx="103953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surplus</a:t>
            </a:r>
            <a:endParaRPr lang="en-US" sz="2100" dirty="0"/>
          </a:p>
        </p:txBody>
      </p:sp>
      <p:sp>
        <p:nvSpPr>
          <p:cNvPr id="12" name="Text 10"/>
          <p:cNvSpPr/>
          <p:nvPr/>
        </p:nvSpPr>
        <p:spPr>
          <a:xfrm>
            <a:off x="5775960" y="3310890"/>
            <a:ext cx="1187648"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compost</a:t>
            </a:r>
            <a:endParaRPr lang="en-US" sz="2100" dirty="0"/>
          </a:p>
        </p:txBody>
      </p:sp>
      <p:sp>
        <p:nvSpPr>
          <p:cNvPr id="13" name="Text 11"/>
          <p:cNvSpPr/>
          <p:nvPr/>
        </p:nvSpPr>
        <p:spPr>
          <a:xfrm>
            <a:off x="7268409" y="3310890"/>
            <a:ext cx="846892"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edible</a:t>
            </a:r>
            <a:endParaRPr lang="en-US" sz="2100" dirty="0"/>
          </a:p>
        </p:txBody>
      </p:sp>
      <p:sp>
        <p:nvSpPr>
          <p:cNvPr id="14" name="Text 12"/>
          <p:cNvSpPr/>
          <p:nvPr/>
        </p:nvSpPr>
        <p:spPr>
          <a:xfrm>
            <a:off x="1047750" y="408813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5" name="Text 13"/>
          <p:cNvSpPr/>
          <p:nvPr/>
        </p:nvSpPr>
        <p:spPr>
          <a:xfrm>
            <a:off x="1581150" y="4110990"/>
            <a:ext cx="940656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Milk and fresh vegetables are ________________ , so they spoil quickly.</a:t>
            </a:r>
            <a:endParaRPr lang="en-US" sz="2250" dirty="0"/>
          </a:p>
        </p:txBody>
      </p:sp>
      <p:sp>
        <p:nvSpPr>
          <p:cNvPr id="16" name="Text 14"/>
          <p:cNvSpPr/>
          <p:nvPr/>
        </p:nvSpPr>
        <p:spPr>
          <a:xfrm>
            <a:off x="1047750" y="4706303"/>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7" name="Text 15"/>
          <p:cNvSpPr/>
          <p:nvPr/>
        </p:nvSpPr>
        <p:spPr>
          <a:xfrm>
            <a:off x="1581150" y="4729163"/>
            <a:ext cx="8103037"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Please don’t ________________ bread that is still good to eat.</a:t>
            </a:r>
            <a:endParaRPr lang="en-US" sz="2250" dirty="0"/>
          </a:p>
        </p:txBody>
      </p:sp>
      <p:sp>
        <p:nvSpPr>
          <p:cNvPr id="18" name="Text 16"/>
          <p:cNvSpPr/>
          <p:nvPr/>
        </p:nvSpPr>
        <p:spPr>
          <a:xfrm>
            <a:off x="1047750" y="5324475"/>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9" name="Text 17"/>
          <p:cNvSpPr/>
          <p:nvPr/>
        </p:nvSpPr>
        <p:spPr>
          <a:xfrm>
            <a:off x="1581150" y="5347335"/>
            <a:ext cx="7263396"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The shop sold its ________________ stock at half price.</a:t>
            </a:r>
            <a:endParaRPr lang="en-US" sz="2250" dirty="0"/>
          </a:p>
        </p:txBody>
      </p:sp>
      <p:sp>
        <p:nvSpPr>
          <p:cNvPr id="20" name="Text 18"/>
          <p:cNvSpPr/>
          <p:nvPr/>
        </p:nvSpPr>
        <p:spPr>
          <a:xfrm>
            <a:off x="1047750" y="5942648"/>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21" name="Text 19"/>
          <p:cNvSpPr/>
          <p:nvPr/>
        </p:nvSpPr>
        <p:spPr>
          <a:xfrm>
            <a:off x="1581150" y="5965507"/>
            <a:ext cx="9092768"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We turn our vegetable scraps into ________________ for the garden.</a:t>
            </a:r>
            <a:endParaRPr lang="en-US" sz="2250" dirty="0"/>
          </a:p>
        </p:txBody>
      </p:sp>
      <p:sp>
        <p:nvSpPr>
          <p:cNvPr id="22" name="Text 20"/>
          <p:cNvSpPr/>
          <p:nvPr/>
        </p:nvSpPr>
        <p:spPr>
          <a:xfrm>
            <a:off x="1047750" y="656082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3" name="Text 21"/>
          <p:cNvSpPr/>
          <p:nvPr/>
        </p:nvSpPr>
        <p:spPr>
          <a:xfrm>
            <a:off x="1581150" y="6583680"/>
            <a:ext cx="7385983"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A bruised apple looks ugly but is still ________________ .</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684020"/>
            <a:ext cx="332267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88770"/>
            <a:ext cx="3262670" cy="388620"/>
          </a:xfrm>
          <a:prstGeom prst="rect">
            <a:avLst/>
          </a:prstGeom>
          <a:solidFill>
            <a:srgbClr val="1A2A5E"/>
          </a:solidFill>
          <a:ln/>
        </p:spPr>
        <p:txBody>
          <a:bodyPr/>
          <a:lstStyle/>
          <a:p>
            <a:endParaRPr lang="en-US"/>
          </a:p>
        </p:txBody>
      </p:sp>
      <p:sp>
        <p:nvSpPr>
          <p:cNvPr id="7" name="Text 5"/>
          <p:cNvSpPr/>
          <p:nvPr/>
        </p:nvSpPr>
        <p:spPr>
          <a:xfrm>
            <a:off x="4449366" y="164592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11074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Complete &amp; say each line</a:t>
            </a:r>
            <a:endParaRPr lang="en-US" sz="3750" dirty="0"/>
          </a:p>
        </p:txBody>
      </p:sp>
      <p:sp>
        <p:nvSpPr>
          <p:cNvPr id="9" name="Text 7"/>
          <p:cNvSpPr/>
          <p:nvPr/>
        </p:nvSpPr>
        <p:spPr>
          <a:xfrm>
            <a:off x="1047750" y="313182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1</a:t>
            </a:r>
            <a:endParaRPr lang="en-US" sz="2100" dirty="0"/>
          </a:p>
        </p:txBody>
      </p:sp>
      <p:sp>
        <p:nvSpPr>
          <p:cNvPr id="10" name="Text 8"/>
          <p:cNvSpPr/>
          <p:nvPr/>
        </p:nvSpPr>
        <p:spPr>
          <a:xfrm>
            <a:off x="1581150" y="3147060"/>
            <a:ext cx="8213050"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Milk and fresh vegetables are </a:t>
            </a:r>
            <a:r>
              <a:rPr lang="en-US" sz="2100" b="1" dirty="0">
                <a:solidFill>
                  <a:srgbClr val="1A2A5E"/>
                </a:solidFill>
                <a:latin typeface="Helvetica" pitchFamily="34" charset="0"/>
                <a:ea typeface="Helvetica" pitchFamily="34" charset="-122"/>
                <a:cs typeface="Helvetica" pitchFamily="34" charset="-120"/>
              </a:rPr>
              <a:t>perishable</a:t>
            </a:r>
            <a:r>
              <a:rPr lang="en-US" sz="2100" dirty="0">
                <a:solidFill>
                  <a:srgbClr val="444444"/>
                </a:solidFill>
                <a:latin typeface="Helvetica" pitchFamily="34" charset="0"/>
                <a:ea typeface="Helvetica" pitchFamily="34" charset="-122"/>
                <a:cs typeface="Helvetica" pitchFamily="34" charset="-120"/>
              </a:rPr>
              <a:t>, so they spoil quickly.</a:t>
            </a:r>
            <a:endParaRPr lang="en-US" sz="2100" dirty="0"/>
          </a:p>
        </p:txBody>
      </p:sp>
      <p:sp>
        <p:nvSpPr>
          <p:cNvPr id="11" name="Text 9"/>
          <p:cNvSpPr/>
          <p:nvPr/>
        </p:nvSpPr>
        <p:spPr>
          <a:xfrm>
            <a:off x="1047750" y="371665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2</a:t>
            </a:r>
            <a:endParaRPr lang="en-US" sz="2100" dirty="0"/>
          </a:p>
        </p:txBody>
      </p:sp>
      <p:sp>
        <p:nvSpPr>
          <p:cNvPr id="12" name="Text 10"/>
          <p:cNvSpPr/>
          <p:nvPr/>
        </p:nvSpPr>
        <p:spPr>
          <a:xfrm>
            <a:off x="1581150" y="3731895"/>
            <a:ext cx="6572405"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Please don’t </a:t>
            </a:r>
            <a:r>
              <a:rPr lang="en-US" sz="2100" b="1" dirty="0">
                <a:solidFill>
                  <a:srgbClr val="1A2A5E"/>
                </a:solidFill>
                <a:latin typeface="Helvetica" pitchFamily="34" charset="0"/>
                <a:ea typeface="Helvetica" pitchFamily="34" charset="-122"/>
                <a:cs typeface="Helvetica" pitchFamily="34" charset="-120"/>
              </a:rPr>
              <a:t>discard </a:t>
            </a:r>
            <a:r>
              <a:rPr lang="en-US" sz="2100" dirty="0">
                <a:solidFill>
                  <a:srgbClr val="444444"/>
                </a:solidFill>
                <a:latin typeface="Helvetica" pitchFamily="34" charset="0"/>
                <a:ea typeface="Helvetica" pitchFamily="34" charset="-122"/>
                <a:cs typeface="Helvetica" pitchFamily="34" charset="-120"/>
              </a:rPr>
              <a:t>bread that is still good to eat.</a:t>
            </a:r>
            <a:endParaRPr lang="en-US" sz="2100" dirty="0"/>
          </a:p>
        </p:txBody>
      </p:sp>
      <p:sp>
        <p:nvSpPr>
          <p:cNvPr id="13" name="Text 11"/>
          <p:cNvSpPr/>
          <p:nvPr/>
        </p:nvSpPr>
        <p:spPr>
          <a:xfrm>
            <a:off x="1047750" y="430149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3</a:t>
            </a:r>
            <a:endParaRPr lang="en-US" sz="2100" dirty="0"/>
          </a:p>
        </p:txBody>
      </p:sp>
      <p:sp>
        <p:nvSpPr>
          <p:cNvPr id="14" name="Text 12"/>
          <p:cNvSpPr/>
          <p:nvPr/>
        </p:nvSpPr>
        <p:spPr>
          <a:xfrm>
            <a:off x="1581150" y="4316730"/>
            <a:ext cx="5804797"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The shop sold its </a:t>
            </a:r>
            <a:r>
              <a:rPr lang="en-US" sz="2100" b="1" dirty="0">
                <a:solidFill>
                  <a:srgbClr val="1A2A5E"/>
                </a:solidFill>
                <a:latin typeface="Helvetica" pitchFamily="34" charset="0"/>
                <a:ea typeface="Helvetica" pitchFamily="34" charset="-122"/>
                <a:cs typeface="Helvetica" pitchFamily="34" charset="-120"/>
              </a:rPr>
              <a:t>surplus </a:t>
            </a:r>
            <a:r>
              <a:rPr lang="en-US" sz="2100" dirty="0">
                <a:solidFill>
                  <a:srgbClr val="444444"/>
                </a:solidFill>
                <a:latin typeface="Helvetica" pitchFamily="34" charset="0"/>
                <a:ea typeface="Helvetica" pitchFamily="34" charset="-122"/>
                <a:cs typeface="Helvetica" pitchFamily="34" charset="-120"/>
              </a:rPr>
              <a:t>stock at half price.</a:t>
            </a:r>
            <a:endParaRPr lang="en-US" sz="2100" dirty="0"/>
          </a:p>
        </p:txBody>
      </p:sp>
      <p:sp>
        <p:nvSpPr>
          <p:cNvPr id="15" name="Text 13"/>
          <p:cNvSpPr/>
          <p:nvPr/>
        </p:nvSpPr>
        <p:spPr>
          <a:xfrm>
            <a:off x="1047750" y="488632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4</a:t>
            </a:r>
            <a:endParaRPr lang="en-US" sz="2100" dirty="0"/>
          </a:p>
        </p:txBody>
      </p:sp>
      <p:sp>
        <p:nvSpPr>
          <p:cNvPr id="16" name="Text 14"/>
          <p:cNvSpPr/>
          <p:nvPr/>
        </p:nvSpPr>
        <p:spPr>
          <a:xfrm>
            <a:off x="1581150" y="4901565"/>
            <a:ext cx="7675162"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We turn our vegetable scraps into </a:t>
            </a:r>
            <a:r>
              <a:rPr lang="en-US" sz="2100" b="1" dirty="0">
                <a:solidFill>
                  <a:srgbClr val="1A2A5E"/>
                </a:solidFill>
                <a:latin typeface="Helvetica" pitchFamily="34" charset="0"/>
                <a:ea typeface="Helvetica" pitchFamily="34" charset="-122"/>
                <a:cs typeface="Helvetica" pitchFamily="34" charset="-120"/>
              </a:rPr>
              <a:t>compost </a:t>
            </a:r>
            <a:r>
              <a:rPr lang="en-US" sz="2100" dirty="0">
                <a:solidFill>
                  <a:srgbClr val="444444"/>
                </a:solidFill>
                <a:latin typeface="Helvetica" pitchFamily="34" charset="0"/>
                <a:ea typeface="Helvetica" pitchFamily="34" charset="-122"/>
                <a:cs typeface="Helvetica" pitchFamily="34" charset="-120"/>
              </a:rPr>
              <a:t>for the garden.</a:t>
            </a:r>
            <a:endParaRPr lang="en-US" sz="2100" dirty="0"/>
          </a:p>
        </p:txBody>
      </p:sp>
      <p:sp>
        <p:nvSpPr>
          <p:cNvPr id="17" name="Text 15"/>
          <p:cNvSpPr/>
          <p:nvPr/>
        </p:nvSpPr>
        <p:spPr>
          <a:xfrm>
            <a:off x="1047750" y="547116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5</a:t>
            </a:r>
            <a:endParaRPr lang="en-US" sz="2100" dirty="0"/>
          </a:p>
        </p:txBody>
      </p:sp>
      <p:sp>
        <p:nvSpPr>
          <p:cNvPr id="18" name="Text 16"/>
          <p:cNvSpPr/>
          <p:nvPr/>
        </p:nvSpPr>
        <p:spPr>
          <a:xfrm>
            <a:off x="1581150" y="5486400"/>
            <a:ext cx="5707487"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bruised apple looks ugly but is still </a:t>
            </a:r>
            <a:r>
              <a:rPr lang="en-US" sz="2100" b="1" dirty="0">
                <a:solidFill>
                  <a:srgbClr val="1A2A5E"/>
                </a:solidFill>
                <a:latin typeface="Helvetica" pitchFamily="34" charset="0"/>
                <a:ea typeface="Helvetica" pitchFamily="34" charset="-122"/>
                <a:cs typeface="Helvetica" pitchFamily="34" charset="-120"/>
              </a:rPr>
              <a:t>edible</a:t>
            </a:r>
            <a:r>
              <a:rPr lang="en-US" sz="2100" dirty="0">
                <a:solidFill>
                  <a:srgbClr val="444444"/>
                </a:solidFill>
                <a:latin typeface="Helvetica" pitchFamily="34" charset="0"/>
                <a:ea typeface="Helvetica" pitchFamily="34" charset="-122"/>
                <a:cs typeface="Helvetica" pitchFamily="34" charset="-120"/>
              </a:rPr>
              <a:t>.</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550670"/>
            <a:ext cx="3211092"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96390"/>
            <a:ext cx="2534507" cy="20574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8595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You run a busy café</a:t>
            </a:r>
            <a:endParaRPr lang="en-US" sz="3750" dirty="0"/>
          </a:p>
        </p:txBody>
      </p:sp>
      <p:sp>
        <p:nvSpPr>
          <p:cNvPr id="8" name="Shape 6"/>
          <p:cNvSpPr/>
          <p:nvPr/>
        </p:nvSpPr>
        <p:spPr>
          <a:xfrm>
            <a:off x="1047750" y="2964180"/>
            <a:ext cx="14859000" cy="9525"/>
          </a:xfrm>
          <a:prstGeom prst="rect">
            <a:avLst/>
          </a:prstGeom>
          <a:solidFill>
            <a:srgbClr val="D8D6D0"/>
          </a:solidFill>
          <a:ln/>
        </p:spPr>
        <p:txBody>
          <a:bodyPr/>
          <a:lstStyle/>
          <a:p>
            <a:endParaRPr lang="en-US"/>
          </a:p>
        </p:txBody>
      </p:sp>
      <p:sp>
        <p:nvSpPr>
          <p:cNvPr id="9" name="Text 7"/>
          <p:cNvSpPr/>
          <p:nvPr/>
        </p:nvSpPr>
        <p:spPr>
          <a:xfrm>
            <a:off x="1047750" y="323850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200400"/>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run a busy café that throws away food every night.</a:t>
            </a:r>
            <a:endParaRPr lang="en-US" sz="2250" dirty="0"/>
          </a:p>
        </p:txBody>
      </p:sp>
      <p:sp>
        <p:nvSpPr>
          <p:cNvPr id="11" name="Shape 9"/>
          <p:cNvSpPr/>
          <p:nvPr/>
        </p:nvSpPr>
        <p:spPr>
          <a:xfrm>
            <a:off x="1047750" y="3833812"/>
            <a:ext cx="14859000" cy="9525"/>
          </a:xfrm>
          <a:prstGeom prst="rect">
            <a:avLst/>
          </a:prstGeom>
          <a:solidFill>
            <a:srgbClr val="D8D6D0"/>
          </a:solidFill>
          <a:ln/>
        </p:spPr>
        <p:txBody>
          <a:bodyPr/>
          <a:lstStyle/>
          <a:p>
            <a:endParaRPr lang="en-US"/>
          </a:p>
        </p:txBody>
      </p:sp>
      <p:sp>
        <p:nvSpPr>
          <p:cNvPr id="12" name="Text 10"/>
          <p:cNvSpPr/>
          <p:nvPr/>
        </p:nvSpPr>
        <p:spPr>
          <a:xfrm>
            <a:off x="1047750" y="410813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4070033"/>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ways to cut your waste without losing money.</a:t>
            </a:r>
            <a:endParaRPr lang="en-US" sz="2250" dirty="0"/>
          </a:p>
        </p:txBody>
      </p:sp>
      <p:sp>
        <p:nvSpPr>
          <p:cNvPr id="14" name="Shape 12"/>
          <p:cNvSpPr/>
          <p:nvPr/>
        </p:nvSpPr>
        <p:spPr>
          <a:xfrm>
            <a:off x="1047750" y="5554028"/>
            <a:ext cx="14859000" cy="9525"/>
          </a:xfrm>
          <a:prstGeom prst="rect">
            <a:avLst/>
          </a:prstGeom>
          <a:solidFill>
            <a:srgbClr val="D8D6D0"/>
          </a:solidFill>
          <a:ln/>
        </p:spPr>
        <p:txBody>
          <a:bodyPr/>
          <a:lstStyle/>
          <a:p>
            <a:endParaRPr lang="en-US"/>
          </a:p>
        </p:txBody>
      </p:sp>
      <p:sp>
        <p:nvSpPr>
          <p:cNvPr id="15" name="Shape 13"/>
          <p:cNvSpPr/>
          <p:nvPr/>
        </p:nvSpPr>
        <p:spPr>
          <a:xfrm>
            <a:off x="1047750" y="4703445"/>
            <a:ext cx="14859000" cy="9525"/>
          </a:xfrm>
          <a:prstGeom prst="rect">
            <a:avLst/>
          </a:prstGeom>
          <a:solidFill>
            <a:srgbClr val="D8D6D0"/>
          </a:solidFill>
          <a:ln/>
        </p:spPr>
        <p:txBody>
          <a:bodyPr/>
          <a:lstStyle/>
          <a:p>
            <a:endParaRPr lang="en-US"/>
          </a:p>
        </p:txBody>
      </p:sp>
      <p:sp>
        <p:nvSpPr>
          <p:cNvPr id="16" name="Text 14"/>
          <p:cNvSpPr/>
          <p:nvPr/>
        </p:nvSpPr>
        <p:spPr>
          <a:xfrm>
            <a:off x="1047750" y="497776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939665"/>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plan and explain how it helps people and the planet.</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670406" y="723900"/>
            <a:ext cx="2826830"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003 · FOOD WASTE</a:t>
            </a:r>
            <a:endParaRPr lang="en-US" sz="1200" dirty="0"/>
          </a:p>
        </p:txBody>
      </p:sp>
      <p:sp>
        <p:nvSpPr>
          <p:cNvPr id="5" name="Text 3"/>
          <p:cNvSpPr/>
          <p:nvPr/>
        </p:nvSpPr>
        <p:spPr>
          <a:xfrm>
            <a:off x="1047750" y="17411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90750"/>
            <a:ext cx="15206662" cy="158877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5550" b="1" dirty="0">
                <a:solidFill>
                  <a:srgbClr val="1A2A5E"/>
                </a:solidFill>
                <a:latin typeface="Playfair Display" pitchFamily="34" charset="0"/>
                <a:ea typeface="Playfair Display" pitchFamily="34" charset="-122"/>
                <a:cs typeface="Playfair Display" pitchFamily="34" charset="-120"/>
              </a:rPr>
              <a:t>Should supermarkets be banned from throwing away food that is still edible?</a:t>
            </a:r>
            <a:endParaRPr lang="en-US" sz="5550" dirty="0"/>
          </a:p>
        </p:txBody>
      </p:sp>
      <p:sp>
        <p:nvSpPr>
          <p:cNvPr id="7" name="Text 5"/>
          <p:cNvSpPr/>
          <p:nvPr/>
        </p:nvSpPr>
        <p:spPr>
          <a:xfrm>
            <a:off x="1047750" y="4122420"/>
            <a:ext cx="13620750"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5025390"/>
            <a:ext cx="2476500" cy="22860"/>
          </a:xfrm>
          <a:prstGeom prst="rect">
            <a:avLst/>
          </a:prstGeom>
          <a:solidFill>
            <a:srgbClr val="D9B877"/>
          </a:solidFill>
          <a:ln/>
        </p:spPr>
        <p:txBody>
          <a:bodyPr/>
          <a:lstStyle/>
          <a:p>
            <a:endParaRPr lang="en-US"/>
          </a:p>
        </p:txBody>
      </p:sp>
      <p:sp>
        <p:nvSpPr>
          <p:cNvPr id="9" name="Text 7"/>
          <p:cNvSpPr/>
          <p:nvPr/>
        </p:nvSpPr>
        <p:spPr>
          <a:xfrm>
            <a:off x="1047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5025390"/>
            <a:ext cx="2476500" cy="22860"/>
          </a:xfrm>
          <a:prstGeom prst="rect">
            <a:avLst/>
          </a:prstGeom>
          <a:solidFill>
            <a:srgbClr val="D9B877"/>
          </a:solidFill>
          <a:ln/>
        </p:spPr>
        <p:txBody>
          <a:bodyPr/>
          <a:lstStyle/>
          <a:p>
            <a:endParaRPr lang="en-US"/>
          </a:p>
        </p:txBody>
      </p:sp>
      <p:sp>
        <p:nvSpPr>
          <p:cNvPr id="11" name="Text 9"/>
          <p:cNvSpPr/>
          <p:nvPr/>
        </p:nvSpPr>
        <p:spPr>
          <a:xfrm>
            <a:off x="39052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5025390"/>
            <a:ext cx="2476500" cy="22860"/>
          </a:xfrm>
          <a:prstGeom prst="rect">
            <a:avLst/>
          </a:prstGeom>
          <a:solidFill>
            <a:srgbClr val="D9B877"/>
          </a:solidFill>
          <a:ln/>
        </p:spPr>
        <p:txBody>
          <a:bodyPr/>
          <a:lstStyle/>
          <a:p>
            <a:endParaRPr lang="en-US"/>
          </a:p>
        </p:txBody>
      </p:sp>
      <p:sp>
        <p:nvSpPr>
          <p:cNvPr id="13" name="Text 11"/>
          <p:cNvSpPr/>
          <p:nvPr/>
        </p:nvSpPr>
        <p:spPr>
          <a:xfrm>
            <a:off x="6762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238250" y="3808095"/>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42435"/>
            <a:ext cx="16285845" cy="19583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FFFFFF"/>
                </a:solidFill>
                <a:latin typeface="Playfair Display" pitchFamily="34" charset="0"/>
                <a:ea typeface="Playfair Display" pitchFamily="34" charset="-122"/>
                <a:cs typeface="Playfair Display" pitchFamily="34" charset="-120"/>
              </a:rPr>
              <a:t>One fact. One perspective. Endless discussion.</a:t>
            </a:r>
            <a:endParaRPr lang="en-US" sz="7200" dirty="0"/>
          </a:p>
        </p:txBody>
      </p:sp>
      <p:sp>
        <p:nvSpPr>
          <p:cNvPr id="5" name="Text 3"/>
          <p:cNvSpPr/>
          <p:nvPr/>
        </p:nvSpPr>
        <p:spPr>
          <a:xfrm>
            <a:off x="1238250" y="6448425"/>
            <a:ext cx="1739265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1944</Words>
  <Application>Microsoft Office PowerPoint</Application>
  <PresentationFormat>Custom</PresentationFormat>
  <Paragraphs>257</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Helvetica</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3</cp:revision>
  <dcterms:created xsi:type="dcterms:W3CDTF">2026-07-06T08:18:11Z</dcterms:created>
  <dcterms:modified xsi:type="dcterms:W3CDTF">2026-07-06T08:27:30Z</dcterms:modified>
</cp:coreProperties>
</file>