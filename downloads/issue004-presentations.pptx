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53" d="100"/>
          <a:sy n="53" d="100"/>
        </p:scale>
        <p:origin x="80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4442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004 of Perspective — today's topic is Fast Fashion.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fast fashion, what are its hidden costs, and how can we shop better? Point out the balanced view and the striking facts. End on the pull-quote about who pays for a five-dollar T-shirt.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2 and 4 are False: fast-fashion clothes are rarely durable, and fashion is one of the most polluting (not cleanest) industries.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Dilemma. A clothing company has 100,000 unsold T-shirts and can choose only ONE option. In small groups, students decide what the company should do and defend it. There is no right answer — push them to weigh who benefits and who loses.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The goal is that students can say each line aloud and use the words in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task. In small groups, students design clothes for a popular fashion brand. Give ~8 minutes to agree on three changes that make the brand less wasteful, then each group presents and explains how it helps people and the planet.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005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004</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11250" b="1" kern="0" spc="-150" dirty="0">
                <a:solidFill>
                  <a:srgbClr val="FFFFFF"/>
                </a:solidFill>
                <a:latin typeface="Playfair Display" pitchFamily="34" charset="0"/>
                <a:ea typeface="Playfair Display" pitchFamily="34" charset="-122"/>
                <a:cs typeface="Playfair Display" pitchFamily="34" charset="-120"/>
              </a:rPr>
              <a:t>Fast Fashion</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lnSpcReduction="10000"/>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How can clothes be so cheap?</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What we’ll do today</a:t>
            </a:r>
            <a:endParaRPr lang="en-US" sz="4500" dirty="0"/>
          </a:p>
        </p:txBody>
      </p:sp>
      <p:sp>
        <p:nvSpPr>
          <p:cNvPr id="7" name="Text 5"/>
          <p:cNvSpPr/>
          <p:nvPr/>
        </p:nvSpPr>
        <p:spPr>
          <a:xfrm>
            <a:off x="1047750" y="3257550"/>
            <a:ext cx="515422"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01</a:t>
            </a:r>
            <a:endParaRPr lang="en-US" sz="3300" dirty="0"/>
          </a:p>
        </p:txBody>
      </p:sp>
      <p:sp>
        <p:nvSpPr>
          <p:cNvPr id="8" name="Text 6"/>
          <p:cNvSpPr/>
          <p:nvPr/>
        </p:nvSpPr>
        <p:spPr>
          <a:xfrm>
            <a:off x="1715572" y="3257550"/>
            <a:ext cx="3715583"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5572" y="3623310"/>
            <a:ext cx="3715583"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257550"/>
            <a:ext cx="578287"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02</a:t>
            </a:r>
            <a:endParaRPr lang="en-US" sz="3300" dirty="0"/>
          </a:p>
        </p:txBody>
      </p:sp>
      <p:sp>
        <p:nvSpPr>
          <p:cNvPr id="11" name="Text 9"/>
          <p:cNvSpPr/>
          <p:nvPr/>
        </p:nvSpPr>
        <p:spPr>
          <a:xfrm>
            <a:off x="10208062" y="3257550"/>
            <a:ext cx="317769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208062" y="3623310"/>
            <a:ext cx="317769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4152900"/>
            <a:ext cx="562451"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03</a:t>
            </a:r>
            <a:endParaRPr lang="en-US" sz="3300" dirty="0"/>
          </a:p>
        </p:txBody>
      </p:sp>
      <p:sp>
        <p:nvSpPr>
          <p:cNvPr id="14" name="Text 12"/>
          <p:cNvSpPr/>
          <p:nvPr/>
        </p:nvSpPr>
        <p:spPr>
          <a:xfrm>
            <a:off x="1762601" y="4152900"/>
            <a:ext cx="3985117"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2601" y="4518660"/>
            <a:ext cx="3985117"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4152900"/>
            <a:ext cx="574119" cy="457200"/>
          </a:xfrm>
          <a:prstGeom prst="rect">
            <a:avLst/>
          </a:prstGeom>
          <a:noFill/>
          <a:ln/>
        </p:spPr>
        <p:txBody>
          <a:bodyPr wrap="none" lIns="25400" tIns="25400" rIns="25400" bIns="25400" rtlCol="0" anchor="t">
            <a:normAutofit fontScale="92500" lnSpcReduction="20000"/>
          </a:bodyPr>
          <a:lstStyle/>
          <a:p>
            <a:pPr marL="0" indent="0" algn="l">
              <a:lnSpc>
                <a:spcPct val="100000"/>
              </a:lnSpc>
              <a:buNone/>
            </a:pPr>
            <a:r>
              <a:rPr lang="en-US" sz="3300" b="1" dirty="0">
                <a:solidFill>
                  <a:srgbClr val="D9B877"/>
                </a:solidFill>
                <a:latin typeface="Playfair Display" pitchFamily="34" charset="0"/>
                <a:ea typeface="Playfair Display" pitchFamily="34" charset="-122"/>
                <a:cs typeface="Playfair Display" pitchFamily="34" charset="-120"/>
              </a:rPr>
              <a:t>04</a:t>
            </a:r>
            <a:endParaRPr lang="en-US" sz="3300" dirty="0"/>
          </a:p>
        </p:txBody>
      </p:sp>
      <p:sp>
        <p:nvSpPr>
          <p:cNvPr id="17" name="Text 15"/>
          <p:cNvSpPr/>
          <p:nvPr/>
        </p:nvSpPr>
        <p:spPr>
          <a:xfrm>
            <a:off x="10203895" y="4152900"/>
            <a:ext cx="3626525" cy="36576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3895" y="4518660"/>
            <a:ext cx="3626525" cy="28194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268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62150"/>
            <a:ext cx="17811750" cy="8001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Playfair Display" pitchFamily="34" charset="0"/>
                <a:ea typeface="Playfair Display" pitchFamily="34" charset="-122"/>
                <a:cs typeface="Playfair Display" pitchFamily="34" charset="-120"/>
              </a:rPr>
              <a:t>Talk with a partner</a:t>
            </a:r>
            <a:endParaRPr lang="en-US" sz="4500" dirty="0"/>
          </a:p>
        </p:txBody>
      </p:sp>
      <p:sp>
        <p:nvSpPr>
          <p:cNvPr id="7" name="Text 5"/>
          <p:cNvSpPr/>
          <p:nvPr/>
        </p:nvSpPr>
        <p:spPr>
          <a:xfrm>
            <a:off x="1047750" y="3390900"/>
            <a:ext cx="34230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1</a:t>
            </a:r>
            <a:endParaRPr lang="en-US" sz="5400" dirty="0"/>
          </a:p>
        </p:txBody>
      </p:sp>
      <p:sp>
        <p:nvSpPr>
          <p:cNvPr id="8" name="Text 6"/>
          <p:cNvSpPr/>
          <p:nvPr/>
        </p:nvSpPr>
        <p:spPr>
          <a:xfrm>
            <a:off x="1637705" y="3448050"/>
            <a:ext cx="11903750" cy="55245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How many items of clothing do you own? Do you wear them all?</a:t>
            </a:r>
            <a:endParaRPr lang="en-US" sz="3000" dirty="0"/>
          </a:p>
        </p:txBody>
      </p:sp>
      <p:sp>
        <p:nvSpPr>
          <p:cNvPr id="9" name="Text 7"/>
          <p:cNvSpPr/>
          <p:nvPr/>
        </p:nvSpPr>
        <p:spPr>
          <a:xfrm>
            <a:off x="1047750" y="4427220"/>
            <a:ext cx="445175" cy="65532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5400" b="1" dirty="0">
                <a:solidFill>
                  <a:srgbClr val="D9B877"/>
                </a:solidFill>
                <a:latin typeface="Playfair Display" pitchFamily="34" charset="0"/>
                <a:ea typeface="Playfair Display" pitchFamily="34" charset="-122"/>
                <a:cs typeface="Playfair Display" pitchFamily="34" charset="-120"/>
              </a:rPr>
              <a:t>2</a:t>
            </a:r>
            <a:endParaRPr lang="en-US" sz="5400" dirty="0"/>
          </a:p>
        </p:txBody>
      </p:sp>
      <p:sp>
        <p:nvSpPr>
          <p:cNvPr id="10" name="Text 8"/>
          <p:cNvSpPr/>
          <p:nvPr/>
        </p:nvSpPr>
        <p:spPr>
          <a:xfrm>
            <a:off x="1740575" y="4484370"/>
            <a:ext cx="12530904"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What matters more to you when buying clothes — price, quality, or style?</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4068604"/>
            <a:ext cx="8539163"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403884"/>
            <a:ext cx="8539163" cy="59817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4200" b="1" dirty="0">
                <a:solidFill>
                  <a:srgbClr val="1A2A5E"/>
                </a:solidFill>
                <a:latin typeface="Playfair Display" pitchFamily="34" charset="0"/>
                <a:ea typeface="Playfair Display" pitchFamily="34" charset="-122"/>
                <a:cs typeface="Playfair Display" pitchFamily="34" charset="-120"/>
              </a:rPr>
              <a:t>Look and predict</a:t>
            </a:r>
            <a:endParaRPr lang="en-US" sz="4200" dirty="0"/>
          </a:p>
        </p:txBody>
      </p:sp>
      <p:sp>
        <p:nvSpPr>
          <p:cNvPr id="7" name="Text 5"/>
          <p:cNvSpPr/>
          <p:nvPr/>
        </p:nvSpPr>
        <p:spPr>
          <a:xfrm>
            <a:off x="1047750" y="5287804"/>
            <a:ext cx="8539163" cy="452438"/>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“Fast Fashion.”</a:t>
            </a:r>
            <a:endParaRPr lang="en-US" sz="2250" dirty="0"/>
          </a:p>
        </p:txBody>
      </p:sp>
      <p:sp>
        <p:nvSpPr>
          <p:cNvPr id="8" name="Text 6"/>
          <p:cNvSpPr/>
          <p:nvPr/>
        </p:nvSpPr>
        <p:spPr>
          <a:xfrm>
            <a:off x="1047750" y="5892641"/>
            <a:ext cx="7995761"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7175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79370"/>
            <a:ext cx="7747635" cy="5318760"/>
          </a:xfrm>
          <a:prstGeom prst="rect">
            <a:avLst/>
          </a:prstGeom>
        </p:spPr>
      </p:pic>
      <p:sp>
        <p:nvSpPr>
          <p:cNvPr id="11" name="Text 8"/>
          <p:cNvSpPr/>
          <p:nvPr/>
        </p:nvSpPr>
        <p:spPr>
          <a:xfrm>
            <a:off x="9477375" y="8020050"/>
            <a:ext cx="8539163" cy="236220"/>
          </a:xfrm>
          <a:prstGeom prst="rect">
            <a:avLst/>
          </a:prstGeom>
          <a:noFill/>
          <a:ln/>
        </p:spPr>
        <p:txBody>
          <a:bodyPr wrap="square" lIns="25400" tIns="25400" rIns="25400" bIns="25400" rtlCol="0" anchor="t">
            <a:normAutofit lnSpcReduction="10000"/>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Cheap clothes are quickly worn out and thrown onto growing textile waste piles.</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Match the words to their meanings</a:t>
            </a:r>
            <a:endParaRPr lang="en-US" sz="4050" dirty="0"/>
          </a:p>
        </p:txBody>
      </p:sp>
      <p:sp>
        <p:nvSpPr>
          <p:cNvPr id="7" name="Text 5"/>
          <p:cNvSpPr/>
          <p:nvPr/>
        </p:nvSpPr>
        <p:spPr>
          <a:xfrm>
            <a:off x="1047750" y="297180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1</a:t>
            </a:r>
            <a:endParaRPr lang="en-US" sz="2400" dirty="0"/>
          </a:p>
        </p:txBody>
      </p:sp>
      <p:sp>
        <p:nvSpPr>
          <p:cNvPr id="8" name="Text 6"/>
          <p:cNvSpPr/>
          <p:nvPr/>
        </p:nvSpPr>
        <p:spPr>
          <a:xfrm>
            <a:off x="1524000" y="3025140"/>
            <a:ext cx="1322784"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garment</a:t>
            </a:r>
            <a:endParaRPr lang="en-US" sz="2400" dirty="0"/>
          </a:p>
        </p:txBody>
      </p:sp>
      <p:sp>
        <p:nvSpPr>
          <p:cNvPr id="9" name="Text 7"/>
          <p:cNvSpPr/>
          <p:nvPr/>
        </p:nvSpPr>
        <p:spPr>
          <a:xfrm>
            <a:off x="1047750" y="356616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2</a:t>
            </a:r>
            <a:endParaRPr lang="en-US" sz="2400" dirty="0"/>
          </a:p>
        </p:txBody>
      </p:sp>
      <p:sp>
        <p:nvSpPr>
          <p:cNvPr id="10" name="Text 8"/>
          <p:cNvSpPr/>
          <p:nvPr/>
        </p:nvSpPr>
        <p:spPr>
          <a:xfrm>
            <a:off x="1524000" y="3619500"/>
            <a:ext cx="957143"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textile</a:t>
            </a:r>
            <a:endParaRPr lang="en-US" sz="2400" dirty="0"/>
          </a:p>
        </p:txBody>
      </p:sp>
      <p:sp>
        <p:nvSpPr>
          <p:cNvPr id="11" name="Text 9"/>
          <p:cNvSpPr/>
          <p:nvPr/>
        </p:nvSpPr>
        <p:spPr>
          <a:xfrm>
            <a:off x="1047750" y="416052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3</a:t>
            </a:r>
            <a:endParaRPr lang="en-US" sz="2400" dirty="0"/>
          </a:p>
        </p:txBody>
      </p:sp>
      <p:sp>
        <p:nvSpPr>
          <p:cNvPr id="12" name="Text 10"/>
          <p:cNvSpPr/>
          <p:nvPr/>
        </p:nvSpPr>
        <p:spPr>
          <a:xfrm>
            <a:off x="1524000" y="4213860"/>
            <a:ext cx="1177171"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durable</a:t>
            </a:r>
            <a:endParaRPr lang="en-US" sz="2400" dirty="0"/>
          </a:p>
        </p:txBody>
      </p:sp>
      <p:sp>
        <p:nvSpPr>
          <p:cNvPr id="13" name="Text 11"/>
          <p:cNvSpPr/>
          <p:nvPr/>
        </p:nvSpPr>
        <p:spPr>
          <a:xfrm>
            <a:off x="1047750" y="475488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4</a:t>
            </a:r>
            <a:endParaRPr lang="en-US" sz="2400" dirty="0"/>
          </a:p>
        </p:txBody>
      </p:sp>
      <p:sp>
        <p:nvSpPr>
          <p:cNvPr id="14" name="Text 12"/>
          <p:cNvSpPr/>
          <p:nvPr/>
        </p:nvSpPr>
        <p:spPr>
          <a:xfrm>
            <a:off x="1524000" y="4808220"/>
            <a:ext cx="2104668"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consumption</a:t>
            </a:r>
            <a:endParaRPr lang="en-US" sz="2400" dirty="0"/>
          </a:p>
        </p:txBody>
      </p:sp>
      <p:sp>
        <p:nvSpPr>
          <p:cNvPr id="15" name="Text 13"/>
          <p:cNvSpPr/>
          <p:nvPr/>
        </p:nvSpPr>
        <p:spPr>
          <a:xfrm>
            <a:off x="1047750" y="5349240"/>
            <a:ext cx="400050" cy="44196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Playfair Display" pitchFamily="34" charset="0"/>
                <a:ea typeface="Playfair Display" pitchFamily="34" charset="-122"/>
                <a:cs typeface="Playfair Display" pitchFamily="34" charset="-120"/>
              </a:rPr>
              <a:t>5</a:t>
            </a:r>
            <a:endParaRPr lang="en-US" sz="2400" dirty="0"/>
          </a:p>
        </p:txBody>
      </p:sp>
      <p:sp>
        <p:nvSpPr>
          <p:cNvPr id="16" name="Text 14"/>
          <p:cNvSpPr/>
          <p:nvPr/>
        </p:nvSpPr>
        <p:spPr>
          <a:xfrm>
            <a:off x="1524000" y="5402580"/>
            <a:ext cx="1228011" cy="381000"/>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dispose</a:t>
            </a:r>
            <a:endParaRPr lang="en-US" sz="2400" dirty="0"/>
          </a:p>
        </p:txBody>
      </p:sp>
      <p:sp>
        <p:nvSpPr>
          <p:cNvPr id="17" name="Text 15"/>
          <p:cNvSpPr/>
          <p:nvPr/>
        </p:nvSpPr>
        <p:spPr>
          <a:xfrm>
            <a:off x="7924800" y="297180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978880"/>
            <a:ext cx="278400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tough and long-lasting</a:t>
            </a:r>
            <a:endParaRPr lang="en-US" sz="2025" dirty="0"/>
          </a:p>
        </p:txBody>
      </p:sp>
      <p:sp>
        <p:nvSpPr>
          <p:cNvPr id="19" name="Text 17"/>
          <p:cNvSpPr/>
          <p:nvPr/>
        </p:nvSpPr>
        <p:spPr>
          <a:xfrm>
            <a:off x="7924800" y="351948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499604"/>
            <a:ext cx="3254835"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get rid of or throw away</a:t>
            </a:r>
            <a:endParaRPr lang="en-US" sz="2025" dirty="0"/>
          </a:p>
        </p:txBody>
      </p:sp>
      <p:sp>
        <p:nvSpPr>
          <p:cNvPr id="21" name="Text 19"/>
          <p:cNvSpPr/>
          <p:nvPr/>
        </p:nvSpPr>
        <p:spPr>
          <a:xfrm>
            <a:off x="7924800" y="406717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4030503"/>
            <a:ext cx="2280428"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piece of clothing</a:t>
            </a:r>
            <a:endParaRPr lang="en-US" sz="2025" dirty="0"/>
          </a:p>
        </p:txBody>
      </p:sp>
      <p:sp>
        <p:nvSpPr>
          <p:cNvPr id="23" name="Text 21"/>
          <p:cNvSpPr/>
          <p:nvPr/>
        </p:nvSpPr>
        <p:spPr>
          <a:xfrm>
            <a:off x="7924800" y="461486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01050" y="4589615"/>
            <a:ext cx="259449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cloth or woven fabric</a:t>
            </a:r>
            <a:endParaRPr lang="en-US" sz="2025" dirty="0"/>
          </a:p>
        </p:txBody>
      </p:sp>
      <p:sp>
        <p:nvSpPr>
          <p:cNvPr id="25" name="Text 23"/>
          <p:cNvSpPr/>
          <p:nvPr/>
        </p:nvSpPr>
        <p:spPr>
          <a:xfrm>
            <a:off x="7924800" y="516255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5120514"/>
            <a:ext cx="3774912"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the buying and using of goods</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722120"/>
            <a:ext cx="1889879"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626870"/>
            <a:ext cx="1601272" cy="388620"/>
          </a:xfrm>
          <a:prstGeom prst="rect">
            <a:avLst/>
          </a:prstGeom>
          <a:solidFill>
            <a:srgbClr val="1A2A5E"/>
          </a:solidFill>
          <a:ln/>
        </p:spPr>
        <p:txBody>
          <a:bodyPr/>
          <a:lstStyle/>
          <a:p>
            <a:endParaRPr lang="en-US"/>
          </a:p>
        </p:txBody>
      </p:sp>
      <p:sp>
        <p:nvSpPr>
          <p:cNvPr id="7" name="Text 5"/>
          <p:cNvSpPr/>
          <p:nvPr/>
        </p:nvSpPr>
        <p:spPr>
          <a:xfrm>
            <a:off x="3146822" y="16840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48840"/>
            <a:ext cx="17811750" cy="7543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Playfair Display" pitchFamily="34" charset="0"/>
                <a:ea typeface="Playfair Display" pitchFamily="34" charset="-122"/>
                <a:cs typeface="Playfair Display" pitchFamily="34" charset="-120"/>
              </a:rPr>
              <a:t>How did you do?</a:t>
            </a:r>
            <a:endParaRPr lang="en-US" sz="4200" dirty="0"/>
          </a:p>
        </p:txBody>
      </p:sp>
      <p:sp>
        <p:nvSpPr>
          <p:cNvPr id="9" name="Shape 7"/>
          <p:cNvSpPr/>
          <p:nvPr/>
        </p:nvSpPr>
        <p:spPr>
          <a:xfrm>
            <a:off x="1047750" y="3436620"/>
            <a:ext cx="2857500" cy="960120"/>
          </a:xfrm>
          <a:prstGeom prst="rect">
            <a:avLst/>
          </a:prstGeom>
          <a:ln w="15240">
            <a:solidFill>
              <a:srgbClr val="1A2A5E"/>
            </a:solidFill>
            <a:prstDash val="solid"/>
          </a:ln>
        </p:spPr>
        <p:txBody>
          <a:bodyPr/>
          <a:lstStyle/>
          <a:p>
            <a:endParaRPr lang="en-US"/>
          </a:p>
        </p:txBody>
      </p:sp>
      <p:sp>
        <p:nvSpPr>
          <p:cNvPr id="10" name="Text 8"/>
          <p:cNvSpPr/>
          <p:nvPr/>
        </p:nvSpPr>
        <p:spPr>
          <a:xfrm>
            <a:off x="13868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1–C </a:t>
            </a:r>
            <a:r>
              <a:rPr lang="en-US" sz="2250" b="1" dirty="0">
                <a:solidFill>
                  <a:srgbClr val="1A2A5E"/>
                </a:solidFill>
                <a:latin typeface="Helvetica" pitchFamily="34" charset="0"/>
                <a:ea typeface="Helvetica" pitchFamily="34" charset="-122"/>
                <a:cs typeface="Helvetica" pitchFamily="34" charset="-120"/>
              </a:rPr>
              <a:t>garment</a:t>
            </a:r>
            <a:endParaRPr lang="en-US" sz="1200" dirty="0"/>
          </a:p>
        </p:txBody>
      </p:sp>
      <p:sp>
        <p:nvSpPr>
          <p:cNvPr id="11" name="Shape 9"/>
          <p:cNvSpPr/>
          <p:nvPr/>
        </p:nvSpPr>
        <p:spPr>
          <a:xfrm>
            <a:off x="4152900" y="3436620"/>
            <a:ext cx="2857500" cy="960120"/>
          </a:xfrm>
          <a:prstGeom prst="rect">
            <a:avLst/>
          </a:prstGeom>
          <a:ln w="15240">
            <a:solidFill>
              <a:srgbClr val="1A2A5E"/>
            </a:solidFill>
            <a:prstDash val="solid"/>
          </a:ln>
        </p:spPr>
        <p:txBody>
          <a:bodyPr/>
          <a:lstStyle/>
          <a:p>
            <a:endParaRPr lang="en-US"/>
          </a:p>
        </p:txBody>
      </p:sp>
      <p:sp>
        <p:nvSpPr>
          <p:cNvPr id="12" name="Text 10"/>
          <p:cNvSpPr/>
          <p:nvPr/>
        </p:nvSpPr>
        <p:spPr>
          <a:xfrm>
            <a:off x="449199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2–D </a:t>
            </a:r>
            <a:r>
              <a:rPr lang="en-US" sz="2250" b="1" dirty="0">
                <a:solidFill>
                  <a:srgbClr val="1A2A5E"/>
                </a:solidFill>
                <a:latin typeface="Helvetica" pitchFamily="34" charset="0"/>
                <a:ea typeface="Helvetica" pitchFamily="34" charset="-122"/>
                <a:cs typeface="Helvetica" pitchFamily="34" charset="-120"/>
              </a:rPr>
              <a:t>textile</a:t>
            </a:r>
            <a:endParaRPr lang="en-US" sz="1200" dirty="0"/>
          </a:p>
        </p:txBody>
      </p:sp>
      <p:sp>
        <p:nvSpPr>
          <p:cNvPr id="13" name="Shape 11"/>
          <p:cNvSpPr/>
          <p:nvPr/>
        </p:nvSpPr>
        <p:spPr>
          <a:xfrm>
            <a:off x="7258050" y="3436620"/>
            <a:ext cx="2857500" cy="960120"/>
          </a:xfrm>
          <a:prstGeom prst="rect">
            <a:avLst/>
          </a:prstGeom>
          <a:ln w="15240">
            <a:solidFill>
              <a:srgbClr val="1A2A5E"/>
            </a:solidFill>
            <a:prstDash val="solid"/>
          </a:ln>
        </p:spPr>
        <p:txBody>
          <a:bodyPr/>
          <a:lstStyle/>
          <a:p>
            <a:endParaRPr lang="en-US"/>
          </a:p>
        </p:txBody>
      </p:sp>
      <p:sp>
        <p:nvSpPr>
          <p:cNvPr id="14" name="Text 12"/>
          <p:cNvSpPr/>
          <p:nvPr/>
        </p:nvSpPr>
        <p:spPr>
          <a:xfrm>
            <a:off x="7597140"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3–A </a:t>
            </a:r>
            <a:r>
              <a:rPr lang="en-US" sz="2250" b="1" dirty="0">
                <a:solidFill>
                  <a:srgbClr val="1A2A5E"/>
                </a:solidFill>
                <a:latin typeface="Helvetica" pitchFamily="34" charset="0"/>
                <a:ea typeface="Helvetica" pitchFamily="34" charset="-122"/>
                <a:cs typeface="Helvetica" pitchFamily="34" charset="-120"/>
              </a:rPr>
              <a:t>durable</a:t>
            </a:r>
            <a:endParaRPr lang="en-US" sz="1200" dirty="0"/>
          </a:p>
        </p:txBody>
      </p:sp>
      <p:sp>
        <p:nvSpPr>
          <p:cNvPr id="15" name="Shape 13"/>
          <p:cNvSpPr/>
          <p:nvPr/>
        </p:nvSpPr>
        <p:spPr>
          <a:xfrm>
            <a:off x="10363200" y="3436620"/>
            <a:ext cx="3323392" cy="960120"/>
          </a:xfrm>
          <a:prstGeom prst="rect">
            <a:avLst/>
          </a:prstGeom>
          <a:ln w="15240">
            <a:solidFill>
              <a:srgbClr val="1A2A5E"/>
            </a:solidFill>
            <a:prstDash val="solid"/>
          </a:ln>
        </p:spPr>
        <p:txBody>
          <a:bodyPr/>
          <a:lstStyle/>
          <a:p>
            <a:endParaRPr lang="en-US"/>
          </a:p>
        </p:txBody>
      </p:sp>
      <p:sp>
        <p:nvSpPr>
          <p:cNvPr id="16" name="Text 14"/>
          <p:cNvSpPr/>
          <p:nvPr/>
        </p:nvSpPr>
        <p:spPr>
          <a:xfrm>
            <a:off x="10702290" y="3661410"/>
            <a:ext cx="2744913"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4–E </a:t>
            </a:r>
            <a:r>
              <a:rPr lang="en-US" sz="2250" b="1" dirty="0">
                <a:solidFill>
                  <a:srgbClr val="1A2A5E"/>
                </a:solidFill>
                <a:latin typeface="Helvetica" pitchFamily="34" charset="0"/>
                <a:ea typeface="Helvetica" pitchFamily="34" charset="-122"/>
                <a:cs typeface="Helvetica" pitchFamily="34" charset="-120"/>
              </a:rPr>
              <a:t>consumption</a:t>
            </a:r>
            <a:endParaRPr lang="en-US" sz="1200" dirty="0"/>
          </a:p>
        </p:txBody>
      </p:sp>
      <p:sp>
        <p:nvSpPr>
          <p:cNvPr id="17" name="Shape 15"/>
          <p:cNvSpPr/>
          <p:nvPr/>
        </p:nvSpPr>
        <p:spPr>
          <a:xfrm>
            <a:off x="13934241" y="3436620"/>
            <a:ext cx="2857500" cy="960120"/>
          </a:xfrm>
          <a:prstGeom prst="rect">
            <a:avLst/>
          </a:prstGeom>
          <a:ln w="15240">
            <a:solidFill>
              <a:srgbClr val="1A2A5E"/>
            </a:solidFill>
            <a:prstDash val="solid"/>
          </a:ln>
        </p:spPr>
        <p:txBody>
          <a:bodyPr/>
          <a:lstStyle/>
          <a:p>
            <a:endParaRPr lang="en-US"/>
          </a:p>
        </p:txBody>
      </p:sp>
      <p:sp>
        <p:nvSpPr>
          <p:cNvPr id="18" name="Text 16"/>
          <p:cNvSpPr/>
          <p:nvPr/>
        </p:nvSpPr>
        <p:spPr>
          <a:xfrm>
            <a:off x="14273331" y="3661410"/>
            <a:ext cx="2265045" cy="5486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Playfair Display" pitchFamily="34" charset="0"/>
                <a:ea typeface="Playfair Display" pitchFamily="34" charset="-122"/>
                <a:cs typeface="Playfair Display" pitchFamily="34" charset="-120"/>
              </a:rPr>
              <a:t>5–B </a:t>
            </a:r>
            <a:r>
              <a:rPr lang="en-US" sz="2250" b="1" dirty="0">
                <a:solidFill>
                  <a:srgbClr val="1A2A5E"/>
                </a:solidFill>
                <a:latin typeface="Helvetica" pitchFamily="34" charset="0"/>
                <a:ea typeface="Helvetica" pitchFamily="34" charset="-122"/>
                <a:cs typeface="Helvetica" pitchFamily="34" charset="-120"/>
              </a:rPr>
              <a:t>dispose</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03251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62865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264920"/>
            <a:ext cx="17811750" cy="236220"/>
          </a:xfrm>
          <a:prstGeom prst="rect">
            <a:avLst/>
          </a:prstGeom>
          <a:noFill/>
          <a:ln/>
        </p:spPr>
        <p:txBody>
          <a:bodyPr wrap="square" lIns="25400" tIns="25400" rIns="25400" bIns="25400" rtlCol="0" anchor="t">
            <a:normAutofit lnSpcReduction="10000"/>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52019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Fast Fashion</a:t>
            </a:r>
            <a:endParaRPr lang="en-US" sz="3750" dirty="0"/>
          </a:p>
        </p:txBody>
      </p:sp>
      <p:sp>
        <p:nvSpPr>
          <p:cNvPr id="7" name="Text 5"/>
          <p:cNvSpPr/>
          <p:nvPr/>
        </p:nvSpPr>
        <p:spPr>
          <a:xfrm>
            <a:off x="1047750" y="2236470"/>
            <a:ext cx="17811750" cy="335280"/>
          </a:xfrm>
          <a:prstGeom prst="rect">
            <a:avLst/>
          </a:prstGeom>
          <a:noFill/>
          <a:ln/>
        </p:spPr>
        <p:txBody>
          <a:bodyPr wrap="square" lIns="25400" tIns="25400" rIns="25400" bIns="25400" rtlCol="0" anchor="t">
            <a:normAutofit lnSpcReduction="10000"/>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How can clothes be so cheap?</a:t>
            </a:r>
            <a:endParaRPr lang="en-US" sz="2025" dirty="0"/>
          </a:p>
        </p:txBody>
      </p:sp>
      <p:sp>
        <p:nvSpPr>
          <p:cNvPr id="8" name="Shape 6"/>
          <p:cNvSpPr/>
          <p:nvPr/>
        </p:nvSpPr>
        <p:spPr>
          <a:xfrm>
            <a:off x="1047750" y="2667000"/>
            <a:ext cx="609600" cy="38100"/>
          </a:xfrm>
          <a:prstGeom prst="rect">
            <a:avLst/>
          </a:prstGeom>
          <a:solidFill>
            <a:srgbClr val="D9B877"/>
          </a:solidFill>
          <a:ln/>
        </p:spPr>
        <p:txBody>
          <a:bodyPr/>
          <a:lstStyle/>
          <a:p>
            <a:endParaRPr lang="en-US"/>
          </a:p>
        </p:txBody>
      </p:sp>
      <p:sp>
        <p:nvSpPr>
          <p:cNvPr id="9" name="Text 7"/>
          <p:cNvSpPr/>
          <p:nvPr/>
        </p:nvSpPr>
        <p:spPr>
          <a:xfrm>
            <a:off x="1047750" y="2819400"/>
            <a:ext cx="17811750" cy="28194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 five-dollar T-shirt looks like a bargain — but someone, or something, pays the difference.</a:t>
            </a:r>
            <a:endParaRPr lang="en-US" sz="1650" dirty="0"/>
          </a:p>
        </p:txBody>
      </p:sp>
      <p:sp>
        <p:nvSpPr>
          <p:cNvPr id="10" name="Text 8"/>
          <p:cNvSpPr/>
          <p:nvPr/>
        </p:nvSpPr>
        <p:spPr>
          <a:xfrm>
            <a:off x="1047750" y="327279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A brand-new T-shirt for the price of a coffee sounds like a bargain. In fast-fashion stores, shelves are refilled with cheap new </a:t>
            </a:r>
            <a:r>
              <a:rPr lang="en-US" sz="1650" b="1" dirty="0">
                <a:solidFill>
                  <a:srgbClr val="1A2A5E"/>
                </a:solidFill>
                <a:latin typeface="Helvetica" pitchFamily="34" charset="0"/>
                <a:ea typeface="Helvetica" pitchFamily="34" charset="-122"/>
                <a:cs typeface="Helvetica" pitchFamily="34" charset="-120"/>
              </a:rPr>
              <a:t>garments </a:t>
            </a:r>
            <a:r>
              <a:rPr lang="en-US" sz="1650" dirty="0">
                <a:solidFill>
                  <a:srgbClr val="222222"/>
                </a:solidFill>
                <a:latin typeface="Helvetica" pitchFamily="34" charset="0"/>
                <a:ea typeface="Helvetica" pitchFamily="34" charset="-122"/>
                <a:cs typeface="Helvetica" pitchFamily="34" charset="-120"/>
              </a:rPr>
              <a:t>almost every week, and shoppers are encouraged to buy far more than they need. But behind that five-dollar price tag lies a hidden cost that never appears on the receipt.</a:t>
            </a:r>
            <a:endParaRPr lang="en-US" sz="1650" dirty="0"/>
          </a:p>
        </p:txBody>
      </p:sp>
      <p:sp>
        <p:nvSpPr>
          <p:cNvPr id="11" name="Text 9"/>
          <p:cNvSpPr/>
          <p:nvPr/>
        </p:nvSpPr>
        <p:spPr>
          <a:xfrm>
            <a:off x="1047750" y="512064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Fast fashion means clothing designed, made, and sold at astonishing speed. To keep prices low, factories use cheap </a:t>
            </a:r>
            <a:r>
              <a:rPr lang="en-US" sz="1650" b="1" dirty="0">
                <a:solidFill>
                  <a:srgbClr val="1A2A5E"/>
                </a:solidFill>
                <a:latin typeface="Helvetica" pitchFamily="34" charset="0"/>
                <a:ea typeface="Helvetica" pitchFamily="34" charset="-122"/>
                <a:cs typeface="Helvetica" pitchFamily="34" charset="-120"/>
              </a:rPr>
              <a:t>textiles </a:t>
            </a:r>
            <a:r>
              <a:rPr lang="en-US" sz="1650" dirty="0">
                <a:solidFill>
                  <a:srgbClr val="222222"/>
                </a:solidFill>
                <a:latin typeface="Helvetica" pitchFamily="34" charset="0"/>
                <a:ea typeface="Helvetica" pitchFamily="34" charset="-122"/>
                <a:cs typeface="Helvetica" pitchFamily="34" charset="-120"/>
              </a:rPr>
              <a:t>and rushed labour, often where wages are small. The clothes are rarely </a:t>
            </a:r>
            <a:r>
              <a:rPr lang="en-US" sz="1650" b="1" dirty="0">
                <a:solidFill>
                  <a:srgbClr val="1A2A5E"/>
                </a:solidFill>
                <a:latin typeface="Helvetica" pitchFamily="34" charset="0"/>
                <a:ea typeface="Helvetica" pitchFamily="34" charset="-122"/>
                <a:cs typeface="Helvetica" pitchFamily="34" charset="-120"/>
              </a:rPr>
              <a:t>durable </a:t>
            </a:r>
            <a:r>
              <a:rPr lang="en-US" sz="1650" dirty="0">
                <a:solidFill>
                  <a:srgbClr val="222222"/>
                </a:solidFill>
                <a:latin typeface="Helvetica" pitchFamily="34" charset="0"/>
                <a:ea typeface="Helvetica" pitchFamily="34" charset="-122"/>
                <a:cs typeface="Helvetica" pitchFamily="34" charset="-120"/>
              </a:rPr>
              <a:t>; a shirt worn a few times may lose its shape and be thrown out within a single season.</a:t>
            </a:r>
            <a:endParaRPr lang="en-US" sz="1650" dirty="0"/>
          </a:p>
        </p:txBody>
      </p:sp>
      <p:sp>
        <p:nvSpPr>
          <p:cNvPr id="12" name="Text 10"/>
          <p:cNvSpPr/>
          <p:nvPr/>
        </p:nvSpPr>
        <p:spPr>
          <a:xfrm>
            <a:off x="9401175" y="327279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numbers are staggering. Making a single cotton T-shirt can use around 2,700 litres of water — enough for one person to drink for years. Around the world, a rubbish truck full of clothing is burned or buried every second. This constant </a:t>
            </a:r>
            <a:r>
              <a:rPr lang="en-US" sz="1650" b="1" dirty="0">
                <a:solidFill>
                  <a:srgbClr val="1A2A5E"/>
                </a:solidFill>
                <a:latin typeface="Helvetica" pitchFamily="34" charset="0"/>
                <a:ea typeface="Helvetica" pitchFamily="34" charset="-122"/>
                <a:cs typeface="Helvetica" pitchFamily="34" charset="-120"/>
              </a:rPr>
              <a:t>consumption </a:t>
            </a:r>
            <a:r>
              <a:rPr lang="en-US" sz="1650" dirty="0">
                <a:solidFill>
                  <a:srgbClr val="222222"/>
                </a:solidFill>
                <a:latin typeface="Helvetica" pitchFamily="34" charset="0"/>
                <a:ea typeface="Helvetica" pitchFamily="34" charset="-122"/>
                <a:cs typeface="Helvetica" pitchFamily="34" charset="-120"/>
              </a:rPr>
              <a:t>has made fashion one of the most polluting industries on Earth.</a:t>
            </a:r>
            <a:endParaRPr lang="en-US" sz="1650" dirty="0"/>
          </a:p>
        </p:txBody>
      </p:sp>
      <p:sp>
        <p:nvSpPr>
          <p:cNvPr id="13" name="Text 11"/>
          <p:cNvSpPr/>
          <p:nvPr/>
        </p:nvSpPr>
        <p:spPr>
          <a:xfrm>
            <a:off x="9437478" y="514350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Change, though, is within reach. A growing number of shoppers now </a:t>
            </a:r>
            <a:r>
              <a:rPr lang="en-US" sz="1650" b="1" dirty="0">
                <a:solidFill>
                  <a:srgbClr val="1A2A5E"/>
                </a:solidFill>
                <a:latin typeface="Helvetica" pitchFamily="34" charset="0"/>
                <a:ea typeface="Helvetica" pitchFamily="34" charset="-122"/>
                <a:cs typeface="Helvetica" pitchFamily="34" charset="-120"/>
              </a:rPr>
              <a:t>dispose </a:t>
            </a:r>
            <a:r>
              <a:rPr lang="en-US" sz="1650" dirty="0">
                <a:solidFill>
                  <a:srgbClr val="222222"/>
                </a:solidFill>
                <a:latin typeface="Helvetica" pitchFamily="34" charset="0"/>
                <a:ea typeface="Helvetica" pitchFamily="34" charset="-122"/>
                <a:cs typeface="Helvetica" pitchFamily="34" charset="-120"/>
              </a:rPr>
              <a:t>of far less by buying second-hand, repairing what they own, or simply choosing fewer, better-made pieces. Owning ten quality items you love may bring more satisfaction than a hundred that fall apart.</a:t>
            </a:r>
            <a:endParaRPr lang="en-US" sz="1650" dirty="0"/>
          </a:p>
        </p:txBody>
      </p:sp>
      <p:sp>
        <p:nvSpPr>
          <p:cNvPr id="14" name="Shape 12"/>
          <p:cNvSpPr/>
          <p:nvPr/>
        </p:nvSpPr>
        <p:spPr>
          <a:xfrm>
            <a:off x="1093470" y="7679055"/>
            <a:ext cx="45720" cy="421005"/>
          </a:xfrm>
          <a:prstGeom prst="rect">
            <a:avLst/>
          </a:prstGeom>
          <a:solidFill>
            <a:srgbClr val="D9B877"/>
          </a:solidFill>
          <a:ln/>
        </p:spPr>
        <p:txBody>
          <a:bodyPr/>
          <a:lstStyle/>
          <a:p>
            <a:endParaRPr lang="en-US"/>
          </a:p>
        </p:txBody>
      </p:sp>
      <p:sp>
        <p:nvSpPr>
          <p:cNvPr id="15" name="Text 13"/>
          <p:cNvSpPr/>
          <p:nvPr/>
        </p:nvSpPr>
        <p:spPr>
          <a:xfrm>
            <a:off x="1405890" y="7679055"/>
            <a:ext cx="14356080" cy="45910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550" b="1" i="1" dirty="0">
                <a:solidFill>
                  <a:srgbClr val="1A2A5E"/>
                </a:solidFill>
                <a:latin typeface="Playfair Display" pitchFamily="34" charset="0"/>
                <a:ea typeface="Playfair Display" pitchFamily="34" charset="-122"/>
                <a:cs typeface="Playfair Display" pitchFamily="34" charset="-120"/>
              </a:rPr>
              <a:t>If a T-shirt costs only five dollars, who — or what — is paying the difference?</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4-audio">
            <a:hlinkClick r:id="" action="ppaction://media"/>
            <a:extLst>
              <a:ext uri="{FF2B5EF4-FFF2-40B4-BE49-F238E27FC236}">
                <a16:creationId xmlns:a16="http://schemas.microsoft.com/office/drawing/2014/main" id="{295855DA-A2C0-2ABD-070A-BE42CD6A183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825582" y="1369712"/>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66900"/>
            <a:ext cx="17811750" cy="72390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Playfair Display" pitchFamily="34" charset="0"/>
                <a:ea typeface="Playfair Display" pitchFamily="34" charset="-122"/>
                <a:cs typeface="Playfair Display" pitchFamily="34" charset="-120"/>
              </a:rPr>
              <a:t>True or False?</a:t>
            </a:r>
            <a:endParaRPr lang="en-US" sz="4050" dirty="0"/>
          </a:p>
        </p:txBody>
      </p:sp>
      <p:sp>
        <p:nvSpPr>
          <p:cNvPr id="7" name="Shape 5"/>
          <p:cNvSpPr/>
          <p:nvPr/>
        </p:nvSpPr>
        <p:spPr>
          <a:xfrm>
            <a:off x="1047750" y="3615690"/>
            <a:ext cx="14763750" cy="9525"/>
          </a:xfrm>
          <a:prstGeom prst="rect">
            <a:avLst/>
          </a:prstGeom>
          <a:solidFill>
            <a:srgbClr val="E3E1DB"/>
          </a:solidFill>
          <a:ln/>
        </p:spPr>
        <p:txBody>
          <a:bodyPr/>
          <a:lstStyle/>
          <a:p>
            <a:endParaRPr lang="en-US"/>
          </a:p>
        </p:txBody>
      </p:sp>
      <p:sp>
        <p:nvSpPr>
          <p:cNvPr id="8" name="Text 6"/>
          <p:cNvSpPr/>
          <p:nvPr/>
        </p:nvSpPr>
        <p:spPr>
          <a:xfrm>
            <a:off x="1047750" y="299085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676400" y="304800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Making one cotton T-shirt can use around 2,700 litres of water.</a:t>
            </a:r>
            <a:endParaRPr lang="en-US" sz="2175" dirty="0"/>
          </a:p>
        </p:txBody>
      </p:sp>
      <p:sp>
        <p:nvSpPr>
          <p:cNvPr id="10" name="Text 8"/>
          <p:cNvSpPr/>
          <p:nvPr/>
        </p:nvSpPr>
        <p:spPr>
          <a:xfrm>
            <a:off x="14997469" y="303276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457700"/>
            <a:ext cx="14763750" cy="9525"/>
          </a:xfrm>
          <a:prstGeom prst="rect">
            <a:avLst/>
          </a:prstGeom>
          <a:solidFill>
            <a:srgbClr val="E3E1DB"/>
          </a:solidFill>
          <a:ln/>
        </p:spPr>
        <p:txBody>
          <a:bodyPr/>
          <a:lstStyle/>
          <a:p>
            <a:endParaRPr lang="en-US"/>
          </a:p>
        </p:txBody>
      </p:sp>
      <p:sp>
        <p:nvSpPr>
          <p:cNvPr id="12" name="Text 10"/>
          <p:cNvSpPr/>
          <p:nvPr/>
        </p:nvSpPr>
        <p:spPr>
          <a:xfrm>
            <a:off x="1047750" y="383286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3" name="Text 11"/>
          <p:cNvSpPr/>
          <p:nvPr/>
        </p:nvSpPr>
        <p:spPr>
          <a:xfrm>
            <a:off x="1676400" y="389001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Fast-fashion clothes are usually made to last for many years.</a:t>
            </a:r>
            <a:endParaRPr lang="en-US" sz="2175" dirty="0"/>
          </a:p>
        </p:txBody>
      </p:sp>
      <p:sp>
        <p:nvSpPr>
          <p:cNvPr id="14" name="Text 12"/>
          <p:cNvSpPr/>
          <p:nvPr/>
        </p:nvSpPr>
        <p:spPr>
          <a:xfrm>
            <a:off x="14997469" y="387477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5299710"/>
            <a:ext cx="14763750" cy="9525"/>
          </a:xfrm>
          <a:prstGeom prst="rect">
            <a:avLst/>
          </a:prstGeom>
          <a:solidFill>
            <a:srgbClr val="E3E1DB"/>
          </a:solidFill>
          <a:ln/>
        </p:spPr>
        <p:txBody>
          <a:bodyPr/>
          <a:lstStyle/>
          <a:p>
            <a:endParaRPr lang="en-US"/>
          </a:p>
        </p:txBody>
      </p:sp>
      <p:sp>
        <p:nvSpPr>
          <p:cNvPr id="16" name="Text 14"/>
          <p:cNvSpPr/>
          <p:nvPr/>
        </p:nvSpPr>
        <p:spPr>
          <a:xfrm>
            <a:off x="1047750" y="467487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7" name="Text 15"/>
          <p:cNvSpPr/>
          <p:nvPr/>
        </p:nvSpPr>
        <p:spPr>
          <a:xfrm>
            <a:off x="1676400" y="473202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 truckload of clothing is thrown away or burned every second.</a:t>
            </a:r>
            <a:endParaRPr lang="en-US" sz="2175" dirty="0"/>
          </a:p>
        </p:txBody>
      </p:sp>
      <p:sp>
        <p:nvSpPr>
          <p:cNvPr id="18" name="Text 16"/>
          <p:cNvSpPr/>
          <p:nvPr/>
        </p:nvSpPr>
        <p:spPr>
          <a:xfrm>
            <a:off x="14997469" y="47167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6141720"/>
            <a:ext cx="14763750" cy="9525"/>
          </a:xfrm>
          <a:prstGeom prst="rect">
            <a:avLst/>
          </a:prstGeom>
          <a:solidFill>
            <a:srgbClr val="E3E1DB"/>
          </a:solidFill>
          <a:ln/>
        </p:spPr>
        <p:txBody>
          <a:bodyPr/>
          <a:lstStyle/>
          <a:p>
            <a:endParaRPr lang="en-US"/>
          </a:p>
        </p:txBody>
      </p:sp>
      <p:sp>
        <p:nvSpPr>
          <p:cNvPr id="20" name="Text 18"/>
          <p:cNvSpPr/>
          <p:nvPr/>
        </p:nvSpPr>
        <p:spPr>
          <a:xfrm>
            <a:off x="1047750" y="551688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21" name="Text 19"/>
          <p:cNvSpPr/>
          <p:nvPr/>
        </p:nvSpPr>
        <p:spPr>
          <a:xfrm>
            <a:off x="1676400" y="557403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Fast fashion is one of the world’s cleanest industries.</a:t>
            </a:r>
            <a:endParaRPr lang="en-US" sz="2175" dirty="0"/>
          </a:p>
        </p:txBody>
      </p:sp>
      <p:sp>
        <p:nvSpPr>
          <p:cNvPr id="22" name="Text 20"/>
          <p:cNvSpPr/>
          <p:nvPr/>
        </p:nvSpPr>
        <p:spPr>
          <a:xfrm>
            <a:off x="14997469" y="55587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6358890"/>
            <a:ext cx="45720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4" name="Text 22"/>
          <p:cNvSpPr/>
          <p:nvPr/>
        </p:nvSpPr>
        <p:spPr>
          <a:xfrm>
            <a:off x="1676400" y="6416040"/>
            <a:ext cx="14380761"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Buying second-hand is one way to waste less.</a:t>
            </a:r>
            <a:endParaRPr lang="en-US" sz="2175" dirty="0"/>
          </a:p>
        </p:txBody>
      </p:sp>
      <p:sp>
        <p:nvSpPr>
          <p:cNvPr id="25" name="Text 23"/>
          <p:cNvSpPr/>
          <p:nvPr/>
        </p:nvSpPr>
        <p:spPr>
          <a:xfrm>
            <a:off x="14997469" y="640080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84020"/>
            <a:ext cx="2419386"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88770"/>
            <a:ext cx="1601272" cy="388620"/>
          </a:xfrm>
          <a:prstGeom prst="rect">
            <a:avLst/>
          </a:prstGeom>
          <a:solidFill>
            <a:srgbClr val="1A2A5E"/>
          </a:solidFill>
          <a:ln/>
        </p:spPr>
        <p:txBody>
          <a:bodyPr/>
          <a:lstStyle/>
          <a:p>
            <a:endParaRPr lang="en-US"/>
          </a:p>
        </p:txBody>
      </p:sp>
      <p:sp>
        <p:nvSpPr>
          <p:cNvPr id="7" name="Text 5"/>
          <p:cNvSpPr/>
          <p:nvPr/>
        </p:nvSpPr>
        <p:spPr>
          <a:xfrm>
            <a:off x="3628192" y="164592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1074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True or False?</a:t>
            </a:r>
            <a:endParaRPr lang="en-US" sz="3900" dirty="0"/>
          </a:p>
        </p:txBody>
      </p:sp>
      <p:sp>
        <p:nvSpPr>
          <p:cNvPr id="9" name="Text 7"/>
          <p:cNvSpPr/>
          <p:nvPr/>
        </p:nvSpPr>
        <p:spPr>
          <a:xfrm>
            <a:off x="1047750" y="31470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0" name="Text 8"/>
          <p:cNvSpPr/>
          <p:nvPr/>
        </p:nvSpPr>
        <p:spPr>
          <a:xfrm>
            <a:off x="1676400" y="31623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1965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Making one cotton T-shirt can use around 2,700 litres of water.</a:t>
            </a:r>
            <a:endParaRPr lang="en-US" sz="1950" dirty="0"/>
          </a:p>
        </p:txBody>
      </p:sp>
      <p:sp>
        <p:nvSpPr>
          <p:cNvPr id="12" name="Text 10"/>
          <p:cNvSpPr/>
          <p:nvPr/>
        </p:nvSpPr>
        <p:spPr>
          <a:xfrm>
            <a:off x="1047750" y="36995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3" name="Text 11"/>
          <p:cNvSpPr/>
          <p:nvPr/>
        </p:nvSpPr>
        <p:spPr>
          <a:xfrm>
            <a:off x="1676400" y="37147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7490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Fast-fashion clothes are usually made to last for many years. </a:t>
            </a:r>
            <a:r>
              <a:rPr lang="en-US" sz="1950" i="1" dirty="0">
                <a:solidFill>
                  <a:srgbClr val="888888"/>
                </a:solidFill>
                <a:latin typeface="Helvetica" pitchFamily="34" charset="0"/>
                <a:ea typeface="Helvetica" pitchFamily="34" charset="-122"/>
                <a:cs typeface="Helvetica" pitchFamily="34" charset="-120"/>
              </a:rPr>
              <a:t>— rarely durable.</a:t>
            </a:r>
            <a:endParaRPr lang="en-US" sz="1950" dirty="0"/>
          </a:p>
        </p:txBody>
      </p:sp>
      <p:sp>
        <p:nvSpPr>
          <p:cNvPr id="15" name="Text 13"/>
          <p:cNvSpPr/>
          <p:nvPr/>
        </p:nvSpPr>
        <p:spPr>
          <a:xfrm>
            <a:off x="1047750" y="42519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6" name="Text 14"/>
          <p:cNvSpPr/>
          <p:nvPr/>
        </p:nvSpPr>
        <p:spPr>
          <a:xfrm>
            <a:off x="1676400" y="42672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3014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 truckload of clothing is thrown away or burned every second.</a:t>
            </a:r>
            <a:endParaRPr lang="en-US" sz="1950" dirty="0"/>
          </a:p>
        </p:txBody>
      </p:sp>
      <p:sp>
        <p:nvSpPr>
          <p:cNvPr id="18" name="Text 16"/>
          <p:cNvSpPr/>
          <p:nvPr/>
        </p:nvSpPr>
        <p:spPr>
          <a:xfrm>
            <a:off x="1047750" y="480441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19" name="Text 17"/>
          <p:cNvSpPr/>
          <p:nvPr/>
        </p:nvSpPr>
        <p:spPr>
          <a:xfrm>
            <a:off x="1676400" y="481965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85394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Fast fashion is one of the world’s cleanest industries. </a:t>
            </a:r>
            <a:r>
              <a:rPr lang="en-US" sz="1950" i="1" dirty="0">
                <a:solidFill>
                  <a:srgbClr val="888888"/>
                </a:solidFill>
                <a:latin typeface="Helvetica" pitchFamily="34" charset="0"/>
                <a:ea typeface="Helvetica" pitchFamily="34" charset="-122"/>
                <a:cs typeface="Helvetica" pitchFamily="34" charset="-120"/>
              </a:rPr>
              <a:t>— one of the most polluting.</a:t>
            </a:r>
            <a:endParaRPr lang="en-US" sz="1950" dirty="0"/>
          </a:p>
        </p:txBody>
      </p:sp>
      <p:sp>
        <p:nvSpPr>
          <p:cNvPr id="21" name="Text 19"/>
          <p:cNvSpPr/>
          <p:nvPr/>
        </p:nvSpPr>
        <p:spPr>
          <a:xfrm>
            <a:off x="1047750" y="5356860"/>
            <a:ext cx="45720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2" name="Text 20"/>
          <p:cNvSpPr/>
          <p:nvPr/>
        </p:nvSpPr>
        <p:spPr>
          <a:xfrm>
            <a:off x="1676400" y="53721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406390"/>
            <a:ext cx="14144625" cy="32004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Buying second-hand is one way to waste less.</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125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80975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Playfair Display" pitchFamily="34" charset="0"/>
                <a:ea typeface="Playfair Display" pitchFamily="34" charset="-122"/>
                <a:cs typeface="Playfair Display" pitchFamily="34" charset="-120"/>
              </a:rPr>
              <a:t>Talk it through</a:t>
            </a:r>
            <a:endParaRPr lang="en-US" sz="3900" dirty="0"/>
          </a:p>
        </p:txBody>
      </p:sp>
      <p:sp>
        <p:nvSpPr>
          <p:cNvPr id="7" name="Shape 5"/>
          <p:cNvSpPr/>
          <p:nvPr/>
        </p:nvSpPr>
        <p:spPr>
          <a:xfrm>
            <a:off x="1047750" y="3394710"/>
            <a:ext cx="15049500" cy="9525"/>
          </a:xfrm>
          <a:prstGeom prst="rect">
            <a:avLst/>
          </a:prstGeom>
          <a:solidFill>
            <a:srgbClr val="34437A"/>
          </a:solidFill>
          <a:ln/>
        </p:spPr>
        <p:txBody>
          <a:bodyPr/>
          <a:lstStyle/>
          <a:p>
            <a:endParaRPr lang="en-US"/>
          </a:p>
        </p:txBody>
      </p:sp>
      <p:sp>
        <p:nvSpPr>
          <p:cNvPr id="8" name="Text 6"/>
          <p:cNvSpPr/>
          <p:nvPr/>
        </p:nvSpPr>
        <p:spPr>
          <a:xfrm>
            <a:off x="1047750" y="2807970"/>
            <a:ext cx="201930"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1</a:t>
            </a:r>
            <a:endParaRPr lang="en-US" sz="2550" dirty="0"/>
          </a:p>
        </p:txBody>
      </p:sp>
      <p:sp>
        <p:nvSpPr>
          <p:cNvPr id="9" name="Text 7"/>
          <p:cNvSpPr/>
          <p:nvPr/>
        </p:nvSpPr>
        <p:spPr>
          <a:xfrm>
            <a:off x="1402080" y="2891790"/>
            <a:ext cx="16164688"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buy clothes often? What makes you decide to buy something new?</a:t>
            </a:r>
            <a:endParaRPr lang="en-US" sz="2100" dirty="0"/>
          </a:p>
        </p:txBody>
      </p:sp>
      <p:sp>
        <p:nvSpPr>
          <p:cNvPr id="10" name="Shape 8"/>
          <p:cNvSpPr/>
          <p:nvPr/>
        </p:nvSpPr>
        <p:spPr>
          <a:xfrm>
            <a:off x="1047750" y="4160520"/>
            <a:ext cx="15049500" cy="9525"/>
          </a:xfrm>
          <a:prstGeom prst="rect">
            <a:avLst/>
          </a:prstGeom>
          <a:solidFill>
            <a:srgbClr val="34437A"/>
          </a:solidFill>
          <a:ln/>
        </p:spPr>
        <p:txBody>
          <a:bodyPr/>
          <a:lstStyle/>
          <a:p>
            <a:endParaRPr lang="en-US"/>
          </a:p>
        </p:txBody>
      </p:sp>
      <p:sp>
        <p:nvSpPr>
          <p:cNvPr id="11" name="Text 9"/>
          <p:cNvSpPr/>
          <p:nvPr/>
        </p:nvSpPr>
        <p:spPr>
          <a:xfrm>
            <a:off x="1047750" y="3573780"/>
            <a:ext cx="250508"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2</a:t>
            </a:r>
            <a:endParaRPr lang="en-US" sz="2550" dirty="0"/>
          </a:p>
        </p:txBody>
      </p:sp>
      <p:sp>
        <p:nvSpPr>
          <p:cNvPr id="12" name="Text 10"/>
          <p:cNvSpPr/>
          <p:nvPr/>
        </p:nvSpPr>
        <p:spPr>
          <a:xfrm>
            <a:off x="1450658" y="3657600"/>
            <a:ext cx="16111253"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How has the way you shop for clothes changed over your life?</a:t>
            </a:r>
            <a:endParaRPr lang="en-US" sz="2100" dirty="0"/>
          </a:p>
        </p:txBody>
      </p:sp>
      <p:sp>
        <p:nvSpPr>
          <p:cNvPr id="13" name="Shape 11"/>
          <p:cNvSpPr/>
          <p:nvPr/>
        </p:nvSpPr>
        <p:spPr>
          <a:xfrm>
            <a:off x="1047750" y="4926330"/>
            <a:ext cx="15049500" cy="9525"/>
          </a:xfrm>
          <a:prstGeom prst="rect">
            <a:avLst/>
          </a:prstGeom>
          <a:solidFill>
            <a:srgbClr val="34437A"/>
          </a:solidFill>
          <a:ln/>
        </p:spPr>
        <p:txBody>
          <a:bodyPr/>
          <a:lstStyle/>
          <a:p>
            <a:endParaRPr lang="en-US"/>
          </a:p>
        </p:txBody>
      </p:sp>
      <p:sp>
        <p:nvSpPr>
          <p:cNvPr id="14" name="Text 12"/>
          <p:cNvSpPr/>
          <p:nvPr/>
        </p:nvSpPr>
        <p:spPr>
          <a:xfrm>
            <a:off x="1047750" y="4339590"/>
            <a:ext cx="23812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3</a:t>
            </a:r>
            <a:endParaRPr lang="en-US" sz="2550" dirty="0"/>
          </a:p>
        </p:txBody>
      </p:sp>
      <p:sp>
        <p:nvSpPr>
          <p:cNvPr id="15" name="Text 13"/>
          <p:cNvSpPr/>
          <p:nvPr/>
        </p:nvSpPr>
        <p:spPr>
          <a:xfrm>
            <a:off x="1438275" y="4423410"/>
            <a:ext cx="16124872"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you think people keep buying clothes they don’t really need?</a:t>
            </a:r>
            <a:endParaRPr lang="en-US" sz="2100" dirty="0"/>
          </a:p>
        </p:txBody>
      </p:sp>
      <p:sp>
        <p:nvSpPr>
          <p:cNvPr id="16" name="Shape 14"/>
          <p:cNvSpPr/>
          <p:nvPr/>
        </p:nvSpPr>
        <p:spPr>
          <a:xfrm>
            <a:off x="1047750" y="5692140"/>
            <a:ext cx="15049500" cy="9525"/>
          </a:xfrm>
          <a:prstGeom prst="rect">
            <a:avLst/>
          </a:prstGeom>
          <a:solidFill>
            <a:srgbClr val="34437A"/>
          </a:solidFill>
          <a:ln/>
        </p:spPr>
        <p:txBody>
          <a:bodyPr/>
          <a:lstStyle/>
          <a:p>
            <a:endParaRPr lang="en-US"/>
          </a:p>
        </p:txBody>
      </p:sp>
      <p:sp>
        <p:nvSpPr>
          <p:cNvPr id="17" name="Text 15"/>
          <p:cNvSpPr/>
          <p:nvPr/>
        </p:nvSpPr>
        <p:spPr>
          <a:xfrm>
            <a:off x="1047750" y="5105400"/>
            <a:ext cx="250865"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4</a:t>
            </a:r>
            <a:endParaRPr lang="en-US" sz="2550" dirty="0"/>
          </a:p>
        </p:txBody>
      </p:sp>
      <p:sp>
        <p:nvSpPr>
          <p:cNvPr id="18" name="Text 16"/>
          <p:cNvSpPr/>
          <p:nvPr/>
        </p:nvSpPr>
        <p:spPr>
          <a:xfrm>
            <a:off x="1451015" y="5189220"/>
            <a:ext cx="16110859"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fair to blame shoppers for the problems of fast fashion?</a:t>
            </a:r>
            <a:endParaRPr lang="en-US" sz="2100" dirty="0"/>
          </a:p>
        </p:txBody>
      </p:sp>
      <p:sp>
        <p:nvSpPr>
          <p:cNvPr id="19" name="Text 17"/>
          <p:cNvSpPr/>
          <p:nvPr/>
        </p:nvSpPr>
        <p:spPr>
          <a:xfrm>
            <a:off x="1047750" y="5871210"/>
            <a:ext cx="229791" cy="47244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Playfair Display" pitchFamily="34" charset="0"/>
                <a:ea typeface="Playfair Display" pitchFamily="34" charset="-122"/>
                <a:cs typeface="Playfair Display" pitchFamily="34" charset="-120"/>
              </a:rPr>
              <a:t>5</a:t>
            </a:r>
            <a:endParaRPr lang="en-US" sz="2550" dirty="0"/>
          </a:p>
        </p:txBody>
      </p:sp>
      <p:sp>
        <p:nvSpPr>
          <p:cNvPr id="20" name="Text 18"/>
          <p:cNvSpPr/>
          <p:nvPr/>
        </p:nvSpPr>
        <p:spPr>
          <a:xfrm>
            <a:off x="1429941" y="5955030"/>
            <a:ext cx="16134040" cy="384810"/>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better to own ten good items or a hundred cheap ones? Why?</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275754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60195"/>
            <a:ext cx="1995368"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96390"/>
            <a:ext cx="1827728" cy="205740"/>
          </a:xfrm>
          <a:prstGeom prst="rect">
            <a:avLst/>
          </a:prstGeom>
          <a:noFill/>
          <a:ln/>
        </p:spPr>
        <p:txBody>
          <a:bodyPr wrap="none" lIns="25400" tIns="25400" rIns="25400" bIns="25400" rtlCol="0" anchor="t">
            <a:normAutofit lnSpcReduction="10000"/>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ETHICAL DILEMMA</a:t>
            </a:r>
            <a:endParaRPr lang="en-US" sz="1125" dirty="0"/>
          </a:p>
        </p:txBody>
      </p:sp>
      <p:sp>
        <p:nvSpPr>
          <p:cNvPr id="8" name="Text 6"/>
          <p:cNvSpPr/>
          <p:nvPr/>
        </p:nvSpPr>
        <p:spPr>
          <a:xfrm>
            <a:off x="1047750" y="1914525"/>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What should the company do?</a:t>
            </a:r>
            <a:endParaRPr lang="en-US" sz="3750" dirty="0"/>
          </a:p>
        </p:txBody>
      </p:sp>
      <p:sp>
        <p:nvSpPr>
          <p:cNvPr id="9" name="Text 7"/>
          <p:cNvSpPr/>
          <p:nvPr/>
        </p:nvSpPr>
        <p:spPr>
          <a:xfrm>
            <a:off x="1047750" y="2668905"/>
            <a:ext cx="15697200" cy="60198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A clothing company has 100,000 unsold T-shirts. It can only choose </a:t>
            </a:r>
            <a:r>
              <a:rPr lang="en-US" sz="1950" b="1" dirty="0">
                <a:solidFill>
                  <a:srgbClr val="1A2A5E"/>
                </a:solidFill>
                <a:latin typeface="Helvetica" pitchFamily="34" charset="0"/>
                <a:ea typeface="Helvetica" pitchFamily="34" charset="-122"/>
                <a:cs typeface="Helvetica" pitchFamily="34" charset="-120"/>
              </a:rPr>
              <a:t>ONE </a:t>
            </a:r>
            <a:r>
              <a:rPr lang="en-US" sz="1950" dirty="0">
                <a:solidFill>
                  <a:srgbClr val="555555"/>
                </a:solidFill>
                <a:latin typeface="Helvetica" pitchFamily="34" charset="0"/>
                <a:ea typeface="Helvetica" pitchFamily="34" charset="-122"/>
                <a:cs typeface="Helvetica" pitchFamily="34" charset="-120"/>
              </a:rPr>
              <a:t>option. As a group, decide what the company should do — and be ready to defend your choice.</a:t>
            </a:r>
            <a:endParaRPr lang="en-US" sz="1950" dirty="0"/>
          </a:p>
        </p:txBody>
      </p:sp>
      <p:sp>
        <p:nvSpPr>
          <p:cNvPr id="10" name="Shape 8"/>
          <p:cNvSpPr/>
          <p:nvPr/>
        </p:nvSpPr>
        <p:spPr>
          <a:xfrm>
            <a:off x="1047750" y="4070985"/>
            <a:ext cx="14859000" cy="9525"/>
          </a:xfrm>
          <a:prstGeom prst="rect">
            <a:avLst/>
          </a:prstGeom>
          <a:solidFill>
            <a:srgbClr val="D8D6D0"/>
          </a:solidFill>
          <a:ln/>
        </p:spPr>
        <p:txBody>
          <a:bodyPr/>
          <a:lstStyle/>
          <a:p>
            <a:endParaRPr lang="en-US"/>
          </a:p>
        </p:txBody>
      </p:sp>
      <p:sp>
        <p:nvSpPr>
          <p:cNvPr id="11" name="Shape 9"/>
          <p:cNvSpPr/>
          <p:nvPr/>
        </p:nvSpPr>
        <p:spPr>
          <a:xfrm>
            <a:off x="1047750" y="3594735"/>
            <a:ext cx="323850" cy="323850"/>
          </a:xfrm>
          <a:prstGeom prst="rect">
            <a:avLst/>
          </a:prstGeom>
          <a:ln w="15240">
            <a:solidFill>
              <a:srgbClr val="1A2A5E"/>
            </a:solidFill>
            <a:prstDash val="solid"/>
          </a:ln>
        </p:spPr>
        <p:txBody>
          <a:bodyPr/>
          <a:lstStyle/>
          <a:p>
            <a:endParaRPr lang="en-US"/>
          </a:p>
        </p:txBody>
      </p:sp>
      <p:sp>
        <p:nvSpPr>
          <p:cNvPr id="12" name="Text 10"/>
          <p:cNvSpPr/>
          <p:nvPr/>
        </p:nvSpPr>
        <p:spPr>
          <a:xfrm>
            <a:off x="1600200" y="3596640"/>
            <a:ext cx="5331607"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Burn them to protect the brand’s image.</a:t>
            </a:r>
            <a:endParaRPr lang="en-US" sz="2175" dirty="0"/>
          </a:p>
        </p:txBody>
      </p:sp>
      <p:sp>
        <p:nvSpPr>
          <p:cNvPr id="13" name="Shape 11"/>
          <p:cNvSpPr/>
          <p:nvPr/>
        </p:nvSpPr>
        <p:spPr>
          <a:xfrm>
            <a:off x="1047750" y="4707255"/>
            <a:ext cx="14859000" cy="9525"/>
          </a:xfrm>
          <a:prstGeom prst="rect">
            <a:avLst/>
          </a:prstGeom>
          <a:solidFill>
            <a:srgbClr val="D8D6D0"/>
          </a:solidFill>
          <a:ln/>
        </p:spPr>
        <p:txBody>
          <a:bodyPr/>
          <a:lstStyle/>
          <a:p>
            <a:endParaRPr lang="en-US"/>
          </a:p>
        </p:txBody>
      </p:sp>
      <p:sp>
        <p:nvSpPr>
          <p:cNvPr id="14" name="Shape 12"/>
          <p:cNvSpPr/>
          <p:nvPr/>
        </p:nvSpPr>
        <p:spPr>
          <a:xfrm>
            <a:off x="1047750" y="4231005"/>
            <a:ext cx="323850" cy="323850"/>
          </a:xfrm>
          <a:prstGeom prst="rect">
            <a:avLst/>
          </a:prstGeom>
          <a:ln w="15240">
            <a:solidFill>
              <a:srgbClr val="1A2A5E"/>
            </a:solidFill>
            <a:prstDash val="solid"/>
          </a:ln>
        </p:spPr>
        <p:txBody>
          <a:bodyPr/>
          <a:lstStyle/>
          <a:p>
            <a:endParaRPr lang="en-US"/>
          </a:p>
        </p:txBody>
      </p:sp>
      <p:sp>
        <p:nvSpPr>
          <p:cNvPr id="15" name="Text 13"/>
          <p:cNvSpPr/>
          <p:nvPr/>
        </p:nvSpPr>
        <p:spPr>
          <a:xfrm>
            <a:off x="1600200" y="4232910"/>
            <a:ext cx="4763465"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Send them to developing countries.</a:t>
            </a:r>
            <a:endParaRPr lang="en-US" sz="2175" dirty="0"/>
          </a:p>
        </p:txBody>
      </p:sp>
      <p:sp>
        <p:nvSpPr>
          <p:cNvPr id="16" name="Shape 14"/>
          <p:cNvSpPr/>
          <p:nvPr/>
        </p:nvSpPr>
        <p:spPr>
          <a:xfrm>
            <a:off x="1047750" y="5343525"/>
            <a:ext cx="14859000" cy="9525"/>
          </a:xfrm>
          <a:prstGeom prst="rect">
            <a:avLst/>
          </a:prstGeom>
          <a:solidFill>
            <a:srgbClr val="D8D6D0"/>
          </a:solidFill>
          <a:ln/>
        </p:spPr>
        <p:txBody>
          <a:bodyPr/>
          <a:lstStyle/>
          <a:p>
            <a:endParaRPr lang="en-US"/>
          </a:p>
        </p:txBody>
      </p:sp>
      <p:sp>
        <p:nvSpPr>
          <p:cNvPr id="17" name="Shape 15"/>
          <p:cNvSpPr/>
          <p:nvPr/>
        </p:nvSpPr>
        <p:spPr>
          <a:xfrm>
            <a:off x="1047750" y="4867275"/>
            <a:ext cx="323850" cy="323850"/>
          </a:xfrm>
          <a:prstGeom prst="rect">
            <a:avLst/>
          </a:prstGeom>
          <a:ln w="15240">
            <a:solidFill>
              <a:srgbClr val="1A2A5E"/>
            </a:solidFill>
            <a:prstDash val="solid"/>
          </a:ln>
        </p:spPr>
        <p:txBody>
          <a:bodyPr/>
          <a:lstStyle/>
          <a:p>
            <a:endParaRPr lang="en-US"/>
          </a:p>
        </p:txBody>
      </p:sp>
      <p:sp>
        <p:nvSpPr>
          <p:cNvPr id="18" name="Text 16"/>
          <p:cNvSpPr/>
          <p:nvPr/>
        </p:nvSpPr>
        <p:spPr>
          <a:xfrm>
            <a:off x="1600200" y="4869180"/>
            <a:ext cx="5100316"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Recycle the material into new clothes.</a:t>
            </a:r>
            <a:endParaRPr lang="en-US" sz="2175" dirty="0"/>
          </a:p>
        </p:txBody>
      </p:sp>
      <p:sp>
        <p:nvSpPr>
          <p:cNvPr id="19" name="Shape 17"/>
          <p:cNvSpPr/>
          <p:nvPr/>
        </p:nvSpPr>
        <p:spPr>
          <a:xfrm>
            <a:off x="1047750" y="5979795"/>
            <a:ext cx="14859000" cy="9525"/>
          </a:xfrm>
          <a:prstGeom prst="rect">
            <a:avLst/>
          </a:prstGeom>
          <a:solidFill>
            <a:srgbClr val="D8D6D0"/>
          </a:solidFill>
          <a:ln/>
        </p:spPr>
        <p:txBody>
          <a:bodyPr/>
          <a:lstStyle/>
          <a:p>
            <a:endParaRPr lang="en-US"/>
          </a:p>
        </p:txBody>
      </p:sp>
      <p:sp>
        <p:nvSpPr>
          <p:cNvPr id="20" name="Shape 18"/>
          <p:cNvSpPr/>
          <p:nvPr/>
        </p:nvSpPr>
        <p:spPr>
          <a:xfrm>
            <a:off x="1047750" y="5503545"/>
            <a:ext cx="323850" cy="323850"/>
          </a:xfrm>
          <a:prstGeom prst="rect">
            <a:avLst/>
          </a:prstGeom>
          <a:ln w="15240">
            <a:solidFill>
              <a:srgbClr val="1A2A5E"/>
            </a:solidFill>
            <a:prstDash val="solid"/>
          </a:ln>
        </p:spPr>
        <p:txBody>
          <a:bodyPr/>
          <a:lstStyle/>
          <a:p>
            <a:endParaRPr lang="en-US"/>
          </a:p>
        </p:txBody>
      </p:sp>
      <p:sp>
        <p:nvSpPr>
          <p:cNvPr id="21" name="Text 19"/>
          <p:cNvSpPr/>
          <p:nvPr/>
        </p:nvSpPr>
        <p:spPr>
          <a:xfrm>
            <a:off x="1600200" y="5505450"/>
            <a:ext cx="3850743"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Sell them for almost nothing.</a:t>
            </a:r>
            <a:endParaRPr lang="en-US" sz="2175" dirty="0"/>
          </a:p>
        </p:txBody>
      </p:sp>
      <p:sp>
        <p:nvSpPr>
          <p:cNvPr id="22" name="Shape 20"/>
          <p:cNvSpPr/>
          <p:nvPr/>
        </p:nvSpPr>
        <p:spPr>
          <a:xfrm>
            <a:off x="1047750" y="6616065"/>
            <a:ext cx="14859000" cy="9525"/>
          </a:xfrm>
          <a:prstGeom prst="rect">
            <a:avLst/>
          </a:prstGeom>
          <a:solidFill>
            <a:srgbClr val="D8D6D0"/>
          </a:solidFill>
          <a:ln/>
        </p:spPr>
        <p:txBody>
          <a:bodyPr/>
          <a:lstStyle/>
          <a:p>
            <a:endParaRPr lang="en-US"/>
          </a:p>
        </p:txBody>
      </p:sp>
      <p:sp>
        <p:nvSpPr>
          <p:cNvPr id="23" name="Shape 21"/>
          <p:cNvSpPr/>
          <p:nvPr/>
        </p:nvSpPr>
        <p:spPr>
          <a:xfrm>
            <a:off x="1047750" y="6139815"/>
            <a:ext cx="323850" cy="323850"/>
          </a:xfrm>
          <a:prstGeom prst="rect">
            <a:avLst/>
          </a:prstGeom>
          <a:ln w="15240">
            <a:solidFill>
              <a:srgbClr val="1A2A5E"/>
            </a:solidFill>
            <a:prstDash val="solid"/>
          </a:ln>
        </p:spPr>
        <p:txBody>
          <a:bodyPr/>
          <a:lstStyle/>
          <a:p>
            <a:endParaRPr lang="en-US"/>
          </a:p>
        </p:txBody>
      </p:sp>
      <p:sp>
        <p:nvSpPr>
          <p:cNvPr id="24" name="Text 22"/>
          <p:cNvSpPr/>
          <p:nvPr/>
        </p:nvSpPr>
        <p:spPr>
          <a:xfrm>
            <a:off x="1600200" y="6141720"/>
            <a:ext cx="3377815" cy="358140"/>
          </a:xfrm>
          <a:prstGeom prst="rect">
            <a:avLst/>
          </a:prstGeom>
          <a:noFill/>
          <a:ln/>
        </p:spPr>
        <p:txBody>
          <a:bodyPr wrap="square" lIns="25400" tIns="25400" rIns="25400" bIns="25400" rtlCol="0" anchor="t">
            <a:normAutofit lnSpcReduction="10000"/>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Donate them to charities.</a:t>
            </a:r>
            <a:endParaRPr lang="en-US" sz="2175" dirty="0"/>
          </a:p>
        </p:txBody>
      </p:sp>
      <p:sp>
        <p:nvSpPr>
          <p:cNvPr id="25" name="Text 23"/>
          <p:cNvSpPr/>
          <p:nvPr/>
        </p:nvSpPr>
        <p:spPr>
          <a:xfrm>
            <a:off x="1047750" y="7038975"/>
            <a:ext cx="953691" cy="213360"/>
          </a:xfrm>
          <a:prstGeom prst="rect">
            <a:avLst/>
          </a:prstGeom>
          <a:noFill/>
          <a:ln/>
        </p:spPr>
        <p:txBody>
          <a:bodyPr wrap="none" lIns="25400" tIns="25400" rIns="25400" bIns="25400" rtlCol="0" anchor="t">
            <a:normAutofit fontScale="92500" lnSpcReduction="10000"/>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DISCUSS</a:t>
            </a:r>
            <a:endParaRPr lang="en-US" sz="1200" dirty="0"/>
          </a:p>
        </p:txBody>
      </p:sp>
      <p:sp>
        <p:nvSpPr>
          <p:cNvPr id="26" name="Text 24"/>
          <p:cNvSpPr/>
          <p:nvPr/>
        </p:nvSpPr>
        <p:spPr>
          <a:xfrm>
            <a:off x="2115741" y="6947535"/>
            <a:ext cx="7821585" cy="355759"/>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Which option is best? · Which is worst? · Who benefits? · Who loses?</a:t>
            </a:r>
            <a:endParaRPr lang="en-US" sz="17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66900"/>
            <a:ext cx="17811750" cy="69342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Playfair Display" pitchFamily="34" charset="0"/>
                <a:ea typeface="Playfair Display" pitchFamily="34" charset="-122"/>
                <a:cs typeface="Playfair Display" pitchFamily="34" charset="-120"/>
              </a:rPr>
              <a:t>Complete &amp; say each line</a:t>
            </a:r>
            <a:endParaRPr lang="en-US" sz="3900" dirty="0"/>
          </a:p>
        </p:txBody>
      </p:sp>
      <p:sp>
        <p:nvSpPr>
          <p:cNvPr id="7" name="Text 5"/>
          <p:cNvSpPr/>
          <p:nvPr/>
        </p:nvSpPr>
        <p:spPr>
          <a:xfrm>
            <a:off x="1047750" y="2636520"/>
            <a:ext cx="17811750" cy="297180"/>
          </a:xfrm>
          <a:prstGeom prst="rect">
            <a:avLst/>
          </a:prstGeom>
          <a:noFill/>
          <a:ln/>
        </p:spPr>
        <p:txBody>
          <a:bodyPr wrap="square" lIns="25400" tIns="25400" rIns="25400" bIns="25400" rtlCol="0" anchor="t">
            <a:normAutofit fontScale="92500" lnSpcReduction="10000"/>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312420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310890"/>
            <a:ext cx="1128474"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garment</a:t>
            </a:r>
            <a:endParaRPr lang="en-US" sz="2100" dirty="0"/>
          </a:p>
        </p:txBody>
      </p:sp>
      <p:sp>
        <p:nvSpPr>
          <p:cNvPr id="10" name="Text 8"/>
          <p:cNvSpPr/>
          <p:nvPr/>
        </p:nvSpPr>
        <p:spPr>
          <a:xfrm>
            <a:off x="2820114" y="3310890"/>
            <a:ext cx="847011"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textile</a:t>
            </a:r>
            <a:endParaRPr lang="en-US" sz="2100" dirty="0"/>
          </a:p>
        </p:txBody>
      </p:sp>
      <p:sp>
        <p:nvSpPr>
          <p:cNvPr id="11" name="Text 9"/>
          <p:cNvSpPr/>
          <p:nvPr/>
        </p:nvSpPr>
        <p:spPr>
          <a:xfrm>
            <a:off x="3971925" y="3310890"/>
            <a:ext cx="1039535"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durable</a:t>
            </a:r>
            <a:endParaRPr lang="en-US" sz="2100" dirty="0"/>
          </a:p>
        </p:txBody>
      </p:sp>
      <p:sp>
        <p:nvSpPr>
          <p:cNvPr id="12" name="Text 10"/>
          <p:cNvSpPr/>
          <p:nvPr/>
        </p:nvSpPr>
        <p:spPr>
          <a:xfrm>
            <a:off x="5316260" y="3310890"/>
            <a:ext cx="1841683"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consumption</a:t>
            </a:r>
            <a:endParaRPr lang="en-US" sz="2100" dirty="0"/>
          </a:p>
        </p:txBody>
      </p:sp>
      <p:sp>
        <p:nvSpPr>
          <p:cNvPr id="13" name="Text 11"/>
          <p:cNvSpPr/>
          <p:nvPr/>
        </p:nvSpPr>
        <p:spPr>
          <a:xfrm>
            <a:off x="7371517" y="3310890"/>
            <a:ext cx="1084064" cy="342900"/>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dispose</a:t>
            </a:r>
            <a:endParaRPr lang="en-US" sz="2100" dirty="0"/>
          </a:p>
        </p:txBody>
      </p:sp>
      <p:sp>
        <p:nvSpPr>
          <p:cNvPr id="14" name="Text 12"/>
          <p:cNvSpPr/>
          <p:nvPr/>
        </p:nvSpPr>
        <p:spPr>
          <a:xfrm>
            <a:off x="1047750" y="408813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1</a:t>
            </a:r>
            <a:endParaRPr lang="en-US" sz="2250" dirty="0"/>
          </a:p>
        </p:txBody>
      </p:sp>
      <p:sp>
        <p:nvSpPr>
          <p:cNvPr id="15" name="Text 13"/>
          <p:cNvSpPr/>
          <p:nvPr/>
        </p:nvSpPr>
        <p:spPr>
          <a:xfrm>
            <a:off x="1581150" y="4110990"/>
            <a:ext cx="740287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well-made _______________ can last for many years.</a:t>
            </a:r>
            <a:endParaRPr lang="en-US" sz="2250" dirty="0"/>
          </a:p>
        </p:txBody>
      </p:sp>
      <p:sp>
        <p:nvSpPr>
          <p:cNvPr id="16" name="Text 14"/>
          <p:cNvSpPr/>
          <p:nvPr/>
        </p:nvSpPr>
        <p:spPr>
          <a:xfrm>
            <a:off x="1047750" y="4706303"/>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2</a:t>
            </a:r>
            <a:endParaRPr lang="en-US" sz="2250" dirty="0"/>
          </a:p>
        </p:txBody>
      </p:sp>
      <p:sp>
        <p:nvSpPr>
          <p:cNvPr id="17" name="Text 15"/>
          <p:cNvSpPr/>
          <p:nvPr/>
        </p:nvSpPr>
        <p:spPr>
          <a:xfrm>
            <a:off x="1581150" y="4729163"/>
            <a:ext cx="7065633"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Cheap _______________ often wear out very quickly.</a:t>
            </a:r>
            <a:endParaRPr lang="en-US" sz="2250" dirty="0"/>
          </a:p>
        </p:txBody>
      </p:sp>
      <p:sp>
        <p:nvSpPr>
          <p:cNvPr id="18" name="Text 16"/>
          <p:cNvSpPr/>
          <p:nvPr/>
        </p:nvSpPr>
        <p:spPr>
          <a:xfrm>
            <a:off x="1047750" y="5324475"/>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3</a:t>
            </a:r>
            <a:endParaRPr lang="en-US" sz="2250" dirty="0"/>
          </a:p>
        </p:txBody>
      </p:sp>
      <p:sp>
        <p:nvSpPr>
          <p:cNvPr id="19" name="Text 17"/>
          <p:cNvSpPr/>
          <p:nvPr/>
        </p:nvSpPr>
        <p:spPr>
          <a:xfrm>
            <a:off x="1581150" y="5347335"/>
            <a:ext cx="8765738"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This coat is so _______________ that I have worn it for ten years.</a:t>
            </a:r>
            <a:endParaRPr lang="en-US" sz="2250" dirty="0"/>
          </a:p>
        </p:txBody>
      </p:sp>
      <p:sp>
        <p:nvSpPr>
          <p:cNvPr id="20" name="Text 18"/>
          <p:cNvSpPr/>
          <p:nvPr/>
        </p:nvSpPr>
        <p:spPr>
          <a:xfrm>
            <a:off x="1047750" y="5942648"/>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4</a:t>
            </a:r>
            <a:endParaRPr lang="en-US" sz="2250" dirty="0"/>
          </a:p>
        </p:txBody>
      </p:sp>
      <p:sp>
        <p:nvSpPr>
          <p:cNvPr id="21" name="Text 19"/>
          <p:cNvSpPr/>
          <p:nvPr/>
        </p:nvSpPr>
        <p:spPr>
          <a:xfrm>
            <a:off x="1581150" y="5965507"/>
            <a:ext cx="8276701"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Our _______________ of new clothes keeps rising every year.</a:t>
            </a:r>
            <a:endParaRPr lang="en-US" sz="2250" dirty="0"/>
          </a:p>
        </p:txBody>
      </p:sp>
      <p:sp>
        <p:nvSpPr>
          <p:cNvPr id="22" name="Text 20"/>
          <p:cNvSpPr/>
          <p:nvPr/>
        </p:nvSpPr>
        <p:spPr>
          <a:xfrm>
            <a:off x="1047750" y="6560820"/>
            <a:ext cx="400050" cy="41910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Playfair Display" pitchFamily="34" charset="0"/>
                <a:ea typeface="Playfair Display" pitchFamily="34" charset="-122"/>
                <a:cs typeface="Playfair Display" pitchFamily="34" charset="-120"/>
              </a:rPr>
              <a:t>5</a:t>
            </a:r>
            <a:endParaRPr lang="en-US" sz="2250" dirty="0"/>
          </a:p>
        </p:txBody>
      </p:sp>
      <p:sp>
        <p:nvSpPr>
          <p:cNvPr id="23" name="Text 21"/>
          <p:cNvSpPr/>
          <p:nvPr/>
        </p:nvSpPr>
        <p:spPr>
          <a:xfrm>
            <a:off x="1581150" y="6583680"/>
            <a:ext cx="6908602" cy="423863"/>
          </a:xfrm>
          <a:prstGeom prst="rect">
            <a:avLst/>
          </a:prstGeom>
          <a:noFill/>
          <a:ln/>
        </p:spPr>
        <p:txBody>
          <a:bodyPr wrap="square" lIns="25400" tIns="25400" rIns="25400" bIns="25400" rtlCol="0" anchor="t">
            <a:normAutofit fontScale="92500" lnSpcReduction="10000"/>
          </a:bodyPr>
          <a:lstStyle/>
          <a:p>
            <a:pPr>
              <a:lnSpc>
                <a:spcPct val="135000"/>
              </a:lnSpc>
            </a:pPr>
            <a:r>
              <a:rPr lang="en-US" sz="2250" dirty="0">
                <a:solidFill>
                  <a:srgbClr val="1A1A1A"/>
                </a:solidFill>
                <a:latin typeface="Helvetica" pitchFamily="34" charset="0"/>
                <a:ea typeface="Helvetica" pitchFamily="34" charset="-122"/>
                <a:cs typeface="Helvetica" pitchFamily="34" charset="-120"/>
              </a:rPr>
              <a:t>Please _______________ of old clothes responsibly.</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84020"/>
            <a:ext cx="3322677"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88770"/>
            <a:ext cx="3262670" cy="388620"/>
          </a:xfrm>
          <a:prstGeom prst="rect">
            <a:avLst/>
          </a:prstGeom>
          <a:solidFill>
            <a:srgbClr val="1A2A5E"/>
          </a:solidFill>
          <a:ln/>
        </p:spPr>
        <p:txBody>
          <a:bodyPr/>
          <a:lstStyle/>
          <a:p>
            <a:endParaRPr lang="en-US"/>
          </a:p>
        </p:txBody>
      </p:sp>
      <p:sp>
        <p:nvSpPr>
          <p:cNvPr id="7" name="Text 5"/>
          <p:cNvSpPr/>
          <p:nvPr/>
        </p:nvSpPr>
        <p:spPr>
          <a:xfrm>
            <a:off x="4449366" y="164592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11074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Complete &amp; say each line</a:t>
            </a:r>
            <a:endParaRPr lang="en-US" sz="3750" dirty="0"/>
          </a:p>
        </p:txBody>
      </p:sp>
      <p:sp>
        <p:nvSpPr>
          <p:cNvPr id="9" name="Text 7"/>
          <p:cNvSpPr/>
          <p:nvPr/>
        </p:nvSpPr>
        <p:spPr>
          <a:xfrm>
            <a:off x="1047750" y="313182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1</a:t>
            </a:r>
            <a:endParaRPr lang="en-US" sz="2100" dirty="0"/>
          </a:p>
        </p:txBody>
      </p:sp>
      <p:sp>
        <p:nvSpPr>
          <p:cNvPr id="10" name="Text 8"/>
          <p:cNvSpPr/>
          <p:nvPr/>
        </p:nvSpPr>
        <p:spPr>
          <a:xfrm>
            <a:off x="1581150" y="3147060"/>
            <a:ext cx="6032814"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well-made </a:t>
            </a:r>
            <a:r>
              <a:rPr lang="en-US" sz="2100" b="1" dirty="0">
                <a:solidFill>
                  <a:srgbClr val="1A2A5E"/>
                </a:solidFill>
                <a:latin typeface="Helvetica" pitchFamily="34" charset="0"/>
                <a:ea typeface="Helvetica" pitchFamily="34" charset="-122"/>
                <a:cs typeface="Helvetica" pitchFamily="34" charset="-120"/>
              </a:rPr>
              <a:t>garment </a:t>
            </a:r>
            <a:r>
              <a:rPr lang="en-US" sz="2100" dirty="0">
                <a:solidFill>
                  <a:srgbClr val="444444"/>
                </a:solidFill>
                <a:latin typeface="Helvetica" pitchFamily="34" charset="0"/>
                <a:ea typeface="Helvetica" pitchFamily="34" charset="-122"/>
                <a:cs typeface="Helvetica" pitchFamily="34" charset="-120"/>
              </a:rPr>
              <a:t>can last for many years.</a:t>
            </a:r>
            <a:endParaRPr lang="en-US" sz="2100" dirty="0"/>
          </a:p>
        </p:txBody>
      </p:sp>
      <p:sp>
        <p:nvSpPr>
          <p:cNvPr id="11" name="Text 9"/>
          <p:cNvSpPr/>
          <p:nvPr/>
        </p:nvSpPr>
        <p:spPr>
          <a:xfrm>
            <a:off x="1047750" y="371665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2</a:t>
            </a:r>
            <a:endParaRPr lang="en-US" sz="2100" dirty="0"/>
          </a:p>
        </p:txBody>
      </p:sp>
      <p:sp>
        <p:nvSpPr>
          <p:cNvPr id="12" name="Text 10"/>
          <p:cNvSpPr/>
          <p:nvPr/>
        </p:nvSpPr>
        <p:spPr>
          <a:xfrm>
            <a:off x="1581150" y="3731895"/>
            <a:ext cx="5571673"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Cheap </a:t>
            </a:r>
            <a:r>
              <a:rPr lang="en-US" sz="2100" b="1" dirty="0">
                <a:solidFill>
                  <a:srgbClr val="1A2A5E"/>
                </a:solidFill>
                <a:latin typeface="Helvetica" pitchFamily="34" charset="0"/>
                <a:ea typeface="Helvetica" pitchFamily="34" charset="-122"/>
                <a:cs typeface="Helvetica" pitchFamily="34" charset="-120"/>
              </a:rPr>
              <a:t>textiles </a:t>
            </a:r>
            <a:r>
              <a:rPr lang="en-US" sz="2100" dirty="0">
                <a:solidFill>
                  <a:srgbClr val="444444"/>
                </a:solidFill>
                <a:latin typeface="Helvetica" pitchFamily="34" charset="0"/>
                <a:ea typeface="Helvetica" pitchFamily="34" charset="-122"/>
                <a:cs typeface="Helvetica" pitchFamily="34" charset="-120"/>
              </a:rPr>
              <a:t>often wear out very quickly.</a:t>
            </a:r>
            <a:endParaRPr lang="en-US" sz="2100" dirty="0"/>
          </a:p>
        </p:txBody>
      </p:sp>
      <p:sp>
        <p:nvSpPr>
          <p:cNvPr id="13" name="Text 11"/>
          <p:cNvSpPr/>
          <p:nvPr/>
        </p:nvSpPr>
        <p:spPr>
          <a:xfrm>
            <a:off x="1047750" y="430149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3</a:t>
            </a:r>
            <a:endParaRPr lang="en-US" sz="2100" dirty="0"/>
          </a:p>
        </p:txBody>
      </p:sp>
      <p:sp>
        <p:nvSpPr>
          <p:cNvPr id="14" name="Text 12"/>
          <p:cNvSpPr/>
          <p:nvPr/>
        </p:nvSpPr>
        <p:spPr>
          <a:xfrm>
            <a:off x="1581150" y="4316730"/>
            <a:ext cx="7206949"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This coat is so </a:t>
            </a:r>
            <a:r>
              <a:rPr lang="en-US" sz="2100" b="1" dirty="0">
                <a:solidFill>
                  <a:srgbClr val="1A2A5E"/>
                </a:solidFill>
                <a:latin typeface="Helvetica" pitchFamily="34" charset="0"/>
                <a:ea typeface="Helvetica" pitchFamily="34" charset="-122"/>
                <a:cs typeface="Helvetica" pitchFamily="34" charset="-120"/>
              </a:rPr>
              <a:t>durable </a:t>
            </a:r>
            <a:r>
              <a:rPr lang="en-US" sz="2100" dirty="0">
                <a:solidFill>
                  <a:srgbClr val="444444"/>
                </a:solidFill>
                <a:latin typeface="Helvetica" pitchFamily="34" charset="0"/>
                <a:ea typeface="Helvetica" pitchFamily="34" charset="-122"/>
                <a:cs typeface="Helvetica" pitchFamily="34" charset="-120"/>
              </a:rPr>
              <a:t>that I have worn it for ten years.</a:t>
            </a:r>
            <a:endParaRPr lang="en-US" sz="2100" dirty="0"/>
          </a:p>
        </p:txBody>
      </p:sp>
      <p:sp>
        <p:nvSpPr>
          <p:cNvPr id="15" name="Text 13"/>
          <p:cNvSpPr/>
          <p:nvPr/>
        </p:nvSpPr>
        <p:spPr>
          <a:xfrm>
            <a:off x="1047750" y="4886325"/>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4</a:t>
            </a:r>
            <a:endParaRPr lang="en-US" sz="2100" dirty="0"/>
          </a:p>
        </p:txBody>
      </p:sp>
      <p:sp>
        <p:nvSpPr>
          <p:cNvPr id="16" name="Text 14"/>
          <p:cNvSpPr/>
          <p:nvPr/>
        </p:nvSpPr>
        <p:spPr>
          <a:xfrm>
            <a:off x="1581150" y="4901565"/>
            <a:ext cx="7532537"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Our </a:t>
            </a:r>
            <a:r>
              <a:rPr lang="en-US" sz="2100" b="1" dirty="0">
                <a:solidFill>
                  <a:srgbClr val="1A2A5E"/>
                </a:solidFill>
                <a:latin typeface="Helvetica" pitchFamily="34" charset="0"/>
                <a:ea typeface="Helvetica" pitchFamily="34" charset="-122"/>
                <a:cs typeface="Helvetica" pitchFamily="34" charset="-120"/>
              </a:rPr>
              <a:t>consumption </a:t>
            </a:r>
            <a:r>
              <a:rPr lang="en-US" sz="2100" dirty="0">
                <a:solidFill>
                  <a:srgbClr val="444444"/>
                </a:solidFill>
                <a:latin typeface="Helvetica" pitchFamily="34" charset="0"/>
                <a:ea typeface="Helvetica" pitchFamily="34" charset="-122"/>
                <a:cs typeface="Helvetica" pitchFamily="34" charset="-120"/>
              </a:rPr>
              <a:t>of new clothes keeps rising every year.</a:t>
            </a:r>
            <a:endParaRPr lang="en-US" sz="2100" dirty="0"/>
          </a:p>
        </p:txBody>
      </p:sp>
      <p:sp>
        <p:nvSpPr>
          <p:cNvPr id="17" name="Text 15"/>
          <p:cNvSpPr/>
          <p:nvPr/>
        </p:nvSpPr>
        <p:spPr>
          <a:xfrm>
            <a:off x="1047750" y="5471160"/>
            <a:ext cx="400050" cy="39624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Playfair Display" pitchFamily="34" charset="0"/>
                <a:ea typeface="Playfair Display" pitchFamily="34" charset="-122"/>
                <a:cs typeface="Playfair Display" pitchFamily="34" charset="-120"/>
              </a:rPr>
              <a:t>5</a:t>
            </a:r>
            <a:endParaRPr lang="en-US" sz="2100" dirty="0"/>
          </a:p>
        </p:txBody>
      </p:sp>
      <p:sp>
        <p:nvSpPr>
          <p:cNvPr id="18" name="Text 16"/>
          <p:cNvSpPr/>
          <p:nvPr/>
        </p:nvSpPr>
        <p:spPr>
          <a:xfrm>
            <a:off x="1581150" y="5486400"/>
            <a:ext cx="5522691" cy="398145"/>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Please </a:t>
            </a:r>
            <a:r>
              <a:rPr lang="en-US" sz="2100" b="1" dirty="0">
                <a:solidFill>
                  <a:srgbClr val="1A2A5E"/>
                </a:solidFill>
                <a:latin typeface="Helvetica" pitchFamily="34" charset="0"/>
                <a:ea typeface="Helvetica" pitchFamily="34" charset="-122"/>
                <a:cs typeface="Helvetica" pitchFamily="34" charset="-120"/>
              </a:rPr>
              <a:t>dispose </a:t>
            </a:r>
            <a:r>
              <a:rPr lang="en-US" sz="2100" dirty="0">
                <a:solidFill>
                  <a:srgbClr val="444444"/>
                </a:solidFill>
                <a:latin typeface="Helvetica" pitchFamily="34" charset="0"/>
                <a:ea typeface="Helvetica" pitchFamily="34" charset="-122"/>
                <a:cs typeface="Helvetica" pitchFamily="34" charset="-120"/>
              </a:rPr>
              <a:t>of old clothes responsibly.</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50670"/>
            <a:ext cx="3211092"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96390"/>
            <a:ext cx="2534507" cy="205740"/>
          </a:xfrm>
          <a:prstGeom prst="rect">
            <a:avLst/>
          </a:prstGeom>
          <a:noFill/>
          <a:ln/>
        </p:spPr>
        <p:txBody>
          <a:bodyPr wrap="square" lIns="25400" tIns="25400" rIns="25400" bIns="25400" rtlCol="0" anchor="t">
            <a:normAutofit lnSpcReduction="10000"/>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85950"/>
            <a:ext cx="17811750" cy="67818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Playfair Display" pitchFamily="34" charset="0"/>
                <a:ea typeface="Playfair Display" pitchFamily="34" charset="-122"/>
                <a:cs typeface="Playfair Display" pitchFamily="34" charset="-120"/>
              </a:rPr>
              <a:t>You design for a fashion brand</a:t>
            </a:r>
            <a:endParaRPr lang="en-US" sz="3750" dirty="0"/>
          </a:p>
        </p:txBody>
      </p:sp>
      <p:sp>
        <p:nvSpPr>
          <p:cNvPr id="8" name="Shape 6"/>
          <p:cNvSpPr/>
          <p:nvPr/>
        </p:nvSpPr>
        <p:spPr>
          <a:xfrm>
            <a:off x="1047750" y="2964180"/>
            <a:ext cx="14859000" cy="9525"/>
          </a:xfrm>
          <a:prstGeom prst="rect">
            <a:avLst/>
          </a:prstGeom>
          <a:solidFill>
            <a:srgbClr val="D8D6D0"/>
          </a:solidFill>
          <a:ln/>
        </p:spPr>
        <p:txBody>
          <a:bodyPr/>
          <a:lstStyle/>
          <a:p>
            <a:endParaRPr lang="en-US"/>
          </a:p>
        </p:txBody>
      </p:sp>
      <p:sp>
        <p:nvSpPr>
          <p:cNvPr id="9" name="Text 7"/>
          <p:cNvSpPr/>
          <p:nvPr/>
        </p:nvSpPr>
        <p:spPr>
          <a:xfrm>
            <a:off x="1047750" y="323850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200400"/>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design clothes for a popular fashion brand.</a:t>
            </a:r>
            <a:endParaRPr lang="en-US" sz="2250" dirty="0"/>
          </a:p>
        </p:txBody>
      </p:sp>
      <p:sp>
        <p:nvSpPr>
          <p:cNvPr id="11" name="Shape 9"/>
          <p:cNvSpPr/>
          <p:nvPr/>
        </p:nvSpPr>
        <p:spPr>
          <a:xfrm>
            <a:off x="1047750" y="3833812"/>
            <a:ext cx="14859000" cy="9525"/>
          </a:xfrm>
          <a:prstGeom prst="rect">
            <a:avLst/>
          </a:prstGeom>
          <a:solidFill>
            <a:srgbClr val="D8D6D0"/>
          </a:solidFill>
          <a:ln/>
        </p:spPr>
        <p:txBody>
          <a:bodyPr/>
          <a:lstStyle/>
          <a:p>
            <a:endParaRPr lang="en-US"/>
          </a:p>
        </p:txBody>
      </p:sp>
      <p:sp>
        <p:nvSpPr>
          <p:cNvPr id="12" name="Text 10"/>
          <p:cNvSpPr/>
          <p:nvPr/>
        </p:nvSpPr>
        <p:spPr>
          <a:xfrm>
            <a:off x="1047750" y="410813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4070033"/>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changes to make your brand less wasteful.</a:t>
            </a:r>
            <a:endParaRPr lang="en-US" sz="2250" dirty="0"/>
          </a:p>
        </p:txBody>
      </p:sp>
      <p:sp>
        <p:nvSpPr>
          <p:cNvPr id="14" name="Shape 12"/>
          <p:cNvSpPr/>
          <p:nvPr/>
        </p:nvSpPr>
        <p:spPr>
          <a:xfrm>
            <a:off x="1047750" y="5554028"/>
            <a:ext cx="14859000" cy="9525"/>
          </a:xfrm>
          <a:prstGeom prst="rect">
            <a:avLst/>
          </a:prstGeom>
          <a:solidFill>
            <a:srgbClr val="D8D6D0"/>
          </a:solidFill>
          <a:ln/>
        </p:spPr>
        <p:txBody>
          <a:bodyPr/>
          <a:lstStyle/>
          <a:p>
            <a:endParaRPr lang="en-US"/>
          </a:p>
        </p:txBody>
      </p:sp>
      <p:sp>
        <p:nvSpPr>
          <p:cNvPr id="15" name="Shape 13"/>
          <p:cNvSpPr/>
          <p:nvPr/>
        </p:nvSpPr>
        <p:spPr>
          <a:xfrm>
            <a:off x="1047750" y="4703445"/>
            <a:ext cx="14859000" cy="9525"/>
          </a:xfrm>
          <a:prstGeom prst="rect">
            <a:avLst/>
          </a:prstGeom>
          <a:solidFill>
            <a:srgbClr val="D8D6D0"/>
          </a:solidFill>
          <a:ln/>
        </p:spPr>
        <p:txBody>
          <a:bodyPr/>
          <a:lstStyle/>
          <a:p>
            <a:endParaRPr lang="en-US"/>
          </a:p>
        </p:txBody>
      </p:sp>
      <p:sp>
        <p:nvSpPr>
          <p:cNvPr id="16" name="Text 14"/>
          <p:cNvSpPr/>
          <p:nvPr/>
        </p:nvSpPr>
        <p:spPr>
          <a:xfrm>
            <a:off x="1047750" y="497776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939665"/>
            <a:ext cx="13935075"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plan and explain how it helps people and the planet.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4681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6576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Playfair Display" pitchFamily="34" charset="0"/>
                <a:ea typeface="Playfair Display" pitchFamily="34" charset="-122"/>
                <a:cs typeface="Playfair Display" pitchFamily="34" charset="-120"/>
              </a:rPr>
              <a:t>PERSPECTIVE</a:t>
            </a:r>
            <a:endParaRPr lang="en-US" sz="1950" dirty="0"/>
          </a:p>
        </p:txBody>
      </p:sp>
      <p:sp>
        <p:nvSpPr>
          <p:cNvPr id="4" name="Text 2"/>
          <p:cNvSpPr/>
          <p:nvPr/>
        </p:nvSpPr>
        <p:spPr>
          <a:xfrm>
            <a:off x="14525506" y="72390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741170"/>
            <a:ext cx="17811750" cy="259080"/>
          </a:xfrm>
          <a:prstGeom prst="rect">
            <a:avLst/>
          </a:prstGeom>
          <a:noFill/>
          <a:ln/>
        </p:spPr>
        <p:txBody>
          <a:bodyPr wrap="square" lIns="25400" tIns="25400" rIns="25400" bIns="25400" rtlCol="0" anchor="t">
            <a:normAutofit lnSpcReduction="10000"/>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90750"/>
            <a:ext cx="15206662" cy="158877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5550" b="1" dirty="0">
                <a:solidFill>
                  <a:srgbClr val="1A2A5E"/>
                </a:solidFill>
                <a:latin typeface="Playfair Display" pitchFamily="34" charset="0"/>
                <a:ea typeface="Playfair Display" pitchFamily="34" charset="-122"/>
                <a:cs typeface="Playfair Display" pitchFamily="34" charset="-120"/>
              </a:rPr>
              <a:t>Is it better to own a few good clothes or many cheap ones?</a:t>
            </a:r>
            <a:endParaRPr lang="en-US" sz="5550" dirty="0"/>
          </a:p>
        </p:txBody>
      </p:sp>
      <p:sp>
        <p:nvSpPr>
          <p:cNvPr id="7" name="Text 5"/>
          <p:cNvSpPr/>
          <p:nvPr/>
        </p:nvSpPr>
        <p:spPr>
          <a:xfrm>
            <a:off x="1047750" y="4122420"/>
            <a:ext cx="13620750" cy="464820"/>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5025390"/>
            <a:ext cx="2476500" cy="22860"/>
          </a:xfrm>
          <a:prstGeom prst="rect">
            <a:avLst/>
          </a:prstGeom>
          <a:solidFill>
            <a:srgbClr val="D9B877"/>
          </a:solidFill>
          <a:ln/>
        </p:spPr>
        <p:txBody>
          <a:bodyPr/>
          <a:lstStyle/>
          <a:p>
            <a:endParaRPr lang="en-US"/>
          </a:p>
        </p:txBody>
      </p:sp>
      <p:sp>
        <p:nvSpPr>
          <p:cNvPr id="9" name="Text 7"/>
          <p:cNvSpPr/>
          <p:nvPr/>
        </p:nvSpPr>
        <p:spPr>
          <a:xfrm>
            <a:off x="1047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5025390"/>
            <a:ext cx="2476500" cy="22860"/>
          </a:xfrm>
          <a:prstGeom prst="rect">
            <a:avLst/>
          </a:prstGeom>
          <a:solidFill>
            <a:srgbClr val="D9B877"/>
          </a:solidFill>
          <a:ln/>
        </p:spPr>
        <p:txBody>
          <a:bodyPr/>
          <a:lstStyle/>
          <a:p>
            <a:endParaRPr lang="en-US"/>
          </a:p>
        </p:txBody>
      </p:sp>
      <p:sp>
        <p:nvSpPr>
          <p:cNvPr id="11" name="Text 9"/>
          <p:cNvSpPr/>
          <p:nvPr/>
        </p:nvSpPr>
        <p:spPr>
          <a:xfrm>
            <a:off x="39052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5025390"/>
            <a:ext cx="2476500" cy="22860"/>
          </a:xfrm>
          <a:prstGeom prst="rect">
            <a:avLst/>
          </a:prstGeom>
          <a:solidFill>
            <a:srgbClr val="D9B877"/>
          </a:solidFill>
          <a:ln/>
        </p:spPr>
        <p:txBody>
          <a:bodyPr/>
          <a:lstStyle/>
          <a:p>
            <a:endParaRPr lang="en-US"/>
          </a:p>
        </p:txBody>
      </p:sp>
      <p:sp>
        <p:nvSpPr>
          <p:cNvPr id="13" name="Text 11"/>
          <p:cNvSpPr/>
          <p:nvPr/>
        </p:nvSpPr>
        <p:spPr>
          <a:xfrm>
            <a:off x="6762750" y="518160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lnSpcReduction="10000"/>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5486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Playfair Display" pitchFamily="34" charset="0"/>
                <a:ea typeface="Playfair Display" pitchFamily="34" charset="-122"/>
                <a:cs typeface="Playfair Display" pitchFamily="34" charset="-120"/>
              </a:rPr>
              <a:t>PERSPECTIVE</a:t>
            </a:r>
            <a:endParaRPr lang="en-US" sz="3000" dirty="0"/>
          </a:p>
        </p:txBody>
      </p:sp>
      <p:sp>
        <p:nvSpPr>
          <p:cNvPr id="3" name="Text 1"/>
          <p:cNvSpPr/>
          <p:nvPr/>
        </p:nvSpPr>
        <p:spPr>
          <a:xfrm>
            <a:off x="1238250" y="3808095"/>
            <a:ext cx="17392650" cy="281940"/>
          </a:xfrm>
          <a:prstGeom prst="rect">
            <a:avLst/>
          </a:prstGeom>
          <a:noFill/>
          <a:ln/>
        </p:spPr>
        <p:txBody>
          <a:bodyPr wrap="square" lIns="25400" tIns="25400" rIns="25400" bIns="25400" rtlCol="0" anchor="t">
            <a:normAutofit lnSpcReduction="10000"/>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42435"/>
            <a:ext cx="16285845" cy="195834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7200" b="1" dirty="0">
                <a:solidFill>
                  <a:srgbClr val="FFFFFF"/>
                </a:solidFill>
                <a:latin typeface="Playfair Display" pitchFamily="34" charset="0"/>
                <a:ea typeface="Playfair Display" pitchFamily="34" charset="-122"/>
                <a:cs typeface="Playfair Display" pitchFamily="34" charset="-120"/>
              </a:rPr>
              <a:t>One fact. One perspective. Endless discussion.</a:t>
            </a:r>
            <a:endParaRPr lang="en-US" sz="7200" dirty="0"/>
          </a:p>
        </p:txBody>
      </p:sp>
      <p:sp>
        <p:nvSpPr>
          <p:cNvPr id="5" name="Text 3"/>
          <p:cNvSpPr/>
          <p:nvPr/>
        </p:nvSpPr>
        <p:spPr>
          <a:xfrm>
            <a:off x="1238250" y="6448425"/>
            <a:ext cx="17392650" cy="36576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1867</Words>
  <Application>Microsoft Office PowerPoint</Application>
  <PresentationFormat>Custom</PresentationFormat>
  <Paragraphs>254</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Helvetica</vt:lpstr>
      <vt:lpstr>Playfair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3</cp:revision>
  <dcterms:created xsi:type="dcterms:W3CDTF">2026-07-06T08:04:55Z</dcterms:created>
  <dcterms:modified xsi:type="dcterms:W3CDTF">2026-07-06T08:35:34Z</dcterms:modified>
</cp:coreProperties>
</file>