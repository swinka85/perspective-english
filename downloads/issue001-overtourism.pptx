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60569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001 of Perspective — today's topic is Overtourism.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overtourism, where is it happening, and what are the possible solutions? End on the pull-quote question — it sets up the discussion.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3 and 5 are False because the article is balanced and says there is no easy answer.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 &amp; Defend. Students rank the five effects from best (1) to worst (5) for residents — alone first, then compare in pairs. Disagreement is the point: they must defend their choices.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especially in 3 (residents / local people). The goal is that students can use the words in speech.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role-play. Small groups act as a town council. Give ~8 minutes to agree on two rules, then each group presents. Encourage persuasive, balanced language.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002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001</a:t>
            </a:r>
            <a:endParaRPr lang="en-US" sz="1500" dirty="0"/>
          </a:p>
        </p:txBody>
      </p:sp>
      <p:sp>
        <p:nvSpPr>
          <p:cNvPr id="4" name="Text 2"/>
          <p:cNvSpPr/>
          <p:nvPr/>
        </p:nvSpPr>
        <p:spPr>
          <a:xfrm>
            <a:off x="1238250" y="4032409"/>
            <a:ext cx="17392650" cy="281940"/>
          </a:xfrm>
          <a:prstGeom prst="rect">
            <a:avLst/>
          </a:prstGeom>
          <a:noFill/>
          <a:ln/>
        </p:spPr>
        <p:txBody>
          <a:bodyPr wrap="square" lIns="25400" tIns="25400" rIns="25400" bIns="25400" rtlCol="0" anchor="t">
            <a:normAutofit/>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4523899"/>
            <a:ext cx="17392650" cy="1395413"/>
          </a:xfrm>
          <a:prstGeom prst="rect">
            <a:avLst/>
          </a:prstGeom>
          <a:noFill/>
          <a:ln/>
        </p:spPr>
        <p:txBody>
          <a:bodyPr wrap="square" lIns="25400" tIns="25400" rIns="25400" bIns="25400" rtlCol="0" anchor="t">
            <a:normAutofit/>
          </a:bodyPr>
          <a:lstStyle/>
          <a:p>
            <a:pPr marL="0" indent="0" algn="l">
              <a:lnSpc>
                <a:spcPct val="95000"/>
              </a:lnSpc>
              <a:buNone/>
            </a:pPr>
            <a:r>
              <a:rPr lang="en-US" sz="11250" b="1" kern="0" spc="-150" dirty="0">
                <a:solidFill>
                  <a:srgbClr val="FFFFFF"/>
                </a:solidFill>
                <a:latin typeface="Playfair Display" pitchFamily="34" charset="0"/>
                <a:ea typeface="Playfair Display" pitchFamily="34" charset="-122"/>
                <a:cs typeface="Playfair Display" pitchFamily="34" charset="-120"/>
              </a:rPr>
              <a:t>Overtourism</a:t>
            </a:r>
            <a:endParaRPr lang="en-US" sz="11250" dirty="0"/>
          </a:p>
        </p:txBody>
      </p:sp>
      <p:sp>
        <p:nvSpPr>
          <p:cNvPr id="6" name="Text 4"/>
          <p:cNvSpPr/>
          <p:nvPr/>
        </p:nvSpPr>
        <p:spPr>
          <a:xfrm>
            <a:off x="1238250" y="6109811"/>
            <a:ext cx="17392650" cy="480060"/>
          </a:xfrm>
          <a:prstGeom prst="rect">
            <a:avLst/>
          </a:prstGeom>
          <a:noFill/>
          <a:ln/>
        </p:spPr>
        <p:txBody>
          <a:bodyPr wrap="square" lIns="25400" tIns="25400" rIns="25400" bIns="25400" rtlCol="0" anchor="t">
            <a:normAutofit/>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Can tourism become too successful?</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What we’ll do today</a:t>
            </a:r>
            <a:endParaRPr lang="en-US" sz="4500" dirty="0"/>
          </a:p>
        </p:txBody>
      </p:sp>
      <p:sp>
        <p:nvSpPr>
          <p:cNvPr id="7" name="Text 5"/>
          <p:cNvSpPr/>
          <p:nvPr/>
        </p:nvSpPr>
        <p:spPr>
          <a:xfrm>
            <a:off x="1047750" y="3257550"/>
            <a:ext cx="515422" cy="457200"/>
          </a:xfrm>
          <a:prstGeom prst="rect">
            <a:avLst/>
          </a:prstGeom>
          <a:noFill/>
          <a:ln/>
        </p:spPr>
        <p:txBody>
          <a:bodyPr wrap="none" lIns="25400" tIns="25400" rIns="25400" bIns="25400" rtlCol="0" anchor="t">
            <a:normAutofit/>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01</a:t>
            </a:r>
            <a:endParaRPr lang="en-US" sz="3300" dirty="0"/>
          </a:p>
        </p:txBody>
      </p:sp>
      <p:sp>
        <p:nvSpPr>
          <p:cNvPr id="8" name="Text 6"/>
          <p:cNvSpPr/>
          <p:nvPr/>
        </p:nvSpPr>
        <p:spPr>
          <a:xfrm>
            <a:off x="1715572" y="3257550"/>
            <a:ext cx="3715583" cy="365760"/>
          </a:xfrm>
          <a:prstGeom prst="rect">
            <a:avLst/>
          </a:prstGeom>
          <a:noFill/>
          <a:ln/>
        </p:spPr>
        <p:txBody>
          <a:bodyPr wrap="square" lIns="25400" tIns="25400" rIns="25400" bIns="25400" rtlCol="0" anchor="t">
            <a:normAutofit/>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5572" y="3623310"/>
            <a:ext cx="3715583" cy="281940"/>
          </a:xfrm>
          <a:prstGeom prst="rect">
            <a:avLst/>
          </a:prstGeom>
          <a:noFill/>
          <a:ln/>
        </p:spPr>
        <p:txBody>
          <a:bodyPr wrap="square" lIns="25400" tIns="25400" rIns="25400" bIns="25400" rtlCol="0" anchor="t">
            <a:normAutofit/>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257550"/>
            <a:ext cx="578287" cy="457200"/>
          </a:xfrm>
          <a:prstGeom prst="rect">
            <a:avLst/>
          </a:prstGeom>
          <a:noFill/>
          <a:ln/>
        </p:spPr>
        <p:txBody>
          <a:bodyPr wrap="none" lIns="25400" tIns="25400" rIns="25400" bIns="25400" rtlCol="0" anchor="t">
            <a:normAutofit/>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02</a:t>
            </a:r>
            <a:endParaRPr lang="en-US" sz="3300" dirty="0"/>
          </a:p>
        </p:txBody>
      </p:sp>
      <p:sp>
        <p:nvSpPr>
          <p:cNvPr id="11" name="Text 9"/>
          <p:cNvSpPr/>
          <p:nvPr/>
        </p:nvSpPr>
        <p:spPr>
          <a:xfrm>
            <a:off x="10208062" y="3257550"/>
            <a:ext cx="3177695" cy="365760"/>
          </a:xfrm>
          <a:prstGeom prst="rect">
            <a:avLst/>
          </a:prstGeom>
          <a:noFill/>
          <a:ln/>
        </p:spPr>
        <p:txBody>
          <a:bodyPr wrap="square" lIns="25400" tIns="25400" rIns="25400" bIns="25400" rtlCol="0" anchor="t">
            <a:normAutofit/>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208062" y="3623310"/>
            <a:ext cx="3177695" cy="281940"/>
          </a:xfrm>
          <a:prstGeom prst="rect">
            <a:avLst/>
          </a:prstGeom>
          <a:noFill/>
          <a:ln/>
        </p:spPr>
        <p:txBody>
          <a:bodyPr wrap="square" lIns="25400" tIns="25400" rIns="25400" bIns="25400" rtlCol="0" anchor="t">
            <a:normAutofit/>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4152900"/>
            <a:ext cx="562451" cy="457200"/>
          </a:xfrm>
          <a:prstGeom prst="rect">
            <a:avLst/>
          </a:prstGeom>
          <a:noFill/>
          <a:ln/>
        </p:spPr>
        <p:txBody>
          <a:bodyPr wrap="none" lIns="25400" tIns="25400" rIns="25400" bIns="25400" rtlCol="0" anchor="t">
            <a:normAutofit/>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03</a:t>
            </a:r>
            <a:endParaRPr lang="en-US" sz="3300" dirty="0"/>
          </a:p>
        </p:txBody>
      </p:sp>
      <p:sp>
        <p:nvSpPr>
          <p:cNvPr id="14" name="Text 12"/>
          <p:cNvSpPr/>
          <p:nvPr/>
        </p:nvSpPr>
        <p:spPr>
          <a:xfrm>
            <a:off x="1762601" y="4152900"/>
            <a:ext cx="3985117" cy="365760"/>
          </a:xfrm>
          <a:prstGeom prst="rect">
            <a:avLst/>
          </a:prstGeom>
          <a:noFill/>
          <a:ln/>
        </p:spPr>
        <p:txBody>
          <a:bodyPr wrap="square" lIns="25400" tIns="25400" rIns="25400" bIns="25400" rtlCol="0" anchor="t">
            <a:normAutofit/>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2601" y="4518660"/>
            <a:ext cx="3985117" cy="281940"/>
          </a:xfrm>
          <a:prstGeom prst="rect">
            <a:avLst/>
          </a:prstGeom>
          <a:noFill/>
          <a:ln/>
        </p:spPr>
        <p:txBody>
          <a:bodyPr wrap="square" lIns="25400" tIns="25400" rIns="25400" bIns="25400" rtlCol="0" anchor="t">
            <a:normAutofit/>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4152900"/>
            <a:ext cx="574119" cy="457200"/>
          </a:xfrm>
          <a:prstGeom prst="rect">
            <a:avLst/>
          </a:prstGeom>
          <a:noFill/>
          <a:ln/>
        </p:spPr>
        <p:txBody>
          <a:bodyPr wrap="none" lIns="25400" tIns="25400" rIns="25400" bIns="25400" rtlCol="0" anchor="t">
            <a:normAutofit/>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04</a:t>
            </a:r>
            <a:endParaRPr lang="en-US" sz="3300" dirty="0"/>
          </a:p>
        </p:txBody>
      </p:sp>
      <p:sp>
        <p:nvSpPr>
          <p:cNvPr id="17" name="Text 15"/>
          <p:cNvSpPr/>
          <p:nvPr/>
        </p:nvSpPr>
        <p:spPr>
          <a:xfrm>
            <a:off x="10203895" y="4152900"/>
            <a:ext cx="3626525" cy="365760"/>
          </a:xfrm>
          <a:prstGeom prst="rect">
            <a:avLst/>
          </a:prstGeom>
          <a:noFill/>
          <a:ln/>
        </p:spPr>
        <p:txBody>
          <a:bodyPr wrap="square" lIns="25400" tIns="25400" rIns="25400" bIns="25400" rtlCol="0" anchor="t">
            <a:normAutofit/>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3895" y="4518660"/>
            <a:ext cx="3626525" cy="281940"/>
          </a:xfrm>
          <a:prstGeom prst="rect">
            <a:avLst/>
          </a:prstGeom>
          <a:noFill/>
          <a:ln/>
        </p:spPr>
        <p:txBody>
          <a:bodyPr wrap="square" lIns="25400" tIns="25400" rIns="25400" bIns="25400" rtlCol="0" anchor="t">
            <a:normAutofit/>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Talk with a partner</a:t>
            </a:r>
            <a:endParaRPr lang="en-US" sz="4500" dirty="0"/>
          </a:p>
        </p:txBody>
      </p:sp>
      <p:sp>
        <p:nvSpPr>
          <p:cNvPr id="7" name="Text 5"/>
          <p:cNvSpPr/>
          <p:nvPr/>
        </p:nvSpPr>
        <p:spPr>
          <a:xfrm>
            <a:off x="1047750" y="3390900"/>
            <a:ext cx="342305" cy="655320"/>
          </a:xfrm>
          <a:prstGeom prst="rect">
            <a:avLst/>
          </a:prstGeom>
          <a:noFill/>
          <a:ln/>
        </p:spPr>
        <p:txBody>
          <a:bodyPr wrap="square" lIns="25400" tIns="25400" rIns="25400" bIns="25400" rtlCol="0" anchor="t">
            <a:normAutofit/>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1</a:t>
            </a:r>
            <a:endParaRPr lang="en-US" sz="5400" dirty="0"/>
          </a:p>
        </p:txBody>
      </p:sp>
      <p:sp>
        <p:nvSpPr>
          <p:cNvPr id="8" name="Text 6"/>
          <p:cNvSpPr/>
          <p:nvPr/>
        </p:nvSpPr>
        <p:spPr>
          <a:xfrm>
            <a:off x="1637705" y="3448050"/>
            <a:ext cx="13647788" cy="106680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Have you ever visited a place that felt too crowded or too busy? How did it feel?</a:t>
            </a:r>
            <a:endParaRPr lang="en-US" sz="3000" dirty="0"/>
          </a:p>
        </p:txBody>
      </p:sp>
      <p:sp>
        <p:nvSpPr>
          <p:cNvPr id="9" name="Text 7"/>
          <p:cNvSpPr/>
          <p:nvPr/>
        </p:nvSpPr>
        <p:spPr>
          <a:xfrm>
            <a:off x="1047750" y="4895850"/>
            <a:ext cx="445175" cy="655320"/>
          </a:xfrm>
          <a:prstGeom prst="rect">
            <a:avLst/>
          </a:prstGeom>
          <a:noFill/>
          <a:ln/>
        </p:spPr>
        <p:txBody>
          <a:bodyPr wrap="square" lIns="25400" tIns="25400" rIns="25400" bIns="25400" rtlCol="0" anchor="t">
            <a:normAutofit/>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2</a:t>
            </a:r>
            <a:endParaRPr lang="en-US" sz="5400" dirty="0"/>
          </a:p>
        </p:txBody>
      </p:sp>
      <p:sp>
        <p:nvSpPr>
          <p:cNvPr id="10" name="Text 8"/>
          <p:cNvSpPr/>
          <p:nvPr/>
        </p:nvSpPr>
        <p:spPr>
          <a:xfrm>
            <a:off x="1740575" y="4953000"/>
            <a:ext cx="10249614" cy="55245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What benefits does tourism bring to a city or a country?</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4068604"/>
            <a:ext cx="8539163"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403884"/>
            <a:ext cx="8539163" cy="598170"/>
          </a:xfrm>
          <a:prstGeom prst="rect">
            <a:avLst/>
          </a:prstGeom>
          <a:noFill/>
          <a:ln/>
        </p:spPr>
        <p:txBody>
          <a:bodyPr wrap="square" lIns="25400" tIns="25400" rIns="25400" bIns="25400" rtlCol="0" anchor="t">
            <a:normAutofit/>
          </a:bodyPr>
          <a:lstStyle/>
          <a:p>
            <a:pPr marL="0" indent="0" algn="l">
              <a:lnSpc>
                <a:spcPct val="105000"/>
              </a:lnSpc>
              <a:buNone/>
            </a:pPr>
            <a:r>
              <a:rPr lang="en-US" sz="4200" b="1" dirty="0">
                <a:solidFill>
                  <a:srgbClr val="1A2A5E"/>
                </a:solidFill>
                <a:latin typeface="Playfair Display" pitchFamily="34" charset="0"/>
                <a:ea typeface="Playfair Display" pitchFamily="34" charset="-122"/>
                <a:cs typeface="Playfair Display" pitchFamily="34" charset="-120"/>
              </a:rPr>
              <a:t>Look and predict</a:t>
            </a:r>
            <a:endParaRPr lang="en-US" sz="4200" dirty="0"/>
          </a:p>
        </p:txBody>
      </p:sp>
      <p:sp>
        <p:nvSpPr>
          <p:cNvPr id="7" name="Text 5"/>
          <p:cNvSpPr/>
          <p:nvPr/>
        </p:nvSpPr>
        <p:spPr>
          <a:xfrm>
            <a:off x="1047750" y="5287804"/>
            <a:ext cx="8539163" cy="452438"/>
          </a:xfrm>
          <a:prstGeom prst="rect">
            <a:avLst/>
          </a:prstGeom>
          <a:noFill/>
          <a:ln/>
        </p:spPr>
        <p:txBody>
          <a:bodyPr wrap="square" lIns="25400" tIns="25400" rIns="25400" bIns="25400" rtlCol="0" anchor="t">
            <a:normAutofit/>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“Overtourism.”</a:t>
            </a:r>
            <a:endParaRPr lang="en-US" sz="2250" dirty="0"/>
          </a:p>
        </p:txBody>
      </p:sp>
      <p:sp>
        <p:nvSpPr>
          <p:cNvPr id="8" name="Text 6"/>
          <p:cNvSpPr/>
          <p:nvPr/>
        </p:nvSpPr>
        <p:spPr>
          <a:xfrm>
            <a:off x="1047750" y="5892641"/>
            <a:ext cx="7995761" cy="866775"/>
          </a:xfrm>
          <a:prstGeom prst="rect">
            <a:avLst/>
          </a:prstGeom>
          <a:noFill/>
          <a:ln/>
        </p:spPr>
        <p:txBody>
          <a:bodyPr wrap="square" lIns="25400" tIns="25400" rIns="25400" bIns="25400" rtlCol="0" anchor="t">
            <a:normAutofit/>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7175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79370"/>
            <a:ext cx="7747635" cy="5318760"/>
          </a:xfrm>
          <a:prstGeom prst="rect">
            <a:avLst/>
          </a:prstGeom>
        </p:spPr>
      </p:pic>
      <p:sp>
        <p:nvSpPr>
          <p:cNvPr id="11" name="Text 8"/>
          <p:cNvSpPr/>
          <p:nvPr/>
        </p:nvSpPr>
        <p:spPr>
          <a:xfrm>
            <a:off x="9477375" y="8020050"/>
            <a:ext cx="8539163" cy="236220"/>
          </a:xfrm>
          <a:prstGeom prst="rect">
            <a:avLst/>
          </a:prstGeom>
          <a:noFill/>
          <a:ln/>
        </p:spPr>
        <p:txBody>
          <a:bodyPr wrap="square" lIns="25400" tIns="25400" rIns="25400" bIns="25400" rtlCol="0" anchor="t">
            <a:normAutofit/>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Thousands of tourists crowd the streets and beach in Positano, Italy.</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Match the words to their meanings</a:t>
            </a:r>
            <a:endParaRPr lang="en-US" sz="4050" dirty="0"/>
          </a:p>
        </p:txBody>
      </p:sp>
      <p:sp>
        <p:nvSpPr>
          <p:cNvPr id="7" name="Text 5"/>
          <p:cNvSpPr/>
          <p:nvPr/>
        </p:nvSpPr>
        <p:spPr>
          <a:xfrm>
            <a:off x="1047750" y="297180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1</a:t>
            </a:r>
            <a:endParaRPr lang="en-US" sz="2400" dirty="0"/>
          </a:p>
        </p:txBody>
      </p:sp>
      <p:sp>
        <p:nvSpPr>
          <p:cNvPr id="8" name="Text 6"/>
          <p:cNvSpPr/>
          <p:nvPr/>
        </p:nvSpPr>
        <p:spPr>
          <a:xfrm>
            <a:off x="1524000" y="3025140"/>
            <a:ext cx="906304" cy="381000"/>
          </a:xfrm>
          <a:prstGeom prst="rect">
            <a:avLst/>
          </a:prstGeom>
          <a:noFill/>
          <a:ln/>
        </p:spPr>
        <p:txBody>
          <a:bodyPr wrap="square" lIns="25400" tIns="25400" rIns="25400" bIns="25400" rtlCol="0" anchor="t">
            <a:normAutofit/>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surge</a:t>
            </a:r>
            <a:endParaRPr lang="en-US" sz="2400" dirty="0"/>
          </a:p>
        </p:txBody>
      </p:sp>
      <p:sp>
        <p:nvSpPr>
          <p:cNvPr id="9" name="Text 7"/>
          <p:cNvSpPr/>
          <p:nvPr/>
        </p:nvSpPr>
        <p:spPr>
          <a:xfrm>
            <a:off x="1047750" y="356616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2</a:t>
            </a:r>
            <a:endParaRPr lang="en-US" sz="2400" dirty="0"/>
          </a:p>
        </p:txBody>
      </p:sp>
      <p:sp>
        <p:nvSpPr>
          <p:cNvPr id="10" name="Text 8"/>
          <p:cNvSpPr/>
          <p:nvPr/>
        </p:nvSpPr>
        <p:spPr>
          <a:xfrm>
            <a:off x="1524000" y="3619500"/>
            <a:ext cx="906304" cy="381000"/>
          </a:xfrm>
          <a:prstGeom prst="rect">
            <a:avLst/>
          </a:prstGeom>
          <a:noFill/>
          <a:ln/>
        </p:spPr>
        <p:txBody>
          <a:bodyPr wrap="square" lIns="25400" tIns="25400" rIns="25400" bIns="25400" rtlCol="0" anchor="t">
            <a:normAutofit/>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strain</a:t>
            </a:r>
            <a:endParaRPr lang="en-US" sz="2400" dirty="0"/>
          </a:p>
        </p:txBody>
      </p:sp>
      <p:sp>
        <p:nvSpPr>
          <p:cNvPr id="11" name="Text 9"/>
          <p:cNvSpPr/>
          <p:nvPr/>
        </p:nvSpPr>
        <p:spPr>
          <a:xfrm>
            <a:off x="1047750" y="416052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3</a:t>
            </a:r>
            <a:endParaRPr lang="en-US" sz="2400" dirty="0"/>
          </a:p>
        </p:txBody>
      </p:sp>
      <p:sp>
        <p:nvSpPr>
          <p:cNvPr id="12" name="Text 10"/>
          <p:cNvSpPr/>
          <p:nvPr/>
        </p:nvSpPr>
        <p:spPr>
          <a:xfrm>
            <a:off x="1524000" y="4213860"/>
            <a:ext cx="1261943" cy="381000"/>
          </a:xfrm>
          <a:prstGeom prst="rect">
            <a:avLst/>
          </a:prstGeom>
          <a:noFill/>
          <a:ln/>
        </p:spPr>
        <p:txBody>
          <a:bodyPr wrap="square" lIns="25400" tIns="25400" rIns="25400" bIns="25400" rtlCol="0" anchor="t">
            <a:normAutofit/>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resident</a:t>
            </a:r>
            <a:endParaRPr lang="en-US" sz="2400" dirty="0"/>
          </a:p>
        </p:txBody>
      </p:sp>
      <p:sp>
        <p:nvSpPr>
          <p:cNvPr id="13" name="Text 11"/>
          <p:cNvSpPr/>
          <p:nvPr/>
        </p:nvSpPr>
        <p:spPr>
          <a:xfrm>
            <a:off x="1047750" y="475488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4</a:t>
            </a:r>
            <a:endParaRPr lang="en-US" sz="2400" dirty="0"/>
          </a:p>
        </p:txBody>
      </p:sp>
      <p:sp>
        <p:nvSpPr>
          <p:cNvPr id="14" name="Text 12"/>
          <p:cNvSpPr/>
          <p:nvPr/>
        </p:nvSpPr>
        <p:spPr>
          <a:xfrm>
            <a:off x="1524000" y="4808220"/>
            <a:ext cx="1261943" cy="381000"/>
          </a:xfrm>
          <a:prstGeom prst="rect">
            <a:avLst/>
          </a:prstGeom>
          <a:noFill/>
          <a:ln/>
        </p:spPr>
        <p:txBody>
          <a:bodyPr wrap="square" lIns="25400" tIns="25400" rIns="25400" bIns="25400" rtlCol="0" anchor="t">
            <a:normAutofit/>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regulate</a:t>
            </a:r>
            <a:endParaRPr lang="en-US" sz="2400" dirty="0"/>
          </a:p>
        </p:txBody>
      </p:sp>
      <p:sp>
        <p:nvSpPr>
          <p:cNvPr id="15" name="Text 13"/>
          <p:cNvSpPr/>
          <p:nvPr/>
        </p:nvSpPr>
        <p:spPr>
          <a:xfrm>
            <a:off x="1047750" y="534924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5</a:t>
            </a:r>
            <a:endParaRPr lang="en-US" sz="2400" dirty="0"/>
          </a:p>
        </p:txBody>
      </p:sp>
      <p:sp>
        <p:nvSpPr>
          <p:cNvPr id="16" name="Text 14"/>
          <p:cNvSpPr/>
          <p:nvPr/>
        </p:nvSpPr>
        <p:spPr>
          <a:xfrm>
            <a:off x="1524000" y="5402580"/>
            <a:ext cx="1844695" cy="381000"/>
          </a:xfrm>
          <a:prstGeom prst="rect">
            <a:avLst/>
          </a:prstGeom>
          <a:noFill/>
          <a:ln/>
        </p:spPr>
        <p:txBody>
          <a:bodyPr wrap="square" lIns="25400" tIns="25400" rIns="25400" bIns="25400" rtlCol="0" anchor="t">
            <a:normAutofit/>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sustainable</a:t>
            </a:r>
            <a:endParaRPr lang="en-US" sz="2400" dirty="0"/>
          </a:p>
        </p:txBody>
      </p:sp>
      <p:sp>
        <p:nvSpPr>
          <p:cNvPr id="17" name="Text 15"/>
          <p:cNvSpPr/>
          <p:nvPr/>
        </p:nvSpPr>
        <p:spPr>
          <a:xfrm>
            <a:off x="7924800" y="297180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971800"/>
            <a:ext cx="4874657"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a person who lives in a particular place</a:t>
            </a:r>
            <a:endParaRPr lang="en-US" sz="2025" dirty="0"/>
          </a:p>
        </p:txBody>
      </p:sp>
      <p:sp>
        <p:nvSpPr>
          <p:cNvPr id="19" name="Text 17"/>
          <p:cNvSpPr/>
          <p:nvPr/>
        </p:nvSpPr>
        <p:spPr>
          <a:xfrm>
            <a:off x="7924800" y="351948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14053" y="3504247"/>
            <a:ext cx="6620470"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able to continue for a long time without causing harm</a:t>
            </a:r>
            <a:endParaRPr lang="en-US" sz="2025" dirty="0"/>
          </a:p>
        </p:txBody>
      </p:sp>
      <p:sp>
        <p:nvSpPr>
          <p:cNvPr id="21" name="Text 19"/>
          <p:cNvSpPr/>
          <p:nvPr/>
        </p:nvSpPr>
        <p:spPr>
          <a:xfrm>
            <a:off x="7924800" y="406717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14053" y="4008120"/>
            <a:ext cx="3098197"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a sudden, large increase</a:t>
            </a:r>
            <a:endParaRPr lang="en-US" sz="2025" dirty="0"/>
          </a:p>
        </p:txBody>
      </p:sp>
      <p:sp>
        <p:nvSpPr>
          <p:cNvPr id="23" name="Text 21"/>
          <p:cNvSpPr/>
          <p:nvPr/>
        </p:nvSpPr>
        <p:spPr>
          <a:xfrm>
            <a:off x="7924800" y="461486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568666"/>
            <a:ext cx="4812054"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pressure caused by too much demand</a:t>
            </a:r>
            <a:endParaRPr lang="en-US" sz="2025" dirty="0"/>
          </a:p>
        </p:txBody>
      </p:sp>
      <p:sp>
        <p:nvSpPr>
          <p:cNvPr id="25" name="Text 23"/>
          <p:cNvSpPr/>
          <p:nvPr/>
        </p:nvSpPr>
        <p:spPr>
          <a:xfrm>
            <a:off x="7924800" y="516255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14053" y="5143500"/>
            <a:ext cx="3946743"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control an activity using rules</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722120"/>
            <a:ext cx="1889879"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626870"/>
            <a:ext cx="1601272" cy="388620"/>
          </a:xfrm>
          <a:prstGeom prst="rect">
            <a:avLst/>
          </a:prstGeom>
          <a:solidFill>
            <a:srgbClr val="1A2A5E"/>
          </a:solidFill>
          <a:ln/>
        </p:spPr>
        <p:txBody>
          <a:bodyPr/>
          <a:lstStyle/>
          <a:p>
            <a:endParaRPr lang="en-US"/>
          </a:p>
        </p:txBody>
      </p:sp>
      <p:sp>
        <p:nvSpPr>
          <p:cNvPr id="7" name="Text 5"/>
          <p:cNvSpPr/>
          <p:nvPr/>
        </p:nvSpPr>
        <p:spPr>
          <a:xfrm>
            <a:off x="3146822" y="16840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48840"/>
            <a:ext cx="17811750" cy="754380"/>
          </a:xfrm>
          <a:prstGeom prst="rect">
            <a:avLst/>
          </a:prstGeom>
          <a:noFill/>
          <a:ln/>
        </p:spPr>
        <p:txBody>
          <a:bodyPr wrap="square" lIns="25400" tIns="25400" rIns="25400" bIns="25400" rtlCol="0" anchor="t">
            <a:normAutofit/>
          </a:bodyPr>
          <a:lstStyle/>
          <a:p>
            <a:pPr marL="0" indent="0" algn="l">
              <a:buNone/>
            </a:pPr>
            <a:r>
              <a:rPr lang="en-US" sz="4200" b="1" dirty="0">
                <a:solidFill>
                  <a:srgbClr val="1A2A5E"/>
                </a:solidFill>
                <a:latin typeface="Playfair Display" pitchFamily="34" charset="0"/>
                <a:ea typeface="Playfair Display" pitchFamily="34" charset="-122"/>
                <a:cs typeface="Playfair Display" pitchFamily="34" charset="-120"/>
              </a:rPr>
              <a:t>How did you do?</a:t>
            </a:r>
            <a:endParaRPr lang="en-US" sz="4200" dirty="0"/>
          </a:p>
        </p:txBody>
      </p:sp>
      <p:sp>
        <p:nvSpPr>
          <p:cNvPr id="9" name="Shape 7"/>
          <p:cNvSpPr/>
          <p:nvPr/>
        </p:nvSpPr>
        <p:spPr>
          <a:xfrm>
            <a:off x="1047750" y="3436620"/>
            <a:ext cx="2857500" cy="960120"/>
          </a:xfrm>
          <a:prstGeom prst="rect">
            <a:avLst/>
          </a:prstGeom>
          <a:ln w="15240">
            <a:solidFill>
              <a:srgbClr val="1A2A5E"/>
            </a:solidFill>
            <a:prstDash val="solid"/>
          </a:ln>
        </p:spPr>
        <p:txBody>
          <a:bodyPr/>
          <a:lstStyle/>
          <a:p>
            <a:endParaRPr lang="en-US"/>
          </a:p>
        </p:txBody>
      </p:sp>
      <p:sp>
        <p:nvSpPr>
          <p:cNvPr id="10" name="Text 8"/>
          <p:cNvSpPr/>
          <p:nvPr/>
        </p:nvSpPr>
        <p:spPr>
          <a:xfrm>
            <a:off x="138684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1–C </a:t>
            </a:r>
            <a:r>
              <a:rPr lang="en-US" sz="2250" b="1" dirty="0">
                <a:solidFill>
                  <a:srgbClr val="1A2A5E"/>
                </a:solidFill>
                <a:latin typeface="Helvetica" pitchFamily="34" charset="0"/>
                <a:ea typeface="Helvetica" pitchFamily="34" charset="-122"/>
                <a:cs typeface="Helvetica" pitchFamily="34" charset="-120"/>
              </a:rPr>
              <a:t>surge</a:t>
            </a:r>
            <a:endParaRPr lang="en-US" sz="1200" dirty="0"/>
          </a:p>
        </p:txBody>
      </p:sp>
      <p:sp>
        <p:nvSpPr>
          <p:cNvPr id="11" name="Shape 9"/>
          <p:cNvSpPr/>
          <p:nvPr/>
        </p:nvSpPr>
        <p:spPr>
          <a:xfrm>
            <a:off x="4152900" y="3436620"/>
            <a:ext cx="2857500" cy="960120"/>
          </a:xfrm>
          <a:prstGeom prst="rect">
            <a:avLst/>
          </a:prstGeom>
          <a:ln w="15240">
            <a:solidFill>
              <a:srgbClr val="1A2A5E"/>
            </a:solidFill>
            <a:prstDash val="solid"/>
          </a:ln>
        </p:spPr>
        <p:txBody>
          <a:bodyPr/>
          <a:lstStyle/>
          <a:p>
            <a:endParaRPr lang="en-US"/>
          </a:p>
        </p:txBody>
      </p:sp>
      <p:sp>
        <p:nvSpPr>
          <p:cNvPr id="12" name="Text 10"/>
          <p:cNvSpPr/>
          <p:nvPr/>
        </p:nvSpPr>
        <p:spPr>
          <a:xfrm>
            <a:off x="449199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2–D </a:t>
            </a:r>
            <a:r>
              <a:rPr lang="en-US" sz="2250" b="1" dirty="0">
                <a:solidFill>
                  <a:srgbClr val="1A2A5E"/>
                </a:solidFill>
                <a:latin typeface="Helvetica" pitchFamily="34" charset="0"/>
                <a:ea typeface="Helvetica" pitchFamily="34" charset="-122"/>
                <a:cs typeface="Helvetica" pitchFamily="34" charset="-120"/>
              </a:rPr>
              <a:t>strain</a:t>
            </a:r>
            <a:endParaRPr lang="en-US" sz="1200" dirty="0"/>
          </a:p>
        </p:txBody>
      </p:sp>
      <p:sp>
        <p:nvSpPr>
          <p:cNvPr id="13" name="Shape 11"/>
          <p:cNvSpPr/>
          <p:nvPr/>
        </p:nvSpPr>
        <p:spPr>
          <a:xfrm>
            <a:off x="7258050" y="3436620"/>
            <a:ext cx="2857500" cy="960120"/>
          </a:xfrm>
          <a:prstGeom prst="rect">
            <a:avLst/>
          </a:prstGeom>
          <a:ln w="15240">
            <a:solidFill>
              <a:srgbClr val="1A2A5E"/>
            </a:solidFill>
            <a:prstDash val="solid"/>
          </a:ln>
        </p:spPr>
        <p:txBody>
          <a:bodyPr/>
          <a:lstStyle/>
          <a:p>
            <a:endParaRPr lang="en-US"/>
          </a:p>
        </p:txBody>
      </p:sp>
      <p:sp>
        <p:nvSpPr>
          <p:cNvPr id="14" name="Text 12"/>
          <p:cNvSpPr/>
          <p:nvPr/>
        </p:nvSpPr>
        <p:spPr>
          <a:xfrm>
            <a:off x="759714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3–A </a:t>
            </a:r>
            <a:r>
              <a:rPr lang="en-US" sz="2250" b="1" dirty="0">
                <a:solidFill>
                  <a:srgbClr val="1A2A5E"/>
                </a:solidFill>
                <a:latin typeface="Helvetica" pitchFamily="34" charset="0"/>
                <a:ea typeface="Helvetica" pitchFamily="34" charset="-122"/>
                <a:cs typeface="Helvetica" pitchFamily="34" charset="-120"/>
              </a:rPr>
              <a:t>resident</a:t>
            </a:r>
            <a:endParaRPr lang="en-US" sz="1200" dirty="0"/>
          </a:p>
        </p:txBody>
      </p:sp>
      <p:sp>
        <p:nvSpPr>
          <p:cNvPr id="15" name="Shape 13"/>
          <p:cNvSpPr/>
          <p:nvPr/>
        </p:nvSpPr>
        <p:spPr>
          <a:xfrm>
            <a:off x="10363200" y="3436620"/>
            <a:ext cx="2857500" cy="960120"/>
          </a:xfrm>
          <a:prstGeom prst="rect">
            <a:avLst/>
          </a:prstGeom>
          <a:ln w="15240">
            <a:solidFill>
              <a:srgbClr val="1A2A5E"/>
            </a:solidFill>
            <a:prstDash val="solid"/>
          </a:ln>
        </p:spPr>
        <p:txBody>
          <a:bodyPr/>
          <a:lstStyle/>
          <a:p>
            <a:endParaRPr lang="en-US"/>
          </a:p>
        </p:txBody>
      </p:sp>
      <p:sp>
        <p:nvSpPr>
          <p:cNvPr id="16" name="Text 14"/>
          <p:cNvSpPr/>
          <p:nvPr/>
        </p:nvSpPr>
        <p:spPr>
          <a:xfrm>
            <a:off x="1070229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4–E </a:t>
            </a:r>
            <a:r>
              <a:rPr lang="en-US" sz="2250" b="1" dirty="0">
                <a:solidFill>
                  <a:srgbClr val="1A2A5E"/>
                </a:solidFill>
                <a:latin typeface="Helvetica" pitchFamily="34" charset="0"/>
                <a:ea typeface="Helvetica" pitchFamily="34" charset="-122"/>
                <a:cs typeface="Helvetica" pitchFamily="34" charset="-120"/>
              </a:rPr>
              <a:t>regulate</a:t>
            </a:r>
            <a:endParaRPr lang="en-US" sz="1200" dirty="0"/>
          </a:p>
        </p:txBody>
      </p:sp>
      <p:sp>
        <p:nvSpPr>
          <p:cNvPr id="17" name="Shape 15"/>
          <p:cNvSpPr/>
          <p:nvPr/>
        </p:nvSpPr>
        <p:spPr>
          <a:xfrm>
            <a:off x="13468350" y="3436620"/>
            <a:ext cx="3094554" cy="960120"/>
          </a:xfrm>
          <a:prstGeom prst="rect">
            <a:avLst/>
          </a:prstGeom>
          <a:ln w="15240">
            <a:solidFill>
              <a:srgbClr val="1A2A5E"/>
            </a:solidFill>
            <a:prstDash val="solid"/>
          </a:ln>
        </p:spPr>
        <p:txBody>
          <a:bodyPr/>
          <a:lstStyle/>
          <a:p>
            <a:endParaRPr lang="en-US"/>
          </a:p>
        </p:txBody>
      </p:sp>
      <p:sp>
        <p:nvSpPr>
          <p:cNvPr id="18" name="Text 16"/>
          <p:cNvSpPr/>
          <p:nvPr/>
        </p:nvSpPr>
        <p:spPr>
          <a:xfrm>
            <a:off x="13807440" y="3661410"/>
            <a:ext cx="2509210"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5–B </a:t>
            </a:r>
            <a:r>
              <a:rPr lang="en-US" sz="2250" b="1" dirty="0">
                <a:solidFill>
                  <a:srgbClr val="1A2A5E"/>
                </a:solidFill>
                <a:latin typeface="Helvetica" pitchFamily="34" charset="0"/>
                <a:ea typeface="Helvetica" pitchFamily="34" charset="-122"/>
                <a:cs typeface="Helvetica" pitchFamily="34" charset="-120"/>
              </a:rPr>
              <a:t>sustainable</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3251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62865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264920"/>
            <a:ext cx="17811750" cy="236220"/>
          </a:xfrm>
          <a:prstGeom prst="rect">
            <a:avLst/>
          </a:prstGeom>
          <a:noFill/>
          <a:ln/>
        </p:spPr>
        <p:txBody>
          <a:bodyPr wrap="square" lIns="25400" tIns="25400" rIns="25400" bIns="25400" rtlCol="0" anchor="t">
            <a:normAutofit/>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52019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Overtourism</a:t>
            </a:r>
            <a:endParaRPr lang="en-US" sz="3750" dirty="0"/>
          </a:p>
        </p:txBody>
      </p:sp>
      <p:sp>
        <p:nvSpPr>
          <p:cNvPr id="7" name="Text 5"/>
          <p:cNvSpPr/>
          <p:nvPr/>
        </p:nvSpPr>
        <p:spPr>
          <a:xfrm>
            <a:off x="1047750" y="2236470"/>
            <a:ext cx="17811750" cy="335280"/>
          </a:xfrm>
          <a:prstGeom prst="rect">
            <a:avLst/>
          </a:prstGeom>
          <a:noFill/>
          <a:ln/>
        </p:spPr>
        <p:txBody>
          <a:bodyPr wrap="square" lIns="25400" tIns="25400" rIns="25400" bIns="25400" rtlCol="0" anchor="t">
            <a:normAutofit/>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Can tourism become too successful?</a:t>
            </a:r>
            <a:endParaRPr lang="en-US" sz="2025" dirty="0"/>
          </a:p>
        </p:txBody>
      </p:sp>
      <p:sp>
        <p:nvSpPr>
          <p:cNvPr id="8" name="Shape 6"/>
          <p:cNvSpPr/>
          <p:nvPr/>
        </p:nvSpPr>
        <p:spPr>
          <a:xfrm>
            <a:off x="1047750" y="2667000"/>
            <a:ext cx="609600" cy="38100"/>
          </a:xfrm>
          <a:prstGeom prst="rect">
            <a:avLst/>
          </a:prstGeom>
          <a:solidFill>
            <a:srgbClr val="D9B877"/>
          </a:solidFill>
          <a:ln/>
        </p:spPr>
        <p:txBody>
          <a:bodyPr/>
          <a:lstStyle/>
          <a:p>
            <a:endParaRPr lang="en-US"/>
          </a:p>
        </p:txBody>
      </p:sp>
      <p:sp>
        <p:nvSpPr>
          <p:cNvPr id="9" name="Text 7"/>
          <p:cNvSpPr/>
          <p:nvPr/>
        </p:nvSpPr>
        <p:spPr>
          <a:xfrm>
            <a:off x="1047750" y="2819400"/>
            <a:ext cx="17811750" cy="281940"/>
          </a:xfrm>
          <a:prstGeom prst="rect">
            <a:avLst/>
          </a:prstGeom>
          <a:noFill/>
          <a:ln/>
        </p:spPr>
        <p:txBody>
          <a:bodyPr wrap="square" lIns="25400" tIns="25400" rIns="25400" bIns="25400" rtlCol="0" anchor="t">
            <a:normAutofit/>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As more people travel than ever before, some beautiful places are paying the price.</a:t>
            </a:r>
            <a:endParaRPr lang="en-US" sz="1650" dirty="0"/>
          </a:p>
        </p:txBody>
      </p:sp>
      <p:sp>
        <p:nvSpPr>
          <p:cNvPr id="10" name="Text 8"/>
          <p:cNvSpPr/>
          <p:nvPr/>
        </p:nvSpPr>
        <p:spPr>
          <a:xfrm>
            <a:off x="1047750" y="3272790"/>
            <a:ext cx="8074247" cy="1898333"/>
          </a:xfrm>
          <a:prstGeom prst="rect">
            <a:avLst/>
          </a:prstGeom>
          <a:noFill/>
          <a:ln/>
        </p:spPr>
        <p:txBody>
          <a:bodyPr wrap="square" lIns="25400" tIns="25400" rIns="25400" bIns="25400" rtlCol="0" anchor="t">
            <a:norm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In recent years, the city of Barcelona has seen something strange. Frustrated locals walked through crowded tourist districts carrying water pistols, gently spraying surprised visitors at sidewalk cafés. The playful protest carried a serious message: “Tourists go home.” For a city that welcomes more than 30 million visitors a year, the moment revealed a growing tension between those who live in a place and those who simply pass through.</a:t>
            </a:r>
            <a:endParaRPr lang="en-US" sz="1650" dirty="0"/>
          </a:p>
        </p:txBody>
      </p:sp>
      <p:sp>
        <p:nvSpPr>
          <p:cNvPr id="11" name="Text 9"/>
          <p:cNvSpPr/>
          <p:nvPr/>
        </p:nvSpPr>
        <p:spPr>
          <a:xfrm>
            <a:off x="1047750" y="5919311"/>
            <a:ext cx="8074247" cy="1588294"/>
          </a:xfrm>
          <a:prstGeom prst="rect">
            <a:avLst/>
          </a:prstGeom>
          <a:noFill/>
          <a:ln/>
        </p:spPr>
        <p:txBody>
          <a:bodyPr wrap="square" lIns="25400" tIns="25400" rIns="25400" bIns="25400" rtlCol="0" anchor="t">
            <a:norm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problem has a name: overtourism. It happens when a destination attracts more visitors than it can comfortably handle. Cities like Venice, Amsterdam, and Kyoto have all felt the </a:t>
            </a:r>
            <a:r>
              <a:rPr lang="en-US" sz="1650" b="1" dirty="0">
                <a:solidFill>
                  <a:srgbClr val="1A2A5E"/>
                </a:solidFill>
                <a:latin typeface="Helvetica" pitchFamily="34" charset="0"/>
                <a:ea typeface="Helvetica" pitchFamily="34" charset="-122"/>
                <a:cs typeface="Helvetica" pitchFamily="34" charset="-120"/>
              </a:rPr>
              <a:t>strain</a:t>
            </a:r>
            <a:r>
              <a:rPr lang="en-US" sz="1650" dirty="0">
                <a:solidFill>
                  <a:srgbClr val="222222"/>
                </a:solidFill>
                <a:latin typeface="Helvetica" pitchFamily="34" charset="0"/>
                <a:ea typeface="Helvetica" pitchFamily="34" charset="-122"/>
                <a:cs typeface="Helvetica" pitchFamily="34" charset="-120"/>
              </a:rPr>
              <a:t>. A sudden </a:t>
            </a:r>
            <a:r>
              <a:rPr lang="en-US" sz="1650" b="1" dirty="0">
                <a:solidFill>
                  <a:srgbClr val="1A2A5E"/>
                </a:solidFill>
                <a:latin typeface="Helvetica" pitchFamily="34" charset="0"/>
                <a:ea typeface="Helvetica" pitchFamily="34" charset="-122"/>
                <a:cs typeface="Helvetica" pitchFamily="34" charset="-120"/>
              </a:rPr>
              <a:t>surge </a:t>
            </a:r>
            <a:r>
              <a:rPr lang="en-US" sz="1650" dirty="0">
                <a:solidFill>
                  <a:srgbClr val="222222"/>
                </a:solidFill>
                <a:latin typeface="Helvetica" pitchFamily="34" charset="0"/>
                <a:ea typeface="Helvetica" pitchFamily="34" charset="-122"/>
                <a:cs typeface="Helvetica" pitchFamily="34" charset="-120"/>
              </a:rPr>
              <a:t>in arrivals can crowd the streets, push up prices, and slowly change a neighborhood until it no longer feels like home to its </a:t>
            </a:r>
            <a:r>
              <a:rPr lang="en-US" sz="1650" b="1" dirty="0">
                <a:solidFill>
                  <a:srgbClr val="1A2A5E"/>
                </a:solidFill>
                <a:latin typeface="Helvetica" pitchFamily="34" charset="0"/>
                <a:ea typeface="Helvetica" pitchFamily="34" charset="-122"/>
                <a:cs typeface="Helvetica" pitchFamily="34" charset="-120"/>
              </a:rPr>
              <a:t>residents</a:t>
            </a:r>
            <a:r>
              <a:rPr lang="en-US" sz="1650" dirty="0">
                <a:solidFill>
                  <a:srgbClr val="222222"/>
                </a:solidFill>
                <a:latin typeface="Helvetica" pitchFamily="34" charset="0"/>
                <a:ea typeface="Helvetica" pitchFamily="34" charset="-122"/>
                <a:cs typeface="Helvetica" pitchFamily="34" charset="-120"/>
              </a:rPr>
              <a:t>.</a:t>
            </a:r>
            <a:endParaRPr lang="en-US" sz="1650" dirty="0"/>
          </a:p>
        </p:txBody>
      </p:sp>
      <p:sp>
        <p:nvSpPr>
          <p:cNvPr id="12" name="Text 10"/>
          <p:cNvSpPr/>
          <p:nvPr/>
        </p:nvSpPr>
        <p:spPr>
          <a:xfrm>
            <a:off x="9401175" y="3272790"/>
            <a:ext cx="8074247" cy="1588294"/>
          </a:xfrm>
          <a:prstGeom prst="rect">
            <a:avLst/>
          </a:prstGeom>
          <a:noFill/>
          <a:ln/>
        </p:spPr>
        <p:txBody>
          <a:bodyPr wrap="square" lIns="25400" tIns="25400" rIns="25400" bIns="25400" rtlCol="0" anchor="t">
            <a:norm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numbers are striking. Venice, a city of fewer than 50,000 residents, can receive up to 100,000 tourists in a single day. Recently it introduced a five-euro entry fee for day-trippers — the first of its kind in the world. Amsterdam has frozen new hotel construction, and even Mount Everest now sees traffic jams of climbers waiting near the summit.</a:t>
            </a:r>
            <a:endParaRPr lang="en-US" sz="1650" dirty="0"/>
          </a:p>
        </p:txBody>
      </p:sp>
      <p:sp>
        <p:nvSpPr>
          <p:cNvPr id="13" name="Text 11"/>
          <p:cNvSpPr/>
          <p:nvPr/>
        </p:nvSpPr>
        <p:spPr>
          <a:xfrm>
            <a:off x="9401174" y="5957411"/>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Still, tourism is not the enemy. It creates jobs, supports small businesses, and connects cultures. The real question is balance. Some call for stricter rules to </a:t>
            </a:r>
            <a:r>
              <a:rPr lang="en-US" sz="1650" b="1" dirty="0">
                <a:solidFill>
                  <a:srgbClr val="1A2A5E"/>
                </a:solidFill>
                <a:latin typeface="Helvetica" pitchFamily="34" charset="0"/>
                <a:ea typeface="Helvetica" pitchFamily="34" charset="-122"/>
                <a:cs typeface="Helvetica" pitchFamily="34" charset="-120"/>
              </a:rPr>
              <a:t>regulate </a:t>
            </a:r>
            <a:r>
              <a:rPr lang="en-US" sz="1650" dirty="0">
                <a:solidFill>
                  <a:srgbClr val="222222"/>
                </a:solidFill>
                <a:latin typeface="Helvetica" pitchFamily="34" charset="0"/>
                <a:ea typeface="Helvetica" pitchFamily="34" charset="-122"/>
                <a:cs typeface="Helvetica" pitchFamily="34" charset="-120"/>
              </a:rPr>
              <a:t>visitor numbers; others believe the answer is smarter, more </a:t>
            </a:r>
            <a:r>
              <a:rPr lang="en-US" sz="1650" b="1" dirty="0">
                <a:solidFill>
                  <a:srgbClr val="1A2A5E"/>
                </a:solidFill>
                <a:latin typeface="Helvetica" pitchFamily="34" charset="0"/>
                <a:ea typeface="Helvetica" pitchFamily="34" charset="-122"/>
                <a:cs typeface="Helvetica" pitchFamily="34" charset="-120"/>
              </a:rPr>
              <a:t>sustainable </a:t>
            </a:r>
            <a:r>
              <a:rPr lang="en-US" sz="1650" dirty="0">
                <a:solidFill>
                  <a:srgbClr val="222222"/>
                </a:solidFill>
                <a:latin typeface="Helvetica" pitchFamily="34" charset="0"/>
                <a:ea typeface="Helvetica" pitchFamily="34" charset="-122"/>
                <a:cs typeface="Helvetica" pitchFamily="34" charset="-120"/>
              </a:rPr>
              <a:t>travel. As the backlash grows louder, no easy answer is in sight.</a:t>
            </a:r>
            <a:endParaRPr lang="en-US" sz="1650" dirty="0"/>
          </a:p>
        </p:txBody>
      </p:sp>
      <p:sp>
        <p:nvSpPr>
          <p:cNvPr id="14" name="Shape 12"/>
          <p:cNvSpPr/>
          <p:nvPr/>
        </p:nvSpPr>
        <p:spPr>
          <a:xfrm>
            <a:off x="1047750" y="7934751"/>
            <a:ext cx="45720" cy="421005"/>
          </a:xfrm>
          <a:prstGeom prst="rect">
            <a:avLst/>
          </a:prstGeom>
          <a:solidFill>
            <a:srgbClr val="D9B877"/>
          </a:solidFill>
          <a:ln/>
        </p:spPr>
        <p:txBody>
          <a:bodyPr/>
          <a:lstStyle/>
          <a:p>
            <a:endParaRPr lang="en-US"/>
          </a:p>
        </p:txBody>
      </p:sp>
      <p:sp>
        <p:nvSpPr>
          <p:cNvPr id="15" name="Text 13"/>
          <p:cNvSpPr/>
          <p:nvPr/>
        </p:nvSpPr>
        <p:spPr>
          <a:xfrm>
            <a:off x="1360170" y="7934751"/>
            <a:ext cx="14356080" cy="45910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550" b="1" i="1" dirty="0">
                <a:solidFill>
                  <a:srgbClr val="1A2A5E"/>
                </a:solidFill>
                <a:latin typeface="Playfair Display" pitchFamily="34" charset="0"/>
                <a:ea typeface="Playfair Display" pitchFamily="34" charset="-122"/>
                <a:cs typeface="Playfair Display" pitchFamily="34" charset="-120"/>
              </a:rPr>
              <a:t>Who really owns a city — the people who live there, or the millions who come to see it?</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1-audio">
            <a:hlinkClick r:id="" action="ppaction://media"/>
            <a:extLst>
              <a:ext uri="{FF2B5EF4-FFF2-40B4-BE49-F238E27FC236}">
                <a16:creationId xmlns:a16="http://schemas.microsoft.com/office/drawing/2014/main" id="{178214A8-7519-8D26-37C1-26E96C9CB20D}"/>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5953860" y="1518427"/>
            <a:ext cx="487362"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True or False?</a:t>
            </a:r>
            <a:endParaRPr lang="en-US" sz="4050" dirty="0"/>
          </a:p>
        </p:txBody>
      </p:sp>
      <p:sp>
        <p:nvSpPr>
          <p:cNvPr id="7" name="Shape 5"/>
          <p:cNvSpPr/>
          <p:nvPr/>
        </p:nvSpPr>
        <p:spPr>
          <a:xfrm>
            <a:off x="1047750" y="3615690"/>
            <a:ext cx="14763750" cy="9525"/>
          </a:xfrm>
          <a:prstGeom prst="rect">
            <a:avLst/>
          </a:prstGeom>
          <a:solidFill>
            <a:srgbClr val="E3E1DB"/>
          </a:solidFill>
          <a:ln/>
        </p:spPr>
        <p:txBody>
          <a:bodyPr/>
          <a:lstStyle/>
          <a:p>
            <a:endParaRPr lang="en-US"/>
          </a:p>
        </p:txBody>
      </p:sp>
      <p:sp>
        <p:nvSpPr>
          <p:cNvPr id="8" name="Text 6"/>
          <p:cNvSpPr/>
          <p:nvPr/>
        </p:nvSpPr>
        <p:spPr>
          <a:xfrm>
            <a:off x="1047750" y="299085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676400" y="3048000"/>
            <a:ext cx="14380761" cy="358140"/>
          </a:xfrm>
          <a:prstGeom prst="rect">
            <a:avLst/>
          </a:prstGeom>
          <a:noFill/>
          <a:ln/>
        </p:spPr>
        <p:txBody>
          <a:bodyPr wrap="square" lIns="25400" tIns="25400" rIns="25400" bIns="25400" rtlCol="0" anchor="t">
            <a:normAutofit/>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Too many visitors can overwhelm a place.</a:t>
            </a:r>
            <a:endParaRPr lang="en-US" sz="2175" dirty="0"/>
          </a:p>
        </p:txBody>
      </p:sp>
      <p:sp>
        <p:nvSpPr>
          <p:cNvPr id="10" name="Text 8"/>
          <p:cNvSpPr/>
          <p:nvPr/>
        </p:nvSpPr>
        <p:spPr>
          <a:xfrm>
            <a:off x="14997469" y="303276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457700"/>
            <a:ext cx="14763750" cy="9525"/>
          </a:xfrm>
          <a:prstGeom prst="rect">
            <a:avLst/>
          </a:prstGeom>
          <a:solidFill>
            <a:srgbClr val="E3E1DB"/>
          </a:solidFill>
          <a:ln/>
        </p:spPr>
        <p:txBody>
          <a:bodyPr/>
          <a:lstStyle/>
          <a:p>
            <a:endParaRPr lang="en-US"/>
          </a:p>
        </p:txBody>
      </p:sp>
      <p:sp>
        <p:nvSpPr>
          <p:cNvPr id="12" name="Text 10"/>
          <p:cNvSpPr/>
          <p:nvPr/>
        </p:nvSpPr>
        <p:spPr>
          <a:xfrm>
            <a:off x="1047750" y="383286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3" name="Text 11"/>
          <p:cNvSpPr/>
          <p:nvPr/>
        </p:nvSpPr>
        <p:spPr>
          <a:xfrm>
            <a:off x="1676400" y="3890010"/>
            <a:ext cx="14380761" cy="358140"/>
          </a:xfrm>
          <a:prstGeom prst="rect">
            <a:avLst/>
          </a:prstGeom>
          <a:noFill/>
          <a:ln/>
        </p:spPr>
        <p:txBody>
          <a:bodyPr wrap="square" lIns="25400" tIns="25400" rIns="25400" bIns="25400" rtlCol="0" anchor="t">
            <a:normAutofit/>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Venice charges day-trippers a five-euro fee.</a:t>
            </a:r>
            <a:endParaRPr lang="en-US" sz="2175" dirty="0"/>
          </a:p>
        </p:txBody>
      </p:sp>
      <p:sp>
        <p:nvSpPr>
          <p:cNvPr id="14" name="Text 12"/>
          <p:cNvSpPr/>
          <p:nvPr/>
        </p:nvSpPr>
        <p:spPr>
          <a:xfrm>
            <a:off x="14997469" y="387477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5299710"/>
            <a:ext cx="14763750" cy="9525"/>
          </a:xfrm>
          <a:prstGeom prst="rect">
            <a:avLst/>
          </a:prstGeom>
          <a:solidFill>
            <a:srgbClr val="E3E1DB"/>
          </a:solidFill>
          <a:ln/>
        </p:spPr>
        <p:txBody>
          <a:bodyPr/>
          <a:lstStyle/>
          <a:p>
            <a:endParaRPr lang="en-US"/>
          </a:p>
        </p:txBody>
      </p:sp>
      <p:sp>
        <p:nvSpPr>
          <p:cNvPr id="16" name="Text 14"/>
          <p:cNvSpPr/>
          <p:nvPr/>
        </p:nvSpPr>
        <p:spPr>
          <a:xfrm>
            <a:off x="1047750" y="467487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7" name="Text 15"/>
          <p:cNvSpPr/>
          <p:nvPr/>
        </p:nvSpPr>
        <p:spPr>
          <a:xfrm>
            <a:off x="1676400" y="4732020"/>
            <a:ext cx="14380761" cy="358140"/>
          </a:xfrm>
          <a:prstGeom prst="rect">
            <a:avLst/>
          </a:prstGeom>
          <a:noFill/>
          <a:ln/>
        </p:spPr>
        <p:txBody>
          <a:bodyPr wrap="square" lIns="25400" tIns="25400" rIns="25400" bIns="25400" rtlCol="0" anchor="t">
            <a:normAutofit/>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 article says tourism is only harmful.</a:t>
            </a:r>
            <a:endParaRPr lang="en-US" sz="2175" dirty="0"/>
          </a:p>
        </p:txBody>
      </p:sp>
      <p:sp>
        <p:nvSpPr>
          <p:cNvPr id="18" name="Text 16"/>
          <p:cNvSpPr/>
          <p:nvPr/>
        </p:nvSpPr>
        <p:spPr>
          <a:xfrm>
            <a:off x="14997469" y="47167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6141720"/>
            <a:ext cx="14763750" cy="9525"/>
          </a:xfrm>
          <a:prstGeom prst="rect">
            <a:avLst/>
          </a:prstGeom>
          <a:solidFill>
            <a:srgbClr val="E3E1DB"/>
          </a:solidFill>
          <a:ln/>
        </p:spPr>
        <p:txBody>
          <a:bodyPr/>
          <a:lstStyle/>
          <a:p>
            <a:endParaRPr lang="en-US"/>
          </a:p>
        </p:txBody>
      </p:sp>
      <p:sp>
        <p:nvSpPr>
          <p:cNvPr id="20" name="Text 18"/>
          <p:cNvSpPr/>
          <p:nvPr/>
        </p:nvSpPr>
        <p:spPr>
          <a:xfrm>
            <a:off x="1047750" y="551688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21" name="Text 19"/>
          <p:cNvSpPr/>
          <p:nvPr/>
        </p:nvSpPr>
        <p:spPr>
          <a:xfrm>
            <a:off x="1676400" y="5574030"/>
            <a:ext cx="14380761" cy="358140"/>
          </a:xfrm>
          <a:prstGeom prst="rect">
            <a:avLst/>
          </a:prstGeom>
          <a:noFill/>
          <a:ln/>
        </p:spPr>
        <p:txBody>
          <a:bodyPr wrap="square" lIns="25400" tIns="25400" rIns="25400" bIns="25400" rtlCol="0" anchor="t">
            <a:normAutofit/>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Everest has seen crowds near the summit.</a:t>
            </a:r>
            <a:endParaRPr lang="en-US" sz="2175" dirty="0"/>
          </a:p>
        </p:txBody>
      </p:sp>
      <p:sp>
        <p:nvSpPr>
          <p:cNvPr id="22" name="Text 20"/>
          <p:cNvSpPr/>
          <p:nvPr/>
        </p:nvSpPr>
        <p:spPr>
          <a:xfrm>
            <a:off x="14997469" y="55587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635889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4" name="Text 22"/>
          <p:cNvSpPr/>
          <p:nvPr/>
        </p:nvSpPr>
        <p:spPr>
          <a:xfrm>
            <a:off x="1676400" y="6416040"/>
            <a:ext cx="14380761" cy="358140"/>
          </a:xfrm>
          <a:prstGeom prst="rect">
            <a:avLst/>
          </a:prstGeom>
          <a:noFill/>
          <a:ln/>
        </p:spPr>
        <p:txBody>
          <a:bodyPr wrap="square" lIns="25400" tIns="25400" rIns="25400" bIns="25400" rtlCol="0" anchor="t">
            <a:normAutofit/>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There is one simple solution to overtourism.</a:t>
            </a:r>
            <a:endParaRPr lang="en-US" sz="2175" dirty="0"/>
          </a:p>
        </p:txBody>
      </p:sp>
      <p:sp>
        <p:nvSpPr>
          <p:cNvPr id="25" name="Text 23"/>
          <p:cNvSpPr/>
          <p:nvPr/>
        </p:nvSpPr>
        <p:spPr>
          <a:xfrm>
            <a:off x="14997469" y="640080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84020"/>
            <a:ext cx="2419386"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88770"/>
            <a:ext cx="1601272" cy="388620"/>
          </a:xfrm>
          <a:prstGeom prst="rect">
            <a:avLst/>
          </a:prstGeom>
          <a:solidFill>
            <a:srgbClr val="1A2A5E"/>
          </a:solidFill>
          <a:ln/>
        </p:spPr>
        <p:txBody>
          <a:bodyPr/>
          <a:lstStyle/>
          <a:p>
            <a:endParaRPr lang="en-US"/>
          </a:p>
        </p:txBody>
      </p:sp>
      <p:sp>
        <p:nvSpPr>
          <p:cNvPr id="7" name="Text 5"/>
          <p:cNvSpPr/>
          <p:nvPr/>
        </p:nvSpPr>
        <p:spPr>
          <a:xfrm>
            <a:off x="3628192" y="16459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1074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True or False?</a:t>
            </a:r>
            <a:endParaRPr lang="en-US" sz="3900" dirty="0"/>
          </a:p>
        </p:txBody>
      </p:sp>
      <p:sp>
        <p:nvSpPr>
          <p:cNvPr id="9" name="Text 7"/>
          <p:cNvSpPr/>
          <p:nvPr/>
        </p:nvSpPr>
        <p:spPr>
          <a:xfrm>
            <a:off x="1047750" y="31470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0" name="Text 8"/>
          <p:cNvSpPr/>
          <p:nvPr/>
        </p:nvSpPr>
        <p:spPr>
          <a:xfrm>
            <a:off x="1676400" y="31623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196590"/>
            <a:ext cx="14144625" cy="320040"/>
          </a:xfrm>
          <a:prstGeom prst="rect">
            <a:avLst/>
          </a:prstGeom>
          <a:noFill/>
          <a:ln/>
        </p:spPr>
        <p:txBody>
          <a:bodyPr wrap="square" lIns="25400" tIns="25400" rIns="25400" bIns="25400" rtlCol="0" anchor="t">
            <a:normAutofit/>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Too many visitors can overwhelm a place.</a:t>
            </a:r>
            <a:endParaRPr lang="en-US" sz="1950" dirty="0"/>
          </a:p>
        </p:txBody>
      </p:sp>
      <p:sp>
        <p:nvSpPr>
          <p:cNvPr id="12" name="Text 10"/>
          <p:cNvSpPr/>
          <p:nvPr/>
        </p:nvSpPr>
        <p:spPr>
          <a:xfrm>
            <a:off x="1047750" y="369951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3" name="Text 11"/>
          <p:cNvSpPr/>
          <p:nvPr/>
        </p:nvSpPr>
        <p:spPr>
          <a:xfrm>
            <a:off x="1676400" y="371475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749040"/>
            <a:ext cx="14144625" cy="320040"/>
          </a:xfrm>
          <a:prstGeom prst="rect">
            <a:avLst/>
          </a:prstGeom>
          <a:noFill/>
          <a:ln/>
        </p:spPr>
        <p:txBody>
          <a:bodyPr wrap="square" lIns="25400" tIns="25400" rIns="25400" bIns="25400" rtlCol="0" anchor="t">
            <a:normAutofit/>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Venice charges day-trippers a five-euro fee.</a:t>
            </a:r>
            <a:endParaRPr lang="en-US" sz="1950" dirty="0"/>
          </a:p>
        </p:txBody>
      </p:sp>
      <p:sp>
        <p:nvSpPr>
          <p:cNvPr id="15" name="Text 13"/>
          <p:cNvSpPr/>
          <p:nvPr/>
        </p:nvSpPr>
        <p:spPr>
          <a:xfrm>
            <a:off x="1047750" y="42519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6" name="Text 14"/>
          <p:cNvSpPr/>
          <p:nvPr/>
        </p:nvSpPr>
        <p:spPr>
          <a:xfrm>
            <a:off x="1676400" y="42672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7" name="Text 15"/>
          <p:cNvSpPr/>
          <p:nvPr/>
        </p:nvSpPr>
        <p:spPr>
          <a:xfrm>
            <a:off x="2952750" y="4301490"/>
            <a:ext cx="14144625" cy="320040"/>
          </a:xfrm>
          <a:prstGeom prst="rect">
            <a:avLst/>
          </a:prstGeom>
          <a:noFill/>
          <a:ln/>
        </p:spPr>
        <p:txBody>
          <a:bodyPr wrap="square" lIns="25400" tIns="25400" rIns="25400" bIns="25400" rtlCol="0" anchor="t">
            <a:normAutofit/>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 article says tourism is only harmful. </a:t>
            </a:r>
            <a:r>
              <a:rPr lang="en-US" sz="1950" i="1" dirty="0">
                <a:solidFill>
                  <a:srgbClr val="888888"/>
                </a:solidFill>
                <a:latin typeface="Helvetica" pitchFamily="34" charset="0"/>
                <a:ea typeface="Helvetica" pitchFamily="34" charset="-122"/>
                <a:cs typeface="Helvetica" pitchFamily="34" charset="-120"/>
              </a:rPr>
              <a:t>— it brings jobs &amp; culture too.</a:t>
            </a:r>
            <a:endParaRPr lang="en-US" sz="1950" dirty="0"/>
          </a:p>
        </p:txBody>
      </p:sp>
      <p:sp>
        <p:nvSpPr>
          <p:cNvPr id="18" name="Text 16"/>
          <p:cNvSpPr/>
          <p:nvPr/>
        </p:nvSpPr>
        <p:spPr>
          <a:xfrm>
            <a:off x="1047750" y="480441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19" name="Text 17"/>
          <p:cNvSpPr/>
          <p:nvPr/>
        </p:nvSpPr>
        <p:spPr>
          <a:xfrm>
            <a:off x="1676400" y="481965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853940"/>
            <a:ext cx="14144625" cy="320040"/>
          </a:xfrm>
          <a:prstGeom prst="rect">
            <a:avLst/>
          </a:prstGeom>
          <a:noFill/>
          <a:ln/>
        </p:spPr>
        <p:txBody>
          <a:bodyPr wrap="square" lIns="25400" tIns="25400" rIns="25400" bIns="25400" rtlCol="0" anchor="t">
            <a:normAutofit/>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Everest has seen crowds near the summit.</a:t>
            </a:r>
            <a:endParaRPr lang="en-US" sz="1950" dirty="0"/>
          </a:p>
        </p:txBody>
      </p:sp>
      <p:sp>
        <p:nvSpPr>
          <p:cNvPr id="21" name="Text 19"/>
          <p:cNvSpPr/>
          <p:nvPr/>
        </p:nvSpPr>
        <p:spPr>
          <a:xfrm>
            <a:off x="1047750" y="53568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2" name="Text 20"/>
          <p:cNvSpPr/>
          <p:nvPr/>
        </p:nvSpPr>
        <p:spPr>
          <a:xfrm>
            <a:off x="1676400" y="53721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406390"/>
            <a:ext cx="14144625" cy="320040"/>
          </a:xfrm>
          <a:prstGeom prst="rect">
            <a:avLst/>
          </a:prstGeom>
          <a:noFill/>
          <a:ln/>
        </p:spPr>
        <p:txBody>
          <a:bodyPr wrap="square" lIns="25400" tIns="25400" rIns="25400" bIns="25400" rtlCol="0" anchor="t">
            <a:normAutofit/>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There is one simple solution. </a:t>
            </a:r>
            <a:r>
              <a:rPr lang="en-US" sz="1950" i="1" dirty="0">
                <a:solidFill>
                  <a:srgbClr val="888888"/>
                </a:solidFill>
                <a:latin typeface="Helvetica" pitchFamily="34" charset="0"/>
                <a:ea typeface="Helvetica" pitchFamily="34" charset="-122"/>
                <a:cs typeface="Helvetica" pitchFamily="34" charset="-120"/>
              </a:rPr>
              <a:t>— “no easy answer is in sight.”</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FFFFFF"/>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12570"/>
            <a:ext cx="17811750"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80975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FFFFFF"/>
                </a:solidFill>
                <a:latin typeface="Playfair Display" pitchFamily="34" charset="0"/>
                <a:ea typeface="Playfair Display" pitchFamily="34" charset="-122"/>
                <a:cs typeface="Playfair Display" pitchFamily="34" charset="-120"/>
              </a:rPr>
              <a:t>Talk it through</a:t>
            </a:r>
            <a:endParaRPr lang="en-US" sz="3900" dirty="0"/>
          </a:p>
        </p:txBody>
      </p:sp>
      <p:sp>
        <p:nvSpPr>
          <p:cNvPr id="7" name="Shape 5"/>
          <p:cNvSpPr/>
          <p:nvPr/>
        </p:nvSpPr>
        <p:spPr>
          <a:xfrm>
            <a:off x="1047750" y="3394710"/>
            <a:ext cx="15049500" cy="9525"/>
          </a:xfrm>
          <a:prstGeom prst="rect">
            <a:avLst/>
          </a:prstGeom>
          <a:solidFill>
            <a:srgbClr val="34437A"/>
          </a:solidFill>
          <a:ln/>
        </p:spPr>
        <p:txBody>
          <a:bodyPr/>
          <a:lstStyle/>
          <a:p>
            <a:endParaRPr lang="en-US"/>
          </a:p>
        </p:txBody>
      </p:sp>
      <p:sp>
        <p:nvSpPr>
          <p:cNvPr id="8" name="Text 6"/>
          <p:cNvSpPr/>
          <p:nvPr/>
        </p:nvSpPr>
        <p:spPr>
          <a:xfrm>
            <a:off x="1047750" y="2807970"/>
            <a:ext cx="20193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402080" y="2891790"/>
            <a:ext cx="16164688" cy="384810"/>
          </a:xfrm>
          <a:prstGeom prst="rect">
            <a:avLst/>
          </a:prstGeom>
          <a:noFill/>
          <a:ln/>
        </p:spPr>
        <p:txBody>
          <a:bodyPr wrap="square" lIns="25400" tIns="25400" rIns="25400" bIns="25400" rtlCol="0" anchor="t">
            <a:normAutofit/>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Have you ever visited a place that felt too crowded? What was it like?</a:t>
            </a:r>
            <a:endParaRPr lang="en-US" sz="2100" dirty="0"/>
          </a:p>
        </p:txBody>
      </p:sp>
      <p:sp>
        <p:nvSpPr>
          <p:cNvPr id="10" name="Shape 8"/>
          <p:cNvSpPr/>
          <p:nvPr/>
        </p:nvSpPr>
        <p:spPr>
          <a:xfrm>
            <a:off x="1047750" y="4160520"/>
            <a:ext cx="15049500" cy="9525"/>
          </a:xfrm>
          <a:prstGeom prst="rect">
            <a:avLst/>
          </a:prstGeom>
          <a:solidFill>
            <a:srgbClr val="34437A"/>
          </a:solidFill>
          <a:ln/>
        </p:spPr>
        <p:txBody>
          <a:bodyPr/>
          <a:lstStyle/>
          <a:p>
            <a:endParaRPr lang="en-US"/>
          </a:p>
        </p:txBody>
      </p:sp>
      <p:sp>
        <p:nvSpPr>
          <p:cNvPr id="11" name="Text 9"/>
          <p:cNvSpPr/>
          <p:nvPr/>
        </p:nvSpPr>
        <p:spPr>
          <a:xfrm>
            <a:off x="1047750" y="3573780"/>
            <a:ext cx="250508"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2" name="Text 10"/>
          <p:cNvSpPr/>
          <p:nvPr/>
        </p:nvSpPr>
        <p:spPr>
          <a:xfrm>
            <a:off x="1450658" y="3657600"/>
            <a:ext cx="16111253" cy="384810"/>
          </a:xfrm>
          <a:prstGeom prst="rect">
            <a:avLst/>
          </a:prstGeom>
          <a:noFill/>
          <a:ln/>
        </p:spPr>
        <p:txBody>
          <a:bodyPr wrap="square" lIns="25400" tIns="25400" rIns="25400" bIns="25400" rtlCol="0" anchor="t">
            <a:normAutofit/>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Has tourism changed a place you know well? How?</a:t>
            </a:r>
            <a:endParaRPr lang="en-US" sz="2100" dirty="0"/>
          </a:p>
        </p:txBody>
      </p:sp>
      <p:sp>
        <p:nvSpPr>
          <p:cNvPr id="13" name="Shape 11"/>
          <p:cNvSpPr/>
          <p:nvPr/>
        </p:nvSpPr>
        <p:spPr>
          <a:xfrm>
            <a:off x="1047750" y="4926330"/>
            <a:ext cx="15049500" cy="9525"/>
          </a:xfrm>
          <a:prstGeom prst="rect">
            <a:avLst/>
          </a:prstGeom>
          <a:solidFill>
            <a:srgbClr val="34437A"/>
          </a:solidFill>
          <a:ln/>
        </p:spPr>
        <p:txBody>
          <a:bodyPr/>
          <a:lstStyle/>
          <a:p>
            <a:endParaRPr lang="en-US"/>
          </a:p>
        </p:txBody>
      </p:sp>
      <p:sp>
        <p:nvSpPr>
          <p:cNvPr id="14" name="Text 12"/>
          <p:cNvSpPr/>
          <p:nvPr/>
        </p:nvSpPr>
        <p:spPr>
          <a:xfrm>
            <a:off x="1047750" y="4339590"/>
            <a:ext cx="23812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5" name="Text 13"/>
          <p:cNvSpPr/>
          <p:nvPr/>
        </p:nvSpPr>
        <p:spPr>
          <a:xfrm>
            <a:off x="1438275" y="4423410"/>
            <a:ext cx="16124872" cy="384810"/>
          </a:xfrm>
          <a:prstGeom prst="rect">
            <a:avLst/>
          </a:prstGeom>
          <a:noFill/>
          <a:ln/>
        </p:spPr>
        <p:txBody>
          <a:bodyPr wrap="square" lIns="25400" tIns="25400" rIns="25400" bIns="25400" rtlCol="0" anchor="t">
            <a:normAutofit/>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might residents and tourists see the same city so differently?</a:t>
            </a:r>
            <a:endParaRPr lang="en-US" sz="2100" dirty="0"/>
          </a:p>
        </p:txBody>
      </p:sp>
      <p:sp>
        <p:nvSpPr>
          <p:cNvPr id="16" name="Shape 14"/>
          <p:cNvSpPr/>
          <p:nvPr/>
        </p:nvSpPr>
        <p:spPr>
          <a:xfrm>
            <a:off x="1047750" y="5692140"/>
            <a:ext cx="15049500" cy="9525"/>
          </a:xfrm>
          <a:prstGeom prst="rect">
            <a:avLst/>
          </a:prstGeom>
          <a:solidFill>
            <a:srgbClr val="34437A"/>
          </a:solidFill>
          <a:ln/>
        </p:spPr>
        <p:txBody>
          <a:bodyPr/>
          <a:lstStyle/>
          <a:p>
            <a:endParaRPr lang="en-US"/>
          </a:p>
        </p:txBody>
      </p:sp>
      <p:sp>
        <p:nvSpPr>
          <p:cNvPr id="17" name="Text 15"/>
          <p:cNvSpPr/>
          <p:nvPr/>
        </p:nvSpPr>
        <p:spPr>
          <a:xfrm>
            <a:off x="1047750" y="5105400"/>
            <a:ext cx="25086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18" name="Text 16"/>
          <p:cNvSpPr/>
          <p:nvPr/>
        </p:nvSpPr>
        <p:spPr>
          <a:xfrm>
            <a:off x="1451015" y="5189220"/>
            <a:ext cx="16110859" cy="384810"/>
          </a:xfrm>
          <a:prstGeom prst="rect">
            <a:avLst/>
          </a:prstGeom>
          <a:noFill/>
          <a:ln/>
        </p:spPr>
        <p:txBody>
          <a:bodyPr wrap="square" lIns="25400" tIns="25400" rIns="25400" bIns="25400" rtlCol="0" anchor="t">
            <a:normAutofit/>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think entry fees or visitor limits are fair? Why or why not?</a:t>
            </a:r>
            <a:endParaRPr lang="en-US" sz="2100" dirty="0"/>
          </a:p>
        </p:txBody>
      </p:sp>
      <p:sp>
        <p:nvSpPr>
          <p:cNvPr id="19" name="Text 17"/>
          <p:cNvSpPr/>
          <p:nvPr/>
        </p:nvSpPr>
        <p:spPr>
          <a:xfrm>
            <a:off x="1047750" y="5871210"/>
            <a:ext cx="229791"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0" name="Text 18"/>
          <p:cNvSpPr/>
          <p:nvPr/>
        </p:nvSpPr>
        <p:spPr>
          <a:xfrm>
            <a:off x="1429941" y="5955030"/>
            <a:ext cx="16134040" cy="384810"/>
          </a:xfrm>
          <a:prstGeom prst="rect">
            <a:avLst/>
          </a:prstGeom>
          <a:noFill/>
          <a:ln/>
        </p:spPr>
        <p:txBody>
          <a:bodyPr wrap="square" lIns="25400" tIns="25400" rIns="25400" bIns="25400" rtlCol="0" anchor="t">
            <a:normAutofit/>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Who do you think a famous city really belongs to — its residents or its visitors?</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50670"/>
            <a:ext cx="2757547"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60195"/>
            <a:ext cx="1798082"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96390"/>
            <a:ext cx="1630442" cy="205740"/>
          </a:xfrm>
          <a:prstGeom prst="rect">
            <a:avLst/>
          </a:prstGeom>
          <a:noFill/>
          <a:ln/>
        </p:spPr>
        <p:txBody>
          <a:bodyPr wrap="square" lIns="25400" tIns="25400" rIns="25400" bIns="25400" rtlCol="0" anchor="t">
            <a:normAutofit/>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RANK &amp; DEFEND</a:t>
            </a:r>
            <a:endParaRPr lang="en-US" sz="1125" dirty="0"/>
          </a:p>
        </p:txBody>
      </p:sp>
      <p:sp>
        <p:nvSpPr>
          <p:cNvPr id="8" name="Text 6"/>
          <p:cNvSpPr/>
          <p:nvPr/>
        </p:nvSpPr>
        <p:spPr>
          <a:xfrm>
            <a:off x="1047750" y="1914525"/>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Rank the effects for residents</a:t>
            </a:r>
            <a:endParaRPr lang="en-US" sz="3750" dirty="0"/>
          </a:p>
        </p:txBody>
      </p:sp>
      <p:sp>
        <p:nvSpPr>
          <p:cNvPr id="9" name="Text 7"/>
          <p:cNvSpPr/>
          <p:nvPr/>
        </p:nvSpPr>
        <p:spPr>
          <a:xfrm>
            <a:off x="1047750" y="2668905"/>
            <a:ext cx="17811750" cy="320040"/>
          </a:xfrm>
          <a:prstGeom prst="rect">
            <a:avLst/>
          </a:prstGeom>
          <a:noFill/>
          <a:ln/>
        </p:spPr>
        <p:txBody>
          <a:bodyPr wrap="square" lIns="25400" tIns="25400" rIns="25400" bIns="25400" rtlCol="0" anchor="t">
            <a:normAutofit/>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From </a:t>
            </a:r>
            <a:r>
              <a:rPr lang="en-US" sz="1950" b="1" dirty="0">
                <a:solidFill>
                  <a:srgbClr val="1A2A5E"/>
                </a:solidFill>
                <a:latin typeface="Helvetica" pitchFamily="34" charset="0"/>
                <a:ea typeface="Helvetica" pitchFamily="34" charset="-122"/>
                <a:cs typeface="Helvetica" pitchFamily="34" charset="-120"/>
              </a:rPr>
              <a:t>best (1) </a:t>
            </a:r>
            <a:r>
              <a:rPr lang="en-US" sz="1950" dirty="0">
                <a:solidFill>
                  <a:srgbClr val="555555"/>
                </a:solidFill>
                <a:latin typeface="Helvetica" pitchFamily="34" charset="0"/>
                <a:ea typeface="Helvetica" pitchFamily="34" charset="-122"/>
                <a:cs typeface="Helvetica" pitchFamily="34" charset="-120"/>
              </a:rPr>
              <a:t>to </a:t>
            </a:r>
            <a:r>
              <a:rPr lang="en-US" sz="1950" b="1" dirty="0">
                <a:solidFill>
                  <a:srgbClr val="1A2A5E"/>
                </a:solidFill>
                <a:latin typeface="Helvetica" pitchFamily="34" charset="0"/>
                <a:ea typeface="Helvetica" pitchFamily="34" charset="-122"/>
                <a:cs typeface="Helvetica" pitchFamily="34" charset="-120"/>
              </a:rPr>
              <a:t>worst (5) </a:t>
            </a:r>
            <a:r>
              <a:rPr lang="en-US" sz="1950" dirty="0">
                <a:solidFill>
                  <a:srgbClr val="555555"/>
                </a:solidFill>
                <a:latin typeface="Helvetica" pitchFamily="34" charset="0"/>
                <a:ea typeface="Helvetica" pitchFamily="34" charset="-122"/>
                <a:cs typeface="Helvetica" pitchFamily="34" charset="-120"/>
              </a:rPr>
              <a:t>for the people who live there. Be ready to defend your order.</a:t>
            </a:r>
            <a:endParaRPr lang="en-US" sz="1950" dirty="0"/>
          </a:p>
        </p:txBody>
      </p:sp>
      <p:sp>
        <p:nvSpPr>
          <p:cNvPr id="10" name="Text 8"/>
          <p:cNvSpPr/>
          <p:nvPr/>
        </p:nvSpPr>
        <p:spPr>
          <a:xfrm>
            <a:off x="1047750" y="3388995"/>
            <a:ext cx="361950"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BF842C"/>
                </a:solidFill>
                <a:latin typeface="Helvetica" pitchFamily="34" charset="0"/>
                <a:ea typeface="Helvetica" pitchFamily="34" charset="-122"/>
                <a:cs typeface="Helvetica" pitchFamily="34" charset="-120"/>
              </a:rPr>
              <a:t>A</a:t>
            </a:r>
            <a:endParaRPr lang="en-US" sz="2100" dirty="0"/>
          </a:p>
        </p:txBody>
      </p:sp>
      <p:sp>
        <p:nvSpPr>
          <p:cNvPr id="11" name="Text 9"/>
          <p:cNvSpPr/>
          <p:nvPr/>
        </p:nvSpPr>
        <p:spPr>
          <a:xfrm>
            <a:off x="1581150" y="3427095"/>
            <a:ext cx="14312265" cy="342900"/>
          </a:xfrm>
          <a:prstGeom prst="rect">
            <a:avLst/>
          </a:prstGeom>
          <a:noFill/>
          <a:ln/>
        </p:spPr>
        <p:txBody>
          <a:bodyPr wrap="square" lIns="25400" tIns="25400" rIns="25400" bIns="25400" rtlCol="0" anchor="t">
            <a:normAutofit/>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More jobs and income for local people</a:t>
            </a:r>
            <a:endParaRPr lang="en-US" sz="2100" dirty="0"/>
          </a:p>
        </p:txBody>
      </p:sp>
      <p:sp>
        <p:nvSpPr>
          <p:cNvPr id="12" name="Shape 10"/>
          <p:cNvSpPr/>
          <p:nvPr/>
        </p:nvSpPr>
        <p:spPr>
          <a:xfrm>
            <a:off x="14839950" y="3331845"/>
            <a:ext cx="495300" cy="495300"/>
          </a:xfrm>
          <a:prstGeom prst="rect">
            <a:avLst/>
          </a:prstGeom>
          <a:ln w="15240">
            <a:solidFill>
              <a:srgbClr val="1A2A5E"/>
            </a:solidFill>
            <a:prstDash val="solid"/>
          </a:ln>
        </p:spPr>
        <p:txBody>
          <a:bodyPr/>
          <a:lstStyle/>
          <a:p>
            <a:endParaRPr lang="en-US"/>
          </a:p>
        </p:txBody>
      </p:sp>
      <p:sp>
        <p:nvSpPr>
          <p:cNvPr id="13" name="Text 11"/>
          <p:cNvSpPr/>
          <p:nvPr/>
        </p:nvSpPr>
        <p:spPr>
          <a:xfrm>
            <a:off x="1047750" y="4055745"/>
            <a:ext cx="361950"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BF842C"/>
                </a:solidFill>
                <a:latin typeface="Helvetica" pitchFamily="34" charset="0"/>
                <a:ea typeface="Helvetica" pitchFamily="34" charset="-122"/>
                <a:cs typeface="Helvetica" pitchFamily="34" charset="-120"/>
              </a:rPr>
              <a:t>B</a:t>
            </a:r>
            <a:endParaRPr lang="en-US" sz="2100" dirty="0"/>
          </a:p>
        </p:txBody>
      </p:sp>
      <p:sp>
        <p:nvSpPr>
          <p:cNvPr id="14" name="Text 12"/>
          <p:cNvSpPr/>
          <p:nvPr/>
        </p:nvSpPr>
        <p:spPr>
          <a:xfrm>
            <a:off x="1581150" y="4093845"/>
            <a:ext cx="14312265" cy="342900"/>
          </a:xfrm>
          <a:prstGeom prst="rect">
            <a:avLst/>
          </a:prstGeom>
          <a:noFill/>
          <a:ln/>
        </p:spPr>
        <p:txBody>
          <a:bodyPr wrap="square" lIns="25400" tIns="25400" rIns="25400" bIns="25400" rtlCol="0" anchor="t">
            <a:normAutofit/>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Higher rents that push residents out</a:t>
            </a:r>
            <a:endParaRPr lang="en-US" sz="2100" dirty="0"/>
          </a:p>
        </p:txBody>
      </p:sp>
      <p:sp>
        <p:nvSpPr>
          <p:cNvPr id="15" name="Shape 13"/>
          <p:cNvSpPr/>
          <p:nvPr/>
        </p:nvSpPr>
        <p:spPr>
          <a:xfrm>
            <a:off x="14839950" y="3998595"/>
            <a:ext cx="495300" cy="495300"/>
          </a:xfrm>
          <a:prstGeom prst="rect">
            <a:avLst/>
          </a:prstGeom>
          <a:ln w="15240">
            <a:solidFill>
              <a:srgbClr val="1A2A5E"/>
            </a:solidFill>
            <a:prstDash val="solid"/>
          </a:ln>
        </p:spPr>
        <p:txBody>
          <a:bodyPr/>
          <a:lstStyle/>
          <a:p>
            <a:endParaRPr lang="en-US"/>
          </a:p>
        </p:txBody>
      </p:sp>
      <p:sp>
        <p:nvSpPr>
          <p:cNvPr id="16" name="Text 14"/>
          <p:cNvSpPr/>
          <p:nvPr/>
        </p:nvSpPr>
        <p:spPr>
          <a:xfrm>
            <a:off x="1047750" y="4722495"/>
            <a:ext cx="361950"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BF842C"/>
                </a:solidFill>
                <a:latin typeface="Helvetica" pitchFamily="34" charset="0"/>
                <a:ea typeface="Helvetica" pitchFamily="34" charset="-122"/>
                <a:cs typeface="Helvetica" pitchFamily="34" charset="-120"/>
              </a:rPr>
              <a:t>C</a:t>
            </a:r>
            <a:endParaRPr lang="en-US" sz="2100" dirty="0"/>
          </a:p>
        </p:txBody>
      </p:sp>
      <p:sp>
        <p:nvSpPr>
          <p:cNvPr id="17" name="Text 15"/>
          <p:cNvSpPr/>
          <p:nvPr/>
        </p:nvSpPr>
        <p:spPr>
          <a:xfrm>
            <a:off x="1581150" y="4760595"/>
            <a:ext cx="14312265" cy="342900"/>
          </a:xfrm>
          <a:prstGeom prst="rect">
            <a:avLst/>
          </a:prstGeom>
          <a:noFill/>
          <a:ln/>
        </p:spPr>
        <p:txBody>
          <a:bodyPr wrap="square" lIns="25400" tIns="25400" rIns="25400" bIns="25400" rtlCol="0" anchor="t">
            <a:normAutofit/>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Better transport and public services</a:t>
            </a:r>
            <a:endParaRPr lang="en-US" sz="2100" dirty="0"/>
          </a:p>
        </p:txBody>
      </p:sp>
      <p:sp>
        <p:nvSpPr>
          <p:cNvPr id="18" name="Shape 16"/>
          <p:cNvSpPr/>
          <p:nvPr/>
        </p:nvSpPr>
        <p:spPr>
          <a:xfrm>
            <a:off x="14839950" y="4665345"/>
            <a:ext cx="495300" cy="495300"/>
          </a:xfrm>
          <a:prstGeom prst="rect">
            <a:avLst/>
          </a:prstGeom>
          <a:ln w="15240">
            <a:solidFill>
              <a:srgbClr val="1A2A5E"/>
            </a:solidFill>
            <a:prstDash val="solid"/>
          </a:ln>
        </p:spPr>
        <p:txBody>
          <a:bodyPr/>
          <a:lstStyle/>
          <a:p>
            <a:endParaRPr lang="en-US"/>
          </a:p>
        </p:txBody>
      </p:sp>
      <p:sp>
        <p:nvSpPr>
          <p:cNvPr id="19" name="Text 17"/>
          <p:cNvSpPr/>
          <p:nvPr/>
        </p:nvSpPr>
        <p:spPr>
          <a:xfrm>
            <a:off x="1047750" y="5389245"/>
            <a:ext cx="361950"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BF842C"/>
                </a:solidFill>
                <a:latin typeface="Helvetica" pitchFamily="34" charset="0"/>
                <a:ea typeface="Helvetica" pitchFamily="34" charset="-122"/>
                <a:cs typeface="Helvetica" pitchFamily="34" charset="-120"/>
              </a:rPr>
              <a:t>D</a:t>
            </a:r>
            <a:endParaRPr lang="en-US" sz="2100" dirty="0"/>
          </a:p>
        </p:txBody>
      </p:sp>
      <p:sp>
        <p:nvSpPr>
          <p:cNvPr id="20" name="Text 18"/>
          <p:cNvSpPr/>
          <p:nvPr/>
        </p:nvSpPr>
        <p:spPr>
          <a:xfrm>
            <a:off x="1581150" y="5427345"/>
            <a:ext cx="14312265" cy="342900"/>
          </a:xfrm>
          <a:prstGeom prst="rect">
            <a:avLst/>
          </a:prstGeom>
          <a:noFill/>
          <a:ln/>
        </p:spPr>
        <p:txBody>
          <a:bodyPr wrap="square" lIns="25400" tIns="25400" rIns="25400" bIns="25400" rtlCol="0" anchor="t">
            <a:normAutofit/>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Damage to nature and historic sites</a:t>
            </a:r>
            <a:endParaRPr lang="en-US" sz="2100" dirty="0"/>
          </a:p>
        </p:txBody>
      </p:sp>
      <p:sp>
        <p:nvSpPr>
          <p:cNvPr id="21" name="Shape 19"/>
          <p:cNvSpPr/>
          <p:nvPr/>
        </p:nvSpPr>
        <p:spPr>
          <a:xfrm>
            <a:off x="14839950" y="5332095"/>
            <a:ext cx="495300" cy="495300"/>
          </a:xfrm>
          <a:prstGeom prst="rect">
            <a:avLst/>
          </a:prstGeom>
          <a:ln w="15240">
            <a:solidFill>
              <a:srgbClr val="1A2A5E"/>
            </a:solidFill>
            <a:prstDash val="solid"/>
          </a:ln>
        </p:spPr>
        <p:txBody>
          <a:bodyPr/>
          <a:lstStyle/>
          <a:p>
            <a:endParaRPr lang="en-US"/>
          </a:p>
        </p:txBody>
      </p:sp>
      <p:sp>
        <p:nvSpPr>
          <p:cNvPr id="22" name="Text 20"/>
          <p:cNvSpPr/>
          <p:nvPr/>
        </p:nvSpPr>
        <p:spPr>
          <a:xfrm>
            <a:off x="1047750" y="6055995"/>
            <a:ext cx="361950" cy="419100"/>
          </a:xfrm>
          <a:prstGeom prst="rect">
            <a:avLst/>
          </a:prstGeom>
          <a:noFill/>
          <a:ln/>
        </p:spPr>
        <p:txBody>
          <a:bodyPr wrap="square" lIns="25400" tIns="25400" rIns="25400" bIns="25400" rtlCol="0" anchor="t">
            <a:normAutofit/>
          </a:bodyPr>
          <a:lstStyle/>
          <a:p>
            <a:pPr marL="0" indent="0" algn="l">
              <a:buNone/>
            </a:pPr>
            <a:r>
              <a:rPr lang="en-US" sz="2100" b="1" dirty="0">
                <a:solidFill>
                  <a:srgbClr val="BF842C"/>
                </a:solidFill>
                <a:latin typeface="Helvetica" pitchFamily="34" charset="0"/>
                <a:ea typeface="Helvetica" pitchFamily="34" charset="-122"/>
                <a:cs typeface="Helvetica" pitchFamily="34" charset="-120"/>
              </a:rPr>
              <a:t>E</a:t>
            </a:r>
            <a:endParaRPr lang="en-US" sz="2100" dirty="0"/>
          </a:p>
        </p:txBody>
      </p:sp>
      <p:sp>
        <p:nvSpPr>
          <p:cNvPr id="23" name="Text 21"/>
          <p:cNvSpPr/>
          <p:nvPr/>
        </p:nvSpPr>
        <p:spPr>
          <a:xfrm>
            <a:off x="1581150" y="6094095"/>
            <a:ext cx="14312265" cy="342900"/>
          </a:xfrm>
          <a:prstGeom prst="rect">
            <a:avLst/>
          </a:prstGeom>
          <a:noFill/>
          <a:ln/>
        </p:spPr>
        <p:txBody>
          <a:bodyPr wrap="square" lIns="25400" tIns="25400" rIns="25400" bIns="25400" rtlCol="0" anchor="t">
            <a:normAutofit/>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Crowded streets and loss of local character</a:t>
            </a:r>
            <a:endParaRPr lang="en-US" sz="2100" dirty="0"/>
          </a:p>
        </p:txBody>
      </p:sp>
      <p:sp>
        <p:nvSpPr>
          <p:cNvPr id="24" name="Shape 22"/>
          <p:cNvSpPr/>
          <p:nvPr/>
        </p:nvSpPr>
        <p:spPr>
          <a:xfrm>
            <a:off x="14839950" y="5998845"/>
            <a:ext cx="495300" cy="495300"/>
          </a:xfrm>
          <a:prstGeom prst="rect">
            <a:avLst/>
          </a:prstGeom>
          <a:ln w="15240">
            <a:solidFill>
              <a:srgbClr val="1A2A5E"/>
            </a:solidFill>
            <a:prstDash val="solid"/>
          </a:ln>
        </p:spPr>
        <p:txBody>
          <a:bodyPr/>
          <a:lstStyle/>
          <a:p>
            <a:endParaRPr lang="en-US"/>
          </a:p>
        </p:txBody>
      </p:sp>
      <p:sp>
        <p:nvSpPr>
          <p:cNvPr id="25" name="Text 23"/>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6690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Complete &amp; say each line</a:t>
            </a:r>
            <a:endParaRPr lang="en-US" sz="3900" dirty="0"/>
          </a:p>
        </p:txBody>
      </p:sp>
      <p:sp>
        <p:nvSpPr>
          <p:cNvPr id="7" name="Text 5"/>
          <p:cNvSpPr/>
          <p:nvPr/>
        </p:nvSpPr>
        <p:spPr>
          <a:xfrm>
            <a:off x="1047750" y="2636520"/>
            <a:ext cx="17811750" cy="297180"/>
          </a:xfrm>
          <a:prstGeom prst="rect">
            <a:avLst/>
          </a:prstGeom>
          <a:noFill/>
          <a:ln/>
        </p:spPr>
        <p:txBody>
          <a:bodyPr wrap="square" lIns="25400" tIns="25400" rIns="25400" bIns="25400" rtlCol="0" anchor="t">
            <a:normAutofit/>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312420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1386840" y="3310890"/>
            <a:ext cx="802481"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surge</a:t>
            </a:r>
            <a:endParaRPr lang="en-US" sz="2100" dirty="0"/>
          </a:p>
        </p:txBody>
      </p:sp>
      <p:sp>
        <p:nvSpPr>
          <p:cNvPr id="10" name="Text 8"/>
          <p:cNvSpPr/>
          <p:nvPr/>
        </p:nvSpPr>
        <p:spPr>
          <a:xfrm>
            <a:off x="2494121" y="3310890"/>
            <a:ext cx="802481"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strain</a:t>
            </a:r>
            <a:endParaRPr lang="en-US" sz="2100" dirty="0"/>
          </a:p>
        </p:txBody>
      </p:sp>
      <p:sp>
        <p:nvSpPr>
          <p:cNvPr id="11" name="Text 9"/>
          <p:cNvSpPr/>
          <p:nvPr/>
        </p:nvSpPr>
        <p:spPr>
          <a:xfrm>
            <a:off x="3601403" y="3310890"/>
            <a:ext cx="1262063"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residents</a:t>
            </a:r>
            <a:endParaRPr lang="en-US" sz="2100" dirty="0"/>
          </a:p>
        </p:txBody>
      </p:sp>
      <p:sp>
        <p:nvSpPr>
          <p:cNvPr id="12" name="Text 10"/>
          <p:cNvSpPr/>
          <p:nvPr/>
        </p:nvSpPr>
        <p:spPr>
          <a:xfrm>
            <a:off x="5168265" y="3310890"/>
            <a:ext cx="1113711"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regulate</a:t>
            </a:r>
            <a:endParaRPr lang="en-US" sz="2100" dirty="0"/>
          </a:p>
        </p:txBody>
      </p:sp>
      <p:sp>
        <p:nvSpPr>
          <p:cNvPr id="13" name="Text 11"/>
          <p:cNvSpPr/>
          <p:nvPr/>
        </p:nvSpPr>
        <p:spPr>
          <a:xfrm>
            <a:off x="6586776" y="3310890"/>
            <a:ext cx="1614190"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sustainable</a:t>
            </a:r>
            <a:endParaRPr lang="en-US" sz="2100" dirty="0"/>
          </a:p>
        </p:txBody>
      </p:sp>
      <p:sp>
        <p:nvSpPr>
          <p:cNvPr id="14" name="Text 12"/>
          <p:cNvSpPr/>
          <p:nvPr/>
        </p:nvSpPr>
        <p:spPr>
          <a:xfrm>
            <a:off x="1047750" y="408813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5" name="Text 13"/>
          <p:cNvSpPr/>
          <p:nvPr/>
        </p:nvSpPr>
        <p:spPr>
          <a:xfrm>
            <a:off x="1581150" y="4110990"/>
            <a:ext cx="901143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A1A1A"/>
                </a:solidFill>
                <a:latin typeface="Helvetica" pitchFamily="34" charset="0"/>
                <a:ea typeface="Helvetica" pitchFamily="34" charset="-122"/>
                <a:cs typeface="Helvetica" pitchFamily="34" charset="-120"/>
              </a:rPr>
              <a:t>A sudden _______________in tourists can change a city overnight.</a:t>
            </a:r>
            <a:endParaRPr lang="en-US" sz="2250" dirty="0"/>
          </a:p>
        </p:txBody>
      </p:sp>
      <p:sp>
        <p:nvSpPr>
          <p:cNvPr id="16" name="Text 14"/>
          <p:cNvSpPr/>
          <p:nvPr/>
        </p:nvSpPr>
        <p:spPr>
          <a:xfrm>
            <a:off x="1047750" y="4706303"/>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7" name="Text 15"/>
          <p:cNvSpPr/>
          <p:nvPr/>
        </p:nvSpPr>
        <p:spPr>
          <a:xfrm>
            <a:off x="1581150" y="4729163"/>
            <a:ext cx="7839920"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A1A1A"/>
                </a:solidFill>
                <a:latin typeface="Helvetica" pitchFamily="34" charset="0"/>
                <a:ea typeface="Helvetica" pitchFamily="34" charset="-122"/>
                <a:cs typeface="Helvetica" pitchFamily="34" charset="-120"/>
              </a:rPr>
              <a:t>Too many visitors put a real _________________ on local life.</a:t>
            </a:r>
            <a:endParaRPr lang="en-US" sz="2250" dirty="0"/>
          </a:p>
        </p:txBody>
      </p:sp>
      <p:sp>
        <p:nvSpPr>
          <p:cNvPr id="18" name="Text 16"/>
          <p:cNvSpPr/>
          <p:nvPr/>
        </p:nvSpPr>
        <p:spPr>
          <a:xfrm>
            <a:off x="1047750" y="5324475"/>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9" name="Text 17"/>
          <p:cNvSpPr/>
          <p:nvPr/>
        </p:nvSpPr>
        <p:spPr>
          <a:xfrm>
            <a:off x="1581150" y="5347335"/>
            <a:ext cx="7787402"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A1A1A"/>
                </a:solidFill>
                <a:latin typeface="Helvetica" pitchFamily="34" charset="0"/>
                <a:ea typeface="Helvetica" pitchFamily="34" charset="-122"/>
                <a:cs typeface="Helvetica" pitchFamily="34" charset="-120"/>
              </a:rPr>
              <a:t>I think ________________ should matter more than tourists.</a:t>
            </a:r>
            <a:endParaRPr lang="en-US" sz="2250" dirty="0"/>
          </a:p>
        </p:txBody>
      </p:sp>
      <p:sp>
        <p:nvSpPr>
          <p:cNvPr id="20" name="Text 18"/>
          <p:cNvSpPr/>
          <p:nvPr/>
        </p:nvSpPr>
        <p:spPr>
          <a:xfrm>
            <a:off x="1047750" y="5942648"/>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21" name="Text 19"/>
          <p:cNvSpPr/>
          <p:nvPr/>
        </p:nvSpPr>
        <p:spPr>
          <a:xfrm>
            <a:off x="1581150" y="5965507"/>
            <a:ext cx="9080587"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A1A1A"/>
                </a:solidFill>
                <a:latin typeface="Helvetica" pitchFamily="34" charset="0"/>
                <a:ea typeface="Helvetica" pitchFamily="34" charset="-122"/>
                <a:cs typeface="Helvetica" pitchFamily="34" charset="-120"/>
              </a:rPr>
              <a:t>Cities should ________________ tourism before it gets out of control.</a:t>
            </a:r>
            <a:endParaRPr lang="en-US" sz="2250" dirty="0"/>
          </a:p>
        </p:txBody>
      </p:sp>
      <p:sp>
        <p:nvSpPr>
          <p:cNvPr id="22" name="Text 20"/>
          <p:cNvSpPr/>
          <p:nvPr/>
        </p:nvSpPr>
        <p:spPr>
          <a:xfrm>
            <a:off x="1047750" y="656082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3" name="Text 21"/>
          <p:cNvSpPr/>
          <p:nvPr/>
        </p:nvSpPr>
        <p:spPr>
          <a:xfrm>
            <a:off x="1581150" y="6583680"/>
            <a:ext cx="817179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A1A1A"/>
                </a:solidFill>
                <a:latin typeface="Helvetica" pitchFamily="34" charset="0"/>
                <a:ea typeface="Helvetica" pitchFamily="34" charset="-122"/>
                <a:cs typeface="Helvetica" pitchFamily="34" charset="-120"/>
              </a:rPr>
              <a:t>For me, _________________ travel is the only kind worth doing.</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84020"/>
            <a:ext cx="3322677"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88770"/>
            <a:ext cx="3262670" cy="388620"/>
          </a:xfrm>
          <a:prstGeom prst="rect">
            <a:avLst/>
          </a:prstGeom>
          <a:solidFill>
            <a:srgbClr val="1A2A5E"/>
          </a:solidFill>
          <a:ln/>
        </p:spPr>
        <p:txBody>
          <a:bodyPr/>
          <a:lstStyle/>
          <a:p>
            <a:endParaRPr lang="en-US"/>
          </a:p>
        </p:txBody>
      </p:sp>
      <p:sp>
        <p:nvSpPr>
          <p:cNvPr id="7" name="Text 5"/>
          <p:cNvSpPr/>
          <p:nvPr/>
        </p:nvSpPr>
        <p:spPr>
          <a:xfrm>
            <a:off x="4449366" y="164592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11074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Complete &amp; say each line</a:t>
            </a:r>
            <a:endParaRPr lang="en-US" sz="3750" dirty="0"/>
          </a:p>
        </p:txBody>
      </p:sp>
      <p:sp>
        <p:nvSpPr>
          <p:cNvPr id="9" name="Text 7"/>
          <p:cNvSpPr/>
          <p:nvPr/>
        </p:nvSpPr>
        <p:spPr>
          <a:xfrm>
            <a:off x="1047750" y="313182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1</a:t>
            </a:r>
            <a:endParaRPr lang="en-US" sz="2100" dirty="0"/>
          </a:p>
        </p:txBody>
      </p:sp>
      <p:sp>
        <p:nvSpPr>
          <p:cNvPr id="10" name="Text 8"/>
          <p:cNvSpPr/>
          <p:nvPr/>
        </p:nvSpPr>
        <p:spPr>
          <a:xfrm>
            <a:off x="1581150" y="3147060"/>
            <a:ext cx="7175647" cy="398145"/>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A sudden </a:t>
            </a:r>
            <a:r>
              <a:rPr lang="en-US" sz="2100" b="1" dirty="0">
                <a:solidFill>
                  <a:srgbClr val="1A2A5E"/>
                </a:solidFill>
                <a:latin typeface="Helvetica" pitchFamily="34" charset="0"/>
                <a:ea typeface="Helvetica" pitchFamily="34" charset="-122"/>
                <a:cs typeface="Helvetica" pitchFamily="34" charset="-120"/>
              </a:rPr>
              <a:t>surge </a:t>
            </a:r>
            <a:r>
              <a:rPr lang="en-US" sz="2100" dirty="0">
                <a:solidFill>
                  <a:srgbClr val="444444"/>
                </a:solidFill>
                <a:latin typeface="Helvetica" pitchFamily="34" charset="0"/>
                <a:ea typeface="Helvetica" pitchFamily="34" charset="-122"/>
                <a:cs typeface="Helvetica" pitchFamily="34" charset="-120"/>
              </a:rPr>
              <a:t>in tourists can change a city overnight.</a:t>
            </a:r>
            <a:endParaRPr lang="en-US" sz="2100" dirty="0"/>
          </a:p>
        </p:txBody>
      </p:sp>
      <p:sp>
        <p:nvSpPr>
          <p:cNvPr id="11" name="Text 9"/>
          <p:cNvSpPr/>
          <p:nvPr/>
        </p:nvSpPr>
        <p:spPr>
          <a:xfrm>
            <a:off x="1047750" y="371665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2</a:t>
            </a:r>
            <a:endParaRPr lang="en-US" sz="2100" dirty="0"/>
          </a:p>
        </p:txBody>
      </p:sp>
      <p:sp>
        <p:nvSpPr>
          <p:cNvPr id="12" name="Text 10"/>
          <p:cNvSpPr/>
          <p:nvPr/>
        </p:nvSpPr>
        <p:spPr>
          <a:xfrm>
            <a:off x="1581150" y="3731895"/>
            <a:ext cx="6082189" cy="398145"/>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Too many visitors put a real </a:t>
            </a:r>
            <a:r>
              <a:rPr lang="en-US" sz="2100" b="1" dirty="0">
                <a:solidFill>
                  <a:srgbClr val="1A2A5E"/>
                </a:solidFill>
                <a:latin typeface="Helvetica" pitchFamily="34" charset="0"/>
                <a:ea typeface="Helvetica" pitchFamily="34" charset="-122"/>
                <a:cs typeface="Helvetica" pitchFamily="34" charset="-120"/>
              </a:rPr>
              <a:t>strain </a:t>
            </a:r>
            <a:r>
              <a:rPr lang="en-US" sz="2100" dirty="0">
                <a:solidFill>
                  <a:srgbClr val="444444"/>
                </a:solidFill>
                <a:latin typeface="Helvetica" pitchFamily="34" charset="0"/>
                <a:ea typeface="Helvetica" pitchFamily="34" charset="-122"/>
                <a:cs typeface="Helvetica" pitchFamily="34" charset="-120"/>
              </a:rPr>
              <a:t>on local life.</a:t>
            </a:r>
            <a:endParaRPr lang="en-US" sz="2100" dirty="0"/>
          </a:p>
        </p:txBody>
      </p:sp>
      <p:sp>
        <p:nvSpPr>
          <p:cNvPr id="13" name="Text 11"/>
          <p:cNvSpPr/>
          <p:nvPr/>
        </p:nvSpPr>
        <p:spPr>
          <a:xfrm>
            <a:off x="1047750" y="430149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3</a:t>
            </a:r>
            <a:endParaRPr lang="en-US" sz="2100" dirty="0"/>
          </a:p>
        </p:txBody>
      </p:sp>
      <p:sp>
        <p:nvSpPr>
          <p:cNvPr id="14" name="Text 12"/>
          <p:cNvSpPr/>
          <p:nvPr/>
        </p:nvSpPr>
        <p:spPr>
          <a:xfrm>
            <a:off x="1581150" y="4316730"/>
            <a:ext cx="6538615" cy="398145"/>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I think </a:t>
            </a:r>
            <a:r>
              <a:rPr lang="en-US" sz="2100" b="1" dirty="0">
                <a:solidFill>
                  <a:srgbClr val="1A2A5E"/>
                </a:solidFill>
                <a:latin typeface="Helvetica" pitchFamily="34" charset="0"/>
                <a:ea typeface="Helvetica" pitchFamily="34" charset="-122"/>
                <a:cs typeface="Helvetica" pitchFamily="34" charset="-120"/>
              </a:rPr>
              <a:t>residents </a:t>
            </a:r>
            <a:r>
              <a:rPr lang="en-US" sz="2100" dirty="0">
                <a:solidFill>
                  <a:srgbClr val="444444"/>
                </a:solidFill>
                <a:latin typeface="Helvetica" pitchFamily="34" charset="0"/>
                <a:ea typeface="Helvetica" pitchFamily="34" charset="-122"/>
                <a:cs typeface="Helvetica" pitchFamily="34" charset="-120"/>
              </a:rPr>
              <a:t>should matter more than tourists.</a:t>
            </a:r>
            <a:endParaRPr lang="en-US" sz="2100" dirty="0"/>
          </a:p>
        </p:txBody>
      </p:sp>
      <p:sp>
        <p:nvSpPr>
          <p:cNvPr id="15" name="Text 13"/>
          <p:cNvSpPr/>
          <p:nvPr/>
        </p:nvSpPr>
        <p:spPr>
          <a:xfrm>
            <a:off x="1047750" y="488632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4</a:t>
            </a:r>
            <a:endParaRPr lang="en-US" sz="2100" dirty="0"/>
          </a:p>
        </p:txBody>
      </p:sp>
      <p:sp>
        <p:nvSpPr>
          <p:cNvPr id="16" name="Text 14"/>
          <p:cNvSpPr/>
          <p:nvPr/>
        </p:nvSpPr>
        <p:spPr>
          <a:xfrm>
            <a:off x="1581150" y="4901565"/>
            <a:ext cx="7582305" cy="398145"/>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Cities should </a:t>
            </a:r>
            <a:r>
              <a:rPr lang="en-US" sz="2100" b="1" dirty="0">
                <a:solidFill>
                  <a:srgbClr val="1A2A5E"/>
                </a:solidFill>
                <a:latin typeface="Helvetica" pitchFamily="34" charset="0"/>
                <a:ea typeface="Helvetica" pitchFamily="34" charset="-122"/>
                <a:cs typeface="Helvetica" pitchFamily="34" charset="-120"/>
              </a:rPr>
              <a:t>regulate </a:t>
            </a:r>
            <a:r>
              <a:rPr lang="en-US" sz="2100" dirty="0">
                <a:solidFill>
                  <a:srgbClr val="444444"/>
                </a:solidFill>
                <a:latin typeface="Helvetica" pitchFamily="34" charset="0"/>
                <a:ea typeface="Helvetica" pitchFamily="34" charset="-122"/>
                <a:cs typeface="Helvetica" pitchFamily="34" charset="-120"/>
              </a:rPr>
              <a:t>tourism before it gets out of control.</a:t>
            </a:r>
            <a:endParaRPr lang="en-US" sz="2100" dirty="0"/>
          </a:p>
        </p:txBody>
      </p:sp>
      <p:sp>
        <p:nvSpPr>
          <p:cNvPr id="17" name="Text 15"/>
          <p:cNvSpPr/>
          <p:nvPr/>
        </p:nvSpPr>
        <p:spPr>
          <a:xfrm>
            <a:off x="1047750" y="547116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5</a:t>
            </a:r>
            <a:endParaRPr lang="en-US" sz="2100" dirty="0"/>
          </a:p>
        </p:txBody>
      </p:sp>
      <p:sp>
        <p:nvSpPr>
          <p:cNvPr id="18" name="Text 16"/>
          <p:cNvSpPr/>
          <p:nvPr/>
        </p:nvSpPr>
        <p:spPr>
          <a:xfrm>
            <a:off x="1581150" y="5486400"/>
            <a:ext cx="7207079" cy="398145"/>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For me, </a:t>
            </a:r>
            <a:r>
              <a:rPr lang="en-US" sz="2100" b="1" dirty="0">
                <a:solidFill>
                  <a:srgbClr val="1A2A5E"/>
                </a:solidFill>
                <a:latin typeface="Helvetica" pitchFamily="34" charset="0"/>
                <a:ea typeface="Helvetica" pitchFamily="34" charset="-122"/>
                <a:cs typeface="Helvetica" pitchFamily="34" charset="-120"/>
              </a:rPr>
              <a:t>sustainable </a:t>
            </a:r>
            <a:r>
              <a:rPr lang="en-US" sz="2100" dirty="0">
                <a:solidFill>
                  <a:srgbClr val="444444"/>
                </a:solidFill>
                <a:latin typeface="Helvetica" pitchFamily="34" charset="0"/>
                <a:ea typeface="Helvetica" pitchFamily="34" charset="-122"/>
                <a:cs typeface="Helvetica" pitchFamily="34" charset="-120"/>
              </a:rPr>
              <a:t>travel is the only kind worth doing.</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50670"/>
            <a:ext cx="3211092"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96390"/>
            <a:ext cx="2534507" cy="205740"/>
          </a:xfrm>
          <a:prstGeom prst="rect">
            <a:avLst/>
          </a:prstGeom>
          <a:noFill/>
          <a:ln/>
        </p:spPr>
        <p:txBody>
          <a:bodyPr wrap="square" lIns="25400" tIns="25400" rIns="25400" bIns="25400" rtlCol="0" anchor="t">
            <a:normAutofit/>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8595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You are the town council</a:t>
            </a:r>
            <a:endParaRPr lang="en-US" sz="3750" dirty="0"/>
          </a:p>
        </p:txBody>
      </p:sp>
      <p:sp>
        <p:nvSpPr>
          <p:cNvPr id="8" name="Shape 6"/>
          <p:cNvSpPr/>
          <p:nvPr/>
        </p:nvSpPr>
        <p:spPr>
          <a:xfrm>
            <a:off x="1047750" y="2964180"/>
            <a:ext cx="14859000" cy="9525"/>
          </a:xfrm>
          <a:prstGeom prst="rect">
            <a:avLst/>
          </a:prstGeom>
          <a:solidFill>
            <a:srgbClr val="D8D6D0"/>
          </a:solidFill>
          <a:ln/>
        </p:spPr>
        <p:txBody>
          <a:bodyPr/>
          <a:lstStyle/>
          <a:p>
            <a:endParaRPr lang="en-US"/>
          </a:p>
        </p:txBody>
      </p:sp>
      <p:sp>
        <p:nvSpPr>
          <p:cNvPr id="9" name="Text 7"/>
          <p:cNvSpPr/>
          <p:nvPr/>
        </p:nvSpPr>
        <p:spPr>
          <a:xfrm>
            <a:off x="1047750" y="323850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200400"/>
            <a:ext cx="13935075"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are the local council of a town that has suddenly become a tourist hotspot.</a:t>
            </a:r>
            <a:endParaRPr lang="en-US" sz="2250" dirty="0"/>
          </a:p>
        </p:txBody>
      </p:sp>
      <p:sp>
        <p:nvSpPr>
          <p:cNvPr id="11" name="Shape 9"/>
          <p:cNvSpPr/>
          <p:nvPr/>
        </p:nvSpPr>
        <p:spPr>
          <a:xfrm>
            <a:off x="1047750" y="3833812"/>
            <a:ext cx="14859000" cy="9525"/>
          </a:xfrm>
          <a:prstGeom prst="rect">
            <a:avLst/>
          </a:prstGeom>
          <a:solidFill>
            <a:srgbClr val="D8D6D0"/>
          </a:solidFill>
          <a:ln/>
        </p:spPr>
        <p:txBody>
          <a:bodyPr/>
          <a:lstStyle/>
          <a:p>
            <a:endParaRPr lang="en-US"/>
          </a:p>
        </p:txBody>
      </p:sp>
      <p:sp>
        <p:nvSpPr>
          <p:cNvPr id="12" name="Text 10"/>
          <p:cNvSpPr/>
          <p:nvPr/>
        </p:nvSpPr>
        <p:spPr>
          <a:xfrm>
            <a:off x="1047750" y="410813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4070033"/>
            <a:ext cx="13935075"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two rules to manage visitors and protect residents.</a:t>
            </a:r>
            <a:endParaRPr lang="en-US" sz="2250" dirty="0"/>
          </a:p>
        </p:txBody>
      </p:sp>
      <p:sp>
        <p:nvSpPr>
          <p:cNvPr id="14" name="Shape 12"/>
          <p:cNvSpPr/>
          <p:nvPr/>
        </p:nvSpPr>
        <p:spPr>
          <a:xfrm>
            <a:off x="1047750" y="5554028"/>
            <a:ext cx="14859000" cy="9525"/>
          </a:xfrm>
          <a:prstGeom prst="rect">
            <a:avLst/>
          </a:prstGeom>
          <a:solidFill>
            <a:srgbClr val="D8D6D0"/>
          </a:solidFill>
          <a:ln/>
        </p:spPr>
        <p:txBody>
          <a:bodyPr/>
          <a:lstStyle/>
          <a:p>
            <a:endParaRPr lang="en-US"/>
          </a:p>
        </p:txBody>
      </p:sp>
      <p:sp>
        <p:nvSpPr>
          <p:cNvPr id="15" name="Shape 13"/>
          <p:cNvSpPr/>
          <p:nvPr/>
        </p:nvSpPr>
        <p:spPr>
          <a:xfrm>
            <a:off x="1047750" y="4703445"/>
            <a:ext cx="14859000" cy="9525"/>
          </a:xfrm>
          <a:prstGeom prst="rect">
            <a:avLst/>
          </a:prstGeom>
          <a:solidFill>
            <a:srgbClr val="D8D6D0"/>
          </a:solidFill>
          <a:ln/>
        </p:spPr>
        <p:txBody>
          <a:bodyPr/>
          <a:lstStyle/>
          <a:p>
            <a:endParaRPr lang="en-US"/>
          </a:p>
        </p:txBody>
      </p:sp>
      <p:sp>
        <p:nvSpPr>
          <p:cNvPr id="16" name="Text 14"/>
          <p:cNvSpPr/>
          <p:nvPr/>
        </p:nvSpPr>
        <p:spPr>
          <a:xfrm>
            <a:off x="1047750" y="497776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939665"/>
            <a:ext cx="13935075"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Share your plan with the class and explain why it is fair to everyone.</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0624" y="72390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741170"/>
            <a:ext cx="17811750" cy="259080"/>
          </a:xfrm>
          <a:prstGeom prst="rect">
            <a:avLst/>
          </a:prstGeom>
          <a:noFill/>
          <a:ln/>
        </p:spPr>
        <p:txBody>
          <a:bodyPr wrap="square" lIns="25400" tIns="25400" rIns="25400" bIns="25400" rtlCol="0" anchor="t">
            <a:normAutofit/>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90750"/>
            <a:ext cx="15206662" cy="1588770"/>
          </a:xfrm>
          <a:prstGeom prst="rect">
            <a:avLst/>
          </a:prstGeom>
          <a:noFill/>
          <a:ln/>
        </p:spPr>
        <p:txBody>
          <a:bodyPr wrap="square" lIns="25400" tIns="25400" rIns="25400" bIns="25400" rtlCol="0" anchor="t">
            <a:normAutofit/>
          </a:bodyPr>
          <a:lstStyle/>
          <a:p>
            <a:pPr marL="0" indent="0" algn="l">
              <a:lnSpc>
                <a:spcPct val="110000"/>
              </a:lnSpc>
              <a:buNone/>
            </a:pPr>
            <a:r>
              <a:rPr lang="en-US" sz="5550" b="1" dirty="0">
                <a:solidFill>
                  <a:srgbClr val="1A2A5E"/>
                </a:solidFill>
                <a:latin typeface="Playfair Display" pitchFamily="34" charset="0"/>
                <a:ea typeface="Playfair Display" pitchFamily="34" charset="-122"/>
                <a:cs typeface="Playfair Display" pitchFamily="34" charset="-120"/>
              </a:rPr>
              <a:t>Should popular cities limit the number of tourists they allow?</a:t>
            </a:r>
            <a:endParaRPr lang="en-US" sz="5550" dirty="0"/>
          </a:p>
        </p:txBody>
      </p:sp>
      <p:sp>
        <p:nvSpPr>
          <p:cNvPr id="7" name="Text 5"/>
          <p:cNvSpPr/>
          <p:nvPr/>
        </p:nvSpPr>
        <p:spPr>
          <a:xfrm>
            <a:off x="1047750" y="4122420"/>
            <a:ext cx="13620750" cy="46482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5025390"/>
            <a:ext cx="2476500" cy="22860"/>
          </a:xfrm>
          <a:prstGeom prst="rect">
            <a:avLst/>
          </a:prstGeom>
          <a:solidFill>
            <a:srgbClr val="D9B877"/>
          </a:solidFill>
          <a:ln/>
        </p:spPr>
        <p:txBody>
          <a:bodyPr/>
          <a:lstStyle/>
          <a:p>
            <a:endParaRPr lang="en-US"/>
          </a:p>
        </p:txBody>
      </p:sp>
      <p:sp>
        <p:nvSpPr>
          <p:cNvPr id="9" name="Text 7"/>
          <p:cNvSpPr/>
          <p:nvPr/>
        </p:nvSpPr>
        <p:spPr>
          <a:xfrm>
            <a:off x="1047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5025390"/>
            <a:ext cx="2476500" cy="22860"/>
          </a:xfrm>
          <a:prstGeom prst="rect">
            <a:avLst/>
          </a:prstGeom>
          <a:solidFill>
            <a:srgbClr val="D9B877"/>
          </a:solidFill>
          <a:ln/>
        </p:spPr>
        <p:txBody>
          <a:bodyPr/>
          <a:lstStyle/>
          <a:p>
            <a:endParaRPr lang="en-US"/>
          </a:p>
        </p:txBody>
      </p:sp>
      <p:sp>
        <p:nvSpPr>
          <p:cNvPr id="11" name="Text 9"/>
          <p:cNvSpPr/>
          <p:nvPr/>
        </p:nvSpPr>
        <p:spPr>
          <a:xfrm>
            <a:off x="39052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5025390"/>
            <a:ext cx="2476500" cy="22860"/>
          </a:xfrm>
          <a:prstGeom prst="rect">
            <a:avLst/>
          </a:prstGeom>
          <a:solidFill>
            <a:srgbClr val="D9B877"/>
          </a:solidFill>
          <a:ln/>
        </p:spPr>
        <p:txBody>
          <a:bodyPr/>
          <a:lstStyle/>
          <a:p>
            <a:endParaRPr lang="en-US"/>
          </a:p>
        </p:txBody>
      </p:sp>
      <p:sp>
        <p:nvSpPr>
          <p:cNvPr id="13" name="Text 11"/>
          <p:cNvSpPr/>
          <p:nvPr/>
        </p:nvSpPr>
        <p:spPr>
          <a:xfrm>
            <a:off x="6762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238250" y="3808095"/>
            <a:ext cx="17392650" cy="281940"/>
          </a:xfrm>
          <a:prstGeom prst="rect">
            <a:avLst/>
          </a:prstGeom>
          <a:noFill/>
          <a:ln/>
        </p:spPr>
        <p:txBody>
          <a:bodyPr wrap="square" lIns="25400" tIns="25400" rIns="25400" bIns="25400" rtlCol="0" anchor="t">
            <a:normAutofit/>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42435"/>
            <a:ext cx="16285845" cy="1958340"/>
          </a:xfrm>
          <a:prstGeom prst="rect">
            <a:avLst/>
          </a:prstGeom>
          <a:noFill/>
          <a:ln/>
        </p:spPr>
        <p:txBody>
          <a:bodyPr wrap="square" lIns="25400" tIns="25400" rIns="25400" bIns="25400" rtlCol="0" anchor="t">
            <a:normAutofit/>
          </a:bodyPr>
          <a:lstStyle/>
          <a:p>
            <a:pPr marL="0" indent="0" algn="l">
              <a:lnSpc>
                <a:spcPct val="105000"/>
              </a:lnSpc>
              <a:buNone/>
            </a:pPr>
            <a:r>
              <a:rPr lang="en-US" sz="7200" b="1" dirty="0">
                <a:solidFill>
                  <a:srgbClr val="FFFFFF"/>
                </a:solidFill>
                <a:latin typeface="Playfair Display" pitchFamily="34" charset="0"/>
                <a:ea typeface="Playfair Display" pitchFamily="34" charset="-122"/>
                <a:cs typeface="Playfair Display" pitchFamily="34" charset="-120"/>
              </a:rPr>
              <a:t>One fact. One perspective. Endless discussion.</a:t>
            </a:r>
            <a:endParaRPr lang="en-US" sz="7200" dirty="0"/>
          </a:p>
        </p:txBody>
      </p:sp>
      <p:sp>
        <p:nvSpPr>
          <p:cNvPr id="5" name="Text 3"/>
          <p:cNvSpPr/>
          <p:nvPr/>
        </p:nvSpPr>
        <p:spPr>
          <a:xfrm>
            <a:off x="1238250" y="6448425"/>
            <a:ext cx="17392650" cy="365760"/>
          </a:xfrm>
          <a:prstGeom prst="rect">
            <a:avLst/>
          </a:prstGeom>
          <a:noFill/>
          <a:ln/>
        </p:spPr>
        <p:txBody>
          <a:bodyPr wrap="square" lIns="25400" tIns="25400" rIns="25400" bIns="25400" rtlCol="0" anchor="t">
            <a:normAutofit/>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Issue 002.</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1820</Words>
  <Application>Microsoft Office PowerPoint</Application>
  <PresentationFormat>Custom</PresentationFormat>
  <Paragraphs>257</Paragraphs>
  <Slides>16</Slides>
  <Notes>16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Helvetica</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5</cp:revision>
  <dcterms:created xsi:type="dcterms:W3CDTF">2026-07-03T01:53:38Z</dcterms:created>
  <dcterms:modified xsi:type="dcterms:W3CDTF">2026-08-06T11:37:41Z</dcterms:modified>
</cp:coreProperties>
</file>