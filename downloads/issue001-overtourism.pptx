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05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001 of Perspective — today's topic is Overtourism.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overtourism, where is it happening, and what are the possible solutions? End on the pull-quote question — it sets up the discussion.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3 and 5 are False because the article is balanced and says there is no easy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&amp; Defend. Students rank the five effects from best (1) to worst (5) for residents — alone first, then compare in pairs. Disagreement is the point: they must defend their choices.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especially in 3 (residents / local people). The goal is that students can use the words in speech.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role-play. Small groups act as a town council. Give ~8 minutes to agree on two rules, then each group presents.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002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001</a:t>
            </a:r>
            <a:endParaRPr lang="en-US" sz="1500" dirty="0"/>
          </a:p>
        </p:txBody>
      </p:sp>
      <p:sp>
        <p:nvSpPr>
          <p:cNvPr id="4" name="Text 2"/>
          <p:cNvSpPr/>
          <p:nvPr/>
        </p:nvSpPr>
        <p:spPr>
          <a:xfrm>
            <a:off x="1238250" y="4032409"/>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4523899"/>
            <a:ext cx="17392650" cy="1395413"/>
          </a:xfrm>
          <a:prstGeom prst="rect">
            <a:avLst/>
          </a:prstGeom>
          <a:noFill/>
          <a:ln/>
        </p:spPr>
        <p:txBody>
          <a:bodyPr wrap="square" lIns="25400" tIns="25400" rIns="25400" bIns="25400" rtlCol="0" anchor="t">
            <a:normAutofit/>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Overtourism</a:t>
            </a:r>
            <a:endParaRPr lang="en-US" sz="11250" dirty="0"/>
          </a:p>
        </p:txBody>
      </p:sp>
      <p:sp>
        <p:nvSpPr>
          <p:cNvPr id="6" name="Text 4"/>
          <p:cNvSpPr/>
          <p:nvPr/>
        </p:nvSpPr>
        <p:spPr>
          <a:xfrm>
            <a:off x="1238250" y="6109811"/>
            <a:ext cx="17392650" cy="480060"/>
          </a:xfrm>
          <a:prstGeom prst="rect">
            <a:avLst/>
          </a:prstGeom>
          <a:noFill/>
          <a:ln/>
        </p:spPr>
        <p:txBody>
          <a:bodyPr wrap="square" lIns="25400" tIns="25400" rIns="25400" bIns="25400" rtlCol="0" anchor="t">
            <a:normAutofit/>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Can tourism become too successful?</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448050"/>
            <a:ext cx="12636859"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Have you ever visited a place that felt too crowded or too busy? How did it feel?</a:t>
            </a:r>
            <a:endParaRPr lang="en-US" sz="3000" dirty="0"/>
          </a:p>
        </p:txBody>
      </p:sp>
      <p:sp>
        <p:nvSpPr>
          <p:cNvPr id="9" name="Text 7"/>
          <p:cNvSpPr/>
          <p:nvPr/>
        </p:nvSpPr>
        <p:spPr>
          <a:xfrm>
            <a:off x="1047750" y="4895850"/>
            <a:ext cx="445175"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953000"/>
            <a:ext cx="10249614" cy="5524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What benefits does tourism bring to a city or a country?</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“Overtourism.”</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Thousands of tourists crowd the streets and beach in Positano, Italy.</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906304"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surge</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906304"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strain</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126194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resident</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126194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regulate</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184469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sustainable</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94660"/>
            <a:ext cx="4874657"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person who lives in a particular place</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542347"/>
            <a:ext cx="6620470"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able to continue for a long time without causing harm</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90035"/>
            <a:ext cx="3098197"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sudden, large increase</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637722"/>
            <a:ext cx="4812054"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pressure caused by too much demand</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185410"/>
            <a:ext cx="3946743"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control an activity using rules</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2857500"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1–C </a:t>
            </a:r>
            <a:r>
              <a:rPr lang="en-US" sz="2250" b="1" dirty="0">
                <a:solidFill>
                  <a:srgbClr val="1A2A5E"/>
                </a:solidFill>
                <a:latin typeface="Helvetica" pitchFamily="34" charset="0"/>
                <a:ea typeface="Helvetica" pitchFamily="34" charset="-122"/>
                <a:cs typeface="Helvetica" pitchFamily="34" charset="-120"/>
              </a:rPr>
              <a:t>surge</a:t>
            </a:r>
            <a:endParaRPr lang="en-US" sz="1200" dirty="0"/>
          </a:p>
        </p:txBody>
      </p:sp>
      <p:sp>
        <p:nvSpPr>
          <p:cNvPr id="11" name="Shape 9"/>
          <p:cNvSpPr/>
          <p:nvPr/>
        </p:nvSpPr>
        <p:spPr>
          <a:xfrm>
            <a:off x="4152900" y="3436620"/>
            <a:ext cx="2857500" cy="960120"/>
          </a:xfrm>
          <a:prstGeom prst="rect">
            <a:avLst/>
          </a:prstGeom>
          <a:ln w="15240">
            <a:solidFill>
              <a:srgbClr val="1A2A5E"/>
            </a:solidFill>
            <a:prstDash val="solid"/>
          </a:ln>
        </p:spPr>
        <p:txBody>
          <a:bodyPr/>
          <a:lstStyle/>
          <a:p>
            <a:endParaRPr lang="en-US"/>
          </a:p>
        </p:txBody>
      </p:sp>
      <p:sp>
        <p:nvSpPr>
          <p:cNvPr id="12" name="Text 10"/>
          <p:cNvSpPr/>
          <p:nvPr/>
        </p:nvSpPr>
        <p:spPr>
          <a:xfrm>
            <a:off x="449199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2–D </a:t>
            </a:r>
            <a:r>
              <a:rPr lang="en-US" sz="2250" b="1" dirty="0">
                <a:solidFill>
                  <a:srgbClr val="1A2A5E"/>
                </a:solidFill>
                <a:latin typeface="Helvetica" pitchFamily="34" charset="0"/>
                <a:ea typeface="Helvetica" pitchFamily="34" charset="-122"/>
                <a:cs typeface="Helvetica" pitchFamily="34" charset="-120"/>
              </a:rPr>
              <a:t>strain</a:t>
            </a:r>
            <a:endParaRPr lang="en-US" sz="1200" dirty="0"/>
          </a:p>
        </p:txBody>
      </p:sp>
      <p:sp>
        <p:nvSpPr>
          <p:cNvPr id="13" name="Shape 11"/>
          <p:cNvSpPr/>
          <p:nvPr/>
        </p:nvSpPr>
        <p:spPr>
          <a:xfrm>
            <a:off x="7258050" y="3436620"/>
            <a:ext cx="2857500" cy="960120"/>
          </a:xfrm>
          <a:prstGeom prst="rect">
            <a:avLst/>
          </a:prstGeom>
          <a:ln w="15240">
            <a:solidFill>
              <a:srgbClr val="1A2A5E"/>
            </a:solidFill>
            <a:prstDash val="solid"/>
          </a:ln>
        </p:spPr>
        <p:txBody>
          <a:bodyPr/>
          <a:lstStyle/>
          <a:p>
            <a:endParaRPr lang="en-US"/>
          </a:p>
        </p:txBody>
      </p:sp>
      <p:sp>
        <p:nvSpPr>
          <p:cNvPr id="14" name="Text 12"/>
          <p:cNvSpPr/>
          <p:nvPr/>
        </p:nvSpPr>
        <p:spPr>
          <a:xfrm>
            <a:off x="75971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3–A </a:t>
            </a:r>
            <a:r>
              <a:rPr lang="en-US" sz="2250" b="1" dirty="0">
                <a:solidFill>
                  <a:srgbClr val="1A2A5E"/>
                </a:solidFill>
                <a:latin typeface="Helvetica" pitchFamily="34" charset="0"/>
                <a:ea typeface="Helvetica" pitchFamily="34" charset="-122"/>
                <a:cs typeface="Helvetica" pitchFamily="34" charset="-120"/>
              </a:rPr>
              <a:t>resident</a:t>
            </a:r>
            <a:endParaRPr lang="en-US" sz="1200" dirty="0"/>
          </a:p>
        </p:txBody>
      </p:sp>
      <p:sp>
        <p:nvSpPr>
          <p:cNvPr id="15" name="Shape 13"/>
          <p:cNvSpPr/>
          <p:nvPr/>
        </p:nvSpPr>
        <p:spPr>
          <a:xfrm>
            <a:off x="10363200" y="3436620"/>
            <a:ext cx="2857500" cy="960120"/>
          </a:xfrm>
          <a:prstGeom prst="rect">
            <a:avLst/>
          </a:prstGeom>
          <a:ln w="15240">
            <a:solidFill>
              <a:srgbClr val="1A2A5E"/>
            </a:solidFill>
            <a:prstDash val="solid"/>
          </a:ln>
        </p:spPr>
        <p:txBody>
          <a:bodyPr/>
          <a:lstStyle/>
          <a:p>
            <a:endParaRPr lang="en-US"/>
          </a:p>
        </p:txBody>
      </p:sp>
      <p:sp>
        <p:nvSpPr>
          <p:cNvPr id="16" name="Text 14"/>
          <p:cNvSpPr/>
          <p:nvPr/>
        </p:nvSpPr>
        <p:spPr>
          <a:xfrm>
            <a:off x="1070229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4–E </a:t>
            </a:r>
            <a:r>
              <a:rPr lang="en-US" sz="2250" b="1" dirty="0">
                <a:solidFill>
                  <a:srgbClr val="1A2A5E"/>
                </a:solidFill>
                <a:latin typeface="Helvetica" pitchFamily="34" charset="0"/>
                <a:ea typeface="Helvetica" pitchFamily="34" charset="-122"/>
                <a:cs typeface="Helvetica" pitchFamily="34" charset="-120"/>
              </a:rPr>
              <a:t>regulate</a:t>
            </a:r>
            <a:endParaRPr lang="en-US" sz="1200" dirty="0"/>
          </a:p>
        </p:txBody>
      </p:sp>
      <p:sp>
        <p:nvSpPr>
          <p:cNvPr id="17" name="Shape 15"/>
          <p:cNvSpPr/>
          <p:nvPr/>
        </p:nvSpPr>
        <p:spPr>
          <a:xfrm>
            <a:off x="13468350" y="3436620"/>
            <a:ext cx="3094554" cy="960120"/>
          </a:xfrm>
          <a:prstGeom prst="rect">
            <a:avLst/>
          </a:prstGeom>
          <a:ln w="15240">
            <a:solidFill>
              <a:srgbClr val="1A2A5E"/>
            </a:solidFill>
            <a:prstDash val="solid"/>
          </a:ln>
        </p:spPr>
        <p:txBody>
          <a:bodyPr/>
          <a:lstStyle/>
          <a:p>
            <a:endParaRPr lang="en-US"/>
          </a:p>
        </p:txBody>
      </p:sp>
      <p:sp>
        <p:nvSpPr>
          <p:cNvPr id="18" name="Text 16"/>
          <p:cNvSpPr/>
          <p:nvPr/>
        </p:nvSpPr>
        <p:spPr>
          <a:xfrm>
            <a:off x="13807440" y="3661410"/>
            <a:ext cx="2509210"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5–B </a:t>
            </a:r>
            <a:r>
              <a:rPr lang="en-US" sz="2250" b="1" dirty="0">
                <a:solidFill>
                  <a:srgbClr val="1A2A5E"/>
                </a:solidFill>
                <a:latin typeface="Helvetica" pitchFamily="34" charset="0"/>
                <a:ea typeface="Helvetica" pitchFamily="34" charset="-122"/>
                <a:cs typeface="Helvetica" pitchFamily="34" charset="-120"/>
              </a:rPr>
              <a:t>sustainable</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62865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Overtourism</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Can tourism become too successful?</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As more people travel than ever before, some beautiful places are paying the price.</a:t>
            </a:r>
            <a:endParaRPr lang="en-US" sz="1650" dirty="0"/>
          </a:p>
        </p:txBody>
      </p:sp>
      <p:sp>
        <p:nvSpPr>
          <p:cNvPr id="10" name="Text 8"/>
          <p:cNvSpPr/>
          <p:nvPr/>
        </p:nvSpPr>
        <p:spPr>
          <a:xfrm>
            <a:off x="1047750" y="3272790"/>
            <a:ext cx="8074247" cy="1898333"/>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In recent years, the city of Barcelona has seen something strange. Frustrated locals walked through crowded tourist districts carrying water pistols, gently spraying surprised visitors at sidewalk cafés. The playful protest carried a serious message: “Tourists go home.” For a city that welcomes more than 30 million visitors a year, the moment revealed a growing tension between those who live in a place and those who simply pass through.</a:t>
            </a:r>
            <a:endParaRPr lang="en-US" sz="1650" dirty="0"/>
          </a:p>
        </p:txBody>
      </p:sp>
      <p:sp>
        <p:nvSpPr>
          <p:cNvPr id="11" name="Text 9"/>
          <p:cNvSpPr/>
          <p:nvPr/>
        </p:nvSpPr>
        <p:spPr>
          <a:xfrm>
            <a:off x="1047750" y="5919311"/>
            <a:ext cx="8074247" cy="1588294"/>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problem has a name: overtourism. It happens when a destination attracts more visitors than it can comfortably handle. Cities like Venice, Amsterdam, and Kyoto have all felt the </a:t>
            </a:r>
            <a:r>
              <a:rPr lang="en-US" sz="1650" b="1" dirty="0">
                <a:solidFill>
                  <a:srgbClr val="1A2A5E"/>
                </a:solidFill>
                <a:latin typeface="Helvetica" pitchFamily="34" charset="0"/>
                <a:ea typeface="Helvetica" pitchFamily="34" charset="-122"/>
                <a:cs typeface="Helvetica" pitchFamily="34" charset="-120"/>
              </a:rPr>
              <a:t>strain</a:t>
            </a:r>
            <a:r>
              <a:rPr lang="en-US" sz="1650" dirty="0">
                <a:solidFill>
                  <a:srgbClr val="222222"/>
                </a:solidFill>
                <a:latin typeface="Helvetica" pitchFamily="34" charset="0"/>
                <a:ea typeface="Helvetica" pitchFamily="34" charset="-122"/>
                <a:cs typeface="Helvetica" pitchFamily="34" charset="-120"/>
              </a:rPr>
              <a:t>. A sudden </a:t>
            </a:r>
            <a:r>
              <a:rPr lang="en-US" sz="1650" b="1" dirty="0">
                <a:solidFill>
                  <a:srgbClr val="1A2A5E"/>
                </a:solidFill>
                <a:latin typeface="Helvetica" pitchFamily="34" charset="0"/>
                <a:ea typeface="Helvetica" pitchFamily="34" charset="-122"/>
                <a:cs typeface="Helvetica" pitchFamily="34" charset="-120"/>
              </a:rPr>
              <a:t>surge </a:t>
            </a:r>
            <a:r>
              <a:rPr lang="en-US" sz="1650" dirty="0">
                <a:solidFill>
                  <a:srgbClr val="222222"/>
                </a:solidFill>
                <a:latin typeface="Helvetica" pitchFamily="34" charset="0"/>
                <a:ea typeface="Helvetica" pitchFamily="34" charset="-122"/>
                <a:cs typeface="Helvetica" pitchFamily="34" charset="-120"/>
              </a:rPr>
              <a:t>in arrivals can crowd the streets, push up prices, and slowly change a neighborhood until it no longer feels like home to its </a:t>
            </a:r>
            <a:r>
              <a:rPr lang="en-US" sz="1650" b="1" dirty="0">
                <a:solidFill>
                  <a:srgbClr val="1A2A5E"/>
                </a:solidFill>
                <a:latin typeface="Helvetica" pitchFamily="34" charset="0"/>
                <a:ea typeface="Helvetica" pitchFamily="34" charset="-122"/>
                <a:cs typeface="Helvetica" pitchFamily="34" charset="-120"/>
              </a:rPr>
              <a:t>residents</a:t>
            </a:r>
            <a:r>
              <a:rPr lang="en-US" sz="1650" dirty="0">
                <a:solidFill>
                  <a:srgbClr val="222222"/>
                </a:solidFill>
                <a:latin typeface="Helvetica" pitchFamily="34" charset="0"/>
                <a:ea typeface="Helvetica" pitchFamily="34" charset="-122"/>
                <a:cs typeface="Helvetica" pitchFamily="34" charset="-120"/>
              </a:rPr>
              <a:t>.</a:t>
            </a:r>
            <a:endParaRPr lang="en-US" sz="1650" dirty="0"/>
          </a:p>
        </p:txBody>
      </p:sp>
      <p:sp>
        <p:nvSpPr>
          <p:cNvPr id="12" name="Text 10"/>
          <p:cNvSpPr/>
          <p:nvPr/>
        </p:nvSpPr>
        <p:spPr>
          <a:xfrm>
            <a:off x="9401175" y="3272790"/>
            <a:ext cx="8074247" cy="1588294"/>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numbers are striking. Venice, a city of fewer than 50,000 residents, can receive up to 100,000 tourists in a single day. Recently it introduced a five-euro entry fee for day-trippers — the first of its kind in the world. Amsterdam has frozen new hotel construction, and even Mount Everest now sees traffic jams of climbers waiting near the summit.</a:t>
            </a:r>
            <a:endParaRPr lang="en-US" sz="1650" dirty="0"/>
          </a:p>
        </p:txBody>
      </p:sp>
      <p:sp>
        <p:nvSpPr>
          <p:cNvPr id="13" name="Text 11"/>
          <p:cNvSpPr/>
          <p:nvPr/>
        </p:nvSpPr>
        <p:spPr>
          <a:xfrm>
            <a:off x="9401174" y="5957411"/>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Still, tourism is not the enemy. It creates jobs, supports small businesses, and connects cultures. The real question is balance. Some call for stricter rules to </a:t>
            </a:r>
            <a:r>
              <a:rPr lang="en-US" sz="1650" b="1" dirty="0">
                <a:solidFill>
                  <a:srgbClr val="1A2A5E"/>
                </a:solidFill>
                <a:latin typeface="Helvetica" pitchFamily="34" charset="0"/>
                <a:ea typeface="Helvetica" pitchFamily="34" charset="-122"/>
                <a:cs typeface="Helvetica" pitchFamily="34" charset="-120"/>
              </a:rPr>
              <a:t>regulate </a:t>
            </a:r>
            <a:r>
              <a:rPr lang="en-US" sz="1650" dirty="0">
                <a:solidFill>
                  <a:srgbClr val="222222"/>
                </a:solidFill>
                <a:latin typeface="Helvetica" pitchFamily="34" charset="0"/>
                <a:ea typeface="Helvetica" pitchFamily="34" charset="-122"/>
                <a:cs typeface="Helvetica" pitchFamily="34" charset="-120"/>
              </a:rPr>
              <a:t>visitor numbers; others believe the answer is smarter, more </a:t>
            </a:r>
            <a:r>
              <a:rPr lang="en-US" sz="1650" b="1" dirty="0">
                <a:solidFill>
                  <a:srgbClr val="1A2A5E"/>
                </a:solidFill>
                <a:latin typeface="Helvetica" pitchFamily="34" charset="0"/>
                <a:ea typeface="Helvetica" pitchFamily="34" charset="-122"/>
                <a:cs typeface="Helvetica" pitchFamily="34" charset="-120"/>
              </a:rPr>
              <a:t>sustainable </a:t>
            </a:r>
            <a:r>
              <a:rPr lang="en-US" sz="1650" dirty="0">
                <a:solidFill>
                  <a:srgbClr val="222222"/>
                </a:solidFill>
                <a:latin typeface="Helvetica" pitchFamily="34" charset="0"/>
                <a:ea typeface="Helvetica" pitchFamily="34" charset="-122"/>
                <a:cs typeface="Helvetica" pitchFamily="34" charset="-120"/>
              </a:rPr>
              <a:t>travel. As the backlash grows louder, no easy answer is in sight.</a:t>
            </a:r>
            <a:endParaRPr lang="en-US" sz="1650" dirty="0"/>
          </a:p>
        </p:txBody>
      </p:sp>
      <p:sp>
        <p:nvSpPr>
          <p:cNvPr id="14" name="Shape 12"/>
          <p:cNvSpPr/>
          <p:nvPr/>
        </p:nvSpPr>
        <p:spPr>
          <a:xfrm>
            <a:off x="1047750" y="7934751"/>
            <a:ext cx="45720" cy="421005"/>
          </a:xfrm>
          <a:prstGeom prst="rect">
            <a:avLst/>
          </a:prstGeom>
          <a:solidFill>
            <a:srgbClr val="D9B877"/>
          </a:solidFill>
          <a:ln/>
        </p:spPr>
        <p:txBody>
          <a:bodyPr/>
          <a:lstStyle/>
          <a:p>
            <a:endParaRPr lang="en-US"/>
          </a:p>
        </p:txBody>
      </p:sp>
      <p:sp>
        <p:nvSpPr>
          <p:cNvPr id="15" name="Text 13"/>
          <p:cNvSpPr/>
          <p:nvPr/>
        </p:nvSpPr>
        <p:spPr>
          <a:xfrm>
            <a:off x="1360170" y="7934751"/>
            <a:ext cx="14356080" cy="45910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Who really owns a city — the people who live there, or the millions who come to see it?</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1-audio">
            <a:hlinkClick r:id="" action="ppaction://media"/>
            <a:extLst>
              <a:ext uri="{FF2B5EF4-FFF2-40B4-BE49-F238E27FC236}">
                <a16:creationId xmlns:a16="http://schemas.microsoft.com/office/drawing/2014/main" id="{178214A8-7519-8D26-37C1-26E96C9CB20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953860" y="1518427"/>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True or False?</a:t>
            </a:r>
            <a:endParaRPr lang="en-US" sz="4050" dirty="0"/>
          </a:p>
        </p:txBody>
      </p:sp>
      <p:sp>
        <p:nvSpPr>
          <p:cNvPr id="7" name="Shape 5"/>
          <p:cNvSpPr/>
          <p:nvPr/>
        </p:nvSpPr>
        <p:spPr>
          <a:xfrm>
            <a:off x="1047750" y="3615690"/>
            <a:ext cx="14763750" cy="9525"/>
          </a:xfrm>
          <a:prstGeom prst="rect">
            <a:avLst/>
          </a:prstGeom>
          <a:solidFill>
            <a:srgbClr val="E3E1DB"/>
          </a:solidFill>
          <a:ln/>
        </p:spPr>
        <p:txBody>
          <a:bodyPr/>
          <a:lstStyle/>
          <a:p>
            <a:endParaRPr lang="en-US"/>
          </a:p>
        </p:txBody>
      </p:sp>
      <p:sp>
        <p:nvSpPr>
          <p:cNvPr id="8" name="Text 6"/>
          <p:cNvSpPr/>
          <p:nvPr/>
        </p:nvSpPr>
        <p:spPr>
          <a:xfrm>
            <a:off x="1047750" y="299085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676400" y="304800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Too many visitors can overwhelm a place.</a:t>
            </a:r>
            <a:endParaRPr lang="en-US" sz="2175" dirty="0"/>
          </a:p>
        </p:txBody>
      </p:sp>
      <p:sp>
        <p:nvSpPr>
          <p:cNvPr id="10" name="Text 8"/>
          <p:cNvSpPr/>
          <p:nvPr/>
        </p:nvSpPr>
        <p:spPr>
          <a:xfrm>
            <a:off x="14997469" y="303276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457700"/>
            <a:ext cx="14763750" cy="9525"/>
          </a:xfrm>
          <a:prstGeom prst="rect">
            <a:avLst/>
          </a:prstGeom>
          <a:solidFill>
            <a:srgbClr val="E3E1DB"/>
          </a:solidFill>
          <a:ln/>
        </p:spPr>
        <p:txBody>
          <a:bodyPr/>
          <a:lstStyle/>
          <a:p>
            <a:endParaRPr lang="en-US"/>
          </a:p>
        </p:txBody>
      </p:sp>
      <p:sp>
        <p:nvSpPr>
          <p:cNvPr id="12" name="Text 10"/>
          <p:cNvSpPr/>
          <p:nvPr/>
        </p:nvSpPr>
        <p:spPr>
          <a:xfrm>
            <a:off x="1047750" y="383286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3" name="Text 11"/>
          <p:cNvSpPr/>
          <p:nvPr/>
        </p:nvSpPr>
        <p:spPr>
          <a:xfrm>
            <a:off x="1676400" y="389001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Venice charges day-trippers a five-euro fee.</a:t>
            </a:r>
            <a:endParaRPr lang="en-US" sz="2175" dirty="0"/>
          </a:p>
        </p:txBody>
      </p:sp>
      <p:sp>
        <p:nvSpPr>
          <p:cNvPr id="14" name="Text 12"/>
          <p:cNvSpPr/>
          <p:nvPr/>
        </p:nvSpPr>
        <p:spPr>
          <a:xfrm>
            <a:off x="14997469" y="387477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5299710"/>
            <a:ext cx="14763750" cy="9525"/>
          </a:xfrm>
          <a:prstGeom prst="rect">
            <a:avLst/>
          </a:prstGeom>
          <a:solidFill>
            <a:srgbClr val="E3E1DB"/>
          </a:solidFill>
          <a:ln/>
        </p:spPr>
        <p:txBody>
          <a:bodyPr/>
          <a:lstStyle/>
          <a:p>
            <a:endParaRPr lang="en-US"/>
          </a:p>
        </p:txBody>
      </p:sp>
      <p:sp>
        <p:nvSpPr>
          <p:cNvPr id="16" name="Text 14"/>
          <p:cNvSpPr/>
          <p:nvPr/>
        </p:nvSpPr>
        <p:spPr>
          <a:xfrm>
            <a:off x="1047750" y="467487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7" name="Text 15"/>
          <p:cNvSpPr/>
          <p:nvPr/>
        </p:nvSpPr>
        <p:spPr>
          <a:xfrm>
            <a:off x="1676400" y="473202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tourism is only harmful.</a:t>
            </a:r>
            <a:endParaRPr lang="en-US" sz="2175" dirty="0"/>
          </a:p>
        </p:txBody>
      </p:sp>
      <p:sp>
        <p:nvSpPr>
          <p:cNvPr id="18" name="Text 16"/>
          <p:cNvSpPr/>
          <p:nvPr/>
        </p:nvSpPr>
        <p:spPr>
          <a:xfrm>
            <a:off x="14997469" y="47167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6141720"/>
            <a:ext cx="14763750" cy="9525"/>
          </a:xfrm>
          <a:prstGeom prst="rect">
            <a:avLst/>
          </a:prstGeom>
          <a:solidFill>
            <a:srgbClr val="E3E1DB"/>
          </a:solidFill>
          <a:ln/>
        </p:spPr>
        <p:txBody>
          <a:bodyPr/>
          <a:lstStyle/>
          <a:p>
            <a:endParaRPr lang="en-US"/>
          </a:p>
        </p:txBody>
      </p:sp>
      <p:sp>
        <p:nvSpPr>
          <p:cNvPr id="20" name="Text 18"/>
          <p:cNvSpPr/>
          <p:nvPr/>
        </p:nvSpPr>
        <p:spPr>
          <a:xfrm>
            <a:off x="1047750" y="551688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21" name="Text 19"/>
          <p:cNvSpPr/>
          <p:nvPr/>
        </p:nvSpPr>
        <p:spPr>
          <a:xfrm>
            <a:off x="1676400" y="557403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Everest has seen crowds near the summit.</a:t>
            </a:r>
            <a:endParaRPr lang="en-US" sz="2175" dirty="0"/>
          </a:p>
        </p:txBody>
      </p:sp>
      <p:sp>
        <p:nvSpPr>
          <p:cNvPr id="22" name="Text 20"/>
          <p:cNvSpPr/>
          <p:nvPr/>
        </p:nvSpPr>
        <p:spPr>
          <a:xfrm>
            <a:off x="14997469" y="55587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635889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4" name="Text 22"/>
          <p:cNvSpPr/>
          <p:nvPr/>
        </p:nvSpPr>
        <p:spPr>
          <a:xfrm>
            <a:off x="1676400" y="641604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There is one simple solution to overtourism.</a:t>
            </a:r>
            <a:endParaRPr lang="en-US" sz="2175" dirty="0"/>
          </a:p>
        </p:txBody>
      </p:sp>
      <p:sp>
        <p:nvSpPr>
          <p:cNvPr id="25" name="Text 23"/>
          <p:cNvSpPr/>
          <p:nvPr/>
        </p:nvSpPr>
        <p:spPr>
          <a:xfrm>
            <a:off x="14997469" y="640080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684020"/>
            <a:ext cx="2419386"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88770"/>
            <a:ext cx="1601272" cy="388620"/>
          </a:xfrm>
          <a:prstGeom prst="rect">
            <a:avLst/>
          </a:prstGeom>
          <a:solidFill>
            <a:srgbClr val="1A2A5E"/>
          </a:solidFill>
          <a:ln/>
        </p:spPr>
        <p:txBody>
          <a:bodyPr/>
          <a:lstStyle/>
          <a:p>
            <a:endParaRPr lang="en-US"/>
          </a:p>
        </p:txBody>
      </p:sp>
      <p:sp>
        <p:nvSpPr>
          <p:cNvPr id="7" name="Text 5"/>
          <p:cNvSpPr/>
          <p:nvPr/>
        </p:nvSpPr>
        <p:spPr>
          <a:xfrm>
            <a:off x="3628192" y="16459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1074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True or False?</a:t>
            </a:r>
            <a:endParaRPr lang="en-US" sz="3900" dirty="0"/>
          </a:p>
        </p:txBody>
      </p:sp>
      <p:sp>
        <p:nvSpPr>
          <p:cNvPr id="9" name="Text 7"/>
          <p:cNvSpPr/>
          <p:nvPr/>
        </p:nvSpPr>
        <p:spPr>
          <a:xfrm>
            <a:off x="1047750" y="31470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0" name="Text 8"/>
          <p:cNvSpPr/>
          <p:nvPr/>
        </p:nvSpPr>
        <p:spPr>
          <a:xfrm>
            <a:off x="1676400" y="31623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1965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Too many visitors can overwhelm a place.</a:t>
            </a:r>
            <a:endParaRPr lang="en-US" sz="1950" dirty="0"/>
          </a:p>
        </p:txBody>
      </p:sp>
      <p:sp>
        <p:nvSpPr>
          <p:cNvPr id="12" name="Text 10"/>
          <p:cNvSpPr/>
          <p:nvPr/>
        </p:nvSpPr>
        <p:spPr>
          <a:xfrm>
            <a:off x="1047750" y="36995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3" name="Text 11"/>
          <p:cNvSpPr/>
          <p:nvPr/>
        </p:nvSpPr>
        <p:spPr>
          <a:xfrm>
            <a:off x="1676400" y="37147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4" name="Text 12"/>
          <p:cNvSpPr/>
          <p:nvPr/>
        </p:nvSpPr>
        <p:spPr>
          <a:xfrm>
            <a:off x="2952750" y="374904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Venice charges day-trippers a five-euro fee.</a:t>
            </a:r>
            <a:endParaRPr lang="en-US" sz="1950" dirty="0"/>
          </a:p>
        </p:txBody>
      </p:sp>
      <p:sp>
        <p:nvSpPr>
          <p:cNvPr id="15" name="Text 13"/>
          <p:cNvSpPr/>
          <p:nvPr/>
        </p:nvSpPr>
        <p:spPr>
          <a:xfrm>
            <a:off x="1047750" y="42519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6" name="Text 14"/>
          <p:cNvSpPr/>
          <p:nvPr/>
        </p:nvSpPr>
        <p:spPr>
          <a:xfrm>
            <a:off x="1676400" y="42672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7" name="Text 15"/>
          <p:cNvSpPr/>
          <p:nvPr/>
        </p:nvSpPr>
        <p:spPr>
          <a:xfrm>
            <a:off x="2952750" y="43014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tourism is only harmful. </a:t>
            </a:r>
            <a:r>
              <a:rPr lang="en-US" sz="1950" i="1" dirty="0">
                <a:solidFill>
                  <a:srgbClr val="888888"/>
                </a:solidFill>
                <a:latin typeface="Helvetica" pitchFamily="34" charset="0"/>
                <a:ea typeface="Helvetica" pitchFamily="34" charset="-122"/>
                <a:cs typeface="Helvetica" pitchFamily="34" charset="-120"/>
              </a:rPr>
              <a:t>— it brings jobs &amp; culture too.</a:t>
            </a:r>
            <a:endParaRPr lang="en-US" sz="1950" dirty="0"/>
          </a:p>
        </p:txBody>
      </p:sp>
      <p:sp>
        <p:nvSpPr>
          <p:cNvPr id="18" name="Text 16"/>
          <p:cNvSpPr/>
          <p:nvPr/>
        </p:nvSpPr>
        <p:spPr>
          <a:xfrm>
            <a:off x="1047750" y="48044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19" name="Text 17"/>
          <p:cNvSpPr/>
          <p:nvPr/>
        </p:nvSpPr>
        <p:spPr>
          <a:xfrm>
            <a:off x="1676400" y="48196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0" name="Text 18"/>
          <p:cNvSpPr/>
          <p:nvPr/>
        </p:nvSpPr>
        <p:spPr>
          <a:xfrm>
            <a:off x="2952750" y="485394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Everest has seen crowds near the summit.</a:t>
            </a:r>
            <a:endParaRPr lang="en-US" sz="1950" dirty="0"/>
          </a:p>
        </p:txBody>
      </p:sp>
      <p:sp>
        <p:nvSpPr>
          <p:cNvPr id="21" name="Text 19"/>
          <p:cNvSpPr/>
          <p:nvPr/>
        </p:nvSpPr>
        <p:spPr>
          <a:xfrm>
            <a:off x="1047750" y="53568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2" name="Text 20"/>
          <p:cNvSpPr/>
          <p:nvPr/>
        </p:nvSpPr>
        <p:spPr>
          <a:xfrm>
            <a:off x="1676400" y="53721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3" name="Text 21"/>
          <p:cNvSpPr/>
          <p:nvPr/>
        </p:nvSpPr>
        <p:spPr>
          <a:xfrm>
            <a:off x="2952750" y="54063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There is one simple solution. </a:t>
            </a:r>
            <a:r>
              <a:rPr lang="en-US" sz="1950" i="1" dirty="0">
                <a:solidFill>
                  <a:srgbClr val="888888"/>
                </a:solidFill>
                <a:latin typeface="Helvetica" pitchFamily="34" charset="0"/>
                <a:ea typeface="Helvetica" pitchFamily="34" charset="-122"/>
                <a:cs typeface="Helvetica" pitchFamily="34" charset="-120"/>
              </a:rPr>
              <a:t>— “no easy answer is in sight.”</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Have you ever visited a place that felt too crowded? What was it like?</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Has tourism changed a place you know well? How?</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might residents and tourists see the same city so differently?</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think entry fees or visitor limits are fair? Why or why not?</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Who do you think a famous city really belongs to — its residents or its visitors?</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550670"/>
            <a:ext cx="275754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60195"/>
            <a:ext cx="1798082"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96390"/>
            <a:ext cx="1630442" cy="205740"/>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RANK &amp; DEFEND</a:t>
            </a:r>
            <a:endParaRPr lang="en-US" sz="1125" dirty="0"/>
          </a:p>
        </p:txBody>
      </p:sp>
      <p:sp>
        <p:nvSpPr>
          <p:cNvPr id="8" name="Text 6"/>
          <p:cNvSpPr/>
          <p:nvPr/>
        </p:nvSpPr>
        <p:spPr>
          <a:xfrm>
            <a:off x="1047750" y="1914525"/>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Rank the effects for residents</a:t>
            </a:r>
            <a:endParaRPr lang="en-US" sz="3750" dirty="0"/>
          </a:p>
        </p:txBody>
      </p:sp>
      <p:sp>
        <p:nvSpPr>
          <p:cNvPr id="9" name="Text 7"/>
          <p:cNvSpPr/>
          <p:nvPr/>
        </p:nvSpPr>
        <p:spPr>
          <a:xfrm>
            <a:off x="1047750" y="2668905"/>
            <a:ext cx="17811750" cy="320040"/>
          </a:xfrm>
          <a:prstGeom prst="rect">
            <a:avLst/>
          </a:prstGeom>
          <a:noFill/>
          <a:ln/>
        </p:spPr>
        <p:txBody>
          <a:bodyPr wrap="square" lIns="25400" tIns="25400" rIns="25400" bIns="25400" rtlCol="0" anchor="t">
            <a:normAutofit/>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From </a:t>
            </a:r>
            <a:r>
              <a:rPr lang="en-US" sz="1950" b="1" dirty="0">
                <a:solidFill>
                  <a:srgbClr val="1A2A5E"/>
                </a:solidFill>
                <a:latin typeface="Helvetica" pitchFamily="34" charset="0"/>
                <a:ea typeface="Helvetica" pitchFamily="34" charset="-122"/>
                <a:cs typeface="Helvetica" pitchFamily="34" charset="-120"/>
              </a:rPr>
              <a:t>best (1) </a:t>
            </a:r>
            <a:r>
              <a:rPr lang="en-US" sz="1950" dirty="0">
                <a:solidFill>
                  <a:srgbClr val="555555"/>
                </a:solidFill>
                <a:latin typeface="Helvetica" pitchFamily="34" charset="0"/>
                <a:ea typeface="Helvetica" pitchFamily="34" charset="-122"/>
                <a:cs typeface="Helvetica" pitchFamily="34" charset="-120"/>
              </a:rPr>
              <a:t>to </a:t>
            </a:r>
            <a:r>
              <a:rPr lang="en-US" sz="1950" b="1" dirty="0">
                <a:solidFill>
                  <a:srgbClr val="1A2A5E"/>
                </a:solidFill>
                <a:latin typeface="Helvetica" pitchFamily="34" charset="0"/>
                <a:ea typeface="Helvetica" pitchFamily="34" charset="-122"/>
                <a:cs typeface="Helvetica" pitchFamily="34" charset="-120"/>
              </a:rPr>
              <a:t>worst (5) </a:t>
            </a:r>
            <a:r>
              <a:rPr lang="en-US" sz="1950" dirty="0">
                <a:solidFill>
                  <a:srgbClr val="555555"/>
                </a:solidFill>
                <a:latin typeface="Helvetica" pitchFamily="34" charset="0"/>
                <a:ea typeface="Helvetica" pitchFamily="34" charset="-122"/>
                <a:cs typeface="Helvetica" pitchFamily="34" charset="-120"/>
              </a:rPr>
              <a:t>for the people who live there. Be ready to defend your order.</a:t>
            </a:r>
            <a:endParaRPr lang="en-US" sz="1950" dirty="0"/>
          </a:p>
        </p:txBody>
      </p:sp>
      <p:sp>
        <p:nvSpPr>
          <p:cNvPr id="10" name="Text 8"/>
          <p:cNvSpPr/>
          <p:nvPr/>
        </p:nvSpPr>
        <p:spPr>
          <a:xfrm>
            <a:off x="1047750" y="3388995"/>
            <a:ext cx="361950"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BF842C"/>
                </a:solidFill>
                <a:latin typeface="Helvetica" pitchFamily="34" charset="0"/>
                <a:ea typeface="Helvetica" pitchFamily="34" charset="-122"/>
                <a:cs typeface="Helvetica" pitchFamily="34" charset="-120"/>
              </a:rPr>
              <a:t>A</a:t>
            </a:r>
            <a:endParaRPr lang="en-US" sz="2100" dirty="0"/>
          </a:p>
        </p:txBody>
      </p:sp>
      <p:sp>
        <p:nvSpPr>
          <p:cNvPr id="11" name="Text 9"/>
          <p:cNvSpPr/>
          <p:nvPr/>
        </p:nvSpPr>
        <p:spPr>
          <a:xfrm>
            <a:off x="1581150" y="3427095"/>
            <a:ext cx="1431226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More jobs and income for local people</a:t>
            </a:r>
            <a:endParaRPr lang="en-US" sz="2100" dirty="0"/>
          </a:p>
        </p:txBody>
      </p:sp>
      <p:sp>
        <p:nvSpPr>
          <p:cNvPr id="12" name="Shape 10"/>
          <p:cNvSpPr/>
          <p:nvPr/>
        </p:nvSpPr>
        <p:spPr>
          <a:xfrm>
            <a:off x="14839950" y="3331845"/>
            <a:ext cx="495300" cy="495300"/>
          </a:xfrm>
          <a:prstGeom prst="rect">
            <a:avLst/>
          </a:prstGeom>
          <a:ln w="15240">
            <a:solidFill>
              <a:srgbClr val="1A2A5E"/>
            </a:solidFill>
            <a:prstDash val="solid"/>
          </a:ln>
        </p:spPr>
        <p:txBody>
          <a:bodyPr/>
          <a:lstStyle/>
          <a:p>
            <a:endParaRPr lang="en-US"/>
          </a:p>
        </p:txBody>
      </p:sp>
      <p:sp>
        <p:nvSpPr>
          <p:cNvPr id="13" name="Text 11"/>
          <p:cNvSpPr/>
          <p:nvPr/>
        </p:nvSpPr>
        <p:spPr>
          <a:xfrm>
            <a:off x="1047750" y="4055745"/>
            <a:ext cx="361950"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BF842C"/>
                </a:solidFill>
                <a:latin typeface="Helvetica" pitchFamily="34" charset="0"/>
                <a:ea typeface="Helvetica" pitchFamily="34" charset="-122"/>
                <a:cs typeface="Helvetica" pitchFamily="34" charset="-120"/>
              </a:rPr>
              <a:t>B</a:t>
            </a:r>
            <a:endParaRPr lang="en-US" sz="2100" dirty="0"/>
          </a:p>
        </p:txBody>
      </p:sp>
      <p:sp>
        <p:nvSpPr>
          <p:cNvPr id="14" name="Text 12"/>
          <p:cNvSpPr/>
          <p:nvPr/>
        </p:nvSpPr>
        <p:spPr>
          <a:xfrm>
            <a:off x="1581150" y="4093845"/>
            <a:ext cx="1431226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Higher rents that push residents out</a:t>
            </a:r>
            <a:endParaRPr lang="en-US" sz="2100" dirty="0"/>
          </a:p>
        </p:txBody>
      </p:sp>
      <p:sp>
        <p:nvSpPr>
          <p:cNvPr id="15" name="Shape 13"/>
          <p:cNvSpPr/>
          <p:nvPr/>
        </p:nvSpPr>
        <p:spPr>
          <a:xfrm>
            <a:off x="14839950" y="3998595"/>
            <a:ext cx="495300" cy="495300"/>
          </a:xfrm>
          <a:prstGeom prst="rect">
            <a:avLst/>
          </a:prstGeom>
          <a:ln w="15240">
            <a:solidFill>
              <a:srgbClr val="1A2A5E"/>
            </a:solidFill>
            <a:prstDash val="solid"/>
          </a:ln>
        </p:spPr>
        <p:txBody>
          <a:bodyPr/>
          <a:lstStyle/>
          <a:p>
            <a:endParaRPr lang="en-US"/>
          </a:p>
        </p:txBody>
      </p:sp>
      <p:sp>
        <p:nvSpPr>
          <p:cNvPr id="16" name="Text 14"/>
          <p:cNvSpPr/>
          <p:nvPr/>
        </p:nvSpPr>
        <p:spPr>
          <a:xfrm>
            <a:off x="1047750" y="4722495"/>
            <a:ext cx="361950"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BF842C"/>
                </a:solidFill>
                <a:latin typeface="Helvetica" pitchFamily="34" charset="0"/>
                <a:ea typeface="Helvetica" pitchFamily="34" charset="-122"/>
                <a:cs typeface="Helvetica" pitchFamily="34" charset="-120"/>
              </a:rPr>
              <a:t>C</a:t>
            </a:r>
            <a:endParaRPr lang="en-US" sz="2100" dirty="0"/>
          </a:p>
        </p:txBody>
      </p:sp>
      <p:sp>
        <p:nvSpPr>
          <p:cNvPr id="17" name="Text 15"/>
          <p:cNvSpPr/>
          <p:nvPr/>
        </p:nvSpPr>
        <p:spPr>
          <a:xfrm>
            <a:off x="1581150" y="4760595"/>
            <a:ext cx="1431226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Better transport and public services</a:t>
            </a:r>
            <a:endParaRPr lang="en-US" sz="2100" dirty="0"/>
          </a:p>
        </p:txBody>
      </p:sp>
      <p:sp>
        <p:nvSpPr>
          <p:cNvPr id="18" name="Shape 16"/>
          <p:cNvSpPr/>
          <p:nvPr/>
        </p:nvSpPr>
        <p:spPr>
          <a:xfrm>
            <a:off x="14839950" y="4665345"/>
            <a:ext cx="495300" cy="495300"/>
          </a:xfrm>
          <a:prstGeom prst="rect">
            <a:avLst/>
          </a:prstGeom>
          <a:ln w="15240">
            <a:solidFill>
              <a:srgbClr val="1A2A5E"/>
            </a:solidFill>
            <a:prstDash val="solid"/>
          </a:ln>
        </p:spPr>
        <p:txBody>
          <a:bodyPr/>
          <a:lstStyle/>
          <a:p>
            <a:endParaRPr lang="en-US"/>
          </a:p>
        </p:txBody>
      </p:sp>
      <p:sp>
        <p:nvSpPr>
          <p:cNvPr id="19" name="Text 17"/>
          <p:cNvSpPr/>
          <p:nvPr/>
        </p:nvSpPr>
        <p:spPr>
          <a:xfrm>
            <a:off x="1047750" y="5389245"/>
            <a:ext cx="361950"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BF842C"/>
                </a:solidFill>
                <a:latin typeface="Helvetica" pitchFamily="34" charset="0"/>
                <a:ea typeface="Helvetica" pitchFamily="34" charset="-122"/>
                <a:cs typeface="Helvetica" pitchFamily="34" charset="-120"/>
              </a:rPr>
              <a:t>D</a:t>
            </a:r>
            <a:endParaRPr lang="en-US" sz="2100" dirty="0"/>
          </a:p>
        </p:txBody>
      </p:sp>
      <p:sp>
        <p:nvSpPr>
          <p:cNvPr id="20" name="Text 18"/>
          <p:cNvSpPr/>
          <p:nvPr/>
        </p:nvSpPr>
        <p:spPr>
          <a:xfrm>
            <a:off x="1581150" y="5427345"/>
            <a:ext cx="1431226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Damage to nature and historic sites</a:t>
            </a:r>
            <a:endParaRPr lang="en-US" sz="2100" dirty="0"/>
          </a:p>
        </p:txBody>
      </p:sp>
      <p:sp>
        <p:nvSpPr>
          <p:cNvPr id="21" name="Shape 19"/>
          <p:cNvSpPr/>
          <p:nvPr/>
        </p:nvSpPr>
        <p:spPr>
          <a:xfrm>
            <a:off x="14839950" y="5332095"/>
            <a:ext cx="495300" cy="495300"/>
          </a:xfrm>
          <a:prstGeom prst="rect">
            <a:avLst/>
          </a:prstGeom>
          <a:ln w="15240">
            <a:solidFill>
              <a:srgbClr val="1A2A5E"/>
            </a:solidFill>
            <a:prstDash val="solid"/>
          </a:ln>
        </p:spPr>
        <p:txBody>
          <a:bodyPr/>
          <a:lstStyle/>
          <a:p>
            <a:endParaRPr lang="en-US"/>
          </a:p>
        </p:txBody>
      </p:sp>
      <p:sp>
        <p:nvSpPr>
          <p:cNvPr id="22" name="Text 20"/>
          <p:cNvSpPr/>
          <p:nvPr/>
        </p:nvSpPr>
        <p:spPr>
          <a:xfrm>
            <a:off x="1047750" y="6055995"/>
            <a:ext cx="361950"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BF842C"/>
                </a:solidFill>
                <a:latin typeface="Helvetica" pitchFamily="34" charset="0"/>
                <a:ea typeface="Helvetica" pitchFamily="34" charset="-122"/>
                <a:cs typeface="Helvetica" pitchFamily="34" charset="-120"/>
              </a:rPr>
              <a:t>E</a:t>
            </a:r>
            <a:endParaRPr lang="en-US" sz="2100" dirty="0"/>
          </a:p>
        </p:txBody>
      </p:sp>
      <p:sp>
        <p:nvSpPr>
          <p:cNvPr id="23" name="Text 21"/>
          <p:cNvSpPr/>
          <p:nvPr/>
        </p:nvSpPr>
        <p:spPr>
          <a:xfrm>
            <a:off x="1581150" y="6094095"/>
            <a:ext cx="1431226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222222"/>
                </a:solidFill>
                <a:latin typeface="Helvetica" pitchFamily="34" charset="0"/>
                <a:ea typeface="Helvetica" pitchFamily="34" charset="-122"/>
                <a:cs typeface="Helvetica" pitchFamily="34" charset="-120"/>
              </a:rPr>
              <a:t>Crowded streets and loss of local character</a:t>
            </a:r>
            <a:endParaRPr lang="en-US" sz="2100" dirty="0"/>
          </a:p>
        </p:txBody>
      </p:sp>
      <p:sp>
        <p:nvSpPr>
          <p:cNvPr id="24" name="Shape 22"/>
          <p:cNvSpPr/>
          <p:nvPr/>
        </p:nvSpPr>
        <p:spPr>
          <a:xfrm>
            <a:off x="14839950" y="5998845"/>
            <a:ext cx="495300" cy="495300"/>
          </a:xfrm>
          <a:prstGeom prst="rect">
            <a:avLst/>
          </a:prstGeom>
          <a:ln w="15240">
            <a:solidFill>
              <a:srgbClr val="1A2A5E"/>
            </a:solidFill>
            <a:prstDash val="solid"/>
          </a:ln>
        </p:spPr>
        <p:txBody>
          <a:bodyPr/>
          <a:lstStyle/>
          <a:p>
            <a:endParaRPr lang="en-US"/>
          </a:p>
        </p:txBody>
      </p:sp>
      <p:sp>
        <p:nvSpPr>
          <p:cNvPr id="25" name="Text 23"/>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order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310890"/>
            <a:ext cx="802481"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surge</a:t>
            </a:r>
            <a:endParaRPr lang="en-US" sz="2100" dirty="0"/>
          </a:p>
        </p:txBody>
      </p:sp>
      <p:sp>
        <p:nvSpPr>
          <p:cNvPr id="10" name="Text 8"/>
          <p:cNvSpPr/>
          <p:nvPr/>
        </p:nvSpPr>
        <p:spPr>
          <a:xfrm>
            <a:off x="2494121" y="3310890"/>
            <a:ext cx="802481"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strain</a:t>
            </a:r>
            <a:endParaRPr lang="en-US" sz="2100" dirty="0"/>
          </a:p>
        </p:txBody>
      </p:sp>
      <p:sp>
        <p:nvSpPr>
          <p:cNvPr id="11" name="Text 9"/>
          <p:cNvSpPr/>
          <p:nvPr/>
        </p:nvSpPr>
        <p:spPr>
          <a:xfrm>
            <a:off x="3601403" y="3310890"/>
            <a:ext cx="1262063"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residents</a:t>
            </a:r>
            <a:endParaRPr lang="en-US" sz="2100" dirty="0"/>
          </a:p>
        </p:txBody>
      </p:sp>
      <p:sp>
        <p:nvSpPr>
          <p:cNvPr id="12" name="Text 10"/>
          <p:cNvSpPr/>
          <p:nvPr/>
        </p:nvSpPr>
        <p:spPr>
          <a:xfrm>
            <a:off x="5168265" y="3310890"/>
            <a:ext cx="1113711"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regulate</a:t>
            </a:r>
            <a:endParaRPr lang="en-US" sz="2100" dirty="0"/>
          </a:p>
        </p:txBody>
      </p:sp>
      <p:sp>
        <p:nvSpPr>
          <p:cNvPr id="13" name="Text 11"/>
          <p:cNvSpPr/>
          <p:nvPr/>
        </p:nvSpPr>
        <p:spPr>
          <a:xfrm>
            <a:off x="6586776" y="3310890"/>
            <a:ext cx="161419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sustainable</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901143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sudden _______________in tourists can change a city overnight.</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783992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Too many visitors put a real _________________ on local life.</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581150" y="5347335"/>
            <a:ext cx="7787402"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I think ________________ should matter more than tourists.</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908058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Cities should ________________ tourism before it gets out of control.</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817179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For me, _________________ travel is the only kind worth doing.</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7175647"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sudden </a:t>
            </a:r>
            <a:r>
              <a:rPr lang="en-US" sz="2100" b="1" dirty="0">
                <a:solidFill>
                  <a:srgbClr val="1A2A5E"/>
                </a:solidFill>
                <a:latin typeface="Helvetica" pitchFamily="34" charset="0"/>
                <a:ea typeface="Helvetica" pitchFamily="34" charset="-122"/>
                <a:cs typeface="Helvetica" pitchFamily="34" charset="-120"/>
              </a:rPr>
              <a:t>surge </a:t>
            </a:r>
            <a:r>
              <a:rPr lang="en-US" sz="2100" dirty="0">
                <a:solidFill>
                  <a:srgbClr val="444444"/>
                </a:solidFill>
                <a:latin typeface="Helvetica" pitchFamily="34" charset="0"/>
                <a:ea typeface="Helvetica" pitchFamily="34" charset="-122"/>
                <a:cs typeface="Helvetica" pitchFamily="34" charset="-120"/>
              </a:rPr>
              <a:t>in tourists can change a city overnight.</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6082189"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Too many visitors put a real </a:t>
            </a:r>
            <a:r>
              <a:rPr lang="en-US" sz="2100" b="1" dirty="0">
                <a:solidFill>
                  <a:srgbClr val="1A2A5E"/>
                </a:solidFill>
                <a:latin typeface="Helvetica" pitchFamily="34" charset="0"/>
                <a:ea typeface="Helvetica" pitchFamily="34" charset="-122"/>
                <a:cs typeface="Helvetica" pitchFamily="34" charset="-120"/>
              </a:rPr>
              <a:t>strain </a:t>
            </a:r>
            <a:r>
              <a:rPr lang="en-US" sz="2100" dirty="0">
                <a:solidFill>
                  <a:srgbClr val="444444"/>
                </a:solidFill>
                <a:latin typeface="Helvetica" pitchFamily="34" charset="0"/>
                <a:ea typeface="Helvetica" pitchFamily="34" charset="-122"/>
                <a:cs typeface="Helvetica" pitchFamily="34" charset="-120"/>
              </a:rPr>
              <a:t>on local life.</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6538615"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I think </a:t>
            </a:r>
            <a:r>
              <a:rPr lang="en-US" sz="2100" b="1" dirty="0">
                <a:solidFill>
                  <a:srgbClr val="1A2A5E"/>
                </a:solidFill>
                <a:latin typeface="Helvetica" pitchFamily="34" charset="0"/>
                <a:ea typeface="Helvetica" pitchFamily="34" charset="-122"/>
                <a:cs typeface="Helvetica" pitchFamily="34" charset="-120"/>
              </a:rPr>
              <a:t>residents </a:t>
            </a:r>
            <a:r>
              <a:rPr lang="en-US" sz="2100" dirty="0">
                <a:solidFill>
                  <a:srgbClr val="444444"/>
                </a:solidFill>
                <a:latin typeface="Helvetica" pitchFamily="34" charset="0"/>
                <a:ea typeface="Helvetica" pitchFamily="34" charset="-122"/>
                <a:cs typeface="Helvetica" pitchFamily="34" charset="-120"/>
              </a:rPr>
              <a:t>should matter more than tourists.</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7582305"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Cities should </a:t>
            </a:r>
            <a:r>
              <a:rPr lang="en-US" sz="2100" b="1" dirty="0">
                <a:solidFill>
                  <a:srgbClr val="1A2A5E"/>
                </a:solidFill>
                <a:latin typeface="Helvetica" pitchFamily="34" charset="0"/>
                <a:ea typeface="Helvetica" pitchFamily="34" charset="-122"/>
                <a:cs typeface="Helvetica" pitchFamily="34" charset="-120"/>
              </a:rPr>
              <a:t>regulate </a:t>
            </a:r>
            <a:r>
              <a:rPr lang="en-US" sz="2100" dirty="0">
                <a:solidFill>
                  <a:srgbClr val="444444"/>
                </a:solidFill>
                <a:latin typeface="Helvetica" pitchFamily="34" charset="0"/>
                <a:ea typeface="Helvetica" pitchFamily="34" charset="-122"/>
                <a:cs typeface="Helvetica" pitchFamily="34" charset="-120"/>
              </a:rPr>
              <a:t>tourism before it gets out of control.</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7207079"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For me, </a:t>
            </a:r>
            <a:r>
              <a:rPr lang="en-US" sz="2100" b="1" dirty="0">
                <a:solidFill>
                  <a:srgbClr val="1A2A5E"/>
                </a:solidFill>
                <a:latin typeface="Helvetica" pitchFamily="34" charset="0"/>
                <a:ea typeface="Helvetica" pitchFamily="34" charset="-122"/>
                <a:cs typeface="Helvetica" pitchFamily="34" charset="-120"/>
              </a:rPr>
              <a:t>sustainable </a:t>
            </a:r>
            <a:r>
              <a:rPr lang="en-US" sz="2100" dirty="0">
                <a:solidFill>
                  <a:srgbClr val="444444"/>
                </a:solidFill>
                <a:latin typeface="Helvetica" pitchFamily="34" charset="0"/>
                <a:ea typeface="Helvetica" pitchFamily="34" charset="-122"/>
                <a:cs typeface="Helvetica" pitchFamily="34" charset="-120"/>
              </a:rPr>
              <a:t>travel is the only kind worth doing.</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You are the town council</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the local council of a town that has suddenly become a tourist hotspot.</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two rules to manage visitors and protect residents.</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plan with the class and explain why it is fair to everyone.</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0624" y="723900"/>
            <a:ext cx="2991588"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001 · OVERTOURISM</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Should popular cities limit the number of tourists they allow?</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Issue 002.</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1831</Words>
  <Application>Microsoft Office PowerPoint</Application>
  <PresentationFormat>Custom</PresentationFormat>
  <Paragraphs>257</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2</cp:revision>
  <dcterms:created xsi:type="dcterms:W3CDTF">2026-07-03T01:53:38Z</dcterms:created>
  <dcterms:modified xsi:type="dcterms:W3CDTF">2026-07-03T02:03:26Z</dcterms:modified>
</cp:coreProperties>
</file>