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37" d="100"/>
          <a:sy n="37" d="100"/>
        </p:scale>
        <p:origin x="739" y="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8073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001 of Perspective — today's topic is Overtourism.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overtourism, where is it happening, and what are the possible solutions? End on the pull-quote question — it sets up the discussion.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3 and 5 are False because the article is balanced and says there is no easy answer.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council task. Groups of three or four. Read all six measures aloud with their cost column, then make them vote one measure at a time. Give about ten minutes and run the YOUR VOTE line plus both DISCUSS questions — the cruise cap and the rental rule are where the argument lives, because the people who pay are neighbors.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especially in 3 (residents / local people). The goal is that students can use the words in speech.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role-play. Small groups act as a town council. Give ~8 minutes to agree on two rules, then each group presents.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002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001</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lnSpcReduction="10000"/>
          </a:bodyPr>
          <a:lstStyle/>
          <a:p>
            <a:pPr marL="0" indent="0" algn="l">
              <a:lnSpc>
                <a:spcPct val="83627"/>
              </a:lnSpc>
              <a:buNone/>
            </a:pPr>
            <a:r>
              <a:rPr lang="en-US" sz="11250" b="1" kern="0" spc="-150" dirty="0">
                <a:solidFill>
                  <a:srgbClr val="FFFFFF"/>
                </a:solidFill>
                <a:latin typeface="Georgia" pitchFamily="34" charset="0"/>
                <a:ea typeface="Georgia" pitchFamily="34" charset="-122"/>
                <a:cs typeface="Georgia" pitchFamily="34" charset="-120"/>
              </a:rPr>
              <a:t>Overtourism</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Can tourism become too successful?</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What we’ll do today</a:t>
            </a:r>
            <a:endParaRPr lang="en-US" sz="4500" dirty="0"/>
          </a:p>
        </p:txBody>
      </p:sp>
      <p:sp>
        <p:nvSpPr>
          <p:cNvPr id="7" name="Text 5"/>
          <p:cNvSpPr/>
          <p:nvPr/>
        </p:nvSpPr>
        <p:spPr>
          <a:xfrm>
            <a:off x="1047750" y="3097530"/>
            <a:ext cx="513517" cy="457200"/>
          </a:xfrm>
          <a:prstGeom prst="rect">
            <a:avLst/>
          </a:prstGeom>
          <a:noFill/>
          <a:ln/>
        </p:spPr>
        <p:txBody>
          <a:bodyPr wrap="none" lIns="25400" tIns="25400" rIns="25400" bIns="25400" rtlCol="0" anchor="t">
            <a:normAutofit lnSpcReduction="10000"/>
          </a:bodyPr>
          <a:lstStyle/>
          <a:p>
            <a:pPr marL="0" indent="0" algn="l">
              <a:lnSpc>
                <a:spcPct val="88710"/>
              </a:lnSpc>
              <a:buNone/>
            </a:pPr>
            <a:r>
              <a:rPr lang="en-US" sz="3300" b="1" dirty="0">
                <a:solidFill>
                  <a:srgbClr val="D9B877"/>
                </a:solidFill>
                <a:latin typeface="Georgia" pitchFamily="34" charset="0"/>
                <a:ea typeface="Georgia" pitchFamily="34" charset="-122"/>
                <a:cs typeface="Georgia" pitchFamily="34" charset="-120"/>
              </a:rPr>
              <a:t>01</a:t>
            </a:r>
            <a:endParaRPr lang="en-US" sz="3300" dirty="0"/>
          </a:p>
        </p:txBody>
      </p:sp>
      <p:sp>
        <p:nvSpPr>
          <p:cNvPr id="8" name="Text 6"/>
          <p:cNvSpPr/>
          <p:nvPr/>
        </p:nvSpPr>
        <p:spPr>
          <a:xfrm>
            <a:off x="1713667" y="309753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3667" y="346329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097530"/>
            <a:ext cx="567571" cy="457200"/>
          </a:xfrm>
          <a:prstGeom prst="rect">
            <a:avLst/>
          </a:prstGeom>
          <a:noFill/>
          <a:ln/>
        </p:spPr>
        <p:txBody>
          <a:bodyPr wrap="none" lIns="25400" tIns="25400" rIns="25400" bIns="25400" rtlCol="0" anchor="t">
            <a:normAutofit lnSpcReduction="10000"/>
          </a:bodyPr>
          <a:lstStyle/>
          <a:p>
            <a:pPr marL="0" indent="0" algn="l">
              <a:lnSpc>
                <a:spcPct val="88710"/>
              </a:lnSpc>
              <a:buNone/>
            </a:pPr>
            <a:r>
              <a:rPr lang="en-US" sz="3300" b="1" dirty="0">
                <a:solidFill>
                  <a:srgbClr val="D9B877"/>
                </a:solidFill>
                <a:latin typeface="Georgia" pitchFamily="34" charset="0"/>
                <a:ea typeface="Georgia" pitchFamily="34" charset="-122"/>
                <a:cs typeface="Georgia" pitchFamily="34" charset="-120"/>
              </a:rPr>
              <a:t>02</a:t>
            </a:r>
            <a:endParaRPr lang="en-US" sz="3300" dirty="0"/>
          </a:p>
        </p:txBody>
      </p:sp>
      <p:sp>
        <p:nvSpPr>
          <p:cNvPr id="11" name="Text 9"/>
          <p:cNvSpPr/>
          <p:nvPr/>
        </p:nvSpPr>
        <p:spPr>
          <a:xfrm>
            <a:off x="10197346" y="309753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197346" y="346329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3992880"/>
            <a:ext cx="564713" cy="457200"/>
          </a:xfrm>
          <a:prstGeom prst="rect">
            <a:avLst/>
          </a:prstGeom>
          <a:noFill/>
          <a:ln/>
        </p:spPr>
        <p:txBody>
          <a:bodyPr wrap="none" lIns="25400" tIns="25400" rIns="25400" bIns="25400" rtlCol="0" anchor="t">
            <a:normAutofit lnSpcReduction="10000"/>
          </a:bodyPr>
          <a:lstStyle/>
          <a:p>
            <a:pPr marL="0" indent="0" algn="l">
              <a:lnSpc>
                <a:spcPct val="88710"/>
              </a:lnSpc>
              <a:buNone/>
            </a:pPr>
            <a:r>
              <a:rPr lang="en-US" sz="3300" b="1" dirty="0">
                <a:solidFill>
                  <a:srgbClr val="D9B877"/>
                </a:solidFill>
                <a:latin typeface="Georgia" pitchFamily="34" charset="0"/>
                <a:ea typeface="Georgia" pitchFamily="34" charset="-122"/>
                <a:cs typeface="Georgia" pitchFamily="34" charset="-120"/>
              </a:rPr>
              <a:t>03</a:t>
            </a:r>
            <a:endParaRPr lang="en-US" sz="3300" dirty="0"/>
          </a:p>
        </p:txBody>
      </p:sp>
      <p:sp>
        <p:nvSpPr>
          <p:cNvPr id="14" name="Text 12"/>
          <p:cNvSpPr/>
          <p:nvPr/>
        </p:nvSpPr>
        <p:spPr>
          <a:xfrm>
            <a:off x="1764863" y="399288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4863" y="435864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3992880"/>
            <a:ext cx="570309" cy="457200"/>
          </a:xfrm>
          <a:prstGeom prst="rect">
            <a:avLst/>
          </a:prstGeom>
          <a:noFill/>
          <a:ln/>
        </p:spPr>
        <p:txBody>
          <a:bodyPr wrap="none" lIns="25400" tIns="25400" rIns="25400" bIns="25400" rtlCol="0" anchor="t">
            <a:normAutofit lnSpcReduction="10000"/>
          </a:bodyPr>
          <a:lstStyle/>
          <a:p>
            <a:pPr marL="0" indent="0" algn="l">
              <a:lnSpc>
                <a:spcPct val="88710"/>
              </a:lnSpc>
              <a:buNone/>
            </a:pPr>
            <a:r>
              <a:rPr lang="en-US" sz="3300" b="1" dirty="0">
                <a:solidFill>
                  <a:srgbClr val="D9B877"/>
                </a:solidFill>
                <a:latin typeface="Georgia" pitchFamily="34" charset="0"/>
                <a:ea typeface="Georgia" pitchFamily="34" charset="-122"/>
                <a:cs typeface="Georgia" pitchFamily="34" charset="-120"/>
              </a:rPr>
              <a:t>04</a:t>
            </a:r>
            <a:endParaRPr lang="en-US" sz="3300" dirty="0"/>
          </a:p>
        </p:txBody>
      </p:sp>
      <p:sp>
        <p:nvSpPr>
          <p:cNvPr id="17" name="Text 15"/>
          <p:cNvSpPr/>
          <p:nvPr/>
        </p:nvSpPr>
        <p:spPr>
          <a:xfrm>
            <a:off x="10200084" y="399288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0084" y="435864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Talk with a partner</a:t>
            </a:r>
            <a:endParaRPr lang="en-US" sz="4500" dirty="0"/>
          </a:p>
        </p:txBody>
      </p:sp>
      <p:sp>
        <p:nvSpPr>
          <p:cNvPr id="7" name="Text 5"/>
          <p:cNvSpPr/>
          <p:nvPr/>
        </p:nvSpPr>
        <p:spPr>
          <a:xfrm>
            <a:off x="1047750" y="3230880"/>
            <a:ext cx="370880" cy="655320"/>
          </a:xfrm>
          <a:prstGeom prst="rect">
            <a:avLst/>
          </a:prstGeom>
          <a:noFill/>
          <a:ln/>
        </p:spPr>
        <p:txBody>
          <a:bodyPr wrap="square" lIns="25400" tIns="25400" rIns="25400" bIns="25400" rtlCol="0" anchor="t">
            <a:normAutofit lnSpcReduction="10000"/>
          </a:bodyPr>
          <a:lstStyle/>
          <a:p>
            <a:pPr marL="0" indent="0" algn="l">
              <a:lnSpc>
                <a:spcPct val="78641"/>
              </a:lnSpc>
              <a:buNone/>
            </a:pPr>
            <a:r>
              <a:rPr lang="en-US" sz="5400" b="1" dirty="0">
                <a:solidFill>
                  <a:srgbClr val="D9B877"/>
                </a:solidFill>
                <a:latin typeface="Georgia" pitchFamily="34" charset="0"/>
                <a:ea typeface="Georgia" pitchFamily="34" charset="-122"/>
                <a:cs typeface="Georgia" pitchFamily="34" charset="-120"/>
              </a:rPr>
              <a:t>1</a:t>
            </a:r>
            <a:endParaRPr lang="en-US" sz="5400" dirty="0"/>
          </a:p>
        </p:txBody>
      </p:sp>
      <p:sp>
        <p:nvSpPr>
          <p:cNvPr id="8" name="Text 6"/>
          <p:cNvSpPr/>
          <p:nvPr/>
        </p:nvSpPr>
        <p:spPr>
          <a:xfrm>
            <a:off x="1666280" y="3288030"/>
            <a:ext cx="13673804" cy="1066800"/>
          </a:xfrm>
          <a:prstGeom prst="rect">
            <a:avLst/>
          </a:prstGeom>
          <a:noFill/>
          <a:ln/>
        </p:spPr>
        <p:txBody>
          <a:bodyPr wrap="square" lIns="25400" tIns="25400" rIns="25400" bIns="25400" rtlCol="0" anchor="t">
            <a:normAutofit/>
          </a:bodyPr>
          <a:lstStyle/>
          <a:p>
            <a:pPr marL="0" indent="0" algn="l">
              <a:lnSpc>
                <a:spcPct val="116379"/>
              </a:lnSpc>
              <a:buNone/>
            </a:pPr>
            <a:r>
              <a:rPr lang="en-US" sz="3000" dirty="0">
                <a:solidFill>
                  <a:srgbClr val="1A1A1A"/>
                </a:solidFill>
                <a:latin typeface="Helvetica" pitchFamily="34" charset="0"/>
                <a:ea typeface="Helvetica" pitchFamily="34" charset="-122"/>
                <a:cs typeface="Helvetica" pitchFamily="34" charset="-120"/>
              </a:rPr>
              <a:t>Have you ever visited a place that felt too crowded or too busy? How did it feel?</a:t>
            </a:r>
            <a:endParaRPr lang="en-US" sz="3000" dirty="0"/>
          </a:p>
        </p:txBody>
      </p:sp>
      <p:sp>
        <p:nvSpPr>
          <p:cNvPr id="9" name="Text 7"/>
          <p:cNvSpPr/>
          <p:nvPr/>
        </p:nvSpPr>
        <p:spPr>
          <a:xfrm>
            <a:off x="1047750" y="4735830"/>
            <a:ext cx="459343" cy="655320"/>
          </a:xfrm>
          <a:prstGeom prst="rect">
            <a:avLst/>
          </a:prstGeom>
          <a:noFill/>
          <a:ln/>
        </p:spPr>
        <p:txBody>
          <a:bodyPr wrap="square" lIns="25400" tIns="25400" rIns="25400" bIns="25400" rtlCol="0" anchor="t">
            <a:normAutofit lnSpcReduction="10000"/>
          </a:bodyPr>
          <a:lstStyle/>
          <a:p>
            <a:pPr marL="0" indent="0" algn="l">
              <a:lnSpc>
                <a:spcPct val="78641"/>
              </a:lnSpc>
              <a:buNone/>
            </a:pPr>
            <a:r>
              <a:rPr lang="en-US" sz="5400" b="1" dirty="0">
                <a:solidFill>
                  <a:srgbClr val="D9B877"/>
                </a:solidFill>
                <a:latin typeface="Georgia" pitchFamily="34" charset="0"/>
                <a:ea typeface="Georgia" pitchFamily="34" charset="-122"/>
                <a:cs typeface="Georgia" pitchFamily="34" charset="-120"/>
              </a:rPr>
              <a:t>2</a:t>
            </a:r>
            <a:endParaRPr lang="en-US" sz="5400" dirty="0"/>
          </a:p>
        </p:txBody>
      </p:sp>
      <p:sp>
        <p:nvSpPr>
          <p:cNvPr id="10" name="Text 8"/>
          <p:cNvSpPr/>
          <p:nvPr/>
        </p:nvSpPr>
        <p:spPr>
          <a:xfrm>
            <a:off x="1754743" y="4792980"/>
            <a:ext cx="10249614" cy="552450"/>
          </a:xfrm>
          <a:prstGeom prst="rect">
            <a:avLst/>
          </a:prstGeom>
          <a:noFill/>
          <a:ln/>
        </p:spPr>
        <p:txBody>
          <a:bodyPr wrap="square" lIns="25400" tIns="25400" rIns="25400" bIns="25400" rtlCol="0" anchor="t">
            <a:normAutofit/>
          </a:bodyPr>
          <a:lstStyle/>
          <a:p>
            <a:pPr marL="0" indent="0" algn="l">
              <a:lnSpc>
                <a:spcPct val="116379"/>
              </a:lnSpc>
              <a:buNone/>
            </a:pPr>
            <a:r>
              <a:rPr lang="en-US" sz="3000" dirty="0">
                <a:solidFill>
                  <a:srgbClr val="1A1A1A"/>
                </a:solidFill>
                <a:latin typeface="Helvetica" pitchFamily="34" charset="0"/>
                <a:ea typeface="Helvetica" pitchFamily="34" charset="-122"/>
                <a:cs typeface="Helvetica" pitchFamily="34" charset="-120"/>
              </a:rPr>
              <a:t>What benefits does tourism bring to a city or a country?</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404574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381024"/>
            <a:ext cx="8539163" cy="598170"/>
          </a:xfrm>
          <a:prstGeom prst="rect">
            <a:avLst/>
          </a:prstGeom>
          <a:noFill/>
          <a:ln/>
        </p:spPr>
        <p:txBody>
          <a:bodyPr wrap="square" lIns="25400" tIns="25400" rIns="25400" bIns="25400" rtlCol="0" anchor="t">
            <a:normAutofit lnSpcReduction="10000"/>
          </a:bodyPr>
          <a:lstStyle/>
          <a:p>
            <a:pPr marL="0" indent="0" algn="l">
              <a:lnSpc>
                <a:spcPct val="93038"/>
              </a:lnSpc>
              <a:buNone/>
            </a:pPr>
            <a:r>
              <a:rPr lang="en-US" sz="4200" b="1" dirty="0">
                <a:solidFill>
                  <a:srgbClr val="1A2A5E"/>
                </a:solidFill>
                <a:latin typeface="Georgia" pitchFamily="34" charset="0"/>
                <a:ea typeface="Georgia" pitchFamily="34" charset="-122"/>
                <a:cs typeface="Georgia" pitchFamily="34" charset="-120"/>
              </a:rPr>
              <a:t>Look and predict</a:t>
            </a:r>
            <a:endParaRPr lang="en-US" sz="4200" dirty="0"/>
          </a:p>
        </p:txBody>
      </p:sp>
      <p:sp>
        <p:nvSpPr>
          <p:cNvPr id="7" name="Text 5"/>
          <p:cNvSpPr/>
          <p:nvPr/>
        </p:nvSpPr>
        <p:spPr>
          <a:xfrm>
            <a:off x="1047750" y="5264944"/>
            <a:ext cx="8539163" cy="452438"/>
          </a:xfrm>
          <a:prstGeom prst="rect">
            <a:avLst/>
          </a:prstGeom>
          <a:noFill/>
          <a:ln/>
        </p:spPr>
        <p:txBody>
          <a:bodyPr wrap="square" lIns="25400" tIns="25400" rIns="25400" bIns="25400" rtlCol="0" anchor="t">
            <a:normAutofit/>
          </a:bodyPr>
          <a:lstStyle/>
          <a:p>
            <a:pPr marL="0" indent="0" algn="l">
              <a:lnSpc>
                <a:spcPct val="126453"/>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“Overtourism.”</a:t>
            </a:r>
            <a:endParaRPr lang="en-US" sz="2250" dirty="0"/>
          </a:p>
        </p:txBody>
      </p:sp>
      <p:sp>
        <p:nvSpPr>
          <p:cNvPr id="8" name="Text 6"/>
          <p:cNvSpPr/>
          <p:nvPr/>
        </p:nvSpPr>
        <p:spPr>
          <a:xfrm>
            <a:off x="1047750" y="5869781"/>
            <a:ext cx="7995761" cy="866775"/>
          </a:xfrm>
          <a:prstGeom prst="rect">
            <a:avLst/>
          </a:prstGeom>
          <a:noFill/>
          <a:ln/>
        </p:spPr>
        <p:txBody>
          <a:bodyPr wrap="square" lIns="25400" tIns="25400" rIns="25400" bIns="25400" rtlCol="0" anchor="t">
            <a:normAutofit lnSpcReduction="10000"/>
          </a:bodyPr>
          <a:lstStyle/>
          <a:p>
            <a:pPr marL="0" indent="0" algn="l">
              <a:lnSpc>
                <a:spcPct val="126453"/>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4889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56510"/>
            <a:ext cx="7747635" cy="5318760"/>
          </a:xfrm>
          <a:prstGeom prst="rect">
            <a:avLst/>
          </a:prstGeom>
        </p:spPr>
      </p:pic>
      <p:sp>
        <p:nvSpPr>
          <p:cNvPr id="11" name="Text 8"/>
          <p:cNvSpPr/>
          <p:nvPr/>
        </p:nvSpPr>
        <p:spPr>
          <a:xfrm>
            <a:off x="9477375" y="799719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Thousands of tourists crowd the streets and beach in Positano, Italy.</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Match the words to their meanings</a:t>
            </a:r>
            <a:endParaRPr lang="en-US" sz="4050" dirty="0"/>
          </a:p>
        </p:txBody>
      </p:sp>
      <p:sp>
        <p:nvSpPr>
          <p:cNvPr id="7" name="Text 5"/>
          <p:cNvSpPr/>
          <p:nvPr/>
        </p:nvSpPr>
        <p:spPr>
          <a:xfrm>
            <a:off x="1047750" y="282702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1524000" y="2834640"/>
            <a:ext cx="90630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surge</a:t>
            </a:r>
            <a:endParaRPr lang="en-US" sz="2400" dirty="0"/>
          </a:p>
        </p:txBody>
      </p:sp>
      <p:sp>
        <p:nvSpPr>
          <p:cNvPr id="9" name="Text 7"/>
          <p:cNvSpPr/>
          <p:nvPr/>
        </p:nvSpPr>
        <p:spPr>
          <a:xfrm>
            <a:off x="1047750" y="336804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2</a:t>
            </a:r>
            <a:endParaRPr lang="en-US" sz="2400" dirty="0"/>
          </a:p>
        </p:txBody>
      </p:sp>
      <p:sp>
        <p:nvSpPr>
          <p:cNvPr id="10" name="Text 8"/>
          <p:cNvSpPr/>
          <p:nvPr/>
        </p:nvSpPr>
        <p:spPr>
          <a:xfrm>
            <a:off x="1524000" y="3375660"/>
            <a:ext cx="90630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strain</a:t>
            </a:r>
            <a:endParaRPr lang="en-US" sz="2400" dirty="0"/>
          </a:p>
        </p:txBody>
      </p:sp>
      <p:sp>
        <p:nvSpPr>
          <p:cNvPr id="11" name="Text 9"/>
          <p:cNvSpPr/>
          <p:nvPr/>
        </p:nvSpPr>
        <p:spPr>
          <a:xfrm>
            <a:off x="1047750" y="390906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3</a:t>
            </a:r>
            <a:endParaRPr lang="en-US" sz="2400" dirty="0"/>
          </a:p>
        </p:txBody>
      </p:sp>
      <p:sp>
        <p:nvSpPr>
          <p:cNvPr id="12" name="Text 10"/>
          <p:cNvSpPr/>
          <p:nvPr/>
        </p:nvSpPr>
        <p:spPr>
          <a:xfrm>
            <a:off x="1524000" y="3916680"/>
            <a:ext cx="126194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resident</a:t>
            </a:r>
            <a:endParaRPr lang="en-US" sz="2400" dirty="0"/>
          </a:p>
        </p:txBody>
      </p:sp>
      <p:sp>
        <p:nvSpPr>
          <p:cNvPr id="13" name="Text 11"/>
          <p:cNvSpPr/>
          <p:nvPr/>
        </p:nvSpPr>
        <p:spPr>
          <a:xfrm>
            <a:off x="1047750" y="445008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4</a:t>
            </a:r>
            <a:endParaRPr lang="en-US" sz="2400" dirty="0"/>
          </a:p>
        </p:txBody>
      </p:sp>
      <p:sp>
        <p:nvSpPr>
          <p:cNvPr id="14" name="Text 12"/>
          <p:cNvSpPr/>
          <p:nvPr/>
        </p:nvSpPr>
        <p:spPr>
          <a:xfrm>
            <a:off x="1524000" y="4457700"/>
            <a:ext cx="126194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regulate</a:t>
            </a:r>
            <a:endParaRPr lang="en-US" sz="2400" dirty="0"/>
          </a:p>
        </p:txBody>
      </p:sp>
      <p:sp>
        <p:nvSpPr>
          <p:cNvPr id="15" name="Text 13"/>
          <p:cNvSpPr/>
          <p:nvPr/>
        </p:nvSpPr>
        <p:spPr>
          <a:xfrm>
            <a:off x="1047750" y="499110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5</a:t>
            </a:r>
            <a:endParaRPr lang="en-US" sz="2400" dirty="0"/>
          </a:p>
        </p:txBody>
      </p:sp>
      <p:sp>
        <p:nvSpPr>
          <p:cNvPr id="16" name="Text 14"/>
          <p:cNvSpPr/>
          <p:nvPr/>
        </p:nvSpPr>
        <p:spPr>
          <a:xfrm>
            <a:off x="1524000" y="4998720"/>
            <a:ext cx="184469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sustainable</a:t>
            </a:r>
            <a:endParaRPr lang="en-US" sz="2400" dirty="0"/>
          </a:p>
        </p:txBody>
      </p:sp>
      <p:sp>
        <p:nvSpPr>
          <p:cNvPr id="17" name="Text 15"/>
          <p:cNvSpPr/>
          <p:nvPr/>
        </p:nvSpPr>
        <p:spPr>
          <a:xfrm>
            <a:off x="7924800" y="282702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827020"/>
            <a:ext cx="4874657"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 person who lives in a particular place</a:t>
            </a:r>
            <a:endParaRPr lang="en-US" sz="2025" dirty="0"/>
          </a:p>
        </p:txBody>
      </p:sp>
      <p:sp>
        <p:nvSpPr>
          <p:cNvPr id="19" name="Text 17"/>
          <p:cNvSpPr/>
          <p:nvPr/>
        </p:nvSpPr>
        <p:spPr>
          <a:xfrm>
            <a:off x="7924800" y="337470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359467"/>
            <a:ext cx="6620470"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able to continue for a long time without causing harm</a:t>
            </a:r>
            <a:endParaRPr lang="en-US" sz="2025" dirty="0"/>
          </a:p>
        </p:txBody>
      </p:sp>
      <p:sp>
        <p:nvSpPr>
          <p:cNvPr id="21" name="Text 19"/>
          <p:cNvSpPr/>
          <p:nvPr/>
        </p:nvSpPr>
        <p:spPr>
          <a:xfrm>
            <a:off x="7924800" y="392239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3872288"/>
            <a:ext cx="3098197"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 sudden, large increase</a:t>
            </a:r>
            <a:endParaRPr lang="en-US" sz="2025" dirty="0"/>
          </a:p>
        </p:txBody>
      </p:sp>
      <p:sp>
        <p:nvSpPr>
          <p:cNvPr id="23" name="Text 21"/>
          <p:cNvSpPr/>
          <p:nvPr/>
        </p:nvSpPr>
        <p:spPr>
          <a:xfrm>
            <a:off x="7924800" y="447008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450080"/>
            <a:ext cx="4812054"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pressure caused by too much demand</a:t>
            </a:r>
            <a:endParaRPr lang="en-US" sz="2025" dirty="0"/>
          </a:p>
        </p:txBody>
      </p:sp>
      <p:sp>
        <p:nvSpPr>
          <p:cNvPr id="25" name="Text 23"/>
          <p:cNvSpPr/>
          <p:nvPr/>
        </p:nvSpPr>
        <p:spPr>
          <a:xfrm>
            <a:off x="7924800" y="501777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4999196"/>
            <a:ext cx="3946743"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to control an activity using rules</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7640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581150"/>
            <a:ext cx="1601272" cy="388620"/>
          </a:xfrm>
          <a:prstGeom prst="rect">
            <a:avLst/>
          </a:prstGeom>
          <a:solidFill>
            <a:srgbClr val="1A2A5E"/>
          </a:solidFill>
          <a:ln/>
        </p:spPr>
        <p:txBody>
          <a:bodyPr/>
          <a:lstStyle/>
          <a:p>
            <a:endParaRPr lang="en-US"/>
          </a:p>
        </p:txBody>
      </p:sp>
      <p:sp>
        <p:nvSpPr>
          <p:cNvPr id="7" name="Text 5"/>
          <p:cNvSpPr/>
          <p:nvPr/>
        </p:nvSpPr>
        <p:spPr>
          <a:xfrm>
            <a:off x="3146822" y="16383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03120"/>
            <a:ext cx="17811750" cy="640080"/>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A2A5E"/>
                </a:solidFill>
                <a:latin typeface="Georgia" pitchFamily="34" charset="0"/>
                <a:ea typeface="Georgia" pitchFamily="34" charset="-122"/>
                <a:cs typeface="Georgia" pitchFamily="34" charset="-120"/>
              </a:rPr>
              <a:t>How did you do?</a:t>
            </a:r>
            <a:endParaRPr lang="en-US" sz="4200" dirty="0"/>
          </a:p>
        </p:txBody>
      </p:sp>
      <p:sp>
        <p:nvSpPr>
          <p:cNvPr id="9" name="Shape 7"/>
          <p:cNvSpPr/>
          <p:nvPr/>
        </p:nvSpPr>
        <p:spPr>
          <a:xfrm>
            <a:off x="1047750" y="3276600"/>
            <a:ext cx="2857500" cy="883920"/>
          </a:xfrm>
          <a:prstGeom prst="rect">
            <a:avLst/>
          </a:prstGeom>
          <a:ln w="15240">
            <a:solidFill>
              <a:srgbClr val="1A2A5E"/>
            </a:solidFill>
            <a:prstDash val="solid"/>
          </a:ln>
        </p:spPr>
        <p:txBody>
          <a:bodyPr/>
          <a:lstStyle/>
          <a:p>
            <a:endParaRPr lang="en-US"/>
          </a:p>
        </p:txBody>
      </p:sp>
      <p:sp>
        <p:nvSpPr>
          <p:cNvPr id="10" name="Text 8"/>
          <p:cNvSpPr/>
          <p:nvPr/>
        </p:nvSpPr>
        <p:spPr>
          <a:xfrm>
            <a:off x="138684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1–C </a:t>
            </a:r>
            <a:r>
              <a:rPr lang="en-US" sz="2250" b="1" dirty="0">
                <a:solidFill>
                  <a:srgbClr val="1A2A5E"/>
                </a:solidFill>
                <a:latin typeface="Helvetica" pitchFamily="34" charset="0"/>
                <a:ea typeface="Helvetica" pitchFamily="34" charset="-122"/>
                <a:cs typeface="Helvetica" pitchFamily="34" charset="-120"/>
              </a:rPr>
              <a:t>surge</a:t>
            </a:r>
            <a:endParaRPr lang="en-US" sz="1200" dirty="0"/>
          </a:p>
        </p:txBody>
      </p:sp>
      <p:sp>
        <p:nvSpPr>
          <p:cNvPr id="11" name="Shape 9"/>
          <p:cNvSpPr/>
          <p:nvPr/>
        </p:nvSpPr>
        <p:spPr>
          <a:xfrm>
            <a:off x="4152900" y="3276600"/>
            <a:ext cx="2857500" cy="883920"/>
          </a:xfrm>
          <a:prstGeom prst="rect">
            <a:avLst/>
          </a:prstGeom>
          <a:ln w="15240">
            <a:solidFill>
              <a:srgbClr val="1A2A5E"/>
            </a:solidFill>
            <a:prstDash val="solid"/>
          </a:ln>
        </p:spPr>
        <p:txBody>
          <a:bodyPr/>
          <a:lstStyle/>
          <a:p>
            <a:endParaRPr lang="en-US"/>
          </a:p>
        </p:txBody>
      </p:sp>
      <p:sp>
        <p:nvSpPr>
          <p:cNvPr id="12" name="Text 10"/>
          <p:cNvSpPr/>
          <p:nvPr/>
        </p:nvSpPr>
        <p:spPr>
          <a:xfrm>
            <a:off x="449199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2–D </a:t>
            </a:r>
            <a:r>
              <a:rPr lang="en-US" sz="2250" b="1" dirty="0">
                <a:solidFill>
                  <a:srgbClr val="1A2A5E"/>
                </a:solidFill>
                <a:latin typeface="Helvetica" pitchFamily="34" charset="0"/>
                <a:ea typeface="Helvetica" pitchFamily="34" charset="-122"/>
                <a:cs typeface="Helvetica" pitchFamily="34" charset="-120"/>
              </a:rPr>
              <a:t>strain</a:t>
            </a:r>
            <a:endParaRPr lang="en-US" sz="1200" dirty="0"/>
          </a:p>
        </p:txBody>
      </p:sp>
      <p:sp>
        <p:nvSpPr>
          <p:cNvPr id="13" name="Shape 11"/>
          <p:cNvSpPr/>
          <p:nvPr/>
        </p:nvSpPr>
        <p:spPr>
          <a:xfrm>
            <a:off x="7258050" y="3276600"/>
            <a:ext cx="2857500" cy="883920"/>
          </a:xfrm>
          <a:prstGeom prst="rect">
            <a:avLst/>
          </a:prstGeom>
          <a:ln w="15240">
            <a:solidFill>
              <a:srgbClr val="1A2A5E"/>
            </a:solidFill>
            <a:prstDash val="solid"/>
          </a:ln>
        </p:spPr>
        <p:txBody>
          <a:bodyPr/>
          <a:lstStyle/>
          <a:p>
            <a:endParaRPr lang="en-US"/>
          </a:p>
        </p:txBody>
      </p:sp>
      <p:sp>
        <p:nvSpPr>
          <p:cNvPr id="14" name="Text 12"/>
          <p:cNvSpPr/>
          <p:nvPr/>
        </p:nvSpPr>
        <p:spPr>
          <a:xfrm>
            <a:off x="759714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3–A </a:t>
            </a:r>
            <a:r>
              <a:rPr lang="en-US" sz="2250" b="1" dirty="0">
                <a:solidFill>
                  <a:srgbClr val="1A2A5E"/>
                </a:solidFill>
                <a:latin typeface="Helvetica" pitchFamily="34" charset="0"/>
                <a:ea typeface="Helvetica" pitchFamily="34" charset="-122"/>
                <a:cs typeface="Helvetica" pitchFamily="34" charset="-120"/>
              </a:rPr>
              <a:t>resident</a:t>
            </a:r>
            <a:endParaRPr lang="en-US" sz="1200" dirty="0"/>
          </a:p>
        </p:txBody>
      </p:sp>
      <p:sp>
        <p:nvSpPr>
          <p:cNvPr id="15" name="Shape 13"/>
          <p:cNvSpPr/>
          <p:nvPr/>
        </p:nvSpPr>
        <p:spPr>
          <a:xfrm>
            <a:off x="10363200" y="3276600"/>
            <a:ext cx="2857500" cy="883920"/>
          </a:xfrm>
          <a:prstGeom prst="rect">
            <a:avLst/>
          </a:prstGeom>
          <a:ln w="15240">
            <a:solidFill>
              <a:srgbClr val="1A2A5E"/>
            </a:solidFill>
            <a:prstDash val="solid"/>
          </a:ln>
        </p:spPr>
        <p:txBody>
          <a:bodyPr/>
          <a:lstStyle/>
          <a:p>
            <a:endParaRPr lang="en-US"/>
          </a:p>
        </p:txBody>
      </p:sp>
      <p:sp>
        <p:nvSpPr>
          <p:cNvPr id="16" name="Text 14"/>
          <p:cNvSpPr/>
          <p:nvPr/>
        </p:nvSpPr>
        <p:spPr>
          <a:xfrm>
            <a:off x="1070229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4–E </a:t>
            </a:r>
            <a:r>
              <a:rPr lang="en-US" sz="2250" b="1" dirty="0">
                <a:solidFill>
                  <a:srgbClr val="1A2A5E"/>
                </a:solidFill>
                <a:latin typeface="Helvetica" pitchFamily="34" charset="0"/>
                <a:ea typeface="Helvetica" pitchFamily="34" charset="-122"/>
                <a:cs typeface="Helvetica" pitchFamily="34" charset="-120"/>
              </a:rPr>
              <a:t>regulate</a:t>
            </a:r>
            <a:endParaRPr lang="en-US" sz="1200" dirty="0"/>
          </a:p>
        </p:txBody>
      </p:sp>
      <p:sp>
        <p:nvSpPr>
          <p:cNvPr id="17" name="Shape 15"/>
          <p:cNvSpPr/>
          <p:nvPr/>
        </p:nvSpPr>
        <p:spPr>
          <a:xfrm>
            <a:off x="13468350" y="3276600"/>
            <a:ext cx="3117294" cy="883920"/>
          </a:xfrm>
          <a:prstGeom prst="rect">
            <a:avLst/>
          </a:prstGeom>
          <a:ln w="15240">
            <a:solidFill>
              <a:srgbClr val="1A2A5E"/>
            </a:solidFill>
            <a:prstDash val="solid"/>
          </a:ln>
        </p:spPr>
        <p:txBody>
          <a:bodyPr/>
          <a:lstStyle/>
          <a:p>
            <a:endParaRPr lang="en-US"/>
          </a:p>
        </p:txBody>
      </p:sp>
      <p:sp>
        <p:nvSpPr>
          <p:cNvPr id="18" name="Text 16"/>
          <p:cNvSpPr/>
          <p:nvPr/>
        </p:nvSpPr>
        <p:spPr>
          <a:xfrm>
            <a:off x="13807440" y="3501390"/>
            <a:ext cx="2532633"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5–B </a:t>
            </a:r>
            <a:r>
              <a:rPr lang="en-US" sz="2250" b="1" dirty="0">
                <a:solidFill>
                  <a:srgbClr val="1A2A5E"/>
                </a:solidFill>
                <a:latin typeface="Helvetica" pitchFamily="34" charset="0"/>
                <a:ea typeface="Helvetica" pitchFamily="34" charset="-122"/>
                <a:cs typeface="Helvetica" pitchFamily="34" charset="-120"/>
              </a:rPr>
              <a:t>sustainable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60579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21920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47447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Overtourism</a:t>
            </a:r>
            <a:endParaRPr lang="en-US" sz="3750" dirty="0"/>
          </a:p>
        </p:txBody>
      </p:sp>
      <p:sp>
        <p:nvSpPr>
          <p:cNvPr id="7" name="Text 5"/>
          <p:cNvSpPr/>
          <p:nvPr/>
        </p:nvSpPr>
        <p:spPr>
          <a:xfrm>
            <a:off x="1047750" y="209169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Can tourism become too successful?</a:t>
            </a:r>
            <a:endParaRPr lang="en-US" sz="2025" dirty="0"/>
          </a:p>
        </p:txBody>
      </p:sp>
      <p:sp>
        <p:nvSpPr>
          <p:cNvPr id="8" name="Shape 6"/>
          <p:cNvSpPr/>
          <p:nvPr/>
        </p:nvSpPr>
        <p:spPr>
          <a:xfrm>
            <a:off x="1047750" y="2522220"/>
            <a:ext cx="609600" cy="38100"/>
          </a:xfrm>
          <a:prstGeom prst="rect">
            <a:avLst/>
          </a:prstGeom>
          <a:solidFill>
            <a:srgbClr val="D9B877"/>
          </a:solidFill>
          <a:ln/>
        </p:spPr>
        <p:txBody>
          <a:bodyPr/>
          <a:lstStyle/>
          <a:p>
            <a:endParaRPr lang="en-US"/>
          </a:p>
        </p:txBody>
      </p:sp>
      <p:sp>
        <p:nvSpPr>
          <p:cNvPr id="9" name="Text 7"/>
          <p:cNvSpPr/>
          <p:nvPr/>
        </p:nvSpPr>
        <p:spPr>
          <a:xfrm>
            <a:off x="1047750" y="267462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As more people travel than ever before, some beautiful places are paying the price.</a:t>
            </a:r>
            <a:endParaRPr lang="en-US" sz="1650" dirty="0"/>
          </a:p>
        </p:txBody>
      </p:sp>
      <p:sp>
        <p:nvSpPr>
          <p:cNvPr id="10" name="Text 8"/>
          <p:cNvSpPr/>
          <p:nvPr/>
        </p:nvSpPr>
        <p:spPr>
          <a:xfrm>
            <a:off x="1047750" y="3128010"/>
            <a:ext cx="8074247" cy="1898333"/>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In recent years, the city of Barcelona has seen something strange. Frustrated locals walked through crowded tourist districts carrying water pistols, gently spraying surprised visitors at sidewalk cafés. The playful protest carried a serious message: “Tourists go home.” For a city that welcomes more than 30 million visitors a year, the moment revealed a growing tension between those who live in a place and those who simply pass through.</a:t>
            </a:r>
            <a:endParaRPr lang="en-US" sz="1650" dirty="0"/>
          </a:p>
        </p:txBody>
      </p:sp>
      <p:sp>
        <p:nvSpPr>
          <p:cNvPr id="11" name="Text 9"/>
          <p:cNvSpPr/>
          <p:nvPr/>
        </p:nvSpPr>
        <p:spPr>
          <a:xfrm>
            <a:off x="1047750" y="5197793"/>
            <a:ext cx="8074247" cy="1588294"/>
          </a:xfrm>
          <a:prstGeom prst="rect">
            <a:avLst/>
          </a:prstGeom>
          <a:noFill/>
          <a:ln/>
        </p:spPr>
        <p:txBody>
          <a:bodyPr wrap="square" lIns="25400" tIns="25400" rIns="25400" bIns="25400" rtlCol="0" anchor="t">
            <a:normAutofit/>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The problem has a name: overtourism. It happens when a destination attracts more visitors than it can comfortably handle. Cities like Venice, Amsterdam, and Kyoto have all felt the </a:t>
            </a:r>
            <a:r>
              <a:rPr lang="en-US" sz="1650" b="1" dirty="0">
                <a:solidFill>
                  <a:srgbClr val="1A2A5E"/>
                </a:solidFill>
                <a:latin typeface="Helvetica" pitchFamily="34" charset="0"/>
                <a:ea typeface="Helvetica" pitchFamily="34" charset="-122"/>
                <a:cs typeface="Helvetica" pitchFamily="34" charset="-120"/>
              </a:rPr>
              <a:t>strain</a:t>
            </a:r>
            <a:r>
              <a:rPr lang="en-US" sz="1650" dirty="0">
                <a:solidFill>
                  <a:srgbClr val="222222"/>
                </a:solidFill>
                <a:latin typeface="Helvetica" pitchFamily="34" charset="0"/>
                <a:ea typeface="Helvetica" pitchFamily="34" charset="-122"/>
                <a:cs typeface="Helvetica" pitchFamily="34" charset="-120"/>
              </a:rPr>
              <a:t>. A sudden </a:t>
            </a:r>
            <a:r>
              <a:rPr lang="en-US" sz="1650" b="1" dirty="0">
                <a:solidFill>
                  <a:srgbClr val="1A2A5E"/>
                </a:solidFill>
                <a:latin typeface="Helvetica" pitchFamily="34" charset="0"/>
                <a:ea typeface="Helvetica" pitchFamily="34" charset="-122"/>
                <a:cs typeface="Helvetica" pitchFamily="34" charset="-120"/>
              </a:rPr>
              <a:t>surge </a:t>
            </a:r>
            <a:r>
              <a:rPr lang="en-US" sz="1650" dirty="0">
                <a:solidFill>
                  <a:srgbClr val="222222"/>
                </a:solidFill>
                <a:latin typeface="Helvetica" pitchFamily="34" charset="0"/>
                <a:ea typeface="Helvetica" pitchFamily="34" charset="-122"/>
                <a:cs typeface="Helvetica" pitchFamily="34" charset="-120"/>
              </a:rPr>
              <a:t>in arrivals can crowd the streets, push up prices, and slowly change a neighborhood until it no longer feels like home to its </a:t>
            </a:r>
            <a:r>
              <a:rPr lang="en-US" sz="1650" b="1" dirty="0">
                <a:solidFill>
                  <a:srgbClr val="1A2A5E"/>
                </a:solidFill>
                <a:latin typeface="Helvetica" pitchFamily="34" charset="0"/>
                <a:ea typeface="Helvetica" pitchFamily="34" charset="-122"/>
                <a:cs typeface="Helvetica" pitchFamily="34" charset="-120"/>
              </a:rPr>
              <a:t>residents</a:t>
            </a:r>
            <a:r>
              <a:rPr lang="en-US" sz="1650" dirty="0">
                <a:solidFill>
                  <a:srgbClr val="222222"/>
                </a:solidFill>
                <a:latin typeface="Helvetica" pitchFamily="34" charset="0"/>
                <a:ea typeface="Helvetica" pitchFamily="34" charset="-122"/>
                <a:cs typeface="Helvetica" pitchFamily="34" charset="-120"/>
              </a:rPr>
              <a:t>.</a:t>
            </a:r>
            <a:endParaRPr lang="en-US" sz="1650" dirty="0"/>
          </a:p>
        </p:txBody>
      </p:sp>
      <p:sp>
        <p:nvSpPr>
          <p:cNvPr id="12" name="Text 10"/>
          <p:cNvSpPr/>
          <p:nvPr/>
        </p:nvSpPr>
        <p:spPr>
          <a:xfrm>
            <a:off x="9401175" y="3128010"/>
            <a:ext cx="8074247" cy="1588294"/>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The numbers are striking. Venice, a city of fewer than 50,000 residents, can receive up to 100,000 tourists in a single day. Recently it introduced a five-euro entry fee for day-trippers — the first of its kind in the world. Amsterdam has frozen new hotel construction, and even Mount Everest now sees traffic jams of climbers waiting near the summit.</a:t>
            </a:r>
            <a:endParaRPr lang="en-US" sz="1650" dirty="0"/>
          </a:p>
        </p:txBody>
      </p:sp>
      <p:sp>
        <p:nvSpPr>
          <p:cNvPr id="13" name="Text 11"/>
          <p:cNvSpPr/>
          <p:nvPr/>
        </p:nvSpPr>
        <p:spPr>
          <a:xfrm>
            <a:off x="9401175" y="4887754"/>
            <a:ext cx="8074247" cy="1278255"/>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Still, tourism is not the enemy. It creates jobs, supports small businesses, and connects cultures. The real question is balance. Some call for stricter rules to </a:t>
            </a:r>
            <a:r>
              <a:rPr lang="en-US" sz="1650" b="1" dirty="0">
                <a:solidFill>
                  <a:srgbClr val="1A2A5E"/>
                </a:solidFill>
                <a:latin typeface="Helvetica" pitchFamily="34" charset="0"/>
                <a:ea typeface="Helvetica" pitchFamily="34" charset="-122"/>
                <a:cs typeface="Helvetica" pitchFamily="34" charset="-120"/>
              </a:rPr>
              <a:t>regulate </a:t>
            </a:r>
            <a:r>
              <a:rPr lang="en-US" sz="1650" dirty="0">
                <a:solidFill>
                  <a:srgbClr val="222222"/>
                </a:solidFill>
                <a:latin typeface="Helvetica" pitchFamily="34" charset="0"/>
                <a:ea typeface="Helvetica" pitchFamily="34" charset="-122"/>
                <a:cs typeface="Helvetica" pitchFamily="34" charset="-120"/>
              </a:rPr>
              <a:t>visitor numbers; others believe the answer is smarter, more </a:t>
            </a:r>
            <a:r>
              <a:rPr lang="en-US" sz="1650" b="1" dirty="0">
                <a:solidFill>
                  <a:srgbClr val="1A2A5E"/>
                </a:solidFill>
                <a:latin typeface="Helvetica" pitchFamily="34" charset="0"/>
                <a:ea typeface="Helvetica" pitchFamily="34" charset="-122"/>
                <a:cs typeface="Helvetica" pitchFamily="34" charset="-120"/>
              </a:rPr>
              <a:t>sustainable </a:t>
            </a:r>
            <a:r>
              <a:rPr lang="en-US" sz="1650" dirty="0">
                <a:solidFill>
                  <a:srgbClr val="222222"/>
                </a:solidFill>
                <a:latin typeface="Helvetica" pitchFamily="34" charset="0"/>
                <a:ea typeface="Helvetica" pitchFamily="34" charset="-122"/>
                <a:cs typeface="Helvetica" pitchFamily="34" charset="-120"/>
              </a:rPr>
              <a:t>travel. As the backlash grows louder, no easy answer is in sight.</a:t>
            </a:r>
            <a:endParaRPr lang="en-US" sz="1650" dirty="0"/>
          </a:p>
        </p:txBody>
      </p:sp>
      <p:sp>
        <p:nvSpPr>
          <p:cNvPr id="14" name="Shape 12"/>
          <p:cNvSpPr/>
          <p:nvPr/>
        </p:nvSpPr>
        <p:spPr>
          <a:xfrm>
            <a:off x="1047750" y="7033736"/>
            <a:ext cx="45720" cy="421005"/>
          </a:xfrm>
          <a:prstGeom prst="rect">
            <a:avLst/>
          </a:prstGeom>
          <a:solidFill>
            <a:srgbClr val="D9B877"/>
          </a:solidFill>
          <a:ln/>
        </p:spPr>
        <p:txBody>
          <a:bodyPr/>
          <a:lstStyle/>
          <a:p>
            <a:endParaRPr lang="en-US"/>
          </a:p>
        </p:txBody>
      </p:sp>
      <p:sp>
        <p:nvSpPr>
          <p:cNvPr id="15" name="Text 13"/>
          <p:cNvSpPr/>
          <p:nvPr/>
        </p:nvSpPr>
        <p:spPr>
          <a:xfrm>
            <a:off x="1360170" y="7033736"/>
            <a:ext cx="14875888" cy="459105"/>
          </a:xfrm>
          <a:prstGeom prst="rect">
            <a:avLst/>
          </a:prstGeom>
          <a:noFill/>
          <a:ln/>
        </p:spPr>
        <p:txBody>
          <a:bodyPr wrap="square" lIns="25400" tIns="25400" rIns="25400" bIns="25400" rtlCol="0" anchor="t">
            <a:normAutofit lnSpcReduction="10000"/>
          </a:bodyPr>
          <a:lstStyle/>
          <a:p>
            <a:pPr marL="0" indent="0" algn="l">
              <a:lnSpc>
                <a:spcPct val="115104"/>
              </a:lnSpc>
              <a:buNone/>
            </a:pPr>
            <a:r>
              <a:rPr lang="en-US" sz="2550" b="1" i="1" dirty="0">
                <a:solidFill>
                  <a:srgbClr val="1A2A5E"/>
                </a:solidFill>
                <a:latin typeface="Georgia" pitchFamily="34" charset="0"/>
                <a:ea typeface="Georgia" pitchFamily="34" charset="-122"/>
                <a:cs typeface="Georgia" pitchFamily="34" charset="-120"/>
              </a:rPr>
              <a:t>Who really owns a city — the people who live there, or the millions who come to see it?</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1-audio">
            <a:hlinkClick r:id="" action="ppaction://media"/>
            <a:extLst>
              <a:ext uri="{FF2B5EF4-FFF2-40B4-BE49-F238E27FC236}">
                <a16:creationId xmlns:a16="http://schemas.microsoft.com/office/drawing/2014/main" id="{591D3DF9-9D88-2270-011E-DD69B07E8913}"/>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322594" y="1356677"/>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Too many visitors can overwhelm a place.</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Venice charges day-trippers a five-euro fee.</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tourism is only harmful.</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Everest has seen crowds near the summit.</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There is one simple solution to overtourism.</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Too many visitors can overwhelm a place.</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Venice charges day-trippers a five-euro fee.</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tourism is only harmful. </a:t>
            </a:r>
            <a:r>
              <a:rPr lang="en-US" sz="1950" i="1" dirty="0">
                <a:solidFill>
                  <a:srgbClr val="888888"/>
                </a:solidFill>
                <a:latin typeface="Helvetica" pitchFamily="34" charset="0"/>
                <a:ea typeface="Helvetica" pitchFamily="34" charset="-122"/>
                <a:cs typeface="Helvetica" pitchFamily="34" charset="-120"/>
              </a:rPr>
              <a:t>— it brings jobs &amp; culture too.</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Everest has seen crowds near the summit.</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There is one simple solution. </a:t>
            </a:r>
            <a:r>
              <a:rPr lang="en-US" sz="1950" i="1" dirty="0">
                <a:solidFill>
                  <a:srgbClr val="888888"/>
                </a:solidFill>
                <a:latin typeface="Helvetica" pitchFamily="34" charset="0"/>
                <a:ea typeface="Helvetica" pitchFamily="34" charset="-122"/>
                <a:cs typeface="Helvetica" pitchFamily="34" charset="-120"/>
              </a:rPr>
              <a:t>— “no easy answer is in sight.”</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FFFFFF"/>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4668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76403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FFFFFF"/>
                </a:solidFill>
                <a:latin typeface="Georgia" pitchFamily="34" charset="0"/>
                <a:ea typeface="Georgia" pitchFamily="34" charset="-122"/>
                <a:cs typeface="Georgia" pitchFamily="34" charset="-120"/>
              </a:rPr>
              <a:t>Talk it through</a:t>
            </a:r>
            <a:endParaRPr lang="en-US" sz="3900" dirty="0"/>
          </a:p>
        </p:txBody>
      </p:sp>
      <p:sp>
        <p:nvSpPr>
          <p:cNvPr id="7" name="Shape 5"/>
          <p:cNvSpPr/>
          <p:nvPr/>
        </p:nvSpPr>
        <p:spPr>
          <a:xfrm>
            <a:off x="1047750" y="3200400"/>
            <a:ext cx="15049500" cy="9525"/>
          </a:xfrm>
          <a:prstGeom prst="rect">
            <a:avLst/>
          </a:prstGeom>
          <a:solidFill>
            <a:srgbClr val="34437A"/>
          </a:solidFill>
          <a:ln/>
        </p:spPr>
        <p:txBody>
          <a:bodyPr/>
          <a:lstStyle/>
          <a:p>
            <a:endParaRPr lang="en-US"/>
          </a:p>
        </p:txBody>
      </p:sp>
      <p:sp>
        <p:nvSpPr>
          <p:cNvPr id="8" name="Text 6"/>
          <p:cNvSpPr/>
          <p:nvPr/>
        </p:nvSpPr>
        <p:spPr>
          <a:xfrm>
            <a:off x="1047750" y="2670810"/>
            <a:ext cx="215384"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415534" y="2701290"/>
            <a:ext cx="16149888" cy="384810"/>
          </a:xfrm>
          <a:prstGeom prst="rect">
            <a:avLst/>
          </a:prstGeom>
          <a:noFill/>
          <a:ln/>
        </p:spPr>
        <p:txBody>
          <a:bodyPr wrap="square" lIns="25400" tIns="25400" rIns="25400" bIns="25400" rtlCol="0" anchor="t">
            <a:normAutofit lnSpcReduction="10000"/>
          </a:bodyPr>
          <a:lstStyle/>
          <a:p>
            <a:pPr marL="0" indent="0" algn="l">
              <a:lnSpc>
                <a:spcPct val="113750"/>
              </a:lnSpc>
              <a:buNone/>
            </a:pPr>
            <a:r>
              <a:rPr lang="en-US" sz="2100" dirty="0">
                <a:solidFill>
                  <a:srgbClr val="EEF1F8"/>
                </a:solidFill>
                <a:latin typeface="Helvetica" pitchFamily="34" charset="0"/>
                <a:ea typeface="Helvetica" pitchFamily="34" charset="-122"/>
                <a:cs typeface="Helvetica" pitchFamily="34" charset="-120"/>
              </a:rPr>
              <a:t>Have you ever visited a place that felt too crowded? What was it like?</a:t>
            </a:r>
            <a:endParaRPr lang="en-US" sz="2100" dirty="0"/>
          </a:p>
        </p:txBody>
      </p:sp>
      <p:sp>
        <p:nvSpPr>
          <p:cNvPr id="10" name="Shape 8"/>
          <p:cNvSpPr/>
          <p:nvPr/>
        </p:nvSpPr>
        <p:spPr>
          <a:xfrm>
            <a:off x="1047750" y="3909060"/>
            <a:ext cx="15049500" cy="9525"/>
          </a:xfrm>
          <a:prstGeom prst="rect">
            <a:avLst/>
          </a:prstGeom>
          <a:solidFill>
            <a:srgbClr val="34437A"/>
          </a:solidFill>
          <a:ln/>
        </p:spPr>
        <p:txBody>
          <a:bodyPr/>
          <a:lstStyle/>
          <a:p>
            <a:endParaRPr lang="en-US"/>
          </a:p>
        </p:txBody>
      </p:sp>
      <p:sp>
        <p:nvSpPr>
          <p:cNvPr id="11" name="Text 9"/>
          <p:cNvSpPr/>
          <p:nvPr/>
        </p:nvSpPr>
        <p:spPr>
          <a:xfrm>
            <a:off x="1047750" y="3379470"/>
            <a:ext cx="257175"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2" name="Text 10"/>
          <p:cNvSpPr/>
          <p:nvPr/>
        </p:nvSpPr>
        <p:spPr>
          <a:xfrm>
            <a:off x="1457325" y="3409950"/>
            <a:ext cx="16103918" cy="384810"/>
          </a:xfrm>
          <a:prstGeom prst="rect">
            <a:avLst/>
          </a:prstGeom>
          <a:noFill/>
          <a:ln/>
        </p:spPr>
        <p:txBody>
          <a:bodyPr wrap="square" lIns="25400" tIns="25400" rIns="25400" bIns="25400" rtlCol="0" anchor="t">
            <a:normAutofit lnSpcReduction="10000"/>
          </a:bodyPr>
          <a:lstStyle/>
          <a:p>
            <a:pPr marL="0" indent="0" algn="l">
              <a:lnSpc>
                <a:spcPct val="113750"/>
              </a:lnSpc>
              <a:buNone/>
            </a:pPr>
            <a:r>
              <a:rPr lang="en-US" sz="2100" dirty="0">
                <a:solidFill>
                  <a:srgbClr val="EEF1F8"/>
                </a:solidFill>
                <a:latin typeface="Helvetica" pitchFamily="34" charset="0"/>
                <a:ea typeface="Helvetica" pitchFamily="34" charset="-122"/>
                <a:cs typeface="Helvetica" pitchFamily="34" charset="-120"/>
              </a:rPr>
              <a:t>Has tourism changed a place you know well? How?</a:t>
            </a:r>
            <a:endParaRPr lang="en-US" sz="2100" dirty="0"/>
          </a:p>
        </p:txBody>
      </p:sp>
      <p:sp>
        <p:nvSpPr>
          <p:cNvPr id="13" name="Shape 11"/>
          <p:cNvSpPr/>
          <p:nvPr/>
        </p:nvSpPr>
        <p:spPr>
          <a:xfrm>
            <a:off x="1047750" y="4617720"/>
            <a:ext cx="15049500" cy="9525"/>
          </a:xfrm>
          <a:prstGeom prst="rect">
            <a:avLst/>
          </a:prstGeom>
          <a:solidFill>
            <a:srgbClr val="34437A"/>
          </a:solidFill>
          <a:ln/>
        </p:spPr>
        <p:txBody>
          <a:bodyPr/>
          <a:lstStyle/>
          <a:p>
            <a:endParaRPr lang="en-US"/>
          </a:p>
        </p:txBody>
      </p:sp>
      <p:sp>
        <p:nvSpPr>
          <p:cNvPr id="14" name="Text 12"/>
          <p:cNvSpPr/>
          <p:nvPr/>
        </p:nvSpPr>
        <p:spPr>
          <a:xfrm>
            <a:off x="1047750" y="4088130"/>
            <a:ext cx="254913"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5" name="Text 13"/>
          <p:cNvSpPr/>
          <p:nvPr/>
        </p:nvSpPr>
        <p:spPr>
          <a:xfrm>
            <a:off x="1455063" y="4118610"/>
            <a:ext cx="16106406" cy="384810"/>
          </a:xfrm>
          <a:prstGeom prst="rect">
            <a:avLst/>
          </a:prstGeom>
          <a:noFill/>
          <a:ln/>
        </p:spPr>
        <p:txBody>
          <a:bodyPr wrap="square" lIns="25400" tIns="25400" rIns="25400" bIns="25400" rtlCol="0" anchor="t">
            <a:normAutofit lnSpcReduction="10000"/>
          </a:bodyPr>
          <a:lstStyle/>
          <a:p>
            <a:pPr marL="0" indent="0" algn="l">
              <a:lnSpc>
                <a:spcPct val="113750"/>
              </a:lnSpc>
              <a:buNone/>
            </a:pPr>
            <a:r>
              <a:rPr lang="en-US" sz="2100" dirty="0">
                <a:solidFill>
                  <a:srgbClr val="EEF1F8"/>
                </a:solidFill>
                <a:latin typeface="Helvetica" pitchFamily="34" charset="0"/>
                <a:ea typeface="Helvetica" pitchFamily="34" charset="-122"/>
                <a:cs typeface="Helvetica" pitchFamily="34" charset="-120"/>
              </a:rPr>
              <a:t>Why might residents and tourists see the same city so differently?</a:t>
            </a:r>
            <a:endParaRPr lang="en-US" sz="2100" dirty="0"/>
          </a:p>
        </p:txBody>
      </p:sp>
      <p:sp>
        <p:nvSpPr>
          <p:cNvPr id="16" name="Shape 14"/>
          <p:cNvSpPr/>
          <p:nvPr/>
        </p:nvSpPr>
        <p:spPr>
          <a:xfrm>
            <a:off x="1047750" y="5326380"/>
            <a:ext cx="15049500" cy="9525"/>
          </a:xfrm>
          <a:prstGeom prst="rect">
            <a:avLst/>
          </a:prstGeom>
          <a:solidFill>
            <a:srgbClr val="34437A"/>
          </a:solidFill>
          <a:ln/>
        </p:spPr>
        <p:txBody>
          <a:bodyPr/>
          <a:lstStyle/>
          <a:p>
            <a:endParaRPr lang="en-US"/>
          </a:p>
        </p:txBody>
      </p:sp>
      <p:sp>
        <p:nvSpPr>
          <p:cNvPr id="17" name="Text 15"/>
          <p:cNvSpPr/>
          <p:nvPr/>
        </p:nvSpPr>
        <p:spPr>
          <a:xfrm>
            <a:off x="1047750" y="4796790"/>
            <a:ext cx="259199"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18" name="Text 16"/>
          <p:cNvSpPr/>
          <p:nvPr/>
        </p:nvSpPr>
        <p:spPr>
          <a:xfrm>
            <a:off x="1459349" y="4827270"/>
            <a:ext cx="16101691" cy="384810"/>
          </a:xfrm>
          <a:prstGeom prst="rect">
            <a:avLst/>
          </a:prstGeom>
          <a:noFill/>
          <a:ln/>
        </p:spPr>
        <p:txBody>
          <a:bodyPr wrap="square" lIns="25400" tIns="25400" rIns="25400" bIns="25400" rtlCol="0" anchor="t">
            <a:normAutofit lnSpcReduction="10000"/>
          </a:bodyPr>
          <a:lstStyle/>
          <a:p>
            <a:pPr marL="0" indent="0" algn="l">
              <a:lnSpc>
                <a:spcPct val="113750"/>
              </a:lnSpc>
              <a:buNone/>
            </a:pPr>
            <a:r>
              <a:rPr lang="en-US" sz="2100" dirty="0">
                <a:solidFill>
                  <a:srgbClr val="EEF1F8"/>
                </a:solidFill>
                <a:latin typeface="Helvetica" pitchFamily="34" charset="0"/>
                <a:ea typeface="Helvetica" pitchFamily="34" charset="-122"/>
                <a:cs typeface="Helvetica" pitchFamily="34" charset="-120"/>
              </a:rPr>
              <a:t>Do you think entry fees or visitor limits are fair? Why or why not?</a:t>
            </a:r>
            <a:endParaRPr lang="en-US" sz="2100" dirty="0"/>
          </a:p>
        </p:txBody>
      </p:sp>
      <p:sp>
        <p:nvSpPr>
          <p:cNvPr id="19" name="Text 17"/>
          <p:cNvSpPr/>
          <p:nvPr/>
        </p:nvSpPr>
        <p:spPr>
          <a:xfrm>
            <a:off x="1047750" y="5505450"/>
            <a:ext cx="247412"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0" name="Text 18"/>
          <p:cNvSpPr/>
          <p:nvPr/>
        </p:nvSpPr>
        <p:spPr>
          <a:xfrm>
            <a:off x="1447562" y="5535930"/>
            <a:ext cx="16114657" cy="384810"/>
          </a:xfrm>
          <a:prstGeom prst="rect">
            <a:avLst/>
          </a:prstGeom>
          <a:noFill/>
          <a:ln/>
        </p:spPr>
        <p:txBody>
          <a:bodyPr wrap="square" lIns="25400" tIns="25400" rIns="25400" bIns="25400" rtlCol="0" anchor="t">
            <a:normAutofit lnSpcReduction="10000"/>
          </a:bodyPr>
          <a:lstStyle/>
          <a:p>
            <a:pPr marL="0" indent="0" algn="l">
              <a:lnSpc>
                <a:spcPct val="113750"/>
              </a:lnSpc>
              <a:buNone/>
            </a:pPr>
            <a:r>
              <a:rPr lang="en-US" sz="2100" dirty="0">
                <a:solidFill>
                  <a:srgbClr val="EEF1F8"/>
                </a:solidFill>
                <a:latin typeface="Helvetica" pitchFamily="34" charset="0"/>
                <a:ea typeface="Helvetica" pitchFamily="34" charset="-122"/>
                <a:cs typeface="Helvetica" pitchFamily="34" charset="-120"/>
              </a:rPr>
              <a:t>Who do you think a famous city really belongs to — its residents or its visitors?</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0584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60579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25730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266825"/>
            <a:ext cx="2448401"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303020"/>
            <a:ext cx="2280761"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YOU ARE THE COUNCIL</a:t>
            </a:r>
            <a:endParaRPr lang="en-US" sz="1125" dirty="0"/>
          </a:p>
        </p:txBody>
      </p:sp>
      <p:sp>
        <p:nvSpPr>
          <p:cNvPr id="8" name="Text 6"/>
          <p:cNvSpPr/>
          <p:nvPr/>
        </p:nvSpPr>
        <p:spPr>
          <a:xfrm>
            <a:off x="1047750" y="1583055"/>
            <a:ext cx="17811750" cy="510540"/>
          </a:xfrm>
          <a:prstGeom prst="rect">
            <a:avLst/>
          </a:prstGeom>
          <a:noFill/>
          <a:ln/>
        </p:spPr>
        <p:txBody>
          <a:bodyPr wrap="square" lIns="25400" tIns="25400" rIns="25400" bIns="25400" rtlCol="0" anchor="t">
            <a:normAutofit lnSpcReduction="10000"/>
          </a:bodyPr>
          <a:lstStyle/>
          <a:p>
            <a:pPr marL="0" indent="0" algn="l">
              <a:buNone/>
            </a:pPr>
            <a:r>
              <a:rPr lang="en-US" sz="3300" b="1" dirty="0">
                <a:solidFill>
                  <a:srgbClr val="1A2A5E"/>
                </a:solidFill>
                <a:latin typeface="Georgia" pitchFamily="34" charset="0"/>
                <a:ea typeface="Georgia" pitchFamily="34" charset="-122"/>
                <a:cs typeface="Georgia" pitchFamily="34" charset="-120"/>
              </a:rPr>
              <a:t>Your town has 40,000 residents and three million visitors a year.</a:t>
            </a:r>
            <a:endParaRPr lang="en-US" sz="3300" dirty="0"/>
          </a:p>
        </p:txBody>
      </p:sp>
      <p:sp>
        <p:nvSpPr>
          <p:cNvPr id="9" name="Text 7"/>
          <p:cNvSpPr/>
          <p:nvPr/>
        </p:nvSpPr>
        <p:spPr>
          <a:xfrm>
            <a:off x="1047750" y="2131695"/>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Choose the measures you will pass. Every one of them costs somebody something, and you must reach one decision as a council.</a:t>
            </a:r>
            <a:endParaRPr lang="en-US" sz="1650" dirty="0"/>
          </a:p>
        </p:txBody>
      </p:sp>
      <p:sp>
        <p:nvSpPr>
          <p:cNvPr id="10" name="Shape 8"/>
          <p:cNvSpPr/>
          <p:nvPr/>
        </p:nvSpPr>
        <p:spPr>
          <a:xfrm>
            <a:off x="1047750" y="2527935"/>
            <a:ext cx="16192500" cy="15240"/>
          </a:xfrm>
          <a:prstGeom prst="rect">
            <a:avLst/>
          </a:prstGeom>
          <a:solidFill>
            <a:srgbClr val="1A2A5E"/>
          </a:solidFill>
          <a:ln/>
        </p:spPr>
        <p:txBody>
          <a:bodyPr/>
          <a:lstStyle/>
          <a:p>
            <a:endParaRPr lang="en-US"/>
          </a:p>
        </p:txBody>
      </p:sp>
      <p:sp>
        <p:nvSpPr>
          <p:cNvPr id="11" name="Text 9"/>
          <p:cNvSpPr/>
          <p:nvPr/>
        </p:nvSpPr>
        <p:spPr>
          <a:xfrm>
            <a:off x="1047750" y="2619375"/>
            <a:ext cx="3237548" cy="220980"/>
          </a:xfrm>
          <a:prstGeom prst="rect">
            <a:avLst/>
          </a:prstGeom>
          <a:noFill/>
          <a:ln/>
        </p:spPr>
        <p:txBody>
          <a:bodyPr wrap="square" lIns="25400" tIns="25400" rIns="25400" bIns="25400" rtlCol="0" anchor="t">
            <a:normAutofit/>
          </a:bodyPr>
          <a:lstStyle/>
          <a:p>
            <a:pPr marL="0" indent="0" algn="l">
              <a:buNone/>
            </a:pPr>
            <a:r>
              <a:rPr lang="en-US" sz="1050" b="1" kern="0" spc="150" dirty="0">
                <a:solidFill>
                  <a:srgbClr val="8A8A8A"/>
                </a:solidFill>
                <a:latin typeface="Helvetica" pitchFamily="34" charset="0"/>
                <a:ea typeface="Helvetica" pitchFamily="34" charset="-122"/>
                <a:cs typeface="Helvetica" pitchFamily="34" charset="-120"/>
              </a:rPr>
              <a:t>MEASURE</a:t>
            </a:r>
            <a:endParaRPr lang="en-US" sz="1050" dirty="0"/>
          </a:p>
        </p:txBody>
      </p:sp>
      <p:sp>
        <p:nvSpPr>
          <p:cNvPr id="12" name="Text 10"/>
          <p:cNvSpPr/>
          <p:nvPr/>
        </p:nvSpPr>
        <p:spPr>
          <a:xfrm>
            <a:off x="4191000" y="2619375"/>
            <a:ext cx="6229826" cy="220980"/>
          </a:xfrm>
          <a:prstGeom prst="rect">
            <a:avLst/>
          </a:prstGeom>
          <a:noFill/>
          <a:ln/>
        </p:spPr>
        <p:txBody>
          <a:bodyPr wrap="square" lIns="25400" tIns="25400" rIns="25400" bIns="25400" rtlCol="0" anchor="t">
            <a:normAutofit/>
          </a:bodyPr>
          <a:lstStyle/>
          <a:p>
            <a:pPr marL="0" indent="0" algn="l">
              <a:buNone/>
            </a:pPr>
            <a:r>
              <a:rPr lang="en-US" sz="1050" b="1" kern="0" spc="150" dirty="0">
                <a:solidFill>
                  <a:srgbClr val="8A8A8A"/>
                </a:solidFill>
                <a:latin typeface="Helvetica" pitchFamily="34" charset="0"/>
                <a:ea typeface="Helvetica" pitchFamily="34" charset="-122"/>
                <a:cs typeface="Helvetica" pitchFamily="34" charset="-120"/>
              </a:rPr>
              <a:t>WHAT IT FIXES</a:t>
            </a:r>
            <a:endParaRPr lang="en-US" sz="1050" dirty="0"/>
          </a:p>
        </p:txBody>
      </p:sp>
      <p:sp>
        <p:nvSpPr>
          <p:cNvPr id="13" name="Text 11"/>
          <p:cNvSpPr/>
          <p:nvPr/>
        </p:nvSpPr>
        <p:spPr>
          <a:xfrm>
            <a:off x="10239375" y="2619375"/>
            <a:ext cx="6229826" cy="220980"/>
          </a:xfrm>
          <a:prstGeom prst="rect">
            <a:avLst/>
          </a:prstGeom>
          <a:noFill/>
          <a:ln/>
        </p:spPr>
        <p:txBody>
          <a:bodyPr wrap="square" lIns="25400" tIns="25400" rIns="25400" bIns="25400" rtlCol="0" anchor="t">
            <a:normAutofit/>
          </a:bodyPr>
          <a:lstStyle/>
          <a:p>
            <a:pPr marL="0" indent="0" algn="l">
              <a:buNone/>
            </a:pPr>
            <a:r>
              <a:rPr lang="en-US" sz="1050" b="1" kern="0" spc="150" dirty="0">
                <a:solidFill>
                  <a:srgbClr val="8A8A8A"/>
                </a:solidFill>
                <a:latin typeface="Helvetica" pitchFamily="34" charset="0"/>
                <a:ea typeface="Helvetica" pitchFamily="34" charset="-122"/>
                <a:cs typeface="Helvetica" pitchFamily="34" charset="-120"/>
              </a:rPr>
              <a:t>WHO PAYS FOR IT</a:t>
            </a:r>
            <a:endParaRPr lang="en-US" sz="1050" dirty="0"/>
          </a:p>
        </p:txBody>
      </p:sp>
      <p:sp>
        <p:nvSpPr>
          <p:cNvPr id="14" name="Text 12"/>
          <p:cNvSpPr/>
          <p:nvPr/>
        </p:nvSpPr>
        <p:spPr>
          <a:xfrm>
            <a:off x="16249650" y="2619375"/>
            <a:ext cx="1028700" cy="220980"/>
          </a:xfrm>
          <a:prstGeom prst="rect">
            <a:avLst/>
          </a:prstGeom>
          <a:noFill/>
          <a:ln/>
        </p:spPr>
        <p:txBody>
          <a:bodyPr wrap="square" lIns="25400" tIns="25400" rIns="25400" bIns="25400" rtlCol="0" anchor="t">
            <a:normAutofit/>
          </a:bodyPr>
          <a:lstStyle/>
          <a:p>
            <a:pPr marL="0" indent="0" algn="ctr">
              <a:buNone/>
            </a:pPr>
            <a:r>
              <a:rPr lang="en-US" sz="1050" b="1" kern="0" spc="75" dirty="0">
                <a:solidFill>
                  <a:srgbClr val="8A8A8A"/>
                </a:solidFill>
                <a:latin typeface="Helvetica" pitchFamily="34" charset="0"/>
                <a:ea typeface="Helvetica" pitchFamily="34" charset="-122"/>
                <a:cs typeface="Helvetica" pitchFamily="34" charset="-120"/>
              </a:rPr>
              <a:t>PASS</a:t>
            </a:r>
            <a:endParaRPr lang="en-US" sz="1050" dirty="0"/>
          </a:p>
        </p:txBody>
      </p:sp>
      <p:sp>
        <p:nvSpPr>
          <p:cNvPr id="15" name="Shape 13"/>
          <p:cNvSpPr/>
          <p:nvPr/>
        </p:nvSpPr>
        <p:spPr>
          <a:xfrm>
            <a:off x="1047750" y="2878455"/>
            <a:ext cx="3143250" cy="9525"/>
          </a:xfrm>
          <a:prstGeom prst="rect">
            <a:avLst/>
          </a:prstGeom>
          <a:solidFill>
            <a:srgbClr val="E3E1DB"/>
          </a:solidFill>
          <a:ln/>
        </p:spPr>
        <p:txBody>
          <a:bodyPr/>
          <a:lstStyle/>
          <a:p>
            <a:endParaRPr lang="en-US"/>
          </a:p>
        </p:txBody>
      </p:sp>
      <p:sp>
        <p:nvSpPr>
          <p:cNvPr id="16" name="Text 14"/>
          <p:cNvSpPr/>
          <p:nvPr/>
        </p:nvSpPr>
        <p:spPr>
          <a:xfrm>
            <a:off x="1047750" y="298132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A tourist tax</a:t>
            </a:r>
            <a:endParaRPr lang="en-US" sz="1575" dirty="0"/>
          </a:p>
        </p:txBody>
      </p:sp>
      <p:sp>
        <p:nvSpPr>
          <p:cNvPr id="17" name="Shape 15"/>
          <p:cNvSpPr/>
          <p:nvPr/>
        </p:nvSpPr>
        <p:spPr>
          <a:xfrm>
            <a:off x="4191000" y="2878455"/>
            <a:ext cx="6048375" cy="9525"/>
          </a:xfrm>
          <a:prstGeom prst="rect">
            <a:avLst/>
          </a:prstGeom>
          <a:solidFill>
            <a:srgbClr val="E3E1DB"/>
          </a:solidFill>
          <a:ln/>
        </p:spPr>
        <p:txBody>
          <a:bodyPr/>
          <a:lstStyle/>
          <a:p>
            <a:endParaRPr lang="en-US"/>
          </a:p>
        </p:txBody>
      </p:sp>
      <p:sp>
        <p:nvSpPr>
          <p:cNvPr id="18" name="Text 16"/>
          <p:cNvSpPr/>
          <p:nvPr/>
        </p:nvSpPr>
        <p:spPr>
          <a:xfrm>
            <a:off x="4191000" y="298132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Raises money to repair the damage crowds cause.</a:t>
            </a:r>
            <a:endParaRPr lang="en-US" sz="1350" dirty="0"/>
          </a:p>
        </p:txBody>
      </p:sp>
      <p:sp>
        <p:nvSpPr>
          <p:cNvPr id="19" name="Shape 17"/>
          <p:cNvSpPr/>
          <p:nvPr/>
        </p:nvSpPr>
        <p:spPr>
          <a:xfrm>
            <a:off x="10239375" y="2878455"/>
            <a:ext cx="6048375" cy="9525"/>
          </a:xfrm>
          <a:prstGeom prst="rect">
            <a:avLst/>
          </a:prstGeom>
          <a:solidFill>
            <a:srgbClr val="E3E1DB"/>
          </a:solidFill>
          <a:ln/>
        </p:spPr>
        <p:txBody>
          <a:bodyPr/>
          <a:lstStyle/>
          <a:p>
            <a:endParaRPr lang="en-US"/>
          </a:p>
        </p:txBody>
      </p:sp>
      <p:sp>
        <p:nvSpPr>
          <p:cNvPr id="20" name="Text 18"/>
          <p:cNvSpPr/>
          <p:nvPr/>
        </p:nvSpPr>
        <p:spPr>
          <a:xfrm>
            <a:off x="10239375" y="298132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Budget travelers, and the cheap hotels they use.</a:t>
            </a:r>
            <a:endParaRPr lang="en-US" sz="1350" dirty="0"/>
          </a:p>
        </p:txBody>
      </p:sp>
      <p:sp>
        <p:nvSpPr>
          <p:cNvPr id="21" name="Shape 19"/>
          <p:cNvSpPr/>
          <p:nvPr/>
        </p:nvSpPr>
        <p:spPr>
          <a:xfrm>
            <a:off x="16287750" y="2878455"/>
            <a:ext cx="952500" cy="9525"/>
          </a:xfrm>
          <a:prstGeom prst="rect">
            <a:avLst/>
          </a:prstGeom>
          <a:solidFill>
            <a:srgbClr val="E3E1DB"/>
          </a:solidFill>
          <a:ln/>
        </p:spPr>
        <p:txBody>
          <a:bodyPr/>
          <a:lstStyle/>
          <a:p>
            <a:endParaRPr lang="en-US"/>
          </a:p>
        </p:txBody>
      </p:sp>
      <p:sp>
        <p:nvSpPr>
          <p:cNvPr id="22" name="Text 20"/>
          <p:cNvSpPr/>
          <p:nvPr/>
        </p:nvSpPr>
        <p:spPr>
          <a:xfrm>
            <a:off x="16249650" y="298132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23" name="Shape 21"/>
          <p:cNvSpPr/>
          <p:nvPr/>
        </p:nvSpPr>
        <p:spPr>
          <a:xfrm>
            <a:off x="1047750" y="3358515"/>
            <a:ext cx="3143250" cy="9525"/>
          </a:xfrm>
          <a:prstGeom prst="rect">
            <a:avLst/>
          </a:prstGeom>
          <a:solidFill>
            <a:srgbClr val="E3E1DB"/>
          </a:solidFill>
          <a:ln/>
        </p:spPr>
        <p:txBody>
          <a:bodyPr/>
          <a:lstStyle/>
          <a:p>
            <a:endParaRPr lang="en-US"/>
          </a:p>
        </p:txBody>
      </p:sp>
      <p:sp>
        <p:nvSpPr>
          <p:cNvPr id="24" name="Text 22"/>
          <p:cNvSpPr/>
          <p:nvPr/>
        </p:nvSpPr>
        <p:spPr>
          <a:xfrm>
            <a:off x="1047750" y="346138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Cap the cruise ships</a:t>
            </a:r>
            <a:endParaRPr lang="en-US" sz="1575" dirty="0"/>
          </a:p>
        </p:txBody>
      </p:sp>
      <p:sp>
        <p:nvSpPr>
          <p:cNvPr id="25" name="Shape 23"/>
          <p:cNvSpPr/>
          <p:nvPr/>
        </p:nvSpPr>
        <p:spPr>
          <a:xfrm>
            <a:off x="4191000" y="3358515"/>
            <a:ext cx="6048375" cy="9525"/>
          </a:xfrm>
          <a:prstGeom prst="rect">
            <a:avLst/>
          </a:prstGeom>
          <a:solidFill>
            <a:srgbClr val="E3E1DB"/>
          </a:solidFill>
          <a:ln/>
        </p:spPr>
        <p:txBody>
          <a:bodyPr/>
          <a:lstStyle/>
          <a:p>
            <a:endParaRPr lang="en-US"/>
          </a:p>
        </p:txBody>
      </p:sp>
      <p:sp>
        <p:nvSpPr>
          <p:cNvPr id="26" name="Text 24"/>
          <p:cNvSpPr/>
          <p:nvPr/>
        </p:nvSpPr>
        <p:spPr>
          <a:xfrm>
            <a:off x="4191000" y="346138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Removes the daily surge of thousands at once.</a:t>
            </a:r>
            <a:endParaRPr lang="en-US" sz="1350" dirty="0"/>
          </a:p>
        </p:txBody>
      </p:sp>
      <p:sp>
        <p:nvSpPr>
          <p:cNvPr id="27" name="Shape 25"/>
          <p:cNvSpPr/>
          <p:nvPr/>
        </p:nvSpPr>
        <p:spPr>
          <a:xfrm>
            <a:off x="10239375" y="3358515"/>
            <a:ext cx="6048375" cy="9525"/>
          </a:xfrm>
          <a:prstGeom prst="rect">
            <a:avLst/>
          </a:prstGeom>
          <a:solidFill>
            <a:srgbClr val="E3E1DB"/>
          </a:solidFill>
          <a:ln/>
        </p:spPr>
        <p:txBody>
          <a:bodyPr/>
          <a:lstStyle/>
          <a:p>
            <a:endParaRPr lang="en-US"/>
          </a:p>
        </p:txBody>
      </p:sp>
      <p:sp>
        <p:nvSpPr>
          <p:cNvPr id="28" name="Text 26"/>
          <p:cNvSpPr/>
          <p:nvPr/>
        </p:nvSpPr>
        <p:spPr>
          <a:xfrm>
            <a:off x="10239375" y="346138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Port workers, guides, and every shop near the harbor.</a:t>
            </a:r>
            <a:endParaRPr lang="en-US" sz="1350" dirty="0"/>
          </a:p>
        </p:txBody>
      </p:sp>
      <p:sp>
        <p:nvSpPr>
          <p:cNvPr id="29" name="Shape 27"/>
          <p:cNvSpPr/>
          <p:nvPr/>
        </p:nvSpPr>
        <p:spPr>
          <a:xfrm>
            <a:off x="16287750" y="3358515"/>
            <a:ext cx="952500" cy="9525"/>
          </a:xfrm>
          <a:prstGeom prst="rect">
            <a:avLst/>
          </a:prstGeom>
          <a:solidFill>
            <a:srgbClr val="E3E1DB"/>
          </a:solidFill>
          <a:ln/>
        </p:spPr>
        <p:txBody>
          <a:bodyPr/>
          <a:lstStyle/>
          <a:p>
            <a:endParaRPr lang="en-US"/>
          </a:p>
        </p:txBody>
      </p:sp>
      <p:sp>
        <p:nvSpPr>
          <p:cNvPr id="30" name="Text 28"/>
          <p:cNvSpPr/>
          <p:nvPr/>
        </p:nvSpPr>
        <p:spPr>
          <a:xfrm>
            <a:off x="16249650" y="346138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31" name="Shape 29"/>
          <p:cNvSpPr/>
          <p:nvPr/>
        </p:nvSpPr>
        <p:spPr>
          <a:xfrm>
            <a:off x="1047750" y="3838575"/>
            <a:ext cx="3143250" cy="9525"/>
          </a:xfrm>
          <a:prstGeom prst="rect">
            <a:avLst/>
          </a:prstGeom>
          <a:solidFill>
            <a:srgbClr val="E3E1DB"/>
          </a:solidFill>
          <a:ln/>
        </p:spPr>
        <p:txBody>
          <a:bodyPr/>
          <a:lstStyle/>
          <a:p>
            <a:endParaRPr lang="en-US"/>
          </a:p>
        </p:txBody>
      </p:sp>
      <p:sp>
        <p:nvSpPr>
          <p:cNvPr id="32" name="Text 30"/>
          <p:cNvSpPr/>
          <p:nvPr/>
        </p:nvSpPr>
        <p:spPr>
          <a:xfrm>
            <a:off x="1047750" y="394144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Ban new hotels</a:t>
            </a:r>
            <a:endParaRPr lang="en-US" sz="1575" dirty="0"/>
          </a:p>
        </p:txBody>
      </p:sp>
      <p:sp>
        <p:nvSpPr>
          <p:cNvPr id="33" name="Shape 31"/>
          <p:cNvSpPr/>
          <p:nvPr/>
        </p:nvSpPr>
        <p:spPr>
          <a:xfrm>
            <a:off x="4191000" y="3838575"/>
            <a:ext cx="6048375" cy="9525"/>
          </a:xfrm>
          <a:prstGeom prst="rect">
            <a:avLst/>
          </a:prstGeom>
          <a:solidFill>
            <a:srgbClr val="E3E1DB"/>
          </a:solidFill>
          <a:ln/>
        </p:spPr>
        <p:txBody>
          <a:bodyPr/>
          <a:lstStyle/>
          <a:p>
            <a:endParaRPr lang="en-US"/>
          </a:p>
        </p:txBody>
      </p:sp>
      <p:sp>
        <p:nvSpPr>
          <p:cNvPr id="34" name="Text 32"/>
          <p:cNvSpPr/>
          <p:nvPr/>
        </p:nvSpPr>
        <p:spPr>
          <a:xfrm>
            <a:off x="4191000" y="394144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Stops visitor numbers climbing every year.</a:t>
            </a:r>
            <a:endParaRPr lang="en-US" sz="1350" dirty="0"/>
          </a:p>
        </p:txBody>
      </p:sp>
      <p:sp>
        <p:nvSpPr>
          <p:cNvPr id="35" name="Shape 33"/>
          <p:cNvSpPr/>
          <p:nvPr/>
        </p:nvSpPr>
        <p:spPr>
          <a:xfrm>
            <a:off x="10239375" y="3838575"/>
            <a:ext cx="6048375" cy="9525"/>
          </a:xfrm>
          <a:prstGeom prst="rect">
            <a:avLst/>
          </a:prstGeom>
          <a:solidFill>
            <a:srgbClr val="E3E1DB"/>
          </a:solidFill>
          <a:ln/>
        </p:spPr>
        <p:txBody>
          <a:bodyPr/>
          <a:lstStyle/>
          <a:p>
            <a:endParaRPr lang="en-US"/>
          </a:p>
        </p:txBody>
      </p:sp>
      <p:sp>
        <p:nvSpPr>
          <p:cNvPr id="36" name="Text 34"/>
          <p:cNvSpPr/>
          <p:nvPr/>
        </p:nvSpPr>
        <p:spPr>
          <a:xfrm>
            <a:off x="10239375" y="394144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Construction jobs now, and hotel jobs later.</a:t>
            </a:r>
            <a:endParaRPr lang="en-US" sz="1350" dirty="0"/>
          </a:p>
        </p:txBody>
      </p:sp>
      <p:sp>
        <p:nvSpPr>
          <p:cNvPr id="37" name="Shape 35"/>
          <p:cNvSpPr/>
          <p:nvPr/>
        </p:nvSpPr>
        <p:spPr>
          <a:xfrm>
            <a:off x="16287750" y="3838575"/>
            <a:ext cx="952500" cy="9525"/>
          </a:xfrm>
          <a:prstGeom prst="rect">
            <a:avLst/>
          </a:prstGeom>
          <a:solidFill>
            <a:srgbClr val="E3E1DB"/>
          </a:solidFill>
          <a:ln/>
        </p:spPr>
        <p:txBody>
          <a:bodyPr/>
          <a:lstStyle/>
          <a:p>
            <a:endParaRPr lang="en-US"/>
          </a:p>
        </p:txBody>
      </p:sp>
      <p:sp>
        <p:nvSpPr>
          <p:cNvPr id="38" name="Text 36"/>
          <p:cNvSpPr/>
          <p:nvPr/>
        </p:nvSpPr>
        <p:spPr>
          <a:xfrm>
            <a:off x="16249650" y="394144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39" name="Shape 37"/>
          <p:cNvSpPr/>
          <p:nvPr/>
        </p:nvSpPr>
        <p:spPr>
          <a:xfrm>
            <a:off x="1047750" y="4318635"/>
            <a:ext cx="3143250" cy="9525"/>
          </a:xfrm>
          <a:prstGeom prst="rect">
            <a:avLst/>
          </a:prstGeom>
          <a:solidFill>
            <a:srgbClr val="E3E1DB"/>
          </a:solidFill>
          <a:ln/>
        </p:spPr>
        <p:txBody>
          <a:bodyPr/>
          <a:lstStyle/>
          <a:p>
            <a:endParaRPr lang="en-US"/>
          </a:p>
        </p:txBody>
      </p:sp>
      <p:sp>
        <p:nvSpPr>
          <p:cNvPr id="40" name="Text 38"/>
          <p:cNvSpPr/>
          <p:nvPr/>
        </p:nvSpPr>
        <p:spPr>
          <a:xfrm>
            <a:off x="1047750" y="442150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Rent only to residents</a:t>
            </a:r>
            <a:endParaRPr lang="en-US" sz="1575" dirty="0"/>
          </a:p>
        </p:txBody>
      </p:sp>
      <p:sp>
        <p:nvSpPr>
          <p:cNvPr id="41" name="Shape 39"/>
          <p:cNvSpPr/>
          <p:nvPr/>
        </p:nvSpPr>
        <p:spPr>
          <a:xfrm>
            <a:off x="4191000" y="4318635"/>
            <a:ext cx="6048375" cy="9525"/>
          </a:xfrm>
          <a:prstGeom prst="rect">
            <a:avLst/>
          </a:prstGeom>
          <a:solidFill>
            <a:srgbClr val="E3E1DB"/>
          </a:solidFill>
          <a:ln/>
        </p:spPr>
        <p:txBody>
          <a:bodyPr/>
          <a:lstStyle/>
          <a:p>
            <a:endParaRPr lang="en-US"/>
          </a:p>
        </p:txBody>
      </p:sp>
      <p:sp>
        <p:nvSpPr>
          <p:cNvPr id="42" name="Text 40"/>
          <p:cNvSpPr/>
          <p:nvPr/>
        </p:nvSpPr>
        <p:spPr>
          <a:xfrm>
            <a:off x="4191000" y="442150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Brings rents down so local families can stay.</a:t>
            </a:r>
            <a:endParaRPr lang="en-US" sz="1350" dirty="0"/>
          </a:p>
        </p:txBody>
      </p:sp>
      <p:sp>
        <p:nvSpPr>
          <p:cNvPr id="43" name="Shape 41"/>
          <p:cNvSpPr/>
          <p:nvPr/>
        </p:nvSpPr>
        <p:spPr>
          <a:xfrm>
            <a:off x="10239375" y="4318635"/>
            <a:ext cx="6048375" cy="9525"/>
          </a:xfrm>
          <a:prstGeom prst="rect">
            <a:avLst/>
          </a:prstGeom>
          <a:solidFill>
            <a:srgbClr val="E3E1DB"/>
          </a:solidFill>
          <a:ln/>
        </p:spPr>
        <p:txBody>
          <a:bodyPr/>
          <a:lstStyle/>
          <a:p>
            <a:endParaRPr lang="en-US"/>
          </a:p>
        </p:txBody>
      </p:sp>
      <p:sp>
        <p:nvSpPr>
          <p:cNvPr id="44" name="Text 42"/>
          <p:cNvSpPr/>
          <p:nvPr/>
        </p:nvSpPr>
        <p:spPr>
          <a:xfrm>
            <a:off x="10239375" y="442150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Owners who rent short-term — some of them your neighbors.</a:t>
            </a:r>
            <a:endParaRPr lang="en-US" sz="1350" dirty="0"/>
          </a:p>
        </p:txBody>
      </p:sp>
      <p:sp>
        <p:nvSpPr>
          <p:cNvPr id="45" name="Shape 43"/>
          <p:cNvSpPr/>
          <p:nvPr/>
        </p:nvSpPr>
        <p:spPr>
          <a:xfrm>
            <a:off x="16287750" y="4318635"/>
            <a:ext cx="952500" cy="9525"/>
          </a:xfrm>
          <a:prstGeom prst="rect">
            <a:avLst/>
          </a:prstGeom>
          <a:solidFill>
            <a:srgbClr val="E3E1DB"/>
          </a:solidFill>
          <a:ln/>
        </p:spPr>
        <p:txBody>
          <a:bodyPr/>
          <a:lstStyle/>
          <a:p>
            <a:endParaRPr lang="en-US"/>
          </a:p>
        </p:txBody>
      </p:sp>
      <p:sp>
        <p:nvSpPr>
          <p:cNvPr id="46" name="Text 44"/>
          <p:cNvSpPr/>
          <p:nvPr/>
        </p:nvSpPr>
        <p:spPr>
          <a:xfrm>
            <a:off x="16249650" y="442150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47" name="Shape 45"/>
          <p:cNvSpPr/>
          <p:nvPr/>
        </p:nvSpPr>
        <p:spPr>
          <a:xfrm>
            <a:off x="1047750" y="4798695"/>
            <a:ext cx="3143250" cy="9525"/>
          </a:xfrm>
          <a:prstGeom prst="rect">
            <a:avLst/>
          </a:prstGeom>
          <a:solidFill>
            <a:srgbClr val="E3E1DB"/>
          </a:solidFill>
          <a:ln/>
        </p:spPr>
        <p:txBody>
          <a:bodyPr/>
          <a:lstStyle/>
          <a:p>
            <a:endParaRPr lang="en-US"/>
          </a:p>
        </p:txBody>
      </p:sp>
      <p:sp>
        <p:nvSpPr>
          <p:cNvPr id="48" name="Text 46"/>
          <p:cNvSpPr/>
          <p:nvPr/>
        </p:nvSpPr>
        <p:spPr>
          <a:xfrm>
            <a:off x="1047750" y="490156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Timed entry to the old town</a:t>
            </a:r>
            <a:endParaRPr lang="en-US" sz="1575" dirty="0"/>
          </a:p>
        </p:txBody>
      </p:sp>
      <p:sp>
        <p:nvSpPr>
          <p:cNvPr id="49" name="Shape 47"/>
          <p:cNvSpPr/>
          <p:nvPr/>
        </p:nvSpPr>
        <p:spPr>
          <a:xfrm>
            <a:off x="4191000" y="4798695"/>
            <a:ext cx="6048375" cy="9525"/>
          </a:xfrm>
          <a:prstGeom prst="rect">
            <a:avLst/>
          </a:prstGeom>
          <a:solidFill>
            <a:srgbClr val="E3E1DB"/>
          </a:solidFill>
          <a:ln/>
        </p:spPr>
        <p:txBody>
          <a:bodyPr/>
          <a:lstStyle/>
          <a:p>
            <a:endParaRPr lang="en-US"/>
          </a:p>
        </p:txBody>
      </p:sp>
      <p:sp>
        <p:nvSpPr>
          <p:cNvPr id="50" name="Text 48"/>
          <p:cNvSpPr/>
          <p:nvPr/>
        </p:nvSpPr>
        <p:spPr>
          <a:xfrm>
            <a:off x="4191000" y="490156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Spreads crowds across the day; streets stay walkable.</a:t>
            </a:r>
            <a:endParaRPr lang="en-US" sz="1350" dirty="0"/>
          </a:p>
        </p:txBody>
      </p:sp>
      <p:sp>
        <p:nvSpPr>
          <p:cNvPr id="51" name="Shape 49"/>
          <p:cNvSpPr/>
          <p:nvPr/>
        </p:nvSpPr>
        <p:spPr>
          <a:xfrm>
            <a:off x="10239375" y="4798695"/>
            <a:ext cx="6048375" cy="9525"/>
          </a:xfrm>
          <a:prstGeom prst="rect">
            <a:avLst/>
          </a:prstGeom>
          <a:solidFill>
            <a:srgbClr val="E3E1DB"/>
          </a:solidFill>
          <a:ln/>
        </p:spPr>
        <p:txBody>
          <a:bodyPr/>
          <a:lstStyle/>
          <a:p>
            <a:endParaRPr lang="en-US"/>
          </a:p>
        </p:txBody>
      </p:sp>
      <p:sp>
        <p:nvSpPr>
          <p:cNvPr id="52" name="Text 50"/>
          <p:cNvSpPr/>
          <p:nvPr/>
        </p:nvSpPr>
        <p:spPr>
          <a:xfrm>
            <a:off x="10239375" y="490156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Anyone who arrives without booking — residents included.</a:t>
            </a:r>
            <a:endParaRPr lang="en-US" sz="1350" dirty="0"/>
          </a:p>
        </p:txBody>
      </p:sp>
      <p:sp>
        <p:nvSpPr>
          <p:cNvPr id="53" name="Shape 51"/>
          <p:cNvSpPr/>
          <p:nvPr/>
        </p:nvSpPr>
        <p:spPr>
          <a:xfrm>
            <a:off x="16287750" y="4798695"/>
            <a:ext cx="952500" cy="9525"/>
          </a:xfrm>
          <a:prstGeom prst="rect">
            <a:avLst/>
          </a:prstGeom>
          <a:solidFill>
            <a:srgbClr val="E3E1DB"/>
          </a:solidFill>
          <a:ln/>
        </p:spPr>
        <p:txBody>
          <a:bodyPr/>
          <a:lstStyle/>
          <a:p>
            <a:endParaRPr lang="en-US"/>
          </a:p>
        </p:txBody>
      </p:sp>
      <p:sp>
        <p:nvSpPr>
          <p:cNvPr id="54" name="Text 52"/>
          <p:cNvSpPr/>
          <p:nvPr/>
        </p:nvSpPr>
        <p:spPr>
          <a:xfrm>
            <a:off x="16249650" y="490156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55" name="Shape 53"/>
          <p:cNvSpPr/>
          <p:nvPr/>
        </p:nvSpPr>
        <p:spPr>
          <a:xfrm>
            <a:off x="1047750" y="5758815"/>
            <a:ext cx="3143250" cy="15240"/>
          </a:xfrm>
          <a:prstGeom prst="rect">
            <a:avLst/>
          </a:prstGeom>
          <a:solidFill>
            <a:srgbClr val="1A2A5E"/>
          </a:solidFill>
          <a:ln/>
        </p:spPr>
        <p:txBody>
          <a:bodyPr/>
          <a:lstStyle/>
          <a:p>
            <a:endParaRPr lang="en-US"/>
          </a:p>
        </p:txBody>
      </p:sp>
      <p:sp>
        <p:nvSpPr>
          <p:cNvPr id="56" name="Shape 54"/>
          <p:cNvSpPr/>
          <p:nvPr/>
        </p:nvSpPr>
        <p:spPr>
          <a:xfrm>
            <a:off x="1047750" y="5278755"/>
            <a:ext cx="3143250" cy="9525"/>
          </a:xfrm>
          <a:prstGeom prst="rect">
            <a:avLst/>
          </a:prstGeom>
          <a:solidFill>
            <a:srgbClr val="E3E1DB"/>
          </a:solidFill>
          <a:ln/>
        </p:spPr>
        <p:txBody>
          <a:bodyPr/>
          <a:lstStyle/>
          <a:p>
            <a:endParaRPr lang="en-US"/>
          </a:p>
        </p:txBody>
      </p:sp>
      <p:sp>
        <p:nvSpPr>
          <p:cNvPr id="57" name="Text 55"/>
          <p:cNvSpPr/>
          <p:nvPr/>
        </p:nvSpPr>
        <p:spPr>
          <a:xfrm>
            <a:off x="1047750" y="5381625"/>
            <a:ext cx="3142298" cy="320040"/>
          </a:xfrm>
          <a:prstGeom prst="rect">
            <a:avLst/>
          </a:prstGeom>
          <a:noFill/>
          <a:ln/>
        </p:spPr>
        <p:txBody>
          <a:bodyPr wrap="square" lIns="25400" tIns="25400" rIns="25400" bIns="25400" rtlCol="0" anchor="t">
            <a:normAutofit/>
          </a:bodyPr>
          <a:lstStyle/>
          <a:p>
            <a:pPr marL="0" indent="0" algn="l">
              <a:buNone/>
            </a:pPr>
            <a:r>
              <a:rPr lang="en-US" sz="1575" b="1" dirty="0">
                <a:solidFill>
                  <a:srgbClr val="1A1A1A"/>
                </a:solidFill>
                <a:latin typeface="Helvetica" pitchFamily="34" charset="0"/>
                <a:ea typeface="Helvetica" pitchFamily="34" charset="-122"/>
                <a:cs typeface="Helvetica" pitchFamily="34" charset="-120"/>
              </a:rPr>
              <a:t>Change nothing</a:t>
            </a:r>
            <a:endParaRPr lang="en-US" sz="1575" dirty="0"/>
          </a:p>
        </p:txBody>
      </p:sp>
      <p:sp>
        <p:nvSpPr>
          <p:cNvPr id="58" name="Shape 56"/>
          <p:cNvSpPr/>
          <p:nvPr/>
        </p:nvSpPr>
        <p:spPr>
          <a:xfrm>
            <a:off x="4191000" y="5758815"/>
            <a:ext cx="6048375" cy="15240"/>
          </a:xfrm>
          <a:prstGeom prst="rect">
            <a:avLst/>
          </a:prstGeom>
          <a:solidFill>
            <a:srgbClr val="1A2A5E"/>
          </a:solidFill>
          <a:ln/>
        </p:spPr>
        <p:txBody>
          <a:bodyPr/>
          <a:lstStyle/>
          <a:p>
            <a:endParaRPr lang="en-US"/>
          </a:p>
        </p:txBody>
      </p:sp>
      <p:sp>
        <p:nvSpPr>
          <p:cNvPr id="59" name="Shape 57"/>
          <p:cNvSpPr/>
          <p:nvPr/>
        </p:nvSpPr>
        <p:spPr>
          <a:xfrm>
            <a:off x="4191000" y="5278755"/>
            <a:ext cx="6048375" cy="9525"/>
          </a:xfrm>
          <a:prstGeom prst="rect">
            <a:avLst/>
          </a:prstGeom>
          <a:solidFill>
            <a:srgbClr val="E3E1DB"/>
          </a:solidFill>
          <a:ln/>
        </p:spPr>
        <p:txBody>
          <a:bodyPr/>
          <a:lstStyle/>
          <a:p>
            <a:endParaRPr lang="en-US"/>
          </a:p>
        </p:txBody>
      </p:sp>
      <p:sp>
        <p:nvSpPr>
          <p:cNvPr id="60" name="Text 58"/>
          <p:cNvSpPr/>
          <p:nvPr/>
        </p:nvSpPr>
        <p:spPr>
          <a:xfrm>
            <a:off x="4191000" y="538162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Keeps every job and every euro the visitors bring.</a:t>
            </a:r>
            <a:endParaRPr lang="en-US" sz="1350" dirty="0"/>
          </a:p>
        </p:txBody>
      </p:sp>
      <p:sp>
        <p:nvSpPr>
          <p:cNvPr id="61" name="Shape 59"/>
          <p:cNvSpPr/>
          <p:nvPr/>
        </p:nvSpPr>
        <p:spPr>
          <a:xfrm>
            <a:off x="10239375" y="5758815"/>
            <a:ext cx="6048375" cy="15240"/>
          </a:xfrm>
          <a:prstGeom prst="rect">
            <a:avLst/>
          </a:prstGeom>
          <a:solidFill>
            <a:srgbClr val="1A2A5E"/>
          </a:solidFill>
          <a:ln/>
        </p:spPr>
        <p:txBody>
          <a:bodyPr/>
          <a:lstStyle/>
          <a:p>
            <a:endParaRPr lang="en-US"/>
          </a:p>
        </p:txBody>
      </p:sp>
      <p:sp>
        <p:nvSpPr>
          <p:cNvPr id="62" name="Shape 60"/>
          <p:cNvSpPr/>
          <p:nvPr/>
        </p:nvSpPr>
        <p:spPr>
          <a:xfrm>
            <a:off x="10239375" y="5278755"/>
            <a:ext cx="6048375" cy="9525"/>
          </a:xfrm>
          <a:prstGeom prst="rect">
            <a:avLst/>
          </a:prstGeom>
          <a:solidFill>
            <a:srgbClr val="E3E1DB"/>
          </a:solidFill>
          <a:ln/>
        </p:spPr>
        <p:txBody>
          <a:bodyPr/>
          <a:lstStyle/>
          <a:p>
            <a:endParaRPr lang="en-US"/>
          </a:p>
        </p:txBody>
      </p:sp>
      <p:sp>
        <p:nvSpPr>
          <p:cNvPr id="63" name="Text 61"/>
          <p:cNvSpPr/>
          <p:nvPr/>
        </p:nvSpPr>
        <p:spPr>
          <a:xfrm>
            <a:off x="10239375" y="5381625"/>
            <a:ext cx="6115526" cy="320040"/>
          </a:xfrm>
          <a:prstGeom prst="rect">
            <a:avLst/>
          </a:prstGeom>
          <a:noFill/>
          <a:ln/>
        </p:spPr>
        <p:txBody>
          <a:bodyPr wrap="square" lIns="25400" tIns="25400" rIns="25400" bIns="25400" rtlCol="0" anchor="t">
            <a:normAutofit/>
          </a:bodyPr>
          <a:lstStyle/>
          <a:p>
            <a:pPr marL="0" indent="0" algn="l">
              <a:lnSpc>
                <a:spcPct val="108173"/>
              </a:lnSpc>
              <a:buNone/>
            </a:pPr>
            <a:r>
              <a:rPr lang="en-US" sz="1350" dirty="0">
                <a:solidFill>
                  <a:srgbClr val="333333"/>
                </a:solidFill>
                <a:latin typeface="Helvetica" pitchFamily="34" charset="0"/>
                <a:ea typeface="Helvetica" pitchFamily="34" charset="-122"/>
                <a:cs typeface="Helvetica" pitchFamily="34" charset="-120"/>
              </a:rPr>
              <a:t>The residents who leave, quietly, one family at a time.</a:t>
            </a:r>
            <a:endParaRPr lang="en-US" sz="1350" dirty="0"/>
          </a:p>
        </p:txBody>
      </p:sp>
      <p:sp>
        <p:nvSpPr>
          <p:cNvPr id="64" name="Shape 62"/>
          <p:cNvSpPr/>
          <p:nvPr/>
        </p:nvSpPr>
        <p:spPr>
          <a:xfrm>
            <a:off x="16287750" y="5758815"/>
            <a:ext cx="952500" cy="15240"/>
          </a:xfrm>
          <a:prstGeom prst="rect">
            <a:avLst/>
          </a:prstGeom>
          <a:solidFill>
            <a:srgbClr val="1A2A5E"/>
          </a:solidFill>
          <a:ln/>
        </p:spPr>
        <p:txBody>
          <a:bodyPr/>
          <a:lstStyle/>
          <a:p>
            <a:endParaRPr lang="en-US"/>
          </a:p>
        </p:txBody>
      </p:sp>
      <p:sp>
        <p:nvSpPr>
          <p:cNvPr id="65" name="Shape 63"/>
          <p:cNvSpPr/>
          <p:nvPr/>
        </p:nvSpPr>
        <p:spPr>
          <a:xfrm>
            <a:off x="16287750" y="5278755"/>
            <a:ext cx="952500" cy="9525"/>
          </a:xfrm>
          <a:prstGeom prst="rect">
            <a:avLst/>
          </a:prstGeom>
          <a:solidFill>
            <a:srgbClr val="E3E1DB"/>
          </a:solidFill>
          <a:ln/>
        </p:spPr>
        <p:txBody>
          <a:bodyPr/>
          <a:lstStyle/>
          <a:p>
            <a:endParaRPr lang="en-US"/>
          </a:p>
        </p:txBody>
      </p:sp>
      <p:sp>
        <p:nvSpPr>
          <p:cNvPr id="66" name="Text 64"/>
          <p:cNvSpPr/>
          <p:nvPr/>
        </p:nvSpPr>
        <p:spPr>
          <a:xfrm>
            <a:off x="16249650" y="5381625"/>
            <a:ext cx="1028700" cy="320040"/>
          </a:xfrm>
          <a:prstGeom prst="rect">
            <a:avLst/>
          </a:prstGeom>
          <a:noFill/>
          <a:ln/>
        </p:spPr>
        <p:txBody>
          <a:bodyPr wrap="square" lIns="25400" tIns="25400" rIns="25400" bIns="25400" rtlCol="0" anchor="t">
            <a:normAutofit/>
          </a:bodyPr>
          <a:lstStyle/>
          <a:p>
            <a:pPr marL="0" indent="0" algn="ctr">
              <a:buNone/>
            </a:pPr>
            <a:r>
              <a:rPr lang="en-US" sz="1650" dirty="0">
                <a:solidFill>
                  <a:srgbClr val="B9B7B0"/>
                </a:solidFill>
                <a:latin typeface="Helvetica" pitchFamily="34" charset="0"/>
                <a:ea typeface="Helvetica" pitchFamily="34" charset="-122"/>
                <a:cs typeface="Helvetica" pitchFamily="34" charset="-120"/>
              </a:rPr>
              <a:t>☐</a:t>
            </a:r>
            <a:endParaRPr lang="en-US" sz="1650" dirty="0"/>
          </a:p>
        </p:txBody>
      </p:sp>
      <p:sp>
        <p:nvSpPr>
          <p:cNvPr id="67" name="Text 65"/>
          <p:cNvSpPr/>
          <p:nvPr/>
        </p:nvSpPr>
        <p:spPr>
          <a:xfrm>
            <a:off x="1047750" y="5991225"/>
            <a:ext cx="1440918" cy="236220"/>
          </a:xfrm>
          <a:prstGeom prst="rect">
            <a:avLst/>
          </a:prstGeom>
          <a:noFill/>
          <a:ln/>
        </p:spPr>
        <p:txBody>
          <a:bodyPr wrap="none" lIns="25400" tIns="25400" rIns="25400" bIns="25400" rtlCol="0" anchor="t">
            <a:normAutofit lnSpcReduction="10000"/>
          </a:bodyPr>
          <a:lstStyle/>
          <a:p>
            <a:pPr marL="0" indent="0" algn="l">
              <a:buNone/>
            </a:pPr>
            <a:r>
              <a:rPr lang="en-US" sz="1350" b="1" kern="0" spc="263" dirty="0">
                <a:solidFill>
                  <a:srgbClr val="BF842C"/>
                </a:solidFill>
                <a:latin typeface="Helvetica" pitchFamily="34" charset="0"/>
                <a:ea typeface="Helvetica" pitchFamily="34" charset="-122"/>
                <a:cs typeface="Helvetica" pitchFamily="34" charset="-120"/>
              </a:rPr>
              <a:t>YOUR VOTE</a:t>
            </a:r>
            <a:endParaRPr lang="en-US" sz="1350" dirty="0"/>
          </a:p>
        </p:txBody>
      </p:sp>
      <p:sp>
        <p:nvSpPr>
          <p:cNvPr id="68" name="Text 66"/>
          <p:cNvSpPr/>
          <p:nvPr/>
        </p:nvSpPr>
        <p:spPr>
          <a:xfrm>
            <a:off x="2605326" y="5907405"/>
            <a:ext cx="11895892" cy="358140"/>
          </a:xfrm>
          <a:prstGeom prst="rect">
            <a:avLst/>
          </a:prstGeom>
          <a:noFill/>
          <a:ln/>
        </p:spPr>
        <p:txBody>
          <a:bodyPr wrap="square" lIns="25400" tIns="25400" rIns="25400" bIns="25400" rtlCol="0" anchor="t">
            <a:normAutofit lnSpcReduction="10000"/>
          </a:bodyPr>
          <a:lstStyle/>
          <a:p>
            <a:pPr marL="0" indent="0" algn="l">
              <a:lnSpc>
                <a:spcPct val="123529"/>
              </a:lnSpc>
              <a:buNone/>
            </a:pPr>
            <a:r>
              <a:rPr lang="en-US" sz="1800" dirty="0">
                <a:solidFill>
                  <a:srgbClr val="1A1A1A"/>
                </a:solidFill>
                <a:latin typeface="Helvetica" pitchFamily="34" charset="0"/>
                <a:ea typeface="Helvetica" pitchFamily="34" charset="-122"/>
                <a:cs typeface="Helvetica" pitchFamily="34" charset="-120"/>
              </a:rPr>
              <a:t>Measures passed: ______ of 6 The group you have decided to disappoint: _____________________________</a:t>
            </a:r>
            <a:endParaRPr lang="en-US" sz="1800" dirty="0"/>
          </a:p>
        </p:txBody>
      </p:sp>
      <p:sp>
        <p:nvSpPr>
          <p:cNvPr id="69" name="Shape 67"/>
          <p:cNvSpPr/>
          <p:nvPr/>
        </p:nvSpPr>
        <p:spPr>
          <a:xfrm>
            <a:off x="1047750" y="6341745"/>
            <a:ext cx="38100" cy="693420"/>
          </a:xfrm>
          <a:prstGeom prst="rect">
            <a:avLst/>
          </a:prstGeom>
          <a:solidFill>
            <a:srgbClr val="D9B877"/>
          </a:solidFill>
          <a:ln/>
        </p:spPr>
        <p:txBody>
          <a:bodyPr/>
          <a:lstStyle/>
          <a:p>
            <a:endParaRPr lang="en-US"/>
          </a:p>
        </p:txBody>
      </p:sp>
      <p:sp>
        <p:nvSpPr>
          <p:cNvPr id="70" name="Text 68"/>
          <p:cNvSpPr/>
          <p:nvPr/>
        </p:nvSpPr>
        <p:spPr>
          <a:xfrm>
            <a:off x="1276350" y="6379845"/>
            <a:ext cx="1071801" cy="236220"/>
          </a:xfrm>
          <a:prstGeom prst="rect">
            <a:avLst/>
          </a:prstGeom>
          <a:noFill/>
          <a:ln/>
        </p:spPr>
        <p:txBody>
          <a:bodyPr wrap="none" lIns="25400" tIns="25400" rIns="25400" bIns="25400" rtlCol="0" anchor="t">
            <a:normAutofit lnSpcReduction="10000"/>
          </a:bodyPr>
          <a:lstStyle/>
          <a:p>
            <a:pPr marL="0" indent="0" algn="l">
              <a:buNone/>
            </a:pPr>
            <a:r>
              <a:rPr lang="en-US" sz="1350" b="1" kern="0" spc="263" dirty="0">
                <a:solidFill>
                  <a:srgbClr val="BF842C"/>
                </a:solidFill>
                <a:latin typeface="Helvetica" pitchFamily="34" charset="0"/>
                <a:ea typeface="Helvetica" pitchFamily="34" charset="-122"/>
                <a:cs typeface="Helvetica" pitchFamily="34" charset="-120"/>
              </a:rPr>
              <a:t>DISCUSS</a:t>
            </a:r>
            <a:endParaRPr lang="en-US" sz="1350" dirty="0"/>
          </a:p>
        </p:txBody>
      </p:sp>
      <p:sp>
        <p:nvSpPr>
          <p:cNvPr id="71" name="Text 69"/>
          <p:cNvSpPr/>
          <p:nvPr/>
        </p:nvSpPr>
        <p:spPr>
          <a:xfrm>
            <a:off x="2519601" y="6341745"/>
            <a:ext cx="228719" cy="346710"/>
          </a:xfrm>
          <a:prstGeom prst="rect">
            <a:avLst/>
          </a:prstGeom>
          <a:noFill/>
          <a:ln/>
        </p:spPr>
        <p:txBody>
          <a:bodyPr wrap="square" lIns="25400" tIns="25400" rIns="25400" bIns="25400" rtlCol="0" anchor="t">
            <a:normAutofit/>
          </a:bodyPr>
          <a:lstStyle/>
          <a:p>
            <a:pPr marL="0" indent="0" algn="l">
              <a:lnSpc>
                <a:spcPct val="96429"/>
              </a:lnSpc>
              <a:buNone/>
            </a:pPr>
            <a:r>
              <a:rPr lang="en-US" sz="1800" b="1" dirty="0">
                <a:solidFill>
                  <a:srgbClr val="1A2A5E"/>
                </a:solidFill>
                <a:latin typeface="Helvetica" pitchFamily="34" charset="0"/>
                <a:ea typeface="Helvetica" pitchFamily="34" charset="-122"/>
                <a:cs typeface="Helvetica" pitchFamily="34" charset="-120"/>
              </a:rPr>
              <a:t>1</a:t>
            </a:r>
            <a:endParaRPr lang="en-US" sz="1800" dirty="0"/>
          </a:p>
        </p:txBody>
      </p:sp>
      <p:sp>
        <p:nvSpPr>
          <p:cNvPr id="72" name="Text 70"/>
          <p:cNvSpPr/>
          <p:nvPr/>
        </p:nvSpPr>
        <p:spPr>
          <a:xfrm>
            <a:off x="2824520" y="6341745"/>
            <a:ext cx="7403532" cy="346710"/>
          </a:xfrm>
          <a:prstGeom prst="rect">
            <a:avLst/>
          </a:prstGeom>
          <a:noFill/>
          <a:ln/>
        </p:spPr>
        <p:txBody>
          <a:bodyPr wrap="square" lIns="25400" tIns="25400" rIns="25400" bIns="25400" rtlCol="0" anchor="t">
            <a:normAutofit lnSpcReduction="10000"/>
          </a:bodyPr>
          <a:lstStyle/>
          <a:p>
            <a:pPr marL="0" indent="0" algn="l">
              <a:lnSpc>
                <a:spcPct val="119118"/>
              </a:lnSpc>
              <a:buNone/>
            </a:pPr>
            <a:r>
              <a:rPr lang="en-US" sz="1800" dirty="0">
                <a:solidFill>
                  <a:srgbClr val="1A1A1A"/>
                </a:solidFill>
                <a:latin typeface="Helvetica" pitchFamily="34" charset="0"/>
                <a:ea typeface="Helvetica" pitchFamily="34" charset="-122"/>
                <a:cs typeface="Helvetica" pitchFamily="34" charset="-120"/>
              </a:rPr>
              <a:t>Would you still vote this way if your own job depended on tourism?</a:t>
            </a:r>
            <a:endParaRPr lang="en-US" sz="1800" dirty="0"/>
          </a:p>
        </p:txBody>
      </p:sp>
      <p:sp>
        <p:nvSpPr>
          <p:cNvPr id="73" name="Text 71"/>
          <p:cNvSpPr/>
          <p:nvPr/>
        </p:nvSpPr>
        <p:spPr>
          <a:xfrm>
            <a:off x="2519601" y="6726555"/>
            <a:ext cx="228719" cy="346710"/>
          </a:xfrm>
          <a:prstGeom prst="rect">
            <a:avLst/>
          </a:prstGeom>
          <a:noFill/>
          <a:ln/>
        </p:spPr>
        <p:txBody>
          <a:bodyPr wrap="square" lIns="25400" tIns="25400" rIns="25400" bIns="25400" rtlCol="0" anchor="t">
            <a:normAutofit/>
          </a:bodyPr>
          <a:lstStyle/>
          <a:p>
            <a:pPr marL="0" indent="0" algn="l">
              <a:lnSpc>
                <a:spcPct val="96429"/>
              </a:lnSpc>
              <a:buNone/>
            </a:pPr>
            <a:r>
              <a:rPr lang="en-US" sz="1800" b="1" dirty="0">
                <a:solidFill>
                  <a:srgbClr val="1A2A5E"/>
                </a:solidFill>
                <a:latin typeface="Helvetica" pitchFamily="34" charset="0"/>
                <a:ea typeface="Helvetica" pitchFamily="34" charset="-122"/>
                <a:cs typeface="Helvetica" pitchFamily="34" charset="-120"/>
              </a:rPr>
              <a:t>2</a:t>
            </a:r>
            <a:endParaRPr lang="en-US" sz="1800" dirty="0"/>
          </a:p>
        </p:txBody>
      </p:sp>
      <p:sp>
        <p:nvSpPr>
          <p:cNvPr id="74" name="Text 72"/>
          <p:cNvSpPr/>
          <p:nvPr/>
        </p:nvSpPr>
        <p:spPr>
          <a:xfrm>
            <a:off x="2824520" y="6726555"/>
            <a:ext cx="10147459" cy="346710"/>
          </a:xfrm>
          <a:prstGeom prst="rect">
            <a:avLst/>
          </a:prstGeom>
          <a:noFill/>
          <a:ln/>
        </p:spPr>
        <p:txBody>
          <a:bodyPr wrap="square" lIns="25400" tIns="25400" rIns="25400" bIns="25400" rtlCol="0" anchor="t">
            <a:normAutofit lnSpcReduction="10000"/>
          </a:bodyPr>
          <a:lstStyle/>
          <a:p>
            <a:pPr marL="0" indent="0" algn="l">
              <a:lnSpc>
                <a:spcPct val="119118"/>
              </a:lnSpc>
              <a:buNone/>
            </a:pPr>
            <a:r>
              <a:rPr lang="en-US" sz="1800" dirty="0">
                <a:solidFill>
                  <a:srgbClr val="1A1A1A"/>
                </a:solidFill>
                <a:latin typeface="Helvetica" pitchFamily="34" charset="0"/>
                <a:ea typeface="Helvetica" pitchFamily="34" charset="-122"/>
                <a:cs typeface="Helvetica" pitchFamily="34" charset="-120"/>
              </a:rPr>
              <a:t>Compare with another council. Who protected residents most, and who kept the most jobs?</a:t>
            </a:r>
            <a:endParaRPr lang="en-US" sz="1800" dirty="0"/>
          </a:p>
        </p:txBody>
      </p:sp>
      <p:sp>
        <p:nvSpPr>
          <p:cNvPr id="75" name="Text 73"/>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2118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Complete &amp; say each line</a:t>
            </a:r>
            <a:endParaRPr lang="en-US" sz="3900" dirty="0"/>
          </a:p>
        </p:txBody>
      </p:sp>
      <p:sp>
        <p:nvSpPr>
          <p:cNvPr id="7" name="Text 5"/>
          <p:cNvSpPr/>
          <p:nvPr/>
        </p:nvSpPr>
        <p:spPr>
          <a:xfrm>
            <a:off x="1047750" y="249936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298704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173730"/>
            <a:ext cx="802481"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surge</a:t>
            </a:r>
            <a:endParaRPr lang="en-US" sz="2100" dirty="0"/>
          </a:p>
        </p:txBody>
      </p:sp>
      <p:sp>
        <p:nvSpPr>
          <p:cNvPr id="10" name="Text 8"/>
          <p:cNvSpPr/>
          <p:nvPr/>
        </p:nvSpPr>
        <p:spPr>
          <a:xfrm>
            <a:off x="2494121" y="3173730"/>
            <a:ext cx="802481"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strain</a:t>
            </a:r>
            <a:endParaRPr lang="en-US" sz="2100" dirty="0"/>
          </a:p>
        </p:txBody>
      </p:sp>
      <p:sp>
        <p:nvSpPr>
          <p:cNvPr id="11" name="Text 9"/>
          <p:cNvSpPr/>
          <p:nvPr/>
        </p:nvSpPr>
        <p:spPr>
          <a:xfrm>
            <a:off x="3601403" y="3173730"/>
            <a:ext cx="126206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residents</a:t>
            </a:r>
            <a:endParaRPr lang="en-US" sz="2100" dirty="0"/>
          </a:p>
        </p:txBody>
      </p:sp>
      <p:sp>
        <p:nvSpPr>
          <p:cNvPr id="12" name="Text 10"/>
          <p:cNvSpPr/>
          <p:nvPr/>
        </p:nvSpPr>
        <p:spPr>
          <a:xfrm>
            <a:off x="5168265" y="3173730"/>
            <a:ext cx="1113711"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regulate</a:t>
            </a:r>
            <a:endParaRPr lang="en-US" sz="2100" dirty="0"/>
          </a:p>
        </p:txBody>
      </p:sp>
      <p:sp>
        <p:nvSpPr>
          <p:cNvPr id="13" name="Text 11"/>
          <p:cNvSpPr/>
          <p:nvPr/>
        </p:nvSpPr>
        <p:spPr>
          <a:xfrm>
            <a:off x="6586776" y="3173730"/>
            <a:ext cx="161419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sustainable</a:t>
            </a:r>
            <a:endParaRPr lang="en-US" sz="2100" dirty="0"/>
          </a:p>
        </p:txBody>
      </p:sp>
      <p:sp>
        <p:nvSpPr>
          <p:cNvPr id="14" name="Text 12"/>
          <p:cNvSpPr/>
          <p:nvPr/>
        </p:nvSpPr>
        <p:spPr>
          <a:xfrm>
            <a:off x="1047750" y="398145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5" name="Text 13"/>
          <p:cNvSpPr/>
          <p:nvPr/>
        </p:nvSpPr>
        <p:spPr>
          <a:xfrm>
            <a:off x="1581150" y="3950970"/>
            <a:ext cx="9011436"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A sudden ______________ in tourists can change a city overnight.</a:t>
            </a:r>
            <a:endParaRPr lang="en-US" sz="2250" dirty="0"/>
          </a:p>
        </p:txBody>
      </p:sp>
      <p:sp>
        <p:nvSpPr>
          <p:cNvPr id="16" name="Text 14"/>
          <p:cNvSpPr/>
          <p:nvPr/>
        </p:nvSpPr>
        <p:spPr>
          <a:xfrm>
            <a:off x="1047750" y="4576763"/>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7" name="Text 15"/>
          <p:cNvSpPr/>
          <p:nvPr/>
        </p:nvSpPr>
        <p:spPr>
          <a:xfrm>
            <a:off x="1581150" y="4546283"/>
            <a:ext cx="7839920"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Too many visitors put a real ______________ on local life.</a:t>
            </a:r>
            <a:endParaRPr lang="en-US" sz="2250" dirty="0"/>
          </a:p>
        </p:txBody>
      </p:sp>
      <p:sp>
        <p:nvSpPr>
          <p:cNvPr id="18" name="Text 16"/>
          <p:cNvSpPr/>
          <p:nvPr/>
        </p:nvSpPr>
        <p:spPr>
          <a:xfrm>
            <a:off x="1047750" y="5172075"/>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9" name="Text 17"/>
          <p:cNvSpPr/>
          <p:nvPr/>
        </p:nvSpPr>
        <p:spPr>
          <a:xfrm>
            <a:off x="1581150" y="5141595"/>
            <a:ext cx="7787402"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I think ______________ should matter more than tourists.</a:t>
            </a:r>
            <a:endParaRPr lang="en-US" sz="2250" dirty="0"/>
          </a:p>
        </p:txBody>
      </p:sp>
      <p:sp>
        <p:nvSpPr>
          <p:cNvPr id="20" name="Text 18"/>
          <p:cNvSpPr/>
          <p:nvPr/>
        </p:nvSpPr>
        <p:spPr>
          <a:xfrm>
            <a:off x="1047750" y="5767388"/>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21" name="Text 19"/>
          <p:cNvSpPr/>
          <p:nvPr/>
        </p:nvSpPr>
        <p:spPr>
          <a:xfrm>
            <a:off x="1581150" y="5736907"/>
            <a:ext cx="908058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Cities should ______________ tourism before it gets out of control.</a:t>
            </a:r>
            <a:endParaRPr lang="en-US" sz="2250" dirty="0"/>
          </a:p>
        </p:txBody>
      </p:sp>
      <p:sp>
        <p:nvSpPr>
          <p:cNvPr id="22" name="Text 20"/>
          <p:cNvSpPr/>
          <p:nvPr/>
        </p:nvSpPr>
        <p:spPr>
          <a:xfrm>
            <a:off x="1047750" y="636270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581150" y="6332220"/>
            <a:ext cx="8171795"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For me, ______________ travel is the only kind worth doing.</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3830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43050"/>
            <a:ext cx="3262670" cy="388620"/>
          </a:xfrm>
          <a:prstGeom prst="rect">
            <a:avLst/>
          </a:prstGeom>
          <a:solidFill>
            <a:srgbClr val="1A2A5E"/>
          </a:solidFill>
          <a:ln/>
        </p:spPr>
        <p:txBody>
          <a:bodyPr/>
          <a:lstStyle/>
          <a:p>
            <a:endParaRPr lang="en-US"/>
          </a:p>
        </p:txBody>
      </p:sp>
      <p:sp>
        <p:nvSpPr>
          <p:cNvPr id="7" name="Text 5"/>
          <p:cNvSpPr/>
          <p:nvPr/>
        </p:nvSpPr>
        <p:spPr>
          <a:xfrm>
            <a:off x="4449366" y="160020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06502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Complete &amp; say each line</a:t>
            </a:r>
            <a:endParaRPr lang="en-US" sz="3750" dirty="0"/>
          </a:p>
        </p:txBody>
      </p:sp>
      <p:sp>
        <p:nvSpPr>
          <p:cNvPr id="9" name="Text 7"/>
          <p:cNvSpPr/>
          <p:nvPr/>
        </p:nvSpPr>
        <p:spPr>
          <a:xfrm>
            <a:off x="1047750" y="301752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1</a:t>
            </a:r>
            <a:endParaRPr lang="en-US" sz="2100" dirty="0"/>
          </a:p>
        </p:txBody>
      </p:sp>
      <p:sp>
        <p:nvSpPr>
          <p:cNvPr id="10" name="Text 8"/>
          <p:cNvSpPr/>
          <p:nvPr/>
        </p:nvSpPr>
        <p:spPr>
          <a:xfrm>
            <a:off x="1581150" y="2987040"/>
            <a:ext cx="717564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sudden </a:t>
            </a:r>
            <a:r>
              <a:rPr lang="en-US" sz="2100" b="1" dirty="0">
                <a:solidFill>
                  <a:srgbClr val="1A2A5E"/>
                </a:solidFill>
                <a:latin typeface="Helvetica" pitchFamily="34" charset="0"/>
                <a:ea typeface="Helvetica" pitchFamily="34" charset="-122"/>
                <a:cs typeface="Helvetica" pitchFamily="34" charset="-120"/>
              </a:rPr>
              <a:t>surge </a:t>
            </a:r>
            <a:r>
              <a:rPr lang="en-US" sz="2100" dirty="0">
                <a:solidFill>
                  <a:srgbClr val="444444"/>
                </a:solidFill>
                <a:latin typeface="Helvetica" pitchFamily="34" charset="0"/>
                <a:ea typeface="Helvetica" pitchFamily="34" charset="-122"/>
                <a:cs typeface="Helvetica" pitchFamily="34" charset="-120"/>
              </a:rPr>
              <a:t>in tourists can change a city overnight.</a:t>
            </a:r>
            <a:endParaRPr lang="en-US" sz="2100" dirty="0"/>
          </a:p>
        </p:txBody>
      </p:sp>
      <p:sp>
        <p:nvSpPr>
          <p:cNvPr id="11" name="Text 9"/>
          <p:cNvSpPr/>
          <p:nvPr/>
        </p:nvSpPr>
        <p:spPr>
          <a:xfrm>
            <a:off x="1047750" y="358711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2</a:t>
            </a:r>
            <a:endParaRPr lang="en-US" sz="2100" dirty="0"/>
          </a:p>
        </p:txBody>
      </p:sp>
      <p:sp>
        <p:nvSpPr>
          <p:cNvPr id="12" name="Text 10"/>
          <p:cNvSpPr/>
          <p:nvPr/>
        </p:nvSpPr>
        <p:spPr>
          <a:xfrm>
            <a:off x="1581150" y="3556635"/>
            <a:ext cx="608218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Too many visitors put a real </a:t>
            </a:r>
            <a:r>
              <a:rPr lang="en-US" sz="2100" b="1" dirty="0">
                <a:solidFill>
                  <a:srgbClr val="1A2A5E"/>
                </a:solidFill>
                <a:latin typeface="Helvetica" pitchFamily="34" charset="0"/>
                <a:ea typeface="Helvetica" pitchFamily="34" charset="-122"/>
                <a:cs typeface="Helvetica" pitchFamily="34" charset="-120"/>
              </a:rPr>
              <a:t>strain </a:t>
            </a:r>
            <a:r>
              <a:rPr lang="en-US" sz="2100" dirty="0">
                <a:solidFill>
                  <a:srgbClr val="444444"/>
                </a:solidFill>
                <a:latin typeface="Helvetica" pitchFamily="34" charset="0"/>
                <a:ea typeface="Helvetica" pitchFamily="34" charset="-122"/>
                <a:cs typeface="Helvetica" pitchFamily="34" charset="-120"/>
              </a:rPr>
              <a:t>on local life.</a:t>
            </a:r>
            <a:endParaRPr lang="en-US" sz="2100" dirty="0"/>
          </a:p>
        </p:txBody>
      </p:sp>
      <p:sp>
        <p:nvSpPr>
          <p:cNvPr id="13" name="Text 11"/>
          <p:cNvSpPr/>
          <p:nvPr/>
        </p:nvSpPr>
        <p:spPr>
          <a:xfrm>
            <a:off x="1047750" y="415671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3</a:t>
            </a:r>
            <a:endParaRPr lang="en-US" sz="2100" dirty="0"/>
          </a:p>
        </p:txBody>
      </p:sp>
      <p:sp>
        <p:nvSpPr>
          <p:cNvPr id="14" name="Text 12"/>
          <p:cNvSpPr/>
          <p:nvPr/>
        </p:nvSpPr>
        <p:spPr>
          <a:xfrm>
            <a:off x="1581150" y="4126230"/>
            <a:ext cx="6538615"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I think </a:t>
            </a:r>
            <a:r>
              <a:rPr lang="en-US" sz="2100" b="1" dirty="0">
                <a:solidFill>
                  <a:srgbClr val="1A2A5E"/>
                </a:solidFill>
                <a:latin typeface="Helvetica" pitchFamily="34" charset="0"/>
                <a:ea typeface="Helvetica" pitchFamily="34" charset="-122"/>
                <a:cs typeface="Helvetica" pitchFamily="34" charset="-120"/>
              </a:rPr>
              <a:t>residents </a:t>
            </a:r>
            <a:r>
              <a:rPr lang="en-US" sz="2100" dirty="0">
                <a:solidFill>
                  <a:srgbClr val="444444"/>
                </a:solidFill>
                <a:latin typeface="Helvetica" pitchFamily="34" charset="0"/>
                <a:ea typeface="Helvetica" pitchFamily="34" charset="-122"/>
                <a:cs typeface="Helvetica" pitchFamily="34" charset="-120"/>
              </a:rPr>
              <a:t>should matter more than tourists.</a:t>
            </a:r>
            <a:endParaRPr lang="en-US" sz="2100" dirty="0"/>
          </a:p>
        </p:txBody>
      </p:sp>
      <p:sp>
        <p:nvSpPr>
          <p:cNvPr id="15" name="Text 13"/>
          <p:cNvSpPr/>
          <p:nvPr/>
        </p:nvSpPr>
        <p:spPr>
          <a:xfrm>
            <a:off x="1047750" y="472630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4</a:t>
            </a:r>
            <a:endParaRPr lang="en-US" sz="2100" dirty="0"/>
          </a:p>
        </p:txBody>
      </p:sp>
      <p:sp>
        <p:nvSpPr>
          <p:cNvPr id="16" name="Text 14"/>
          <p:cNvSpPr/>
          <p:nvPr/>
        </p:nvSpPr>
        <p:spPr>
          <a:xfrm>
            <a:off x="1581150" y="4695825"/>
            <a:ext cx="7582305"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Cities should </a:t>
            </a:r>
            <a:r>
              <a:rPr lang="en-US" sz="2100" b="1" dirty="0">
                <a:solidFill>
                  <a:srgbClr val="1A2A5E"/>
                </a:solidFill>
                <a:latin typeface="Helvetica" pitchFamily="34" charset="0"/>
                <a:ea typeface="Helvetica" pitchFamily="34" charset="-122"/>
                <a:cs typeface="Helvetica" pitchFamily="34" charset="-120"/>
              </a:rPr>
              <a:t>regulate </a:t>
            </a:r>
            <a:r>
              <a:rPr lang="en-US" sz="2100" dirty="0">
                <a:solidFill>
                  <a:srgbClr val="444444"/>
                </a:solidFill>
                <a:latin typeface="Helvetica" pitchFamily="34" charset="0"/>
                <a:ea typeface="Helvetica" pitchFamily="34" charset="-122"/>
                <a:cs typeface="Helvetica" pitchFamily="34" charset="-120"/>
              </a:rPr>
              <a:t>tourism before it gets out of control.</a:t>
            </a:r>
            <a:endParaRPr lang="en-US" sz="2100" dirty="0"/>
          </a:p>
        </p:txBody>
      </p:sp>
      <p:sp>
        <p:nvSpPr>
          <p:cNvPr id="17" name="Text 15"/>
          <p:cNvSpPr/>
          <p:nvPr/>
        </p:nvSpPr>
        <p:spPr>
          <a:xfrm>
            <a:off x="1047750" y="529590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5</a:t>
            </a:r>
            <a:endParaRPr lang="en-US" sz="2100" dirty="0"/>
          </a:p>
        </p:txBody>
      </p:sp>
      <p:sp>
        <p:nvSpPr>
          <p:cNvPr id="18" name="Text 16"/>
          <p:cNvSpPr/>
          <p:nvPr/>
        </p:nvSpPr>
        <p:spPr>
          <a:xfrm>
            <a:off x="1581150" y="5265420"/>
            <a:ext cx="720707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For me, </a:t>
            </a:r>
            <a:r>
              <a:rPr lang="en-US" sz="2100" b="1" dirty="0">
                <a:solidFill>
                  <a:srgbClr val="1A2A5E"/>
                </a:solidFill>
                <a:latin typeface="Helvetica" pitchFamily="34" charset="0"/>
                <a:ea typeface="Helvetica" pitchFamily="34" charset="-122"/>
                <a:cs typeface="Helvetica" pitchFamily="34" charset="-120"/>
              </a:rPr>
              <a:t>sustainable </a:t>
            </a:r>
            <a:r>
              <a:rPr lang="en-US" sz="2100" dirty="0">
                <a:solidFill>
                  <a:srgbClr val="444444"/>
                </a:solidFill>
                <a:latin typeface="Helvetica" pitchFamily="34" charset="0"/>
                <a:ea typeface="Helvetica" pitchFamily="34" charset="-122"/>
                <a:cs typeface="Helvetica" pitchFamily="34" charset="-120"/>
              </a:rPr>
              <a:t>travel is the only kind worth doing.</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50495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5067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4023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You are the town council</a:t>
            </a:r>
            <a:endParaRPr lang="en-US" sz="3750" dirty="0"/>
          </a:p>
        </p:txBody>
      </p:sp>
      <p:sp>
        <p:nvSpPr>
          <p:cNvPr id="8" name="Shape 6"/>
          <p:cNvSpPr/>
          <p:nvPr/>
        </p:nvSpPr>
        <p:spPr>
          <a:xfrm>
            <a:off x="1047750" y="2819400"/>
            <a:ext cx="14859000" cy="9525"/>
          </a:xfrm>
          <a:prstGeom prst="rect">
            <a:avLst/>
          </a:prstGeom>
          <a:solidFill>
            <a:srgbClr val="D8D6D0"/>
          </a:solidFill>
          <a:ln/>
        </p:spPr>
        <p:txBody>
          <a:bodyPr/>
          <a:lstStyle/>
          <a:p>
            <a:endParaRPr lang="en-US"/>
          </a:p>
        </p:txBody>
      </p:sp>
      <p:sp>
        <p:nvSpPr>
          <p:cNvPr id="9" name="Text 7"/>
          <p:cNvSpPr/>
          <p:nvPr/>
        </p:nvSpPr>
        <p:spPr>
          <a:xfrm>
            <a:off x="1047750" y="309372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055620"/>
            <a:ext cx="13935075"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222222"/>
                </a:solidFill>
                <a:latin typeface="Helvetica" pitchFamily="34" charset="0"/>
                <a:ea typeface="Helvetica" pitchFamily="34" charset="-122"/>
                <a:cs typeface="Helvetica" pitchFamily="34" charset="-120"/>
              </a:rPr>
              <a:t>You are the local council of a town that has suddenly become a tourist hotspot.</a:t>
            </a:r>
            <a:endParaRPr lang="en-US" sz="2250" dirty="0"/>
          </a:p>
        </p:txBody>
      </p:sp>
      <p:sp>
        <p:nvSpPr>
          <p:cNvPr id="11" name="Shape 9"/>
          <p:cNvSpPr/>
          <p:nvPr/>
        </p:nvSpPr>
        <p:spPr>
          <a:xfrm>
            <a:off x="1047750" y="3689033"/>
            <a:ext cx="14859000" cy="9525"/>
          </a:xfrm>
          <a:prstGeom prst="rect">
            <a:avLst/>
          </a:prstGeom>
          <a:solidFill>
            <a:srgbClr val="D8D6D0"/>
          </a:solidFill>
          <a:ln/>
        </p:spPr>
        <p:txBody>
          <a:bodyPr/>
          <a:lstStyle/>
          <a:p>
            <a:endParaRPr lang="en-US"/>
          </a:p>
        </p:txBody>
      </p:sp>
      <p:sp>
        <p:nvSpPr>
          <p:cNvPr id="12" name="Text 10"/>
          <p:cNvSpPr/>
          <p:nvPr/>
        </p:nvSpPr>
        <p:spPr>
          <a:xfrm>
            <a:off x="1047750" y="396335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3925253"/>
            <a:ext cx="13935075"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222222"/>
                </a:solidFill>
                <a:latin typeface="Helvetica" pitchFamily="34" charset="0"/>
                <a:ea typeface="Helvetica" pitchFamily="34" charset="-122"/>
                <a:cs typeface="Helvetica" pitchFamily="34" charset="-120"/>
              </a:rPr>
              <a:t>Agree on two rules to manage visitors and protect residents.</a:t>
            </a:r>
            <a:endParaRPr lang="en-US" sz="2250" dirty="0"/>
          </a:p>
        </p:txBody>
      </p:sp>
      <p:sp>
        <p:nvSpPr>
          <p:cNvPr id="14" name="Shape 12"/>
          <p:cNvSpPr/>
          <p:nvPr/>
        </p:nvSpPr>
        <p:spPr>
          <a:xfrm>
            <a:off x="1047750" y="5409248"/>
            <a:ext cx="14859000" cy="9525"/>
          </a:xfrm>
          <a:prstGeom prst="rect">
            <a:avLst/>
          </a:prstGeom>
          <a:solidFill>
            <a:srgbClr val="D8D6D0"/>
          </a:solidFill>
          <a:ln/>
        </p:spPr>
        <p:txBody>
          <a:bodyPr/>
          <a:lstStyle/>
          <a:p>
            <a:endParaRPr lang="en-US"/>
          </a:p>
        </p:txBody>
      </p:sp>
      <p:sp>
        <p:nvSpPr>
          <p:cNvPr id="15" name="Shape 13"/>
          <p:cNvSpPr/>
          <p:nvPr/>
        </p:nvSpPr>
        <p:spPr>
          <a:xfrm>
            <a:off x="1047750" y="4558665"/>
            <a:ext cx="14859000" cy="9525"/>
          </a:xfrm>
          <a:prstGeom prst="rect">
            <a:avLst/>
          </a:prstGeom>
          <a:solidFill>
            <a:srgbClr val="D8D6D0"/>
          </a:solidFill>
          <a:ln/>
        </p:spPr>
        <p:txBody>
          <a:bodyPr/>
          <a:lstStyle/>
          <a:p>
            <a:endParaRPr lang="en-US"/>
          </a:p>
        </p:txBody>
      </p:sp>
      <p:sp>
        <p:nvSpPr>
          <p:cNvPr id="16" name="Text 14"/>
          <p:cNvSpPr/>
          <p:nvPr/>
        </p:nvSpPr>
        <p:spPr>
          <a:xfrm>
            <a:off x="1047750" y="483298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794885"/>
            <a:ext cx="13935075"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222222"/>
                </a:solidFill>
                <a:latin typeface="Helvetica" pitchFamily="34" charset="0"/>
                <a:ea typeface="Helvetica" pitchFamily="34" charset="-122"/>
                <a:cs typeface="Helvetica" pitchFamily="34" charset="-120"/>
              </a:rPr>
              <a:t>Share your plan with the class and explain why it is fair to everyone.</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520624" y="701040"/>
            <a:ext cx="2991588"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001 · OVERTOURISM</a:t>
            </a:r>
            <a:endParaRPr lang="en-US" sz="1200" dirty="0"/>
          </a:p>
        </p:txBody>
      </p:sp>
      <p:sp>
        <p:nvSpPr>
          <p:cNvPr id="5" name="Text 3"/>
          <p:cNvSpPr/>
          <p:nvPr/>
        </p:nvSpPr>
        <p:spPr>
          <a:xfrm>
            <a:off x="1047750" y="16954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45030"/>
            <a:ext cx="15206662" cy="1588770"/>
          </a:xfrm>
          <a:prstGeom prst="rect">
            <a:avLst/>
          </a:prstGeom>
          <a:noFill/>
          <a:ln/>
        </p:spPr>
        <p:txBody>
          <a:bodyPr wrap="square" lIns="25400" tIns="25400" rIns="25400" bIns="25400" rtlCol="0" anchor="t">
            <a:normAutofit lnSpcReduction="10000"/>
          </a:bodyPr>
          <a:lstStyle/>
          <a:p>
            <a:pPr marL="0" indent="0" algn="l">
              <a:lnSpc>
                <a:spcPct val="96905"/>
              </a:lnSpc>
              <a:buNone/>
            </a:pPr>
            <a:r>
              <a:rPr lang="en-US" sz="5550" b="1" dirty="0">
                <a:solidFill>
                  <a:srgbClr val="1A2A5E"/>
                </a:solidFill>
                <a:latin typeface="Georgia" pitchFamily="34" charset="0"/>
                <a:ea typeface="Georgia" pitchFamily="34" charset="-122"/>
                <a:cs typeface="Georgia" pitchFamily="34" charset="-120"/>
              </a:rPr>
              <a:t>Should popular cities limit the number of tourists they allow?</a:t>
            </a:r>
            <a:endParaRPr lang="en-US" sz="5550" dirty="0"/>
          </a:p>
        </p:txBody>
      </p:sp>
      <p:sp>
        <p:nvSpPr>
          <p:cNvPr id="7" name="Text 5"/>
          <p:cNvSpPr/>
          <p:nvPr/>
        </p:nvSpPr>
        <p:spPr>
          <a:xfrm>
            <a:off x="1047750" y="4076700"/>
            <a:ext cx="13620750" cy="464820"/>
          </a:xfrm>
          <a:prstGeom prst="rect">
            <a:avLst/>
          </a:prstGeom>
          <a:noFill/>
          <a:ln/>
        </p:spPr>
        <p:txBody>
          <a:bodyPr wrap="square" lIns="25400" tIns="25400" rIns="25400" bIns="25400" rtlCol="0" anchor="t">
            <a:normAutofit lnSpcReduction="10000"/>
          </a:bodyPr>
          <a:lstStyle/>
          <a:p>
            <a:pPr marL="0" indent="0" algn="l">
              <a:lnSpc>
                <a:spcPct val="124444"/>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4979670"/>
            <a:ext cx="2476500" cy="22860"/>
          </a:xfrm>
          <a:prstGeom prst="rect">
            <a:avLst/>
          </a:prstGeom>
          <a:solidFill>
            <a:srgbClr val="D9B877"/>
          </a:solidFill>
          <a:ln/>
        </p:spPr>
        <p:txBody>
          <a:bodyPr/>
          <a:lstStyle/>
          <a:p>
            <a:endParaRPr lang="en-US"/>
          </a:p>
        </p:txBody>
      </p:sp>
      <p:sp>
        <p:nvSpPr>
          <p:cNvPr id="9" name="Text 7"/>
          <p:cNvSpPr/>
          <p:nvPr/>
        </p:nvSpPr>
        <p:spPr>
          <a:xfrm>
            <a:off x="1047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4979670"/>
            <a:ext cx="2476500" cy="22860"/>
          </a:xfrm>
          <a:prstGeom prst="rect">
            <a:avLst/>
          </a:prstGeom>
          <a:solidFill>
            <a:srgbClr val="D9B877"/>
          </a:solidFill>
          <a:ln/>
        </p:spPr>
        <p:txBody>
          <a:bodyPr/>
          <a:lstStyle/>
          <a:p>
            <a:endParaRPr lang="en-US"/>
          </a:p>
        </p:txBody>
      </p:sp>
      <p:sp>
        <p:nvSpPr>
          <p:cNvPr id="11" name="Text 9"/>
          <p:cNvSpPr/>
          <p:nvPr/>
        </p:nvSpPr>
        <p:spPr>
          <a:xfrm>
            <a:off x="39052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4979670"/>
            <a:ext cx="2476500" cy="22860"/>
          </a:xfrm>
          <a:prstGeom prst="rect">
            <a:avLst/>
          </a:prstGeom>
          <a:solidFill>
            <a:srgbClr val="D9B877"/>
          </a:solidFill>
          <a:ln/>
        </p:spPr>
        <p:txBody>
          <a:bodyPr/>
          <a:lstStyle/>
          <a:p>
            <a:endParaRPr lang="en-US"/>
          </a:p>
        </p:txBody>
      </p:sp>
      <p:sp>
        <p:nvSpPr>
          <p:cNvPr id="13" name="Text 11"/>
          <p:cNvSpPr/>
          <p:nvPr/>
        </p:nvSpPr>
        <p:spPr>
          <a:xfrm>
            <a:off x="6762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238250" y="37699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04335"/>
            <a:ext cx="16285845" cy="1958340"/>
          </a:xfrm>
          <a:prstGeom prst="rect">
            <a:avLst/>
          </a:prstGeom>
          <a:noFill/>
          <a:ln/>
        </p:spPr>
        <p:txBody>
          <a:bodyPr wrap="square" lIns="25400" tIns="25400" rIns="25400" bIns="25400" rtlCol="0" anchor="t">
            <a:normAutofit lnSpcReduction="10000"/>
          </a:bodyPr>
          <a:lstStyle/>
          <a:p>
            <a:pPr marL="0" indent="0" algn="l">
              <a:lnSpc>
                <a:spcPct val="92647"/>
              </a:lnSpc>
              <a:buNone/>
            </a:pPr>
            <a:r>
              <a:rPr lang="en-US" sz="7200" b="1" dirty="0">
                <a:solidFill>
                  <a:srgbClr val="FFFFFF"/>
                </a:solidFill>
                <a:latin typeface="Georgia" pitchFamily="34" charset="0"/>
                <a:ea typeface="Georgia" pitchFamily="34" charset="-122"/>
                <a:cs typeface="Georgia" pitchFamily="34" charset="-120"/>
              </a:rPr>
              <a:t>One fact. One perspective. Endless discussion.</a:t>
            </a:r>
            <a:endParaRPr lang="en-US" sz="7200" dirty="0"/>
          </a:p>
        </p:txBody>
      </p:sp>
      <p:sp>
        <p:nvSpPr>
          <p:cNvPr id="5" name="Text 3"/>
          <p:cNvSpPr/>
          <p:nvPr/>
        </p:nvSpPr>
        <p:spPr>
          <a:xfrm>
            <a:off x="1238250" y="64103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Issue 002.</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2024</Words>
  <Application>Microsoft Office PowerPoint</Application>
  <PresentationFormat>Custom</PresentationFormat>
  <Paragraphs>282</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Georgia</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3</cp:revision>
  <dcterms:created xsi:type="dcterms:W3CDTF">2026-08-24T23:03:16Z</dcterms:created>
  <dcterms:modified xsi:type="dcterms:W3CDTF">2026-08-24T23:09:32Z</dcterms:modified>
</cp:coreProperties>
</file>